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31.jpg" ContentType="image/jpe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67" r:id="rId2"/>
    <p:sldId id="268" r:id="rId3"/>
    <p:sldId id="269" r:id="rId4"/>
    <p:sldId id="270" r:id="rId5"/>
    <p:sldId id="271" r:id="rId6"/>
    <p:sldId id="272" r:id="rId7"/>
    <p:sldId id="273" r:id="rId8"/>
    <p:sldId id="274" r:id="rId9"/>
    <p:sldId id="334" r:id="rId10"/>
    <p:sldId id="275" r:id="rId11"/>
    <p:sldId id="33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36" r:id="rId63"/>
    <p:sldId id="337" r:id="rId64"/>
    <p:sldId id="326" r:id="rId65"/>
    <p:sldId id="327" r:id="rId66"/>
    <p:sldId id="328" r:id="rId67"/>
    <p:sldId id="329" r:id="rId68"/>
    <p:sldId id="330" r:id="rId69"/>
    <p:sldId id="331" r:id="rId70"/>
    <p:sldId id="332" r:id="rId71"/>
    <p:sldId id="333" r:id="rId7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82" autoAdjust="0"/>
    <p:restoredTop sz="74424" autoAdjust="0"/>
  </p:normalViewPr>
  <p:slideViewPr>
    <p:cSldViewPr snapToGrid="0">
      <p:cViewPr varScale="1">
        <p:scale>
          <a:sx n="82" d="100"/>
          <a:sy n="82" d="100"/>
        </p:scale>
        <p:origin x="55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Peters" userId="b1b27dc4-c154-4981-8388-8efe9784ea28" providerId="ADAL" clId="{7F5CB12F-F1A7-4EE5-ABB8-0363DEC018C4}"/>
    <pc:docChg chg="custSel addSld modSld addMainMaster delMainMaster modMainMaster">
      <pc:chgData name="Ryan Peters" userId="b1b27dc4-c154-4981-8388-8efe9784ea28" providerId="ADAL" clId="{7F5CB12F-F1A7-4EE5-ABB8-0363DEC018C4}" dt="2026-10-21T13:02:01.512" v="2131" actId="26606"/>
      <pc:docMkLst>
        <pc:docMk/>
      </pc:docMkLst>
      <pc:sldChg chg="addSp delSp modSp mod modClrScheme chgLayout">
        <pc:chgData name="Ryan Peters" userId="b1b27dc4-c154-4981-8388-8efe9784ea28" providerId="ADAL" clId="{7F5CB12F-F1A7-4EE5-ABB8-0363DEC018C4}" dt="2026-10-21T13:02:01.512" v="2131" actId="26606"/>
        <pc:sldMkLst>
          <pc:docMk/>
          <pc:sldMk cId="2953762260" sldId="267"/>
        </pc:sldMkLst>
        <pc:spChg chg="mod">
          <ac:chgData name="Ryan Peters" userId="b1b27dc4-c154-4981-8388-8efe9784ea28" providerId="ADAL" clId="{7F5CB12F-F1A7-4EE5-ABB8-0363DEC018C4}" dt="2026-10-21T13:01:36.660" v="2127" actId="26606"/>
          <ac:spMkLst>
            <pc:docMk/>
            <pc:sldMk cId="2953762260" sldId="267"/>
            <ac:spMk id="5" creationId="{00000000-0000-0000-0000-000000000000}"/>
          </ac:spMkLst>
        </pc:spChg>
        <pc:spChg chg="mod">
          <ac:chgData name="Ryan Peters" userId="b1b27dc4-c154-4981-8388-8efe9784ea28" providerId="ADAL" clId="{7F5CB12F-F1A7-4EE5-ABB8-0363DEC018C4}" dt="2026-10-21T13:01:36.660" v="2127" actId="26606"/>
          <ac:spMkLst>
            <pc:docMk/>
            <pc:sldMk cId="2953762260" sldId="267"/>
            <ac:spMk id="6" creationId="{00000000-0000-0000-0000-000000000000}"/>
          </ac:spMkLst>
        </pc:spChg>
        <pc:spChg chg="del">
          <ac:chgData name="Ryan Peters" userId="b1b27dc4-c154-4981-8388-8efe9784ea28" providerId="ADAL" clId="{7F5CB12F-F1A7-4EE5-ABB8-0363DEC018C4}" dt="2026-10-21T00:20:05.981" v="1945" actId="26606"/>
          <ac:spMkLst>
            <pc:docMk/>
            <pc:sldMk cId="2953762260" sldId="267"/>
            <ac:spMk id="8" creationId="{00000000-0000-0000-0000-000000000000}"/>
          </ac:spMkLst>
        </pc:spChg>
        <pc:spChg chg="mod">
          <ac:chgData name="Ryan Peters" userId="b1b27dc4-c154-4981-8388-8efe9784ea28" providerId="ADAL" clId="{7F5CB12F-F1A7-4EE5-ABB8-0363DEC018C4}" dt="2026-10-21T13:01:36.660" v="2127" actId="26606"/>
          <ac:spMkLst>
            <pc:docMk/>
            <pc:sldMk cId="2953762260" sldId="267"/>
            <ac:spMk id="9" creationId="{00000000-0000-0000-0000-000000000000}"/>
          </ac:spMkLst>
        </pc:spChg>
        <pc:spChg chg="mod">
          <ac:chgData name="Ryan Peters" userId="b1b27dc4-c154-4981-8388-8efe9784ea28" providerId="ADAL" clId="{7F5CB12F-F1A7-4EE5-ABB8-0363DEC018C4}" dt="2026-10-21T13:01:36.660" v="2127" actId="26606"/>
          <ac:spMkLst>
            <pc:docMk/>
            <pc:sldMk cId="2953762260" sldId="267"/>
            <ac:spMk id="10" creationId="{00000000-0000-0000-0000-000000000000}"/>
          </ac:spMkLst>
        </pc:spChg>
        <pc:spChg chg="mod">
          <ac:chgData name="Ryan Peters" userId="b1b27dc4-c154-4981-8388-8efe9784ea28" providerId="ADAL" clId="{7F5CB12F-F1A7-4EE5-ABB8-0363DEC018C4}" dt="2026-10-21T13:01:36.660" v="2127" actId="26606"/>
          <ac:spMkLst>
            <pc:docMk/>
            <pc:sldMk cId="2953762260" sldId="267"/>
            <ac:spMk id="14" creationId="{00000000-0000-0000-0000-000000000000}"/>
          </ac:spMkLst>
        </pc:spChg>
        <pc:spChg chg="mod">
          <ac:chgData name="Ryan Peters" userId="b1b27dc4-c154-4981-8388-8efe9784ea28" providerId="ADAL" clId="{7F5CB12F-F1A7-4EE5-ABB8-0363DEC018C4}" dt="2026-10-21T13:01:36.660" v="2127" actId="26606"/>
          <ac:spMkLst>
            <pc:docMk/>
            <pc:sldMk cId="2953762260" sldId="267"/>
            <ac:spMk id="15" creationId="{00000000-0000-0000-0000-000000000000}"/>
          </ac:spMkLst>
        </pc:spChg>
        <pc:spChg chg="mod">
          <ac:chgData name="Ryan Peters" userId="b1b27dc4-c154-4981-8388-8efe9784ea28" providerId="ADAL" clId="{7F5CB12F-F1A7-4EE5-ABB8-0363DEC018C4}" dt="2026-10-21T13:01:36.660" v="2127" actId="26606"/>
          <ac:spMkLst>
            <pc:docMk/>
            <pc:sldMk cId="2953762260" sldId="267"/>
            <ac:spMk id="17" creationId="{00000000-0000-0000-0000-000000000000}"/>
          </ac:spMkLst>
        </pc:spChg>
        <pc:spChg chg="mod">
          <ac:chgData name="Ryan Peters" userId="b1b27dc4-c154-4981-8388-8efe9784ea28" providerId="ADAL" clId="{7F5CB12F-F1A7-4EE5-ABB8-0363DEC018C4}" dt="2026-10-21T13:01:36.660" v="2127" actId="26606"/>
          <ac:spMkLst>
            <pc:docMk/>
            <pc:sldMk cId="2953762260" sldId="267"/>
            <ac:spMk id="18" creationId="{00000000-0000-0000-0000-000000000000}"/>
          </ac:spMkLst>
        </pc:spChg>
        <pc:spChg chg="mod">
          <ac:chgData name="Ryan Peters" userId="b1b27dc4-c154-4981-8388-8efe9784ea28" providerId="ADAL" clId="{7F5CB12F-F1A7-4EE5-ABB8-0363DEC018C4}" dt="2026-10-21T13:01:36.660" v="2127" actId="26606"/>
          <ac:spMkLst>
            <pc:docMk/>
            <pc:sldMk cId="2953762260" sldId="267"/>
            <ac:spMk id="20" creationId="{00000000-0000-0000-0000-000000000000}"/>
          </ac:spMkLst>
        </pc:spChg>
        <pc:spChg chg="add mod">
          <ac:chgData name="Ryan Peters" userId="b1b27dc4-c154-4981-8388-8efe9784ea28" providerId="ADAL" clId="{7F5CB12F-F1A7-4EE5-ABB8-0363DEC018C4}" dt="2026-10-21T13:01:36.660" v="2127" actId="26606"/>
          <ac:spMkLst>
            <pc:docMk/>
            <pc:sldMk cId="2953762260" sldId="267"/>
            <ac:spMk id="21" creationId="{00000000-0000-0000-0000-000000000000}"/>
          </ac:spMkLst>
        </pc:spChg>
        <pc:spChg chg="mod">
          <ac:chgData name="Ryan Peters" userId="b1b27dc4-c154-4981-8388-8efe9784ea28" providerId="ADAL" clId="{7F5CB12F-F1A7-4EE5-ABB8-0363DEC018C4}" dt="2026-10-21T13:01:42.448" v="2129" actId="26606"/>
          <ac:spMkLst>
            <pc:docMk/>
            <pc:sldMk cId="2953762260" sldId="267"/>
            <ac:spMk id="23" creationId="{00000000-0000-0000-0000-000000000000}"/>
          </ac:spMkLst>
        </pc:spChg>
        <pc:spChg chg="mod">
          <ac:chgData name="Ryan Peters" userId="b1b27dc4-c154-4981-8388-8efe9784ea28" providerId="ADAL" clId="{7F5CB12F-F1A7-4EE5-ABB8-0363DEC018C4}" dt="2026-10-21T13:01:42.448" v="2129" actId="26606"/>
          <ac:spMkLst>
            <pc:docMk/>
            <pc:sldMk cId="2953762260" sldId="267"/>
            <ac:spMk id="24" creationId="{00000000-0000-0000-0000-000000000000}"/>
          </ac:spMkLst>
        </pc:spChg>
      </pc:sldChg>
      <pc:sldChg chg="modSp mod modClrScheme chgLayout modNotesTx">
        <pc:chgData name="Ryan Peters" userId="b1b27dc4-c154-4981-8388-8efe9784ea28" providerId="ADAL" clId="{7F5CB12F-F1A7-4EE5-ABB8-0363DEC018C4}" dt="2026-10-21T13:02:01.512" v="2131" actId="26606"/>
        <pc:sldMkLst>
          <pc:docMk/>
          <pc:sldMk cId="1207264058" sldId="268"/>
        </pc:sldMkLst>
        <pc:spChg chg="add mod">
          <ac:chgData name="Ryan Peters" userId="b1b27dc4-c154-4981-8388-8efe9784ea28" providerId="ADAL" clId="{7F5CB12F-F1A7-4EE5-ABB8-0363DEC018C4}" dt="2026-10-21T13:02:01.512" v="2131" actId="26606"/>
          <ac:spMkLst>
            <pc:docMk/>
            <pc:sldMk cId="1207264058" sldId="268"/>
            <ac:spMk id="27" creationId="{00000000-0000-0000-0000-000000000000}"/>
          </ac:spMkLst>
        </pc:spChg>
      </pc:sldChg>
      <pc:sldChg chg="modSp mod modClrScheme chgLayout modNotesTx">
        <pc:chgData name="Ryan Peters" userId="b1b27dc4-c154-4981-8388-8efe9784ea28" providerId="ADAL" clId="{7F5CB12F-F1A7-4EE5-ABB8-0363DEC018C4}" dt="2026-10-21T13:02:01.512" v="2131" actId="26606"/>
        <pc:sldMkLst>
          <pc:docMk/>
          <pc:sldMk cId="1604614832" sldId="269"/>
        </pc:sldMkLst>
        <pc:spChg chg="add mod">
          <ac:chgData name="Ryan Peters" userId="b1b27dc4-c154-4981-8388-8efe9784ea28" providerId="ADAL" clId="{7F5CB12F-F1A7-4EE5-ABB8-0363DEC018C4}" dt="2026-10-21T13:02:01.512" v="2131" actId="26606"/>
          <ac:spMkLst>
            <pc:docMk/>
            <pc:sldMk cId="1604614832" sldId="269"/>
            <ac:spMk id="39" creationId="{00000000-0000-0000-0000-000000000000}"/>
          </ac:spMkLst>
        </pc:spChg>
      </pc:sldChg>
      <pc:sldChg chg="mod modClrScheme chgLayout">
        <pc:chgData name="Ryan Peters" userId="b1b27dc4-c154-4981-8388-8efe9784ea28" providerId="ADAL" clId="{7F5CB12F-F1A7-4EE5-ABB8-0363DEC018C4}" dt="2026-10-21T13:02:01.512" v="2131" actId="26606"/>
        <pc:sldMkLst>
          <pc:docMk/>
          <pc:sldMk cId="2052120738" sldId="270"/>
        </pc:sldMkLst>
      </pc:sldChg>
      <pc:sldChg chg="modSp mod modClrScheme chgLayout">
        <pc:chgData name="Ryan Peters" userId="b1b27dc4-c154-4981-8388-8efe9784ea28" providerId="ADAL" clId="{7F5CB12F-F1A7-4EE5-ABB8-0363DEC018C4}" dt="2026-10-21T13:02:01.512" v="2131" actId="26606"/>
        <pc:sldMkLst>
          <pc:docMk/>
          <pc:sldMk cId="1678862709" sldId="271"/>
        </pc:sldMkLst>
        <pc:spChg chg="add mod">
          <ac:chgData name="Ryan Peters" userId="b1b27dc4-c154-4981-8388-8efe9784ea28" providerId="ADAL" clId="{7F5CB12F-F1A7-4EE5-ABB8-0363DEC018C4}" dt="2026-10-21T13:02:01.512" v="2131" actId="26606"/>
          <ac:spMkLst>
            <pc:docMk/>
            <pc:sldMk cId="1678862709" sldId="271"/>
            <ac:spMk id="3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3277457451" sldId="272"/>
        </pc:sldMkLst>
        <pc:spChg chg="add mod">
          <ac:chgData name="Ryan Peters" userId="b1b27dc4-c154-4981-8388-8efe9784ea28" providerId="ADAL" clId="{7F5CB12F-F1A7-4EE5-ABB8-0363DEC018C4}" dt="2026-10-21T13:02:01.512" v="2131" actId="26606"/>
          <ac:spMkLst>
            <pc:docMk/>
            <pc:sldMk cId="3277457451" sldId="272"/>
            <ac:spMk id="3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2408887244" sldId="273"/>
        </pc:sldMkLst>
        <pc:spChg chg="add mod">
          <ac:chgData name="Ryan Peters" userId="b1b27dc4-c154-4981-8388-8efe9784ea28" providerId="ADAL" clId="{7F5CB12F-F1A7-4EE5-ABB8-0363DEC018C4}" dt="2026-10-21T13:02:01.512" v="2131" actId="26606"/>
          <ac:spMkLst>
            <pc:docMk/>
            <pc:sldMk cId="2408887244" sldId="273"/>
            <ac:spMk id="25"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3203269131" sldId="274"/>
        </pc:sldMkLst>
        <pc:spChg chg="add mod">
          <ac:chgData name="Ryan Peters" userId="b1b27dc4-c154-4981-8388-8efe9784ea28" providerId="ADAL" clId="{7F5CB12F-F1A7-4EE5-ABB8-0363DEC018C4}" dt="2026-10-21T13:02:01.512" v="2131" actId="26606"/>
          <ac:spMkLst>
            <pc:docMk/>
            <pc:sldMk cId="3203269131" sldId="274"/>
            <ac:spMk id="52"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1188619156" sldId="275"/>
        </pc:sldMkLst>
        <pc:spChg chg="add mod">
          <ac:chgData name="Ryan Peters" userId="b1b27dc4-c154-4981-8388-8efe9784ea28" providerId="ADAL" clId="{7F5CB12F-F1A7-4EE5-ABB8-0363DEC018C4}" dt="2026-10-21T13:02:01.512" v="2131" actId="26606"/>
          <ac:spMkLst>
            <pc:docMk/>
            <pc:sldMk cId="1188619156" sldId="275"/>
            <ac:spMk id="35" creationId="{00000000-0000-0000-0000-000000000000}"/>
          </ac:spMkLst>
        </pc:spChg>
      </pc:sldChg>
      <pc:sldChg chg="mod modClrScheme chgLayout">
        <pc:chgData name="Ryan Peters" userId="b1b27dc4-c154-4981-8388-8efe9784ea28" providerId="ADAL" clId="{7F5CB12F-F1A7-4EE5-ABB8-0363DEC018C4}" dt="2026-10-21T13:02:01.512" v="2131" actId="26606"/>
        <pc:sldMkLst>
          <pc:docMk/>
          <pc:sldMk cId="3255587727" sldId="276"/>
        </pc:sldMkLst>
      </pc:sldChg>
      <pc:sldChg chg="modSp mod modClrScheme chgLayout">
        <pc:chgData name="Ryan Peters" userId="b1b27dc4-c154-4981-8388-8efe9784ea28" providerId="ADAL" clId="{7F5CB12F-F1A7-4EE5-ABB8-0363DEC018C4}" dt="2026-10-21T13:02:01.512" v="2131" actId="26606"/>
        <pc:sldMkLst>
          <pc:docMk/>
          <pc:sldMk cId="1376124863" sldId="277"/>
        </pc:sldMkLst>
        <pc:spChg chg="add mod">
          <ac:chgData name="Ryan Peters" userId="b1b27dc4-c154-4981-8388-8efe9784ea28" providerId="ADAL" clId="{7F5CB12F-F1A7-4EE5-ABB8-0363DEC018C4}" dt="2026-10-21T13:02:01.512" v="2131" actId="26606"/>
          <ac:spMkLst>
            <pc:docMk/>
            <pc:sldMk cId="1376124863" sldId="277"/>
            <ac:spMk id="33"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78"/>
        </pc:sldMkLst>
        <pc:spChg chg="mod">
          <ac:chgData name="Ryan Peters" userId="b1b27dc4-c154-4981-8388-8efe9784ea28" providerId="ADAL" clId="{7F5CB12F-F1A7-4EE5-ABB8-0363DEC018C4}" dt="2026-10-20T23:31:58.301" v="21" actId="26606"/>
          <ac:spMkLst>
            <pc:docMk/>
            <pc:sldMk cId="0" sldId="278"/>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79"/>
        </pc:sldMkLst>
        <pc:spChg chg="mod">
          <ac:chgData name="Ryan Peters" userId="b1b27dc4-c154-4981-8388-8efe9784ea28" providerId="ADAL" clId="{7F5CB12F-F1A7-4EE5-ABB8-0363DEC018C4}" dt="2026-10-20T23:31:58.301" v="21" actId="26606"/>
          <ac:spMkLst>
            <pc:docMk/>
            <pc:sldMk cId="0" sldId="279"/>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80"/>
        </pc:sldMkLst>
        <pc:spChg chg="mod">
          <ac:chgData name="Ryan Peters" userId="b1b27dc4-c154-4981-8388-8efe9784ea28" providerId="ADAL" clId="{7F5CB12F-F1A7-4EE5-ABB8-0363DEC018C4}" dt="2026-10-20T23:31:58.301" v="21" actId="26606"/>
          <ac:spMkLst>
            <pc:docMk/>
            <pc:sldMk cId="0" sldId="280"/>
            <ac:spMk id="8" creationId="{00000000-0000-0000-0000-000000000000}"/>
          </ac:spMkLst>
        </pc:spChg>
        <pc:spChg chg="mod">
          <ac:chgData name="Ryan Peters" userId="b1b27dc4-c154-4981-8388-8efe9784ea28" providerId="ADAL" clId="{7F5CB12F-F1A7-4EE5-ABB8-0363DEC018C4}" dt="2026-10-20T22:36:14.411" v="11" actId="26606"/>
          <ac:spMkLst>
            <pc:docMk/>
            <pc:sldMk cId="0" sldId="280"/>
            <ac:spMk id="9" creationId="{00000000-0000-0000-0000-000000000000}"/>
          </ac:spMkLst>
        </pc:spChg>
        <pc:spChg chg="mod">
          <ac:chgData name="Ryan Peters" userId="b1b27dc4-c154-4981-8388-8efe9784ea28" providerId="ADAL" clId="{7F5CB12F-F1A7-4EE5-ABB8-0363DEC018C4}" dt="2026-10-20T22:36:14.411" v="11" actId="26606"/>
          <ac:spMkLst>
            <pc:docMk/>
            <pc:sldMk cId="0" sldId="280"/>
            <ac:spMk id="11" creationId="{00000000-0000-0000-0000-000000000000}"/>
          </ac:spMkLst>
        </pc:spChg>
        <pc:spChg chg="mod">
          <ac:chgData name="Ryan Peters" userId="b1b27dc4-c154-4981-8388-8efe9784ea28" providerId="ADAL" clId="{7F5CB12F-F1A7-4EE5-ABB8-0363DEC018C4}" dt="2026-10-20T22:36:14.411" v="11" actId="26606"/>
          <ac:spMkLst>
            <pc:docMk/>
            <pc:sldMk cId="0" sldId="280"/>
            <ac:spMk id="12" creationId="{00000000-0000-0000-0000-000000000000}"/>
          </ac:spMkLst>
        </pc:spChg>
        <pc:spChg chg="mod">
          <ac:chgData name="Ryan Peters" userId="b1b27dc4-c154-4981-8388-8efe9784ea28" providerId="ADAL" clId="{7F5CB12F-F1A7-4EE5-ABB8-0363DEC018C4}" dt="2026-10-20T22:36:14.411" v="11" actId="26606"/>
          <ac:spMkLst>
            <pc:docMk/>
            <pc:sldMk cId="0" sldId="280"/>
            <ac:spMk id="15" creationId="{00000000-0000-0000-0000-000000000000}"/>
          </ac:spMkLst>
        </pc:spChg>
        <pc:spChg chg="mod">
          <ac:chgData name="Ryan Peters" userId="b1b27dc4-c154-4981-8388-8efe9784ea28" providerId="ADAL" clId="{7F5CB12F-F1A7-4EE5-ABB8-0363DEC018C4}" dt="2026-10-20T22:36:14.411" v="11" actId="26606"/>
          <ac:spMkLst>
            <pc:docMk/>
            <pc:sldMk cId="0" sldId="280"/>
            <ac:spMk id="16" creationId="{00000000-0000-0000-0000-000000000000}"/>
          </ac:spMkLst>
        </pc:spChg>
        <pc:spChg chg="mod">
          <ac:chgData name="Ryan Peters" userId="b1b27dc4-c154-4981-8388-8efe9784ea28" providerId="ADAL" clId="{7F5CB12F-F1A7-4EE5-ABB8-0363DEC018C4}" dt="2026-10-20T22:36:14.411" v="11" actId="26606"/>
          <ac:spMkLst>
            <pc:docMk/>
            <pc:sldMk cId="0" sldId="280"/>
            <ac:spMk id="17" creationId="{00000000-0000-0000-0000-000000000000}"/>
          </ac:spMkLst>
        </pc:spChg>
        <pc:spChg chg="mod">
          <ac:chgData name="Ryan Peters" userId="b1b27dc4-c154-4981-8388-8efe9784ea28" providerId="ADAL" clId="{7F5CB12F-F1A7-4EE5-ABB8-0363DEC018C4}" dt="2026-10-20T22:36:14.411" v="11" actId="26606"/>
          <ac:spMkLst>
            <pc:docMk/>
            <pc:sldMk cId="0" sldId="280"/>
            <ac:spMk id="21" creationId="{00000000-0000-0000-0000-000000000000}"/>
          </ac:spMkLst>
        </pc:spChg>
        <pc:spChg chg="mod">
          <ac:chgData name="Ryan Peters" userId="b1b27dc4-c154-4981-8388-8efe9784ea28" providerId="ADAL" clId="{7F5CB12F-F1A7-4EE5-ABB8-0363DEC018C4}" dt="2026-10-20T22:36:14.411" v="11" actId="26606"/>
          <ac:spMkLst>
            <pc:docMk/>
            <pc:sldMk cId="0" sldId="280"/>
            <ac:spMk id="22" creationId="{00000000-0000-0000-0000-000000000000}"/>
          </ac:spMkLst>
        </pc:spChg>
        <pc:spChg chg="mod">
          <ac:chgData name="Ryan Peters" userId="b1b27dc4-c154-4981-8388-8efe9784ea28" providerId="ADAL" clId="{7F5CB12F-F1A7-4EE5-ABB8-0363DEC018C4}" dt="2026-10-20T22:36:14.411" v="11" actId="26606"/>
          <ac:spMkLst>
            <pc:docMk/>
            <pc:sldMk cId="0" sldId="280"/>
            <ac:spMk id="23" creationId="{00000000-0000-0000-0000-000000000000}"/>
          </ac:spMkLst>
        </pc:spChg>
        <pc:spChg chg="mod">
          <ac:chgData name="Ryan Peters" userId="b1b27dc4-c154-4981-8388-8efe9784ea28" providerId="ADAL" clId="{7F5CB12F-F1A7-4EE5-ABB8-0363DEC018C4}" dt="2026-10-20T23:31:58.301" v="21" actId="26606"/>
          <ac:spMkLst>
            <pc:docMk/>
            <pc:sldMk cId="0" sldId="280"/>
            <ac:spMk id="2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81"/>
        </pc:sldMkLst>
        <pc:spChg chg="mod">
          <ac:chgData name="Ryan Peters" userId="b1b27dc4-c154-4981-8388-8efe9784ea28" providerId="ADAL" clId="{7F5CB12F-F1A7-4EE5-ABB8-0363DEC018C4}" dt="2026-10-20T23:31:58.301" v="21" actId="26606"/>
          <ac:spMkLst>
            <pc:docMk/>
            <pc:sldMk cId="0" sldId="281"/>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82"/>
        </pc:sldMkLst>
        <pc:spChg chg="mod">
          <ac:chgData name="Ryan Peters" userId="b1b27dc4-c154-4981-8388-8efe9784ea28" providerId="ADAL" clId="{7F5CB12F-F1A7-4EE5-ABB8-0363DEC018C4}" dt="2026-10-20T23:31:58.301" v="21" actId="26606"/>
          <ac:spMkLst>
            <pc:docMk/>
            <pc:sldMk cId="0" sldId="282"/>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83"/>
        </pc:sldMkLst>
        <pc:spChg chg="mod">
          <ac:chgData name="Ryan Peters" userId="b1b27dc4-c154-4981-8388-8efe9784ea28" providerId="ADAL" clId="{7F5CB12F-F1A7-4EE5-ABB8-0363DEC018C4}" dt="2026-10-20T23:31:58.301" v="21" actId="26606"/>
          <ac:spMkLst>
            <pc:docMk/>
            <pc:sldMk cId="0" sldId="283"/>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84"/>
        </pc:sldMkLst>
        <pc:spChg chg="mod">
          <ac:chgData name="Ryan Peters" userId="b1b27dc4-c154-4981-8388-8efe9784ea28" providerId="ADAL" clId="{7F5CB12F-F1A7-4EE5-ABB8-0363DEC018C4}" dt="2026-10-20T23:31:58.301" v="21" actId="26606"/>
          <ac:spMkLst>
            <pc:docMk/>
            <pc:sldMk cId="0" sldId="284"/>
            <ac:spMk id="8" creationId="{00000000-0000-0000-0000-000000000000}"/>
          </ac:spMkLst>
        </pc:spChg>
        <pc:spChg chg="mod">
          <ac:chgData name="Ryan Peters" userId="b1b27dc4-c154-4981-8388-8efe9784ea28" providerId="ADAL" clId="{7F5CB12F-F1A7-4EE5-ABB8-0363DEC018C4}" dt="2026-10-20T23:31:58.301" v="21" actId="26606"/>
          <ac:spMkLst>
            <pc:docMk/>
            <pc:sldMk cId="0" sldId="284"/>
            <ac:spMk id="29"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85"/>
        </pc:sldMkLst>
        <pc:spChg chg="mod">
          <ac:chgData name="Ryan Peters" userId="b1b27dc4-c154-4981-8388-8efe9784ea28" providerId="ADAL" clId="{7F5CB12F-F1A7-4EE5-ABB8-0363DEC018C4}" dt="2026-10-20T23:31:58.301" v="21" actId="26606"/>
          <ac:spMkLst>
            <pc:docMk/>
            <pc:sldMk cId="0" sldId="285"/>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86"/>
        </pc:sldMkLst>
        <pc:spChg chg="mod">
          <ac:chgData name="Ryan Peters" userId="b1b27dc4-c154-4981-8388-8efe9784ea28" providerId="ADAL" clId="{7F5CB12F-F1A7-4EE5-ABB8-0363DEC018C4}" dt="2026-10-20T23:31:58.301" v="21" actId="26606"/>
          <ac:spMkLst>
            <pc:docMk/>
            <pc:sldMk cId="0" sldId="286"/>
            <ac:spMk id="8" creationId="{00000000-0000-0000-0000-000000000000}"/>
          </ac:spMkLst>
        </pc:spChg>
        <pc:spChg chg="mod">
          <ac:chgData name="Ryan Peters" userId="b1b27dc4-c154-4981-8388-8efe9784ea28" providerId="ADAL" clId="{7F5CB12F-F1A7-4EE5-ABB8-0363DEC018C4}" dt="2026-10-20T23:31:58.301" v="21" actId="26606"/>
          <ac:spMkLst>
            <pc:docMk/>
            <pc:sldMk cId="0" sldId="286"/>
            <ac:spMk id="19" creationId="{00000000-0000-0000-0000-000000000000}"/>
          </ac:spMkLst>
        </pc:spChg>
      </pc:sldChg>
      <pc:sldChg chg="mod modClrScheme chgLayout">
        <pc:chgData name="Ryan Peters" userId="b1b27dc4-c154-4981-8388-8efe9784ea28" providerId="ADAL" clId="{7F5CB12F-F1A7-4EE5-ABB8-0363DEC018C4}" dt="2026-10-21T13:02:01.512" v="2131" actId="26606"/>
        <pc:sldMkLst>
          <pc:docMk/>
          <pc:sldMk cId="0" sldId="287"/>
        </pc:sldMkLst>
      </pc:sldChg>
      <pc:sldChg chg="modSp mod modClrScheme chgLayout">
        <pc:chgData name="Ryan Peters" userId="b1b27dc4-c154-4981-8388-8efe9784ea28" providerId="ADAL" clId="{7F5CB12F-F1A7-4EE5-ABB8-0363DEC018C4}" dt="2026-10-21T13:02:01.512" v="2131" actId="26606"/>
        <pc:sldMkLst>
          <pc:docMk/>
          <pc:sldMk cId="0" sldId="288"/>
        </pc:sldMkLst>
        <pc:spChg chg="mod">
          <ac:chgData name="Ryan Peters" userId="b1b27dc4-c154-4981-8388-8efe9784ea28" providerId="ADAL" clId="{7F5CB12F-F1A7-4EE5-ABB8-0363DEC018C4}" dt="2026-10-20T23:31:58.301" v="21" actId="26606"/>
          <ac:spMkLst>
            <pc:docMk/>
            <pc:sldMk cId="0" sldId="288"/>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89"/>
        </pc:sldMkLst>
        <pc:spChg chg="mod">
          <ac:chgData name="Ryan Peters" userId="b1b27dc4-c154-4981-8388-8efe9784ea28" providerId="ADAL" clId="{7F5CB12F-F1A7-4EE5-ABB8-0363DEC018C4}" dt="2026-10-20T23:31:58.301" v="21" actId="26606"/>
          <ac:spMkLst>
            <pc:docMk/>
            <pc:sldMk cId="0" sldId="289"/>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90"/>
        </pc:sldMkLst>
        <pc:spChg chg="mod">
          <ac:chgData name="Ryan Peters" userId="b1b27dc4-c154-4981-8388-8efe9784ea28" providerId="ADAL" clId="{7F5CB12F-F1A7-4EE5-ABB8-0363DEC018C4}" dt="2026-10-20T23:31:58.301" v="21" actId="26606"/>
          <ac:spMkLst>
            <pc:docMk/>
            <pc:sldMk cId="0" sldId="290"/>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91"/>
        </pc:sldMkLst>
        <pc:spChg chg="mod">
          <ac:chgData name="Ryan Peters" userId="b1b27dc4-c154-4981-8388-8efe9784ea28" providerId="ADAL" clId="{7F5CB12F-F1A7-4EE5-ABB8-0363DEC018C4}" dt="2026-10-20T23:31:58.301" v="21" actId="26606"/>
          <ac:spMkLst>
            <pc:docMk/>
            <pc:sldMk cId="0" sldId="291"/>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92"/>
        </pc:sldMkLst>
        <pc:spChg chg="mod">
          <ac:chgData name="Ryan Peters" userId="b1b27dc4-c154-4981-8388-8efe9784ea28" providerId="ADAL" clId="{7F5CB12F-F1A7-4EE5-ABB8-0363DEC018C4}" dt="2026-10-20T23:31:58.301" v="21" actId="26606"/>
          <ac:spMkLst>
            <pc:docMk/>
            <pc:sldMk cId="0" sldId="292"/>
            <ac:spMk id="8" creationId="{00000000-0000-0000-0000-000000000000}"/>
          </ac:spMkLst>
        </pc:spChg>
        <pc:spChg chg="mod">
          <ac:chgData name="Ryan Peters" userId="b1b27dc4-c154-4981-8388-8efe9784ea28" providerId="ADAL" clId="{7F5CB12F-F1A7-4EE5-ABB8-0363DEC018C4}" dt="2026-10-20T23:32:23.661" v="23" actId="26606"/>
          <ac:spMkLst>
            <pc:docMk/>
            <pc:sldMk cId="0" sldId="292"/>
            <ac:spMk id="24" creationId="{00000000-0000-0000-0000-000000000000}"/>
          </ac:spMkLst>
        </pc:spChg>
      </pc:sldChg>
      <pc:sldChg chg="mod modClrScheme chgLayout">
        <pc:chgData name="Ryan Peters" userId="b1b27dc4-c154-4981-8388-8efe9784ea28" providerId="ADAL" clId="{7F5CB12F-F1A7-4EE5-ABB8-0363DEC018C4}" dt="2026-10-21T13:02:01.512" v="2131" actId="26606"/>
        <pc:sldMkLst>
          <pc:docMk/>
          <pc:sldMk cId="0" sldId="293"/>
        </pc:sldMkLst>
      </pc:sldChg>
      <pc:sldChg chg="modSp mod modClrScheme chgLayout">
        <pc:chgData name="Ryan Peters" userId="b1b27dc4-c154-4981-8388-8efe9784ea28" providerId="ADAL" clId="{7F5CB12F-F1A7-4EE5-ABB8-0363DEC018C4}" dt="2026-10-21T13:02:01.512" v="2131" actId="26606"/>
        <pc:sldMkLst>
          <pc:docMk/>
          <pc:sldMk cId="0" sldId="294"/>
        </pc:sldMkLst>
        <pc:spChg chg="mod">
          <ac:chgData name="Ryan Peters" userId="b1b27dc4-c154-4981-8388-8efe9784ea28" providerId="ADAL" clId="{7F5CB12F-F1A7-4EE5-ABB8-0363DEC018C4}" dt="2026-10-20T23:31:58.301" v="21" actId="26606"/>
          <ac:spMkLst>
            <pc:docMk/>
            <pc:sldMk cId="0" sldId="294"/>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95"/>
        </pc:sldMkLst>
        <pc:spChg chg="mod">
          <ac:chgData name="Ryan Peters" userId="b1b27dc4-c154-4981-8388-8efe9784ea28" providerId="ADAL" clId="{7F5CB12F-F1A7-4EE5-ABB8-0363DEC018C4}" dt="2026-10-20T23:31:58.301" v="21" actId="26606"/>
          <ac:spMkLst>
            <pc:docMk/>
            <pc:sldMk cId="0" sldId="295"/>
            <ac:spMk id="8" creationId="{00000000-0000-0000-0000-000000000000}"/>
          </ac:spMkLst>
        </pc:spChg>
        <pc:spChg chg="mod">
          <ac:chgData name="Ryan Peters" userId="b1b27dc4-c154-4981-8388-8efe9784ea28" providerId="ADAL" clId="{7F5CB12F-F1A7-4EE5-ABB8-0363DEC018C4}" dt="2026-10-20T23:31:58.301" v="21" actId="26606"/>
          <ac:spMkLst>
            <pc:docMk/>
            <pc:sldMk cId="0" sldId="295"/>
            <ac:spMk id="32" creationId="{00000000-0000-0000-0000-000000000000}"/>
          </ac:spMkLst>
        </pc:spChg>
        <pc:spChg chg="mod">
          <ac:chgData name="Ryan Peters" userId="b1b27dc4-c154-4981-8388-8efe9784ea28" providerId="ADAL" clId="{7F5CB12F-F1A7-4EE5-ABB8-0363DEC018C4}" dt="2026-10-20T23:31:58.301" v="21" actId="26606"/>
          <ac:spMkLst>
            <pc:docMk/>
            <pc:sldMk cId="0" sldId="295"/>
            <ac:spMk id="33"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96"/>
        </pc:sldMkLst>
        <pc:spChg chg="mod">
          <ac:chgData name="Ryan Peters" userId="b1b27dc4-c154-4981-8388-8efe9784ea28" providerId="ADAL" clId="{7F5CB12F-F1A7-4EE5-ABB8-0363DEC018C4}" dt="2026-10-20T23:31:58.301" v="21" actId="26606"/>
          <ac:spMkLst>
            <pc:docMk/>
            <pc:sldMk cId="0" sldId="296"/>
            <ac:spMk id="8" creationId="{00000000-0000-0000-0000-000000000000}"/>
          </ac:spMkLst>
        </pc:spChg>
        <pc:spChg chg="mod">
          <ac:chgData name="Ryan Peters" userId="b1b27dc4-c154-4981-8388-8efe9784ea28" providerId="ADAL" clId="{7F5CB12F-F1A7-4EE5-ABB8-0363DEC018C4}" dt="2026-10-20T23:31:58.301" v="21" actId="26606"/>
          <ac:spMkLst>
            <pc:docMk/>
            <pc:sldMk cId="0" sldId="296"/>
            <ac:spMk id="21"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97"/>
        </pc:sldMkLst>
        <pc:spChg chg="mod">
          <ac:chgData name="Ryan Peters" userId="b1b27dc4-c154-4981-8388-8efe9784ea28" providerId="ADAL" clId="{7F5CB12F-F1A7-4EE5-ABB8-0363DEC018C4}" dt="2026-10-20T23:31:58.301" v="21" actId="26606"/>
          <ac:spMkLst>
            <pc:docMk/>
            <pc:sldMk cId="0" sldId="297"/>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98"/>
        </pc:sldMkLst>
        <pc:spChg chg="mod">
          <ac:chgData name="Ryan Peters" userId="b1b27dc4-c154-4981-8388-8efe9784ea28" providerId="ADAL" clId="{7F5CB12F-F1A7-4EE5-ABB8-0363DEC018C4}" dt="2026-10-20T23:31:58.301" v="21" actId="26606"/>
          <ac:spMkLst>
            <pc:docMk/>
            <pc:sldMk cId="0" sldId="298"/>
            <ac:spMk id="8" creationId="{00000000-0000-0000-0000-000000000000}"/>
          </ac:spMkLst>
        </pc:spChg>
        <pc:spChg chg="mod">
          <ac:chgData name="Ryan Peters" userId="b1b27dc4-c154-4981-8388-8efe9784ea28" providerId="ADAL" clId="{7F5CB12F-F1A7-4EE5-ABB8-0363DEC018C4}" dt="2026-10-20T23:32:23.661" v="23" actId="26606"/>
          <ac:spMkLst>
            <pc:docMk/>
            <pc:sldMk cId="0" sldId="298"/>
            <ac:spMk id="13" creationId="{00000000-0000-0000-0000-000000000000}"/>
          </ac:spMkLst>
        </pc:spChg>
        <pc:spChg chg="mod">
          <ac:chgData name="Ryan Peters" userId="b1b27dc4-c154-4981-8388-8efe9784ea28" providerId="ADAL" clId="{7F5CB12F-F1A7-4EE5-ABB8-0363DEC018C4}" dt="2026-10-20T23:31:58.301" v="21" actId="26606"/>
          <ac:spMkLst>
            <pc:docMk/>
            <pc:sldMk cId="0" sldId="298"/>
            <ac:spMk id="1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299"/>
        </pc:sldMkLst>
        <pc:spChg chg="mod">
          <ac:chgData name="Ryan Peters" userId="b1b27dc4-c154-4981-8388-8efe9784ea28" providerId="ADAL" clId="{7F5CB12F-F1A7-4EE5-ABB8-0363DEC018C4}" dt="2026-10-20T23:31:58.301" v="21" actId="26606"/>
          <ac:spMkLst>
            <pc:docMk/>
            <pc:sldMk cId="0" sldId="299"/>
            <ac:spMk id="8" creationId="{00000000-0000-0000-0000-000000000000}"/>
          </ac:spMkLst>
        </pc:spChg>
        <pc:spChg chg="mod">
          <ac:chgData name="Ryan Peters" userId="b1b27dc4-c154-4981-8388-8efe9784ea28" providerId="ADAL" clId="{7F5CB12F-F1A7-4EE5-ABB8-0363DEC018C4}" dt="2026-10-20T23:31:58.301" v="21" actId="26606"/>
          <ac:spMkLst>
            <pc:docMk/>
            <pc:sldMk cId="0" sldId="299"/>
            <ac:spMk id="9"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00"/>
        </pc:sldMkLst>
        <pc:spChg chg="mod">
          <ac:chgData name="Ryan Peters" userId="b1b27dc4-c154-4981-8388-8efe9784ea28" providerId="ADAL" clId="{7F5CB12F-F1A7-4EE5-ABB8-0363DEC018C4}" dt="2026-10-20T23:31:58.301" v="21" actId="26606"/>
          <ac:spMkLst>
            <pc:docMk/>
            <pc:sldMk cId="0" sldId="300"/>
            <ac:spMk id="8" creationId="{00000000-0000-0000-0000-000000000000}"/>
          </ac:spMkLst>
        </pc:spChg>
        <pc:spChg chg="mod">
          <ac:chgData name="Ryan Peters" userId="b1b27dc4-c154-4981-8388-8efe9784ea28" providerId="ADAL" clId="{7F5CB12F-F1A7-4EE5-ABB8-0363DEC018C4}" dt="2026-10-20T23:31:58.301" v="21" actId="26606"/>
          <ac:spMkLst>
            <pc:docMk/>
            <pc:sldMk cId="0" sldId="300"/>
            <ac:spMk id="26" creationId="{00000000-0000-0000-0000-000000000000}"/>
          </ac:spMkLst>
        </pc:spChg>
        <pc:spChg chg="mod">
          <ac:chgData name="Ryan Peters" userId="b1b27dc4-c154-4981-8388-8efe9784ea28" providerId="ADAL" clId="{7F5CB12F-F1A7-4EE5-ABB8-0363DEC018C4}" dt="2026-10-20T23:31:58.301" v="21" actId="26606"/>
          <ac:spMkLst>
            <pc:docMk/>
            <pc:sldMk cId="0" sldId="300"/>
            <ac:spMk id="31"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01"/>
        </pc:sldMkLst>
        <pc:spChg chg="mod">
          <ac:chgData name="Ryan Peters" userId="b1b27dc4-c154-4981-8388-8efe9784ea28" providerId="ADAL" clId="{7F5CB12F-F1A7-4EE5-ABB8-0363DEC018C4}" dt="2026-10-20T23:31:58.301" v="21" actId="26606"/>
          <ac:spMkLst>
            <pc:docMk/>
            <pc:sldMk cId="0" sldId="301"/>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02"/>
        </pc:sldMkLst>
        <pc:spChg chg="mod">
          <ac:chgData name="Ryan Peters" userId="b1b27dc4-c154-4981-8388-8efe9784ea28" providerId="ADAL" clId="{7F5CB12F-F1A7-4EE5-ABB8-0363DEC018C4}" dt="2026-10-20T23:31:58.301" v="21" actId="26606"/>
          <ac:spMkLst>
            <pc:docMk/>
            <pc:sldMk cId="0" sldId="302"/>
            <ac:spMk id="8" creationId="{00000000-0000-0000-0000-000000000000}"/>
          </ac:spMkLst>
        </pc:spChg>
        <pc:spChg chg="mod">
          <ac:chgData name="Ryan Peters" userId="b1b27dc4-c154-4981-8388-8efe9784ea28" providerId="ADAL" clId="{7F5CB12F-F1A7-4EE5-ABB8-0363DEC018C4}" dt="2026-10-20T23:32:23.661" v="23" actId="26606"/>
          <ac:spMkLst>
            <pc:docMk/>
            <pc:sldMk cId="0" sldId="302"/>
            <ac:spMk id="28" creationId="{00000000-0000-0000-0000-000000000000}"/>
          </ac:spMkLst>
        </pc:spChg>
      </pc:sldChg>
      <pc:sldChg chg="mod modClrScheme chgLayout">
        <pc:chgData name="Ryan Peters" userId="b1b27dc4-c154-4981-8388-8efe9784ea28" providerId="ADAL" clId="{7F5CB12F-F1A7-4EE5-ABB8-0363DEC018C4}" dt="2026-10-21T13:02:01.512" v="2131" actId="26606"/>
        <pc:sldMkLst>
          <pc:docMk/>
          <pc:sldMk cId="0" sldId="303"/>
        </pc:sldMkLst>
      </pc:sldChg>
      <pc:sldChg chg="modSp mod modClrScheme chgLayout">
        <pc:chgData name="Ryan Peters" userId="b1b27dc4-c154-4981-8388-8efe9784ea28" providerId="ADAL" clId="{7F5CB12F-F1A7-4EE5-ABB8-0363DEC018C4}" dt="2026-10-21T13:02:01.512" v="2131" actId="26606"/>
        <pc:sldMkLst>
          <pc:docMk/>
          <pc:sldMk cId="0" sldId="304"/>
        </pc:sldMkLst>
        <pc:spChg chg="mod">
          <ac:chgData name="Ryan Peters" userId="b1b27dc4-c154-4981-8388-8efe9784ea28" providerId="ADAL" clId="{7F5CB12F-F1A7-4EE5-ABB8-0363DEC018C4}" dt="2026-10-20T23:31:58.301" v="21" actId="26606"/>
          <ac:spMkLst>
            <pc:docMk/>
            <pc:sldMk cId="0" sldId="304"/>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05"/>
        </pc:sldMkLst>
        <pc:spChg chg="mod">
          <ac:chgData name="Ryan Peters" userId="b1b27dc4-c154-4981-8388-8efe9784ea28" providerId="ADAL" clId="{7F5CB12F-F1A7-4EE5-ABB8-0363DEC018C4}" dt="2026-10-20T23:31:58.301" v="21" actId="26606"/>
          <ac:spMkLst>
            <pc:docMk/>
            <pc:sldMk cId="0" sldId="305"/>
            <ac:spMk id="8" creationId="{00000000-0000-0000-0000-000000000000}"/>
          </ac:spMkLst>
        </pc:spChg>
        <pc:spChg chg="mod">
          <ac:chgData name="Ryan Peters" userId="b1b27dc4-c154-4981-8388-8efe9784ea28" providerId="ADAL" clId="{7F5CB12F-F1A7-4EE5-ABB8-0363DEC018C4}" dt="2026-10-20T23:31:58.301" v="21" actId="26606"/>
          <ac:spMkLst>
            <pc:docMk/>
            <pc:sldMk cId="0" sldId="305"/>
            <ac:spMk id="2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06"/>
        </pc:sldMkLst>
        <pc:spChg chg="mod">
          <ac:chgData name="Ryan Peters" userId="b1b27dc4-c154-4981-8388-8efe9784ea28" providerId="ADAL" clId="{7F5CB12F-F1A7-4EE5-ABB8-0363DEC018C4}" dt="2026-10-20T23:31:58.301" v="21" actId="26606"/>
          <ac:spMkLst>
            <pc:docMk/>
            <pc:sldMk cId="0" sldId="306"/>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07"/>
        </pc:sldMkLst>
        <pc:spChg chg="mod">
          <ac:chgData name="Ryan Peters" userId="b1b27dc4-c154-4981-8388-8efe9784ea28" providerId="ADAL" clId="{7F5CB12F-F1A7-4EE5-ABB8-0363DEC018C4}" dt="2026-10-20T23:31:58.301" v="21" actId="26606"/>
          <ac:spMkLst>
            <pc:docMk/>
            <pc:sldMk cId="0" sldId="307"/>
            <ac:spMk id="8" creationId="{00000000-0000-0000-0000-000000000000}"/>
          </ac:spMkLst>
        </pc:spChg>
        <pc:spChg chg="mod">
          <ac:chgData name="Ryan Peters" userId="b1b27dc4-c154-4981-8388-8efe9784ea28" providerId="ADAL" clId="{7F5CB12F-F1A7-4EE5-ABB8-0363DEC018C4}" dt="2026-10-20T23:31:58.301" v="21" actId="26606"/>
          <ac:spMkLst>
            <pc:docMk/>
            <pc:sldMk cId="0" sldId="307"/>
            <ac:spMk id="2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08"/>
        </pc:sldMkLst>
        <pc:spChg chg="mod">
          <ac:chgData name="Ryan Peters" userId="b1b27dc4-c154-4981-8388-8efe9784ea28" providerId="ADAL" clId="{7F5CB12F-F1A7-4EE5-ABB8-0363DEC018C4}" dt="2026-10-20T23:31:58.301" v="21" actId="26606"/>
          <ac:spMkLst>
            <pc:docMk/>
            <pc:sldMk cId="0" sldId="308"/>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09"/>
        </pc:sldMkLst>
        <pc:spChg chg="mod">
          <ac:chgData name="Ryan Peters" userId="b1b27dc4-c154-4981-8388-8efe9784ea28" providerId="ADAL" clId="{7F5CB12F-F1A7-4EE5-ABB8-0363DEC018C4}" dt="2026-10-20T23:31:58.301" v="21" actId="26606"/>
          <ac:spMkLst>
            <pc:docMk/>
            <pc:sldMk cId="0" sldId="309"/>
            <ac:spMk id="8" creationId="{00000000-0000-0000-0000-000000000000}"/>
          </ac:spMkLst>
        </pc:spChg>
        <pc:spChg chg="mod">
          <ac:chgData name="Ryan Peters" userId="b1b27dc4-c154-4981-8388-8efe9784ea28" providerId="ADAL" clId="{7F5CB12F-F1A7-4EE5-ABB8-0363DEC018C4}" dt="2026-10-20T23:31:58.301" v="21" actId="26606"/>
          <ac:spMkLst>
            <pc:docMk/>
            <pc:sldMk cId="0" sldId="309"/>
            <ac:spMk id="2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10"/>
        </pc:sldMkLst>
        <pc:spChg chg="mod">
          <ac:chgData name="Ryan Peters" userId="b1b27dc4-c154-4981-8388-8efe9784ea28" providerId="ADAL" clId="{7F5CB12F-F1A7-4EE5-ABB8-0363DEC018C4}" dt="2026-10-20T23:31:58.301" v="21" actId="26606"/>
          <ac:spMkLst>
            <pc:docMk/>
            <pc:sldMk cId="0" sldId="310"/>
            <ac:spMk id="8" creationId="{00000000-0000-0000-0000-000000000000}"/>
          </ac:spMkLst>
        </pc:spChg>
        <pc:spChg chg="mod">
          <ac:chgData name="Ryan Peters" userId="b1b27dc4-c154-4981-8388-8efe9784ea28" providerId="ADAL" clId="{7F5CB12F-F1A7-4EE5-ABB8-0363DEC018C4}" dt="2026-10-20T23:31:58.301" v="21" actId="26606"/>
          <ac:spMkLst>
            <pc:docMk/>
            <pc:sldMk cId="0" sldId="310"/>
            <ac:spMk id="14" creationId="{00000000-0000-0000-0000-000000000000}"/>
          </ac:spMkLst>
        </pc:spChg>
        <pc:spChg chg="mod">
          <ac:chgData name="Ryan Peters" userId="b1b27dc4-c154-4981-8388-8efe9784ea28" providerId="ADAL" clId="{7F5CB12F-F1A7-4EE5-ABB8-0363DEC018C4}" dt="2026-10-20T23:31:58.301" v="21" actId="26606"/>
          <ac:spMkLst>
            <pc:docMk/>
            <pc:sldMk cId="0" sldId="310"/>
            <ac:spMk id="31"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11"/>
        </pc:sldMkLst>
        <pc:spChg chg="mod">
          <ac:chgData name="Ryan Peters" userId="b1b27dc4-c154-4981-8388-8efe9784ea28" providerId="ADAL" clId="{7F5CB12F-F1A7-4EE5-ABB8-0363DEC018C4}" dt="2026-10-20T23:31:58.301" v="21" actId="26606"/>
          <ac:spMkLst>
            <pc:docMk/>
            <pc:sldMk cId="0" sldId="311"/>
            <ac:spMk id="8" creationId="{00000000-0000-0000-0000-000000000000}"/>
          </ac:spMkLst>
        </pc:spChg>
        <pc:spChg chg="mod">
          <ac:chgData name="Ryan Peters" userId="b1b27dc4-c154-4981-8388-8efe9784ea28" providerId="ADAL" clId="{7F5CB12F-F1A7-4EE5-ABB8-0363DEC018C4}" dt="2026-10-20T23:31:58.301" v="21" actId="26606"/>
          <ac:spMkLst>
            <pc:docMk/>
            <pc:sldMk cId="0" sldId="311"/>
            <ac:spMk id="15"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12"/>
        </pc:sldMkLst>
        <pc:spChg chg="mod">
          <ac:chgData name="Ryan Peters" userId="b1b27dc4-c154-4981-8388-8efe9784ea28" providerId="ADAL" clId="{7F5CB12F-F1A7-4EE5-ABB8-0363DEC018C4}" dt="2026-10-20T23:31:58.301" v="21" actId="26606"/>
          <ac:spMkLst>
            <pc:docMk/>
            <pc:sldMk cId="0" sldId="312"/>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13"/>
        </pc:sldMkLst>
        <pc:spChg chg="mod">
          <ac:chgData name="Ryan Peters" userId="b1b27dc4-c154-4981-8388-8efe9784ea28" providerId="ADAL" clId="{7F5CB12F-F1A7-4EE5-ABB8-0363DEC018C4}" dt="2026-10-20T23:31:58.301" v="21" actId="26606"/>
          <ac:spMkLst>
            <pc:docMk/>
            <pc:sldMk cId="0" sldId="313"/>
            <ac:spMk id="8" creationId="{00000000-0000-0000-0000-000000000000}"/>
          </ac:spMkLst>
        </pc:spChg>
      </pc:sldChg>
      <pc:sldChg chg="mod modClrScheme chgLayout">
        <pc:chgData name="Ryan Peters" userId="b1b27dc4-c154-4981-8388-8efe9784ea28" providerId="ADAL" clId="{7F5CB12F-F1A7-4EE5-ABB8-0363DEC018C4}" dt="2026-10-21T13:02:01.512" v="2131" actId="26606"/>
        <pc:sldMkLst>
          <pc:docMk/>
          <pc:sldMk cId="0" sldId="314"/>
        </pc:sldMkLst>
      </pc:sldChg>
      <pc:sldChg chg="modSp mod modClrScheme chgLayout">
        <pc:chgData name="Ryan Peters" userId="b1b27dc4-c154-4981-8388-8efe9784ea28" providerId="ADAL" clId="{7F5CB12F-F1A7-4EE5-ABB8-0363DEC018C4}" dt="2026-10-21T13:02:01.512" v="2131" actId="26606"/>
        <pc:sldMkLst>
          <pc:docMk/>
          <pc:sldMk cId="0" sldId="315"/>
        </pc:sldMkLst>
        <pc:spChg chg="mod">
          <ac:chgData name="Ryan Peters" userId="b1b27dc4-c154-4981-8388-8efe9784ea28" providerId="ADAL" clId="{7F5CB12F-F1A7-4EE5-ABB8-0363DEC018C4}" dt="2026-10-20T23:31:58.301" v="21" actId="26606"/>
          <ac:spMkLst>
            <pc:docMk/>
            <pc:sldMk cId="0" sldId="315"/>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16"/>
        </pc:sldMkLst>
        <pc:spChg chg="mod">
          <ac:chgData name="Ryan Peters" userId="b1b27dc4-c154-4981-8388-8efe9784ea28" providerId="ADAL" clId="{7F5CB12F-F1A7-4EE5-ABB8-0363DEC018C4}" dt="2026-10-20T23:31:58.301" v="21" actId="26606"/>
          <ac:spMkLst>
            <pc:docMk/>
            <pc:sldMk cId="0" sldId="316"/>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17"/>
        </pc:sldMkLst>
        <pc:spChg chg="mod">
          <ac:chgData name="Ryan Peters" userId="b1b27dc4-c154-4981-8388-8efe9784ea28" providerId="ADAL" clId="{7F5CB12F-F1A7-4EE5-ABB8-0363DEC018C4}" dt="2026-10-20T23:31:58.301" v="21" actId="26606"/>
          <ac:spMkLst>
            <pc:docMk/>
            <pc:sldMk cId="0" sldId="317"/>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18"/>
        </pc:sldMkLst>
        <pc:spChg chg="mod">
          <ac:chgData name="Ryan Peters" userId="b1b27dc4-c154-4981-8388-8efe9784ea28" providerId="ADAL" clId="{7F5CB12F-F1A7-4EE5-ABB8-0363DEC018C4}" dt="2026-10-20T23:31:58.301" v="21" actId="26606"/>
          <ac:spMkLst>
            <pc:docMk/>
            <pc:sldMk cId="0" sldId="318"/>
            <ac:spMk id="8" creationId="{00000000-0000-0000-0000-000000000000}"/>
          </ac:spMkLst>
        </pc:spChg>
        <pc:spChg chg="mod">
          <ac:chgData name="Ryan Peters" userId="b1b27dc4-c154-4981-8388-8efe9784ea28" providerId="ADAL" clId="{7F5CB12F-F1A7-4EE5-ABB8-0363DEC018C4}" dt="2026-10-20T23:31:58.301" v="21" actId="26606"/>
          <ac:spMkLst>
            <pc:docMk/>
            <pc:sldMk cId="0" sldId="318"/>
            <ac:spMk id="14" creationId="{00000000-0000-0000-0000-000000000000}"/>
          </ac:spMkLst>
        </pc:spChg>
        <pc:spChg chg="mod">
          <ac:chgData name="Ryan Peters" userId="b1b27dc4-c154-4981-8388-8efe9784ea28" providerId="ADAL" clId="{7F5CB12F-F1A7-4EE5-ABB8-0363DEC018C4}" dt="2026-10-20T23:31:58.301" v="21" actId="26606"/>
          <ac:spMkLst>
            <pc:docMk/>
            <pc:sldMk cId="0" sldId="318"/>
            <ac:spMk id="29"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19"/>
        </pc:sldMkLst>
        <pc:spChg chg="mod">
          <ac:chgData name="Ryan Peters" userId="b1b27dc4-c154-4981-8388-8efe9784ea28" providerId="ADAL" clId="{7F5CB12F-F1A7-4EE5-ABB8-0363DEC018C4}" dt="2026-10-20T23:31:58.301" v="21" actId="26606"/>
          <ac:spMkLst>
            <pc:docMk/>
            <pc:sldMk cId="0" sldId="319"/>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0"/>
        </pc:sldMkLst>
        <pc:spChg chg="mod">
          <ac:chgData name="Ryan Peters" userId="b1b27dc4-c154-4981-8388-8efe9784ea28" providerId="ADAL" clId="{7F5CB12F-F1A7-4EE5-ABB8-0363DEC018C4}" dt="2026-10-20T23:31:58.301" v="21" actId="26606"/>
          <ac:spMkLst>
            <pc:docMk/>
            <pc:sldMk cId="0" sldId="320"/>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1"/>
        </pc:sldMkLst>
        <pc:spChg chg="mod">
          <ac:chgData name="Ryan Peters" userId="b1b27dc4-c154-4981-8388-8efe9784ea28" providerId="ADAL" clId="{7F5CB12F-F1A7-4EE5-ABB8-0363DEC018C4}" dt="2026-10-20T23:31:58.301" v="21" actId="26606"/>
          <ac:spMkLst>
            <pc:docMk/>
            <pc:sldMk cId="0" sldId="321"/>
            <ac:spMk id="8" creationId="{00000000-0000-0000-0000-000000000000}"/>
          </ac:spMkLst>
        </pc:spChg>
        <pc:spChg chg="mod">
          <ac:chgData name="Ryan Peters" userId="b1b27dc4-c154-4981-8388-8efe9784ea28" providerId="ADAL" clId="{7F5CB12F-F1A7-4EE5-ABB8-0363DEC018C4}" dt="2026-10-20T23:32:23.661" v="23" actId="26606"/>
          <ac:spMkLst>
            <pc:docMk/>
            <pc:sldMk cId="0" sldId="321"/>
            <ac:spMk id="14" creationId="{00000000-0000-0000-0000-000000000000}"/>
          </ac:spMkLst>
        </pc:spChg>
        <pc:spChg chg="mod">
          <ac:chgData name="Ryan Peters" userId="b1b27dc4-c154-4981-8388-8efe9784ea28" providerId="ADAL" clId="{7F5CB12F-F1A7-4EE5-ABB8-0363DEC018C4}" dt="2026-10-20T23:32:23.661" v="23" actId="26606"/>
          <ac:spMkLst>
            <pc:docMk/>
            <pc:sldMk cId="0" sldId="321"/>
            <ac:spMk id="19"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2"/>
        </pc:sldMkLst>
        <pc:spChg chg="mod">
          <ac:chgData name="Ryan Peters" userId="b1b27dc4-c154-4981-8388-8efe9784ea28" providerId="ADAL" clId="{7F5CB12F-F1A7-4EE5-ABB8-0363DEC018C4}" dt="2026-10-20T23:31:58.301" v="21" actId="26606"/>
          <ac:spMkLst>
            <pc:docMk/>
            <pc:sldMk cId="0" sldId="322"/>
            <ac:spMk id="8" creationId="{00000000-0000-0000-0000-000000000000}"/>
          </ac:spMkLst>
        </pc:spChg>
        <pc:spChg chg="mod">
          <ac:chgData name="Ryan Peters" userId="b1b27dc4-c154-4981-8388-8efe9784ea28" providerId="ADAL" clId="{7F5CB12F-F1A7-4EE5-ABB8-0363DEC018C4}" dt="2026-10-20T23:31:58.301" v="21" actId="26606"/>
          <ac:spMkLst>
            <pc:docMk/>
            <pc:sldMk cId="0" sldId="322"/>
            <ac:spMk id="1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3"/>
        </pc:sldMkLst>
        <pc:spChg chg="mod">
          <ac:chgData name="Ryan Peters" userId="b1b27dc4-c154-4981-8388-8efe9784ea28" providerId="ADAL" clId="{7F5CB12F-F1A7-4EE5-ABB8-0363DEC018C4}" dt="2026-10-20T23:31:58.301" v="21" actId="26606"/>
          <ac:spMkLst>
            <pc:docMk/>
            <pc:sldMk cId="0" sldId="323"/>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4"/>
        </pc:sldMkLst>
        <pc:spChg chg="mod">
          <ac:chgData name="Ryan Peters" userId="b1b27dc4-c154-4981-8388-8efe9784ea28" providerId="ADAL" clId="{7F5CB12F-F1A7-4EE5-ABB8-0363DEC018C4}" dt="2026-10-20T23:31:58.301" v="21" actId="26606"/>
          <ac:spMkLst>
            <pc:docMk/>
            <pc:sldMk cId="0" sldId="324"/>
            <ac:spMk id="8" creationId="{00000000-0000-0000-0000-000000000000}"/>
          </ac:spMkLst>
        </pc:spChg>
        <pc:spChg chg="mod">
          <ac:chgData name="Ryan Peters" userId="b1b27dc4-c154-4981-8388-8efe9784ea28" providerId="ADAL" clId="{7F5CB12F-F1A7-4EE5-ABB8-0363DEC018C4}" dt="2026-10-20T23:31:58.301" v="21" actId="26606"/>
          <ac:spMkLst>
            <pc:docMk/>
            <pc:sldMk cId="0" sldId="324"/>
            <ac:spMk id="1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5"/>
        </pc:sldMkLst>
        <pc:spChg chg="mod">
          <ac:chgData name="Ryan Peters" userId="b1b27dc4-c154-4981-8388-8efe9784ea28" providerId="ADAL" clId="{7F5CB12F-F1A7-4EE5-ABB8-0363DEC018C4}" dt="2026-10-20T23:31:58.301" v="21" actId="26606"/>
          <ac:spMkLst>
            <pc:docMk/>
            <pc:sldMk cId="0" sldId="325"/>
            <ac:spMk id="8" creationId="{00000000-0000-0000-0000-000000000000}"/>
          </ac:spMkLst>
        </pc:spChg>
        <pc:spChg chg="mod">
          <ac:chgData name="Ryan Peters" userId="b1b27dc4-c154-4981-8388-8efe9784ea28" providerId="ADAL" clId="{7F5CB12F-F1A7-4EE5-ABB8-0363DEC018C4}" dt="2026-10-20T23:31:58.301" v="21" actId="26606"/>
          <ac:spMkLst>
            <pc:docMk/>
            <pc:sldMk cId="0" sldId="325"/>
            <ac:spMk id="24"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6"/>
        </pc:sldMkLst>
        <pc:spChg chg="mod">
          <ac:chgData name="Ryan Peters" userId="b1b27dc4-c154-4981-8388-8efe9784ea28" providerId="ADAL" clId="{7F5CB12F-F1A7-4EE5-ABB8-0363DEC018C4}" dt="2026-10-20T23:31:58.301" v="21" actId="26606"/>
          <ac:spMkLst>
            <pc:docMk/>
            <pc:sldMk cId="0" sldId="326"/>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7"/>
        </pc:sldMkLst>
        <pc:spChg chg="mod">
          <ac:chgData name="Ryan Peters" userId="b1b27dc4-c154-4981-8388-8efe9784ea28" providerId="ADAL" clId="{7F5CB12F-F1A7-4EE5-ABB8-0363DEC018C4}" dt="2026-10-20T23:31:58.301" v="21" actId="26606"/>
          <ac:spMkLst>
            <pc:docMk/>
            <pc:sldMk cId="0" sldId="327"/>
            <ac:spMk id="8" creationId="{00000000-0000-0000-0000-000000000000}"/>
          </ac:spMkLst>
        </pc:spChg>
        <pc:graphicFrameChg chg="mod modGraphic">
          <ac:chgData name="Ryan Peters" userId="b1b27dc4-c154-4981-8388-8efe9784ea28" providerId="ADAL" clId="{7F5CB12F-F1A7-4EE5-ABB8-0363DEC018C4}" dt="2026-10-20T23:32:23.661" v="23" actId="26606"/>
          <ac:graphicFrameMkLst>
            <pc:docMk/>
            <pc:sldMk cId="0" sldId="327"/>
            <ac:graphicFrameMk id="51" creationId="{00000000-0000-0000-0000-000000000000}"/>
          </ac:graphicFrameMkLst>
        </pc:graphicFrameChg>
      </pc:sldChg>
      <pc:sldChg chg="modSp mod modClrScheme chgLayout">
        <pc:chgData name="Ryan Peters" userId="b1b27dc4-c154-4981-8388-8efe9784ea28" providerId="ADAL" clId="{7F5CB12F-F1A7-4EE5-ABB8-0363DEC018C4}" dt="2026-10-21T13:02:01.512" v="2131" actId="26606"/>
        <pc:sldMkLst>
          <pc:docMk/>
          <pc:sldMk cId="0" sldId="328"/>
        </pc:sldMkLst>
        <pc:spChg chg="mod">
          <ac:chgData name="Ryan Peters" userId="b1b27dc4-c154-4981-8388-8efe9784ea28" providerId="ADAL" clId="{7F5CB12F-F1A7-4EE5-ABB8-0363DEC018C4}" dt="2026-10-20T23:31:58.301" v="21" actId="26606"/>
          <ac:spMkLst>
            <pc:docMk/>
            <pc:sldMk cId="0" sldId="328"/>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29"/>
        </pc:sldMkLst>
        <pc:spChg chg="mod">
          <ac:chgData name="Ryan Peters" userId="b1b27dc4-c154-4981-8388-8efe9784ea28" providerId="ADAL" clId="{7F5CB12F-F1A7-4EE5-ABB8-0363DEC018C4}" dt="2026-10-20T23:31:58.301" v="21" actId="26606"/>
          <ac:spMkLst>
            <pc:docMk/>
            <pc:sldMk cId="0" sldId="329"/>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30"/>
        </pc:sldMkLst>
        <pc:spChg chg="mod">
          <ac:chgData name="Ryan Peters" userId="b1b27dc4-c154-4981-8388-8efe9784ea28" providerId="ADAL" clId="{7F5CB12F-F1A7-4EE5-ABB8-0363DEC018C4}" dt="2026-10-20T23:31:58.301" v="21" actId="26606"/>
          <ac:spMkLst>
            <pc:docMk/>
            <pc:sldMk cId="0" sldId="330"/>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31"/>
        </pc:sldMkLst>
        <pc:spChg chg="mod">
          <ac:chgData name="Ryan Peters" userId="b1b27dc4-c154-4981-8388-8efe9784ea28" providerId="ADAL" clId="{7F5CB12F-F1A7-4EE5-ABB8-0363DEC018C4}" dt="2026-10-20T23:31:58.301" v="21" actId="26606"/>
          <ac:spMkLst>
            <pc:docMk/>
            <pc:sldMk cId="0" sldId="331"/>
            <ac:spMk id="10"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32"/>
        </pc:sldMkLst>
        <pc:spChg chg="mod">
          <ac:chgData name="Ryan Peters" userId="b1b27dc4-c154-4981-8388-8efe9784ea28" providerId="ADAL" clId="{7F5CB12F-F1A7-4EE5-ABB8-0363DEC018C4}" dt="2026-10-20T23:31:58.301" v="21" actId="26606"/>
          <ac:spMkLst>
            <pc:docMk/>
            <pc:sldMk cId="0" sldId="332"/>
            <ac:spMk id="8" creationId="{00000000-0000-0000-0000-000000000000}"/>
          </ac:spMkLst>
        </pc:spChg>
      </pc:sldChg>
      <pc:sldChg chg="modSp mod modClrScheme chgLayout">
        <pc:chgData name="Ryan Peters" userId="b1b27dc4-c154-4981-8388-8efe9784ea28" providerId="ADAL" clId="{7F5CB12F-F1A7-4EE5-ABB8-0363DEC018C4}" dt="2026-10-21T13:02:01.512" v="2131" actId="26606"/>
        <pc:sldMkLst>
          <pc:docMk/>
          <pc:sldMk cId="0" sldId="333"/>
        </pc:sldMkLst>
        <pc:spChg chg="mod">
          <ac:chgData name="Ryan Peters" userId="b1b27dc4-c154-4981-8388-8efe9784ea28" providerId="ADAL" clId="{7F5CB12F-F1A7-4EE5-ABB8-0363DEC018C4}" dt="2026-10-20T23:31:58.301" v="21" actId="26606"/>
          <ac:spMkLst>
            <pc:docMk/>
            <pc:sldMk cId="0" sldId="333"/>
            <ac:spMk id="8" creationId="{00000000-0000-0000-0000-000000000000}"/>
          </ac:spMkLst>
        </pc:spChg>
      </pc:sldChg>
      <pc:sldChg chg="modSp add mod modClrScheme chgLayout">
        <pc:chgData name="Ryan Peters" userId="b1b27dc4-c154-4981-8388-8efe9784ea28" providerId="ADAL" clId="{7F5CB12F-F1A7-4EE5-ABB8-0363DEC018C4}" dt="2026-10-21T13:02:01.512" v="2131" actId="26606"/>
        <pc:sldMkLst>
          <pc:docMk/>
          <pc:sldMk cId="721480944" sldId="334"/>
        </pc:sldMkLst>
        <pc:spChg chg="mod">
          <ac:chgData name="Ryan Peters" userId="b1b27dc4-c154-4981-8388-8efe9784ea28" providerId="ADAL" clId="{7F5CB12F-F1A7-4EE5-ABB8-0363DEC018C4}" dt="2026-10-20T23:31:58.301" v="21" actId="26606"/>
          <ac:spMkLst>
            <pc:docMk/>
            <pc:sldMk cId="721480944" sldId="334"/>
            <ac:spMk id="13" creationId="{00000000-0000-0000-0000-000000000000}"/>
          </ac:spMkLst>
        </pc:spChg>
        <pc:spChg chg="add mod">
          <ac:chgData name="Ryan Peters" userId="b1b27dc4-c154-4981-8388-8efe9784ea28" providerId="ADAL" clId="{7F5CB12F-F1A7-4EE5-ABB8-0363DEC018C4}" dt="2026-10-21T13:02:01.512" v="2131" actId="26606"/>
          <ac:spMkLst>
            <pc:docMk/>
            <pc:sldMk cId="721480944" sldId="334"/>
            <ac:spMk id="25" creationId="{00000000-0000-0000-0000-000000000000}"/>
          </ac:spMkLst>
        </pc:spChg>
      </pc:sldChg>
      <pc:sldChg chg="modSp add mod modClrScheme chgLayout">
        <pc:chgData name="Ryan Peters" userId="b1b27dc4-c154-4981-8388-8efe9784ea28" providerId="ADAL" clId="{7F5CB12F-F1A7-4EE5-ABB8-0363DEC018C4}" dt="2026-10-21T13:02:01.512" v="2131" actId="26606"/>
        <pc:sldMkLst>
          <pc:docMk/>
          <pc:sldMk cId="188131285" sldId="335"/>
        </pc:sldMkLst>
        <pc:spChg chg="mod">
          <ac:chgData name="Ryan Peters" userId="b1b27dc4-c154-4981-8388-8efe9784ea28" providerId="ADAL" clId="{7F5CB12F-F1A7-4EE5-ABB8-0363DEC018C4}" dt="2026-10-20T22:13:09.914" v="7" actId="26606"/>
          <ac:spMkLst>
            <pc:docMk/>
            <pc:sldMk cId="188131285" sldId="335"/>
            <ac:spMk id="17" creationId="{00000000-0000-0000-0000-000000000000}"/>
          </ac:spMkLst>
        </pc:spChg>
        <pc:spChg chg="add mod">
          <ac:chgData name="Ryan Peters" userId="b1b27dc4-c154-4981-8388-8efe9784ea28" providerId="ADAL" clId="{7F5CB12F-F1A7-4EE5-ABB8-0363DEC018C4}" dt="2026-10-21T13:02:01.512" v="2131" actId="26606"/>
          <ac:spMkLst>
            <pc:docMk/>
            <pc:sldMk cId="188131285" sldId="335"/>
            <ac:spMk id="25" creationId="{00000000-0000-0000-0000-000000000000}"/>
          </ac:spMkLst>
        </pc:spChg>
      </pc:sldChg>
      <pc:sldChg chg="modSp add mod modClrScheme chgLayout">
        <pc:chgData name="Ryan Peters" userId="b1b27dc4-c154-4981-8388-8efe9784ea28" providerId="ADAL" clId="{7F5CB12F-F1A7-4EE5-ABB8-0363DEC018C4}" dt="2026-10-21T13:02:01.512" v="2131" actId="26606"/>
        <pc:sldMkLst>
          <pc:docMk/>
          <pc:sldMk cId="0" sldId="336"/>
        </pc:sldMkLst>
        <pc:spChg chg="mod">
          <ac:chgData name="Ryan Peters" userId="b1b27dc4-c154-4981-8388-8efe9784ea28" providerId="ADAL" clId="{7F5CB12F-F1A7-4EE5-ABB8-0363DEC018C4}" dt="2026-10-20T23:31:58.301" v="21" actId="26606"/>
          <ac:spMkLst>
            <pc:docMk/>
            <pc:sldMk cId="0" sldId="336"/>
            <ac:spMk id="8" creationId="{00000000-0000-0000-0000-000000000000}"/>
          </ac:spMkLst>
        </pc:spChg>
        <pc:spChg chg="mod">
          <ac:chgData name="Ryan Peters" userId="b1b27dc4-c154-4981-8388-8efe9784ea28" providerId="ADAL" clId="{7F5CB12F-F1A7-4EE5-ABB8-0363DEC018C4}" dt="2026-10-20T23:31:58.301" v="21" actId="26606"/>
          <ac:spMkLst>
            <pc:docMk/>
            <pc:sldMk cId="0" sldId="336"/>
            <ac:spMk id="14" creationId="{00000000-0000-0000-0000-000000000000}"/>
          </ac:spMkLst>
        </pc:spChg>
      </pc:sldChg>
      <pc:sldChg chg="modSp add mod modClrScheme chgLayout">
        <pc:chgData name="Ryan Peters" userId="b1b27dc4-c154-4981-8388-8efe9784ea28" providerId="ADAL" clId="{7F5CB12F-F1A7-4EE5-ABB8-0363DEC018C4}" dt="2026-10-21T13:02:01.512" v="2131" actId="26606"/>
        <pc:sldMkLst>
          <pc:docMk/>
          <pc:sldMk cId="0" sldId="337"/>
        </pc:sldMkLst>
        <pc:spChg chg="mod">
          <ac:chgData name="Ryan Peters" userId="b1b27dc4-c154-4981-8388-8efe9784ea28" providerId="ADAL" clId="{7F5CB12F-F1A7-4EE5-ABB8-0363DEC018C4}" dt="2026-10-20T23:31:58.301" v="21" actId="26606"/>
          <ac:spMkLst>
            <pc:docMk/>
            <pc:sldMk cId="0" sldId="337"/>
            <ac:spMk id="8" creationId="{00000000-0000-0000-0000-000000000000}"/>
          </ac:spMkLst>
        </pc:spChg>
        <pc:spChg chg="mod">
          <ac:chgData name="Ryan Peters" userId="b1b27dc4-c154-4981-8388-8efe9784ea28" providerId="ADAL" clId="{7F5CB12F-F1A7-4EE5-ABB8-0363DEC018C4}" dt="2026-10-20T23:00:59.120" v="17" actId="26606"/>
          <ac:spMkLst>
            <pc:docMk/>
            <pc:sldMk cId="0" sldId="337"/>
            <ac:spMk id="24" creationId="{00000000-0000-0000-0000-000000000000}"/>
          </ac:spMkLst>
        </pc:spChg>
      </pc:sldChg>
      <pc:sldMasterChg chg="add addSldLayout delSldLayout modSldLayout sldLayoutOrd">
        <pc:chgData name="Ryan Peters" userId="b1b27dc4-c154-4981-8388-8efe9784ea28" providerId="ADAL" clId="{7F5CB12F-F1A7-4EE5-ABB8-0363DEC018C4}" dt="2026-10-21T13:02:01.512" v="2131" actId="26606"/>
        <pc:sldMasterMkLst>
          <pc:docMk/>
          <pc:sldMasterMk cId="0" sldId="2147483648"/>
        </pc:sldMasterMkLst>
        <pc:sldLayoutChg chg="add">
          <pc:chgData name="Ryan Peters" userId="b1b27dc4-c154-4981-8388-8efe9784ea28" providerId="ADAL" clId="{7F5CB12F-F1A7-4EE5-ABB8-0363DEC018C4}" dt="2026-10-21T13:02:01.512" v="2131" actId="26606"/>
          <pc:sldLayoutMkLst>
            <pc:docMk/>
            <pc:sldMasterMk cId="0" sldId="2147483648"/>
            <pc:sldLayoutMk cId="0" sldId="2147483649"/>
          </pc:sldLayoutMkLst>
        </pc:sldLayoutChg>
        <pc:sldLayoutChg chg="modSp del mod ord">
          <pc:chgData name="Ryan Peters" userId="b1b27dc4-c154-4981-8388-8efe9784ea28" providerId="ADAL" clId="{7F5CB12F-F1A7-4EE5-ABB8-0363DEC018C4}" dt="2026-10-21T13:02:01.512" v="2131" actId="26606"/>
          <pc:sldLayoutMkLst>
            <pc:docMk/>
            <pc:sldMasterMk cId="0" sldId="2147483648"/>
            <pc:sldLayoutMk cId="0" sldId="2147483651"/>
          </pc:sldLayoutMkLst>
          <pc:spChg chg="mod">
            <ac:chgData name="Ryan Peters" userId="b1b27dc4-c154-4981-8388-8efe9784ea28" providerId="ADAL" clId="{7F5CB12F-F1A7-4EE5-ABB8-0363DEC018C4}" dt="2026-10-21T13:02:01.512" v="2131" actId="26606"/>
            <ac:spMkLst>
              <pc:docMk/>
              <pc:sldMasterMk cId="0" sldId="2147483648"/>
              <pc:sldLayoutMk cId="0" sldId="2147483651"/>
              <ac:spMk id="25" creationId="{00000000-0000-0000-0000-000000000000}"/>
            </ac:spMkLst>
          </pc:spChg>
        </pc:sldLayoutChg>
      </pc:sldMasterChg>
      <pc:sldMasterChg chg="add del replId addSldLayout delSldLayout modSldLayout sldLayoutOrd">
        <pc:chgData name="Ryan Peters" userId="b1b27dc4-c154-4981-8388-8efe9784ea28" providerId="ADAL" clId="{7F5CB12F-F1A7-4EE5-ABB8-0363DEC018C4}" dt="2026-10-20T23:31:58.301" v="21" actId="26606"/>
        <pc:sldMasterMkLst>
          <pc:docMk/>
          <pc:sldMasterMk cId="0" sldId="2147483650"/>
        </pc:sldMasterMkLst>
        <pc:sldLayoutChg chg="add replId">
          <pc:chgData name="Ryan Peters" userId="b1b27dc4-c154-4981-8388-8efe9784ea28" providerId="ADAL" clId="{7F5CB12F-F1A7-4EE5-ABB8-0363DEC018C4}" dt="2026-10-20T23:31:58.002" v="20" actId="26606"/>
          <pc:sldLayoutMkLst>
            <pc:docMk/>
            <pc:sldMasterMk cId="0" sldId="2147483650"/>
            <pc:sldLayoutMk cId="0" sldId="2147483651"/>
          </pc:sldLayoutMkLst>
        </pc:sldLayoutChg>
        <pc:sldLayoutChg chg="modSp del mod ord">
          <pc:chgData name="Ryan Peters" userId="b1b27dc4-c154-4981-8388-8efe9784ea28" providerId="ADAL" clId="{7F5CB12F-F1A7-4EE5-ABB8-0363DEC018C4}" dt="2026-10-20T23:01:15.679" v="19" actId="26606"/>
          <pc:sldLayoutMkLst>
            <pc:docMk/>
            <pc:sldMasterMk cId="0" sldId="2147483650"/>
            <pc:sldLayoutMk cId="0" sldId="2147483651"/>
          </pc:sldLayoutMkLst>
          <pc:spChg chg="mod">
            <ac:chgData name="Ryan Peters" userId="b1b27dc4-c154-4981-8388-8efe9784ea28" providerId="ADAL" clId="{7F5CB12F-F1A7-4EE5-ABB8-0363DEC018C4}" dt="2026-10-20T23:01:15.679" v="19" actId="26606"/>
            <ac:spMkLst>
              <pc:docMk/>
              <pc:sldMasterMk cId="0" sldId="2147483650"/>
              <pc:sldLayoutMk cId="0" sldId="2147483651"/>
              <ac:spMk id="25" creationId="{00000000-0000-0000-0000-000000000000}"/>
            </ac:spMkLst>
          </pc:spChg>
        </pc:sldLayoutChg>
      </pc:sldMasterChg>
      <pc:sldMasterChg chg="add del replId addSldLayout delSldLayout modSldLayout sldLayoutOrd">
        <pc:chgData name="Ryan Peters" userId="b1b27dc4-c154-4981-8388-8efe9784ea28" providerId="ADAL" clId="{7F5CB12F-F1A7-4EE5-ABB8-0363DEC018C4}" dt="2026-10-20T23:00:59.120" v="17" actId="26606"/>
        <pc:sldMasterMkLst>
          <pc:docMk/>
          <pc:sldMasterMk cId="0" sldId="2147483650"/>
        </pc:sldMasterMkLst>
        <pc:sldLayoutChg chg="add replId">
          <pc:chgData name="Ryan Peters" userId="b1b27dc4-c154-4981-8388-8efe9784ea28" providerId="ADAL" clId="{7F5CB12F-F1A7-4EE5-ABB8-0363DEC018C4}" dt="2026-10-20T23:00:59.046" v="16" actId="26606"/>
          <pc:sldLayoutMkLst>
            <pc:docMk/>
            <pc:sldMasterMk cId="0" sldId="2147483650"/>
            <pc:sldLayoutMk cId="0" sldId="2147483651"/>
          </pc:sldLayoutMkLst>
        </pc:sldLayoutChg>
        <pc:sldLayoutChg chg="modSp del mod ord">
          <pc:chgData name="Ryan Peters" userId="b1b27dc4-c154-4981-8388-8efe9784ea28" providerId="ADAL" clId="{7F5CB12F-F1A7-4EE5-ABB8-0363DEC018C4}" dt="2026-10-20T22:50:59.652" v="15" actId="26606"/>
          <pc:sldLayoutMkLst>
            <pc:docMk/>
            <pc:sldMasterMk cId="0" sldId="2147483650"/>
            <pc:sldLayoutMk cId="0" sldId="2147483651"/>
          </pc:sldLayoutMkLst>
          <pc:spChg chg="mod">
            <ac:chgData name="Ryan Peters" userId="b1b27dc4-c154-4981-8388-8efe9784ea28" providerId="ADAL" clId="{7F5CB12F-F1A7-4EE5-ABB8-0363DEC018C4}" dt="2026-10-20T22:50:59.652" v="15" actId="26606"/>
            <ac:spMkLst>
              <pc:docMk/>
              <pc:sldMasterMk cId="0" sldId="2147483650"/>
              <pc:sldLayoutMk cId="0" sldId="2147483651"/>
              <ac:spMk id="25" creationId="{00000000-0000-0000-0000-000000000000}"/>
            </ac:spMkLst>
          </pc:spChg>
        </pc:sldLayoutChg>
      </pc:sldMasterChg>
      <pc:sldMasterChg chg="add del replId addSldLayout delSldLayout modSldLayout sldLayoutOrd">
        <pc:chgData name="Ryan Peters" userId="b1b27dc4-c154-4981-8388-8efe9784ea28" providerId="ADAL" clId="{7F5CB12F-F1A7-4EE5-ABB8-0363DEC018C4}" dt="2026-10-20T23:01:15.679" v="19" actId="26606"/>
        <pc:sldMasterMkLst>
          <pc:docMk/>
          <pc:sldMasterMk cId="0" sldId="2147483650"/>
        </pc:sldMasterMkLst>
        <pc:sldLayoutChg chg="modSp del mod ord">
          <pc:chgData name="Ryan Peters" userId="b1b27dc4-c154-4981-8388-8efe9784ea28" providerId="ADAL" clId="{7F5CB12F-F1A7-4EE5-ABB8-0363DEC018C4}" dt="2026-10-20T23:00:59.120" v="17" actId="26606"/>
          <pc:sldLayoutMkLst>
            <pc:docMk/>
            <pc:sldMasterMk cId="0" sldId="2147483650"/>
            <pc:sldLayoutMk cId="0" sldId="2147483651"/>
          </pc:sldLayoutMkLst>
          <pc:spChg chg="mod">
            <ac:chgData name="Ryan Peters" userId="b1b27dc4-c154-4981-8388-8efe9784ea28" providerId="ADAL" clId="{7F5CB12F-F1A7-4EE5-ABB8-0363DEC018C4}" dt="2026-10-20T23:00:59.120" v="17"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0T23:01:15.576" v="18"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0T22:50:35.117" v="13" actId="26606"/>
        <pc:sldMasterMkLst>
          <pc:docMk/>
          <pc:sldMasterMk cId="0" sldId="2147483650"/>
        </pc:sldMasterMkLst>
        <pc:sldLayoutChg chg="modSp del mod ord">
          <pc:chgData name="Ryan Peters" userId="b1b27dc4-c154-4981-8388-8efe9784ea28" providerId="ADAL" clId="{7F5CB12F-F1A7-4EE5-ABB8-0363DEC018C4}" dt="2026-10-20T22:36:14.411" v="11" actId="26606"/>
          <pc:sldLayoutMkLst>
            <pc:docMk/>
            <pc:sldMasterMk cId="0" sldId="2147483650"/>
            <pc:sldLayoutMk cId="0" sldId="2147483651"/>
          </pc:sldLayoutMkLst>
          <pc:spChg chg="mod">
            <ac:chgData name="Ryan Peters" userId="b1b27dc4-c154-4981-8388-8efe9784ea28" providerId="ADAL" clId="{7F5CB12F-F1A7-4EE5-ABB8-0363DEC018C4}" dt="2026-10-20T22:36:14.411" v="11"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0T22:50:34.870" v="12" actId="26606"/>
          <pc:sldLayoutMkLst>
            <pc:docMk/>
            <pc:sldMasterMk cId="0" sldId="2147483650"/>
            <pc:sldLayoutMk cId="0" sldId="2147483651"/>
          </pc:sldLayoutMkLst>
        </pc:sldLayoutChg>
      </pc:sldMasterChg>
      <pc:sldMasterChg chg="del replId modSldLayout sldLayoutOrd">
        <pc:chgData name="Ryan Peters" userId="b1b27dc4-c154-4981-8388-8efe9784ea28" providerId="ADAL" clId="{7F5CB12F-F1A7-4EE5-ABB8-0363DEC018C4}" dt="2026-10-20T20:51:28.638" v="1" actId="26606"/>
        <pc:sldMasterMkLst>
          <pc:docMk/>
          <pc:sldMasterMk cId="0" sldId="2147483650"/>
        </pc:sldMasterMkLst>
        <pc:sldLayoutChg chg="replId">
          <pc:chgData name="Ryan Peters" userId="b1b27dc4-c154-4981-8388-8efe9784ea28" providerId="ADAL" clId="{7F5CB12F-F1A7-4EE5-ABB8-0363DEC018C4}" dt="2026-10-20T20:51:28.514" v="0"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0T22:13:09.914" v="7" actId="26606"/>
        <pc:sldMasterMkLst>
          <pc:docMk/>
          <pc:sldMasterMk cId="0" sldId="2147483650"/>
        </pc:sldMasterMkLst>
        <pc:sldLayoutChg chg="modSp del mod ord">
          <pc:chgData name="Ryan Peters" userId="b1b27dc4-c154-4981-8388-8efe9784ea28" providerId="ADAL" clId="{7F5CB12F-F1A7-4EE5-ABB8-0363DEC018C4}" dt="2026-10-20T22:12:55.155" v="5" actId="26606"/>
          <pc:sldLayoutMkLst>
            <pc:docMk/>
            <pc:sldMasterMk cId="0" sldId="2147483650"/>
            <pc:sldLayoutMk cId="0" sldId="2147483651"/>
          </pc:sldLayoutMkLst>
          <pc:spChg chg="mod">
            <ac:chgData name="Ryan Peters" userId="b1b27dc4-c154-4981-8388-8efe9784ea28" providerId="ADAL" clId="{7F5CB12F-F1A7-4EE5-ABB8-0363DEC018C4}" dt="2026-10-20T22:12:55.155" v="5"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0T22:13:09.747" v="6"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1T13:01:36.660" v="2127" actId="26606"/>
        <pc:sldMasterMkLst>
          <pc:docMk/>
          <pc:sldMasterMk cId="0" sldId="2147483650"/>
        </pc:sldMasterMkLst>
        <pc:sldLayoutChg chg="modSp del mod ord">
          <pc:chgData name="Ryan Peters" userId="b1b27dc4-c154-4981-8388-8efe9784ea28" providerId="ADAL" clId="{7F5CB12F-F1A7-4EE5-ABB8-0363DEC018C4}" dt="2026-10-21T00:20:26.991" v="1947" actId="26606"/>
          <pc:sldLayoutMkLst>
            <pc:docMk/>
            <pc:sldMasterMk cId="0" sldId="2147483650"/>
            <pc:sldLayoutMk cId="0" sldId="2147483651"/>
          </pc:sldLayoutMkLst>
          <pc:spChg chg="mod">
            <ac:chgData name="Ryan Peters" userId="b1b27dc4-c154-4981-8388-8efe9784ea28" providerId="ADAL" clId="{7F5CB12F-F1A7-4EE5-ABB8-0363DEC018C4}" dt="2026-10-21T00:20:26.991" v="1947"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1T13:01:36.576" v="2126"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0T23:32:23.661" v="23" actId="26606"/>
        <pc:sldMasterMkLst>
          <pc:docMk/>
          <pc:sldMasterMk cId="0" sldId="2147483650"/>
        </pc:sldMasterMkLst>
        <pc:sldLayoutChg chg="add replId">
          <pc:chgData name="Ryan Peters" userId="b1b27dc4-c154-4981-8388-8efe9784ea28" providerId="ADAL" clId="{7F5CB12F-F1A7-4EE5-ABB8-0363DEC018C4}" dt="2026-10-20T23:32:23.573" v="22" actId="26606"/>
          <pc:sldLayoutMkLst>
            <pc:docMk/>
            <pc:sldMasterMk cId="0" sldId="2147483650"/>
            <pc:sldLayoutMk cId="0" sldId="2147483651"/>
          </pc:sldLayoutMkLst>
        </pc:sldLayoutChg>
        <pc:sldLayoutChg chg="modSp del mod ord">
          <pc:chgData name="Ryan Peters" userId="b1b27dc4-c154-4981-8388-8efe9784ea28" providerId="ADAL" clId="{7F5CB12F-F1A7-4EE5-ABB8-0363DEC018C4}" dt="2026-10-20T23:31:58.301" v="21" actId="26606"/>
          <pc:sldLayoutMkLst>
            <pc:docMk/>
            <pc:sldMasterMk cId="0" sldId="2147483650"/>
            <pc:sldLayoutMk cId="0" sldId="2147483651"/>
          </pc:sldLayoutMkLst>
          <pc:spChg chg="mod">
            <ac:chgData name="Ryan Peters" userId="b1b27dc4-c154-4981-8388-8efe9784ea28" providerId="ADAL" clId="{7F5CB12F-F1A7-4EE5-ABB8-0363DEC018C4}" dt="2026-10-20T23:31:58.301" v="21" actId="26606"/>
            <ac:spMkLst>
              <pc:docMk/>
              <pc:sldMasterMk cId="0" sldId="2147483650"/>
              <pc:sldLayoutMk cId="0" sldId="2147483651"/>
              <ac:spMk id="25" creationId="{00000000-0000-0000-0000-000000000000}"/>
            </ac:spMkLst>
          </pc:spChg>
        </pc:sldLayoutChg>
      </pc:sldMasterChg>
      <pc:sldMasterChg chg="add del replId addSldLayout delSldLayout modSldLayout sldLayoutOrd">
        <pc:chgData name="Ryan Peters" userId="b1b27dc4-c154-4981-8388-8efe9784ea28" providerId="ADAL" clId="{7F5CB12F-F1A7-4EE5-ABB8-0363DEC018C4}" dt="2026-10-21T13:01:42.448" v="2129" actId="26606"/>
        <pc:sldMasterMkLst>
          <pc:docMk/>
          <pc:sldMasterMk cId="0" sldId="2147483650"/>
        </pc:sldMasterMkLst>
        <pc:sldLayoutChg chg="add replId">
          <pc:chgData name="Ryan Peters" userId="b1b27dc4-c154-4981-8388-8efe9784ea28" providerId="ADAL" clId="{7F5CB12F-F1A7-4EE5-ABB8-0363DEC018C4}" dt="2026-10-21T13:01:42.399" v="2128" actId="26606"/>
          <pc:sldLayoutMkLst>
            <pc:docMk/>
            <pc:sldMasterMk cId="0" sldId="2147483650"/>
            <pc:sldLayoutMk cId="0" sldId="2147483651"/>
          </pc:sldLayoutMkLst>
        </pc:sldLayoutChg>
        <pc:sldLayoutChg chg="modSp del mod ord">
          <pc:chgData name="Ryan Peters" userId="b1b27dc4-c154-4981-8388-8efe9784ea28" providerId="ADAL" clId="{7F5CB12F-F1A7-4EE5-ABB8-0363DEC018C4}" dt="2026-10-21T13:01:36.660" v="2127" actId="26606"/>
          <pc:sldLayoutMkLst>
            <pc:docMk/>
            <pc:sldMasterMk cId="0" sldId="2147483650"/>
            <pc:sldLayoutMk cId="0" sldId="2147483651"/>
          </pc:sldLayoutMkLst>
          <pc:spChg chg="mod">
            <ac:chgData name="Ryan Peters" userId="b1b27dc4-c154-4981-8388-8efe9784ea28" providerId="ADAL" clId="{7F5CB12F-F1A7-4EE5-ABB8-0363DEC018C4}" dt="2026-10-21T13:01:36.660" v="2127" actId="26606"/>
            <ac:spMkLst>
              <pc:docMk/>
              <pc:sldMasterMk cId="0" sldId="2147483650"/>
              <pc:sldLayoutMk cId="0" sldId="2147483651"/>
              <ac:spMk id="25" creationId="{00000000-0000-0000-0000-000000000000}"/>
            </ac:spMkLst>
          </pc:spChg>
        </pc:sldLayoutChg>
      </pc:sldMasterChg>
      <pc:sldMasterChg chg="add del replId addSldLayout delSldLayout modSldLayout sldLayoutOrd">
        <pc:chgData name="Ryan Peters" userId="b1b27dc4-c154-4981-8388-8efe9784ea28" providerId="ADAL" clId="{7F5CB12F-F1A7-4EE5-ABB8-0363DEC018C4}" dt="2026-10-20T22:12:55.155" v="5" actId="26606"/>
        <pc:sldMasterMkLst>
          <pc:docMk/>
          <pc:sldMasterMk cId="0" sldId="2147483650"/>
        </pc:sldMasterMkLst>
        <pc:sldLayoutChg chg="modSp del mod ord">
          <pc:chgData name="Ryan Peters" userId="b1b27dc4-c154-4981-8388-8efe9784ea28" providerId="ADAL" clId="{7F5CB12F-F1A7-4EE5-ABB8-0363DEC018C4}" dt="2026-10-20T20:51:48.216" v="3" actId="26606"/>
          <pc:sldLayoutMkLst>
            <pc:docMk/>
            <pc:sldMasterMk cId="0" sldId="2147483650"/>
            <pc:sldLayoutMk cId="0" sldId="2147483651"/>
          </pc:sldLayoutMkLst>
          <pc:spChg chg="mod">
            <ac:chgData name="Ryan Peters" userId="b1b27dc4-c154-4981-8388-8efe9784ea28" providerId="ADAL" clId="{7F5CB12F-F1A7-4EE5-ABB8-0363DEC018C4}" dt="2026-10-20T20:51:48.216" v="3"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0T22:12:55.054" v="4"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1T13:02:01.512" v="2131" actId="26606"/>
        <pc:sldMasterMkLst>
          <pc:docMk/>
          <pc:sldMasterMk cId="0" sldId="2147483650"/>
        </pc:sldMasterMkLst>
        <pc:sldLayoutChg chg="modSp del mod ord">
          <pc:chgData name="Ryan Peters" userId="b1b27dc4-c154-4981-8388-8efe9784ea28" providerId="ADAL" clId="{7F5CB12F-F1A7-4EE5-ABB8-0363DEC018C4}" dt="2026-10-21T13:01:42.448" v="2129" actId="26606"/>
          <pc:sldLayoutMkLst>
            <pc:docMk/>
            <pc:sldMasterMk cId="0" sldId="2147483650"/>
            <pc:sldLayoutMk cId="0" sldId="2147483651"/>
          </pc:sldLayoutMkLst>
          <pc:spChg chg="mod">
            <ac:chgData name="Ryan Peters" userId="b1b27dc4-c154-4981-8388-8efe9784ea28" providerId="ADAL" clId="{7F5CB12F-F1A7-4EE5-ABB8-0363DEC018C4}" dt="2026-10-21T13:01:42.448" v="2129"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1T13:02:01.462" v="2130" actId="26606"/>
          <pc:sldLayoutMkLst>
            <pc:docMk/>
            <pc:sldMasterMk cId="0" sldId="2147483648"/>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1T00:20:26.991" v="1947" actId="26606"/>
        <pc:sldMasterMkLst>
          <pc:docMk/>
          <pc:sldMasterMk cId="0" sldId="2147483650"/>
        </pc:sldMasterMkLst>
        <pc:sldLayoutChg chg="modSp del mod ord">
          <pc:chgData name="Ryan Peters" userId="b1b27dc4-c154-4981-8388-8efe9784ea28" providerId="ADAL" clId="{7F5CB12F-F1A7-4EE5-ABB8-0363DEC018C4}" dt="2026-10-21T00:20:05.981" v="1945" actId="26606"/>
          <pc:sldLayoutMkLst>
            <pc:docMk/>
            <pc:sldMasterMk cId="0" sldId="2147483650"/>
            <pc:sldLayoutMk cId="0" sldId="2147483651"/>
          </pc:sldLayoutMkLst>
          <pc:spChg chg="mod">
            <ac:chgData name="Ryan Peters" userId="b1b27dc4-c154-4981-8388-8efe9784ea28" providerId="ADAL" clId="{7F5CB12F-F1A7-4EE5-ABB8-0363DEC018C4}" dt="2026-10-21T00:20:05.981" v="1945"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1T00:20:26.942" v="1946"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0T22:50:59.652" v="15" actId="26606"/>
        <pc:sldMasterMkLst>
          <pc:docMk/>
          <pc:sldMasterMk cId="0" sldId="2147483650"/>
        </pc:sldMasterMkLst>
        <pc:sldLayoutChg chg="modSp del mod ord">
          <pc:chgData name="Ryan Peters" userId="b1b27dc4-c154-4981-8388-8efe9784ea28" providerId="ADAL" clId="{7F5CB12F-F1A7-4EE5-ABB8-0363DEC018C4}" dt="2026-10-20T22:50:35.117" v="13" actId="26606"/>
          <pc:sldLayoutMkLst>
            <pc:docMk/>
            <pc:sldMasterMk cId="0" sldId="2147483650"/>
            <pc:sldLayoutMk cId="0" sldId="2147483651"/>
          </pc:sldLayoutMkLst>
          <pc:spChg chg="mod">
            <ac:chgData name="Ryan Peters" userId="b1b27dc4-c154-4981-8388-8efe9784ea28" providerId="ADAL" clId="{7F5CB12F-F1A7-4EE5-ABB8-0363DEC018C4}" dt="2026-10-20T22:50:35.117" v="13"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0T22:50:59.564" v="14"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1T00:20:05.981" v="1945" actId="26606"/>
        <pc:sldMasterMkLst>
          <pc:docMk/>
          <pc:sldMasterMk cId="0" sldId="2147483650"/>
        </pc:sldMasterMkLst>
        <pc:sldLayoutChg chg="modSp del mod ord">
          <pc:chgData name="Ryan Peters" userId="b1b27dc4-c154-4981-8388-8efe9784ea28" providerId="ADAL" clId="{7F5CB12F-F1A7-4EE5-ABB8-0363DEC018C4}" dt="2026-10-20T23:32:47.991" v="25" actId="26606"/>
          <pc:sldLayoutMkLst>
            <pc:docMk/>
            <pc:sldMasterMk cId="0" sldId="2147483650"/>
            <pc:sldLayoutMk cId="0" sldId="2147483651"/>
          </pc:sldLayoutMkLst>
          <pc:spChg chg="mod">
            <ac:chgData name="Ryan Peters" userId="b1b27dc4-c154-4981-8388-8efe9784ea28" providerId="ADAL" clId="{7F5CB12F-F1A7-4EE5-ABB8-0363DEC018C4}" dt="2026-10-20T23:32:47.991" v="25"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1T00:20:05.928" v="1944"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0T22:13:21.375" v="9" actId="26606"/>
        <pc:sldMasterMkLst>
          <pc:docMk/>
          <pc:sldMasterMk cId="0" sldId="2147483650"/>
        </pc:sldMasterMkLst>
        <pc:sldLayoutChg chg="add replId">
          <pc:chgData name="Ryan Peters" userId="b1b27dc4-c154-4981-8388-8efe9784ea28" providerId="ADAL" clId="{7F5CB12F-F1A7-4EE5-ABB8-0363DEC018C4}" dt="2026-10-20T22:13:21.300" v="8" actId="26606"/>
          <pc:sldLayoutMkLst>
            <pc:docMk/>
            <pc:sldMasterMk cId="0" sldId="2147483650"/>
            <pc:sldLayoutMk cId="0" sldId="2147483651"/>
          </pc:sldLayoutMkLst>
        </pc:sldLayoutChg>
        <pc:sldLayoutChg chg="modSp del mod ord">
          <pc:chgData name="Ryan Peters" userId="b1b27dc4-c154-4981-8388-8efe9784ea28" providerId="ADAL" clId="{7F5CB12F-F1A7-4EE5-ABB8-0363DEC018C4}" dt="2026-10-20T22:13:09.914" v="7" actId="26606"/>
          <pc:sldLayoutMkLst>
            <pc:docMk/>
            <pc:sldMasterMk cId="0" sldId="2147483650"/>
            <pc:sldLayoutMk cId="0" sldId="2147483651"/>
          </pc:sldLayoutMkLst>
          <pc:spChg chg="mod">
            <ac:chgData name="Ryan Peters" userId="b1b27dc4-c154-4981-8388-8efe9784ea28" providerId="ADAL" clId="{7F5CB12F-F1A7-4EE5-ABB8-0363DEC018C4}" dt="2026-10-20T22:13:09.914" v="7" actId="26606"/>
            <ac:spMkLst>
              <pc:docMk/>
              <pc:sldMasterMk cId="0" sldId="2147483650"/>
              <pc:sldLayoutMk cId="0" sldId="2147483651"/>
              <ac:spMk id="25" creationId="{00000000-0000-0000-0000-000000000000}"/>
            </ac:spMkLst>
          </pc:spChg>
        </pc:sldLayoutChg>
      </pc:sldMasterChg>
      <pc:sldMasterChg chg="add del replId addSldLayout delSldLayout modSldLayout sldLayoutOrd">
        <pc:chgData name="Ryan Peters" userId="b1b27dc4-c154-4981-8388-8efe9784ea28" providerId="ADAL" clId="{7F5CB12F-F1A7-4EE5-ABB8-0363DEC018C4}" dt="2026-10-20T22:36:14.411" v="11" actId="26606"/>
        <pc:sldMasterMkLst>
          <pc:docMk/>
          <pc:sldMasterMk cId="0" sldId="2147483650"/>
        </pc:sldMasterMkLst>
        <pc:sldLayoutChg chg="modSp del mod ord">
          <pc:chgData name="Ryan Peters" userId="b1b27dc4-c154-4981-8388-8efe9784ea28" providerId="ADAL" clId="{7F5CB12F-F1A7-4EE5-ABB8-0363DEC018C4}" dt="2026-10-20T22:13:21.375" v="9" actId="26606"/>
          <pc:sldLayoutMkLst>
            <pc:docMk/>
            <pc:sldMasterMk cId="0" sldId="2147483650"/>
            <pc:sldLayoutMk cId="0" sldId="2147483651"/>
          </pc:sldLayoutMkLst>
          <pc:spChg chg="mod">
            <ac:chgData name="Ryan Peters" userId="b1b27dc4-c154-4981-8388-8efe9784ea28" providerId="ADAL" clId="{7F5CB12F-F1A7-4EE5-ABB8-0363DEC018C4}" dt="2026-10-20T22:13:21.375" v="9"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0T22:36:14.316" v="10" actId="26606"/>
          <pc:sldLayoutMkLst>
            <pc:docMk/>
            <pc:sldMasterMk cId="0" sldId="2147483650"/>
            <pc:sldLayoutMk cId="0" sldId="2147483651"/>
          </pc:sldLayoutMkLst>
        </pc:sldLayoutChg>
      </pc:sldMasterChg>
      <pc:sldMasterChg chg="add del replId addSldLayout delSldLayout modSldLayout sldLayoutOrd">
        <pc:chgData name="Ryan Peters" userId="b1b27dc4-c154-4981-8388-8efe9784ea28" providerId="ADAL" clId="{7F5CB12F-F1A7-4EE5-ABB8-0363DEC018C4}" dt="2026-10-20T23:32:47.991" v="25" actId="26606"/>
        <pc:sldMasterMkLst>
          <pc:docMk/>
          <pc:sldMasterMk cId="0" sldId="2147483650"/>
        </pc:sldMasterMkLst>
        <pc:sldLayoutChg chg="add replId">
          <pc:chgData name="Ryan Peters" userId="b1b27dc4-c154-4981-8388-8efe9784ea28" providerId="ADAL" clId="{7F5CB12F-F1A7-4EE5-ABB8-0363DEC018C4}" dt="2026-10-20T23:32:47.900" v="24" actId="26606"/>
          <pc:sldLayoutMkLst>
            <pc:docMk/>
            <pc:sldMasterMk cId="0" sldId="2147483650"/>
            <pc:sldLayoutMk cId="0" sldId="2147483651"/>
          </pc:sldLayoutMkLst>
        </pc:sldLayoutChg>
        <pc:sldLayoutChg chg="modSp del mod ord">
          <pc:chgData name="Ryan Peters" userId="b1b27dc4-c154-4981-8388-8efe9784ea28" providerId="ADAL" clId="{7F5CB12F-F1A7-4EE5-ABB8-0363DEC018C4}" dt="2026-10-20T23:32:23.661" v="23" actId="26606"/>
          <pc:sldLayoutMkLst>
            <pc:docMk/>
            <pc:sldMasterMk cId="0" sldId="2147483650"/>
            <pc:sldLayoutMk cId="0" sldId="2147483651"/>
          </pc:sldLayoutMkLst>
          <pc:spChg chg="mod">
            <ac:chgData name="Ryan Peters" userId="b1b27dc4-c154-4981-8388-8efe9784ea28" providerId="ADAL" clId="{7F5CB12F-F1A7-4EE5-ABB8-0363DEC018C4}" dt="2026-10-20T23:32:23.661" v="23" actId="26606"/>
            <ac:spMkLst>
              <pc:docMk/>
              <pc:sldMasterMk cId="0" sldId="2147483650"/>
              <pc:sldLayoutMk cId="0" sldId="2147483651"/>
              <ac:spMk id="25" creationId="{00000000-0000-0000-0000-000000000000}"/>
            </ac:spMkLst>
          </pc:spChg>
        </pc:sldLayoutChg>
      </pc:sldMasterChg>
      <pc:sldMasterChg chg="add del replId addSldLayout delSldLayout modSldLayout sldLayoutOrd">
        <pc:chgData name="Ryan Peters" userId="b1b27dc4-c154-4981-8388-8efe9784ea28" providerId="ADAL" clId="{7F5CB12F-F1A7-4EE5-ABB8-0363DEC018C4}" dt="2026-10-20T20:51:48.216" v="3" actId="26606"/>
        <pc:sldMasterMkLst>
          <pc:docMk/>
          <pc:sldMasterMk cId="0" sldId="2147483650"/>
        </pc:sldMasterMkLst>
        <pc:sldLayoutChg chg="modSp del mod ord">
          <pc:chgData name="Ryan Peters" userId="b1b27dc4-c154-4981-8388-8efe9784ea28" providerId="ADAL" clId="{7F5CB12F-F1A7-4EE5-ABB8-0363DEC018C4}" dt="2026-10-20T20:51:28.638" v="1" actId="26606"/>
          <pc:sldLayoutMkLst>
            <pc:docMk/>
            <pc:sldMasterMk cId="0" sldId="2147483650"/>
            <pc:sldLayoutMk cId="0" sldId="2147483651"/>
          </pc:sldLayoutMkLst>
          <pc:spChg chg="mod">
            <ac:chgData name="Ryan Peters" userId="b1b27dc4-c154-4981-8388-8efe9784ea28" providerId="ADAL" clId="{7F5CB12F-F1A7-4EE5-ABB8-0363DEC018C4}" dt="2026-10-20T20:51:28.638" v="1" actId="26606"/>
            <ac:spMkLst>
              <pc:docMk/>
              <pc:sldMasterMk cId="0" sldId="2147483650"/>
              <pc:sldLayoutMk cId="0" sldId="2147483651"/>
              <ac:spMk id="25" creationId="{00000000-0000-0000-0000-000000000000}"/>
            </ac:spMkLst>
          </pc:spChg>
        </pc:sldLayoutChg>
        <pc:sldLayoutChg chg="add replId">
          <pc:chgData name="Ryan Peters" userId="b1b27dc4-c154-4981-8388-8efe9784ea28" providerId="ADAL" clId="{7F5CB12F-F1A7-4EE5-ABB8-0363DEC018C4}" dt="2026-10-20T20:51:48.157" v="2" actId="26606"/>
          <pc:sldLayoutMkLst>
            <pc:docMk/>
            <pc:sldMasterMk cId="0" sldId="2147483650"/>
            <pc:sldLayoutMk cId="0"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251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171450" indent="-171450">
              <a:buFont typeface="Arial" panose="020B0604020202020204" pitchFamily="34" charset="0"/>
              <a:buChar char="•"/>
            </a:pPr>
            <a:r>
              <a:rPr lang="en-US" dirty="0"/>
              <a:t>Day 0 – You design the cluster, decide which types of workloads will be deployed, how they’ll be spread and distributed (critical, fault tolerant), or kept together (latency sensitive), what SKUs to use, how we plan our IPs, and other features that are driven by the workloads</a:t>
            </a:r>
          </a:p>
          <a:p>
            <a:pPr marL="171450" indent="-171450">
              <a:buFont typeface="Arial" panose="020B0604020202020204" pitchFamily="34" charset="0"/>
              <a:buChar char="•"/>
            </a:pPr>
            <a:r>
              <a:rPr lang="en-US" dirty="0"/>
              <a:t>Day 1 – We deploy the cluster! We create our Terraform, our Azure CLI or Bicep scripts, our pipelines, and stand it all up</a:t>
            </a:r>
          </a:p>
          <a:p>
            <a:pPr marL="171450" indent="-171450">
              <a:buFont typeface="Arial" panose="020B0604020202020204" pitchFamily="34" charset="0"/>
              <a:buChar char="•"/>
            </a:pPr>
            <a:r>
              <a:rPr lang="en-US" dirty="0"/>
              <a:t>Day 2 – (and beyond) How do we maintain this and make it run effectively? More importantly, how can we see if it is running well, how can we see when it’s failing, and how can we proactively mitigate issues before they become critical? Day 2 operations must be repeatable operations that are (ideally) automated, and can observe what is happening at all times.</a:t>
            </a:r>
          </a:p>
        </p:txBody>
      </p:sp>
    </p:spTree>
    <p:extLst>
      <p:ext uri="{BB962C8B-B14F-4D97-AF65-F5344CB8AC3E}">
        <p14:creationId xmlns:p14="http://schemas.microsoft.com/office/powerpoint/2010/main" val="553637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171450" indent="-171450">
              <a:buFont typeface="Arial" panose="020B0604020202020204" pitchFamily="34" charset="0"/>
              <a:buChar char="•"/>
            </a:pPr>
            <a:r>
              <a:rPr lang="en-US" dirty="0"/>
              <a:t>Toolbox – what common tools we’ll use for this hack as well as throughout the life of the cluster</a:t>
            </a:r>
          </a:p>
          <a:p>
            <a:pPr marL="171450" indent="-171450">
              <a:buFont typeface="Arial" panose="020B0604020202020204" pitchFamily="34" charset="0"/>
              <a:buChar char="•"/>
            </a:pPr>
            <a:r>
              <a:rPr lang="en-US" dirty="0"/>
              <a:t>Helm – ways to package applications in a clean manner and handling rollouts of multiple resources as part of a deployment, not just individual YAML</a:t>
            </a:r>
          </a:p>
          <a:p>
            <a:pPr marL="171450" indent="-171450">
              <a:buFont typeface="Arial" panose="020B0604020202020204" pitchFamily="34" charset="0"/>
              <a:buChar char="•"/>
            </a:pPr>
            <a:r>
              <a:rPr lang="en-US" dirty="0"/>
              <a:t>Gateway API – how do we expose these applications using modern techniques? Remember, this is a layer-7 approach to routing traffic to 1 or more applications, using hostnames, behind a single IP</a:t>
            </a:r>
          </a:p>
          <a:p>
            <a:pPr marL="171450" indent="-171450">
              <a:buFont typeface="Arial" panose="020B0604020202020204" pitchFamily="34" charset="0"/>
              <a:buChar char="•"/>
            </a:pPr>
            <a:r>
              <a:rPr lang="en-US" dirty="0"/>
              <a:t>Resiliency</a:t>
            </a:r>
          </a:p>
          <a:p>
            <a:pPr marL="628650" lvl="1" indent="-171450">
              <a:buFont typeface="Arial" panose="020B0604020202020204" pitchFamily="34" charset="0"/>
              <a:buChar char="•"/>
            </a:pPr>
            <a:r>
              <a:rPr lang="en-US" dirty="0"/>
              <a:t>Looking at how to ensure our applications remain online during disruptions, upgrades, and scaling events</a:t>
            </a:r>
          </a:p>
          <a:p>
            <a:pPr marL="628650" lvl="1" indent="-171450">
              <a:buFont typeface="Arial" panose="020B0604020202020204" pitchFamily="34" charset="0"/>
              <a:buChar char="•"/>
            </a:pPr>
            <a:r>
              <a:rPr lang="en-US" dirty="0"/>
              <a:t>How to use health probes effectively</a:t>
            </a:r>
          </a:p>
          <a:p>
            <a:pPr marL="628650" lvl="1" indent="-171450">
              <a:buFont typeface="Arial" panose="020B0604020202020204" pitchFamily="34" charset="0"/>
              <a:buChar char="•"/>
            </a:pPr>
            <a:r>
              <a:rPr lang="en-US" dirty="0"/>
              <a:t>How do we ensure spread of our application across all compute across nodes and zones?</a:t>
            </a:r>
          </a:p>
          <a:p>
            <a:pPr marL="171450" lvl="0" indent="-171450">
              <a:buFont typeface="Arial" panose="020B0604020202020204" pitchFamily="34" charset="0"/>
              <a:buChar char="•"/>
            </a:pPr>
            <a:r>
              <a:rPr lang="en-US" dirty="0"/>
              <a:t>Scaling – how we handle scaling of our pods and our underlying nodes under high load, and how we shed weight when no longer needed?</a:t>
            </a:r>
          </a:p>
          <a:p>
            <a:pPr marL="171450" lvl="0" indent="-171450">
              <a:buFont typeface="Arial" panose="020B0604020202020204" pitchFamily="34" charset="0"/>
              <a:buChar char="•"/>
            </a:pPr>
            <a:r>
              <a:rPr lang="en-US" dirty="0" err="1"/>
              <a:t>Gitops</a:t>
            </a:r>
            <a:r>
              <a:rPr lang="en-US" dirty="0"/>
              <a:t> – how we can effectively handle new application releases and maintain a single source of truth. We’ll explore 2 popular tools.</a:t>
            </a:r>
          </a:p>
          <a:p>
            <a:pPr marL="171450" lvl="0" indent="-171450">
              <a:buFont typeface="Arial" panose="020B0604020202020204" pitchFamily="34" charset="0"/>
              <a:buChar char="•"/>
            </a:pPr>
            <a:endParaRPr lang="en-US" dirty="0"/>
          </a:p>
        </p:txBody>
      </p:sp>
    </p:spTree>
    <p:extLst>
      <p:ext uri="{BB962C8B-B14F-4D97-AF65-F5344CB8AC3E}">
        <p14:creationId xmlns:p14="http://schemas.microsoft.com/office/powerpoint/2010/main" val="3639309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5E5C"/>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5E5C"/>
                </a:solidFill>
                <a:latin typeface="Segoe UI"/>
                <a:ea typeface="Segoe UI"/>
                <a:cs typeface="Segoe U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4.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8.png"/><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2.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pic>
        <p:nvPicPr>
          <p:cNvPr id="2" name="Image 0" descr="/tmp/htmlgen-assets/e48951e0-4e1f-4a1c-a80a-4beda028b693/368844241d814b9a.jpg"/>
          <p:cNvPicPr>
            <a:picLocks noChangeAspect="1"/>
          </p:cNvPicPr>
          <p:nvPr/>
        </p:nvPicPr>
        <p:blipFill>
          <a:blip r:embed="rId2"/>
          <a:srcRect/>
          <a:stretch/>
        </p:blipFill>
        <p:spPr>
          <a:xfrm>
            <a:off x="0" y="0"/>
            <a:ext cx="12191695" cy="6858000"/>
          </a:xfrm>
          <a:prstGeom prst="rect">
            <a:avLst/>
          </a:prstGeom>
        </p:spPr>
      </p:pic>
      <p:sp>
        <p:nvSpPr>
          <p:cNvPr id="3" name="Shape 0"/>
          <p:cNvSpPr/>
          <p:nvPr/>
        </p:nvSpPr>
        <p:spPr>
          <a:xfrm>
            <a:off x="0" y="0"/>
            <a:ext cx="7498080" cy="6858000"/>
          </a:xfrm>
          <a:prstGeom prst="rect">
            <a:avLst/>
          </a:prstGeom>
          <a:solidFill>
            <a:srgbClr val="0B1F33">
              <a:alpha val="88000"/>
            </a:srgbClr>
          </a:solidFill>
          <a:ln/>
        </p:spPr>
        <p:txBody>
          <a:bodyPr/>
          <a:lstStyle/>
          <a:p>
            <a:endParaRPr lang="en-US"/>
          </a:p>
        </p:txBody>
      </p:sp>
      <p:sp>
        <p:nvSpPr>
          <p:cNvPr id="4" name="Shape 1"/>
          <p:cNvSpPr/>
          <p:nvPr/>
        </p:nvSpPr>
        <p:spPr>
          <a:xfrm>
            <a:off x="731520" y="640080"/>
            <a:ext cx="274320" cy="274320"/>
          </a:xfrm>
          <a:prstGeom prst="rect">
            <a:avLst/>
          </a:prstGeom>
          <a:solidFill>
            <a:srgbClr val="F25022"/>
          </a:solidFill>
          <a:ln/>
        </p:spPr>
        <p:txBody>
          <a:bodyPr/>
          <a:lstStyle/>
          <a:p>
            <a:endParaRPr lang="en-US"/>
          </a:p>
        </p:txBody>
      </p:sp>
      <p:sp>
        <p:nvSpPr>
          <p:cNvPr id="5" name="Shape 2"/>
          <p:cNvSpPr/>
          <p:nvPr/>
        </p:nvSpPr>
        <p:spPr>
          <a:xfrm>
            <a:off x="1066190" y="640080"/>
            <a:ext cx="274320" cy="274320"/>
          </a:xfrm>
          <a:prstGeom prst="rect">
            <a:avLst/>
          </a:prstGeom>
          <a:solidFill>
            <a:srgbClr val="7FBA00"/>
          </a:solidFill>
          <a:ln/>
        </p:spPr>
        <p:txBody>
          <a:bodyPr/>
          <a:lstStyle/>
          <a:p>
            <a:endParaRPr lang="en-US"/>
          </a:p>
        </p:txBody>
      </p:sp>
      <p:sp>
        <p:nvSpPr>
          <p:cNvPr id="6" name="Shape 3"/>
          <p:cNvSpPr/>
          <p:nvPr/>
        </p:nvSpPr>
        <p:spPr>
          <a:xfrm>
            <a:off x="731520" y="974750"/>
            <a:ext cx="274320" cy="274320"/>
          </a:xfrm>
          <a:prstGeom prst="rect">
            <a:avLst/>
          </a:prstGeom>
          <a:solidFill>
            <a:srgbClr val="00A4EF"/>
          </a:solidFill>
          <a:ln/>
        </p:spPr>
        <p:txBody>
          <a:bodyPr/>
          <a:lstStyle/>
          <a:p>
            <a:endParaRPr lang="en-US"/>
          </a:p>
        </p:txBody>
      </p:sp>
      <p:sp>
        <p:nvSpPr>
          <p:cNvPr id="7" name="Shape 4"/>
          <p:cNvSpPr/>
          <p:nvPr/>
        </p:nvSpPr>
        <p:spPr>
          <a:xfrm>
            <a:off x="1066190" y="974750"/>
            <a:ext cx="274320" cy="274320"/>
          </a:xfrm>
          <a:prstGeom prst="rect">
            <a:avLst/>
          </a:prstGeom>
          <a:solidFill>
            <a:srgbClr val="FFB900"/>
          </a:solidFill>
          <a:ln/>
        </p:spPr>
        <p:txBody>
          <a:bodyPr/>
          <a:lstStyle/>
          <a:p>
            <a:endParaRPr lang="en-US"/>
          </a:p>
        </p:txBody>
      </p:sp>
      <p:sp>
        <p:nvSpPr>
          <p:cNvPr id="9" name="Text 6"/>
          <p:cNvSpPr/>
          <p:nvPr/>
        </p:nvSpPr>
        <p:spPr>
          <a:xfrm>
            <a:off x="731520" y="1965960"/>
            <a:ext cx="6583680" cy="914400"/>
          </a:xfrm>
          <a:prstGeom prst="rect">
            <a:avLst/>
          </a:prstGeom>
          <a:noFill/>
          <a:ln/>
        </p:spPr>
        <p:txBody>
          <a:bodyPr wrap="square" lIns="0" tIns="0" rIns="0" bIns="0" rtlCol="0" anchor="t"/>
          <a:lstStyle/>
          <a:p>
            <a:pPr marL="0" indent="0">
              <a:buNone/>
            </a:pPr>
            <a:r>
              <a:rPr lang="en-US" sz="4600">
                <a:solidFill>
                  <a:srgbClr val="FFFFFF"/>
                </a:solidFill>
                <a:latin typeface="Segoe UI Semibold" pitchFamily="34" charset="0"/>
                <a:ea typeface="Segoe UI Semibold" pitchFamily="34" charset="-122"/>
                <a:cs typeface="Segoe UI Semibold" pitchFamily="34" charset="-120"/>
              </a:rPr>
              <a:t>Advanced Kubernetes</a:t>
            </a:r>
            <a:endParaRPr lang="en-US" sz="5400"/>
          </a:p>
        </p:txBody>
      </p:sp>
      <p:sp>
        <p:nvSpPr>
          <p:cNvPr id="10" name="Text 7"/>
          <p:cNvSpPr/>
          <p:nvPr/>
        </p:nvSpPr>
        <p:spPr>
          <a:xfrm>
            <a:off x="731520" y="2971800"/>
            <a:ext cx="6217920" cy="1005840"/>
          </a:xfrm>
          <a:prstGeom prst="rect">
            <a:avLst/>
          </a:prstGeom>
          <a:noFill/>
          <a:ln/>
        </p:spPr>
        <p:txBody>
          <a:bodyPr wrap="square" lIns="0" tIns="0" rIns="0" bIns="0" rtlCol="0" anchor="t"/>
          <a:lstStyle/>
          <a:p>
            <a:pPr marL="0" indent="0">
              <a:buNone/>
            </a:pPr>
            <a:r>
              <a:rPr lang="en-US" sz="2200">
                <a:solidFill>
                  <a:srgbClr val="D2D0CE"/>
                </a:solidFill>
                <a:latin typeface="Segoe UI" pitchFamily="34" charset="0"/>
                <a:ea typeface="Segoe UI" pitchFamily="34" charset="-122"/>
                <a:cs typeface="Segoe UI" pitchFamily="34" charset="-120"/>
              </a:rPr>
              <a:t>Day-2 Operations: Packaging, Resiliency, Scaling &amp; GitOps</a:t>
            </a:r>
            <a:endParaRPr lang="en-US" sz="2200"/>
          </a:p>
        </p:txBody>
      </p:sp>
      <p:sp>
        <p:nvSpPr>
          <p:cNvPr id="11" name="Shape 8"/>
          <p:cNvSpPr/>
          <p:nvPr/>
        </p:nvSpPr>
        <p:spPr>
          <a:xfrm>
            <a:off x="731520" y="4434840"/>
            <a:ext cx="795528" cy="384048"/>
          </a:xfrm>
          <a:prstGeom prst="roundRect">
            <a:avLst>
              <a:gd name="adj" fmla="val 19048"/>
            </a:avLst>
          </a:prstGeom>
          <a:solidFill>
            <a:srgbClr val="107C10"/>
          </a:solidFill>
          <a:ln/>
        </p:spPr>
        <p:txBody>
          <a:bodyPr/>
          <a:lstStyle/>
          <a:p>
            <a:endParaRPr lang="en-US"/>
          </a:p>
        </p:txBody>
      </p:sp>
      <p:sp>
        <p:nvSpPr>
          <p:cNvPr id="12" name="Text 9"/>
          <p:cNvSpPr/>
          <p:nvPr/>
        </p:nvSpPr>
        <p:spPr>
          <a:xfrm>
            <a:off x="804672" y="4434840"/>
            <a:ext cx="649224" cy="384048"/>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Helm</a:t>
            </a:r>
            <a:endParaRPr lang="en-US" sz="1300"/>
          </a:p>
        </p:txBody>
      </p:sp>
      <p:sp>
        <p:nvSpPr>
          <p:cNvPr id="13" name="Shape 10"/>
          <p:cNvSpPr/>
          <p:nvPr/>
        </p:nvSpPr>
        <p:spPr>
          <a:xfrm>
            <a:off x="1664208" y="4434840"/>
            <a:ext cx="1467612" cy="384048"/>
          </a:xfrm>
          <a:prstGeom prst="roundRect">
            <a:avLst>
              <a:gd name="adj" fmla="val 19048"/>
            </a:avLst>
          </a:prstGeom>
          <a:solidFill>
            <a:srgbClr val="FFB900"/>
          </a:solidFill>
          <a:ln/>
        </p:spPr>
        <p:txBody>
          <a:bodyPr/>
          <a:lstStyle/>
          <a:p>
            <a:endParaRPr lang="en-US"/>
          </a:p>
        </p:txBody>
      </p:sp>
      <p:sp>
        <p:nvSpPr>
          <p:cNvPr id="14" name="Text 11"/>
          <p:cNvSpPr/>
          <p:nvPr/>
        </p:nvSpPr>
        <p:spPr>
          <a:xfrm>
            <a:off x="1737360" y="4434840"/>
            <a:ext cx="1321308" cy="384048"/>
          </a:xfrm>
          <a:prstGeom prst="rect">
            <a:avLst/>
          </a:prstGeom>
          <a:noFill/>
          <a:ln/>
        </p:spPr>
        <p:txBody>
          <a:bodyPr wrap="square" lIns="0" tIns="0" rIns="0" bIns="0" rtlCol="0" anchor="ctr"/>
          <a:lstStyle/>
          <a:p>
            <a:pPr marL="0" indent="0" algn="ctr">
              <a:buNone/>
            </a:pPr>
            <a:r>
              <a:rPr lang="en-US" sz="1300">
                <a:solidFill>
                  <a:srgbClr val="201F1E"/>
                </a:solidFill>
                <a:latin typeface="Segoe UI Semibold" pitchFamily="34" charset="0"/>
                <a:ea typeface="Segoe UI Semibold" pitchFamily="34" charset="-122"/>
                <a:cs typeface="Segoe UI Semibold" pitchFamily="34" charset="-120"/>
              </a:rPr>
              <a:t>Gateway API</a:t>
            </a:r>
            <a:endParaRPr lang="en-US" sz="1300"/>
          </a:p>
        </p:txBody>
      </p:sp>
      <p:sp>
        <p:nvSpPr>
          <p:cNvPr id="15" name="Shape 12"/>
          <p:cNvSpPr/>
          <p:nvPr/>
        </p:nvSpPr>
        <p:spPr>
          <a:xfrm>
            <a:off x="3268980" y="4434840"/>
            <a:ext cx="1371600" cy="384048"/>
          </a:xfrm>
          <a:prstGeom prst="roundRect">
            <a:avLst>
              <a:gd name="adj" fmla="val 19048"/>
            </a:avLst>
          </a:prstGeom>
          <a:solidFill>
            <a:srgbClr val="D83B01"/>
          </a:solidFill>
          <a:ln/>
        </p:spPr>
        <p:txBody>
          <a:bodyPr/>
          <a:lstStyle/>
          <a:p>
            <a:endParaRPr lang="en-US"/>
          </a:p>
        </p:txBody>
      </p:sp>
      <p:sp>
        <p:nvSpPr>
          <p:cNvPr id="16" name="Text 13"/>
          <p:cNvSpPr/>
          <p:nvPr/>
        </p:nvSpPr>
        <p:spPr>
          <a:xfrm>
            <a:off x="3342132" y="4434840"/>
            <a:ext cx="1225296" cy="384048"/>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Resiliency</a:t>
            </a:r>
            <a:endParaRPr lang="en-US" sz="1300"/>
          </a:p>
        </p:txBody>
      </p:sp>
      <p:sp>
        <p:nvSpPr>
          <p:cNvPr id="17" name="Shape 14"/>
          <p:cNvSpPr/>
          <p:nvPr/>
        </p:nvSpPr>
        <p:spPr>
          <a:xfrm>
            <a:off x="4777740" y="4434840"/>
            <a:ext cx="1083564" cy="384048"/>
          </a:xfrm>
          <a:prstGeom prst="roundRect">
            <a:avLst>
              <a:gd name="adj" fmla="val 19048"/>
            </a:avLst>
          </a:prstGeom>
          <a:solidFill>
            <a:srgbClr val="5C2D91"/>
          </a:solidFill>
          <a:ln/>
        </p:spPr>
        <p:txBody>
          <a:bodyPr/>
          <a:lstStyle/>
          <a:p>
            <a:endParaRPr lang="en-US"/>
          </a:p>
        </p:txBody>
      </p:sp>
      <p:sp>
        <p:nvSpPr>
          <p:cNvPr id="18" name="Text 15"/>
          <p:cNvSpPr/>
          <p:nvPr/>
        </p:nvSpPr>
        <p:spPr>
          <a:xfrm>
            <a:off x="4850892" y="4434840"/>
            <a:ext cx="937260" cy="384048"/>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Scaling</a:t>
            </a:r>
            <a:endParaRPr lang="en-US" sz="1300"/>
          </a:p>
        </p:txBody>
      </p:sp>
      <p:sp>
        <p:nvSpPr>
          <p:cNvPr id="19" name="Shape 16"/>
          <p:cNvSpPr/>
          <p:nvPr/>
        </p:nvSpPr>
        <p:spPr>
          <a:xfrm>
            <a:off x="5998464" y="4434840"/>
            <a:ext cx="987552" cy="384048"/>
          </a:xfrm>
          <a:prstGeom prst="roundRect">
            <a:avLst>
              <a:gd name="adj" fmla="val 19048"/>
            </a:avLst>
          </a:prstGeom>
          <a:solidFill>
            <a:srgbClr val="008575"/>
          </a:solidFill>
          <a:ln/>
        </p:spPr>
        <p:txBody>
          <a:bodyPr/>
          <a:lstStyle/>
          <a:p>
            <a:endParaRPr lang="en-US"/>
          </a:p>
        </p:txBody>
      </p:sp>
      <p:sp>
        <p:nvSpPr>
          <p:cNvPr id="20" name="Text 17"/>
          <p:cNvSpPr/>
          <p:nvPr/>
        </p:nvSpPr>
        <p:spPr>
          <a:xfrm>
            <a:off x="6071616" y="4434840"/>
            <a:ext cx="841248" cy="384048"/>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GitOps</a:t>
            </a:r>
            <a:endParaRPr lang="en-US" sz="1300"/>
          </a:p>
        </p:txBody>
      </p:sp>
      <p:sp>
        <p:nvSpPr>
          <p:cNvPr id="21" name="TextBox 20"/>
          <p:cNvSpPr txBox="1"/>
          <p:nvPr/>
        </p:nvSpPr>
        <p:spPr>
          <a:xfrm>
            <a:off x="731520" y="5074920"/>
            <a:ext cx="3200400" cy="677108"/>
          </a:xfrm>
          <a:prstGeom prst="rect">
            <a:avLst/>
          </a:prstGeom>
          <a:noFill/>
        </p:spPr>
        <p:txBody>
          <a:bodyPr wrap="square" lIns="0" tIns="0" rIns="0" bIns="0">
            <a:spAutoFit/>
          </a:bodyPr>
          <a:lstStyle/>
          <a:p>
            <a:r>
              <a:rPr sz="1800">
                <a:solidFill>
                  <a:srgbClr val="FFFFFF"/>
                </a:solidFill>
                <a:latin typeface="Segoe UI Semibold"/>
              </a:rPr>
              <a:t>Ryan Peters</a:t>
            </a:r>
          </a:p>
          <a:p>
            <a:r>
              <a:rPr sz="1300">
                <a:solidFill>
                  <a:srgbClr val="D2D0CE"/>
                </a:solidFill>
                <a:latin typeface="Segoe UI"/>
              </a:rPr>
              <a:t>Cloud Solution Architect</a:t>
            </a:r>
            <a:endParaRPr lang="en-US" sz="1300">
              <a:solidFill>
                <a:srgbClr val="D2D0CE"/>
              </a:solidFill>
              <a:latin typeface="Segoe UI"/>
            </a:endParaRPr>
          </a:p>
          <a:p>
            <a:r>
              <a:rPr sz="1300">
                <a:solidFill>
                  <a:srgbClr val="50E6FF"/>
                </a:solidFill>
                <a:latin typeface="Segoe UI"/>
              </a:rPr>
              <a:t>ryanpeters@microsoft.com</a:t>
            </a:r>
          </a:p>
        </p:txBody>
      </p:sp>
      <p:sp>
        <p:nvSpPr>
          <p:cNvPr id="22" name="Presenter Gary Klionsky"/>
          <p:cNvSpPr txBox="1"/>
          <p:nvPr/>
        </p:nvSpPr>
        <p:spPr>
          <a:xfrm>
            <a:off x="4114800" y="5074920"/>
            <a:ext cx="3200400" cy="777240"/>
          </a:xfrm>
          <a:prstGeom prst="rect">
            <a:avLst/>
          </a:prstGeom>
          <a:noFill/>
        </p:spPr>
        <p:txBody>
          <a:bodyPr wrap="square" lIns="0" tIns="0" rIns="0" bIns="0">
            <a:spAutoFit/>
          </a:bodyPr>
          <a:lstStyle/>
          <a:p>
            <a:r>
              <a:rPr sz="1800">
                <a:solidFill>
                  <a:srgbClr val="FFFFFF"/>
                </a:solidFill>
                <a:latin typeface="Segoe UI Semibold"/>
              </a:rPr>
              <a:t>Gary Klionsky</a:t>
            </a:r>
          </a:p>
          <a:p>
            <a:r>
              <a:rPr sz="1300">
                <a:solidFill>
                  <a:srgbClr val="D2D0CE"/>
                </a:solidFill>
                <a:latin typeface="Segoe UI"/>
              </a:rPr>
              <a:t>Cloud Solution Architect</a:t>
            </a:r>
          </a:p>
          <a:p>
            <a:r>
              <a:rPr sz="1300">
                <a:solidFill>
                  <a:srgbClr val="50E6FF"/>
                </a:solidFill>
                <a:latin typeface="Segoe UI"/>
              </a:rPr>
              <a:t>Gary.Klionsky@microsoft.com</a:t>
            </a:r>
          </a:p>
        </p:txBody>
      </p:sp>
      <p:sp>
        <p:nvSpPr>
          <p:cNvPr id="23" name="Presenter Sean Sullivan"/>
          <p:cNvSpPr txBox="1"/>
          <p:nvPr/>
        </p:nvSpPr>
        <p:spPr>
          <a:xfrm>
            <a:off x="731520" y="5943600"/>
            <a:ext cx="3200400" cy="777240"/>
          </a:xfrm>
          <a:prstGeom prst="rect">
            <a:avLst/>
          </a:prstGeom>
          <a:noFill/>
        </p:spPr>
        <p:txBody>
          <a:bodyPr wrap="square" lIns="0" tIns="0" rIns="0" bIns="0">
            <a:spAutoFit/>
          </a:bodyPr>
          <a:lstStyle/>
          <a:p>
            <a:r>
              <a:rPr sz="1800">
                <a:solidFill>
                  <a:srgbClr val="FFFFFF"/>
                </a:solidFill>
                <a:latin typeface="Segoe UI Semibold"/>
              </a:rPr>
              <a:t>Sean Sullivan</a:t>
            </a:r>
          </a:p>
          <a:p>
            <a:r>
              <a:rPr sz="1300">
                <a:solidFill>
                  <a:srgbClr val="D2D0CE"/>
                </a:solidFill>
                <a:latin typeface="Segoe UI"/>
              </a:rPr>
              <a:t>Cloud Solution Architect</a:t>
            </a:r>
          </a:p>
          <a:p>
            <a:r>
              <a:rPr sz="1300">
                <a:solidFill>
                  <a:srgbClr val="50E6FF"/>
                </a:solidFill>
                <a:latin typeface="Segoe UI"/>
              </a:rPr>
              <a:t>seansullivan@microsoft.com</a:t>
            </a:r>
          </a:p>
        </p:txBody>
      </p:sp>
      <p:sp>
        <p:nvSpPr>
          <p:cNvPr id="24" name="Presenter Coby Blair"/>
          <p:cNvSpPr txBox="1"/>
          <p:nvPr/>
        </p:nvSpPr>
        <p:spPr>
          <a:xfrm>
            <a:off x="4114800" y="5943600"/>
            <a:ext cx="3200400" cy="777240"/>
          </a:xfrm>
          <a:prstGeom prst="rect">
            <a:avLst/>
          </a:prstGeom>
          <a:noFill/>
        </p:spPr>
        <p:txBody>
          <a:bodyPr wrap="square" lIns="0" tIns="0" rIns="0" bIns="0">
            <a:spAutoFit/>
          </a:bodyPr>
          <a:lstStyle/>
          <a:p>
            <a:r>
              <a:rPr sz="1800">
                <a:solidFill>
                  <a:srgbClr val="FFFFFF"/>
                </a:solidFill>
                <a:latin typeface="Segoe UI Semibold"/>
              </a:rPr>
              <a:t>Coby Blair</a:t>
            </a:r>
          </a:p>
          <a:p>
            <a:r>
              <a:rPr sz="1300">
                <a:solidFill>
                  <a:srgbClr val="D2D0CE"/>
                </a:solidFill>
                <a:latin typeface="Segoe UI"/>
              </a:rPr>
              <a:t>Cloud Solution Architect</a:t>
            </a:r>
          </a:p>
          <a:p>
            <a:r>
              <a:rPr sz="1300">
                <a:solidFill>
                  <a:srgbClr val="50E6FF"/>
                </a:solidFill>
                <a:latin typeface="Segoe UI"/>
              </a:rPr>
              <a:t>cobyblair@microsoft.com</a:t>
            </a:r>
          </a:p>
        </p:txBody>
      </p:sp>
    </p:spTree>
    <p:extLst>
      <p:ext uri="{BB962C8B-B14F-4D97-AF65-F5344CB8AC3E}">
        <p14:creationId xmlns:p14="http://schemas.microsoft.com/office/powerpoint/2010/main" val="2953762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0078D4"/>
                </a:solidFill>
                <a:latin typeface="Segoe UI Semibold" pitchFamily="34" charset="0"/>
                <a:ea typeface="Segoe UI Semibold" pitchFamily="34" charset="-122"/>
                <a:cs typeface="Segoe UI Semibold" pitchFamily="34" charset="-120"/>
              </a:rPr>
              <a:t>ADVANCED KUBERNETES</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605E5C"/>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201F1E"/>
                </a:solidFill>
                <a:latin typeface="Segoe UI Semibold" pitchFamily="34" charset="0"/>
                <a:ea typeface="Segoe UI Semibold" pitchFamily="34" charset="-122"/>
                <a:cs typeface="Segoe UI Semibold" pitchFamily="34" charset="-120"/>
              </a:rPr>
              <a:t>What “Day 2” Means</a:t>
            </a:r>
            <a:endParaRPr lang="en-US" sz="3200"/>
          </a:p>
        </p:txBody>
      </p:sp>
      <p:sp>
        <p:nvSpPr>
          <p:cNvPr id="9" name="Shape 7"/>
          <p:cNvSpPr/>
          <p:nvPr/>
        </p:nvSpPr>
        <p:spPr>
          <a:xfrm>
            <a:off x="548640" y="1828800"/>
            <a:ext cx="3017520" cy="2651760"/>
          </a:xfrm>
          <a:prstGeom prst="rect">
            <a:avLst/>
          </a:prstGeom>
          <a:solidFill>
            <a:srgbClr val="F3F2F1"/>
          </a:solidFill>
          <a:ln/>
        </p:spPr>
        <p:txBody>
          <a:bodyPr/>
          <a:lstStyle/>
          <a:p>
            <a:endParaRPr lang="en-US"/>
          </a:p>
        </p:txBody>
      </p:sp>
      <p:sp>
        <p:nvSpPr>
          <p:cNvPr id="10" name="Text 8"/>
          <p:cNvSpPr/>
          <p:nvPr/>
        </p:nvSpPr>
        <p:spPr>
          <a:xfrm>
            <a:off x="868680" y="2057400"/>
            <a:ext cx="2377440" cy="365760"/>
          </a:xfrm>
          <a:prstGeom prst="rect">
            <a:avLst/>
          </a:prstGeom>
          <a:noFill/>
          <a:ln/>
        </p:spPr>
        <p:txBody>
          <a:bodyPr wrap="square" lIns="0" tIns="0" rIns="0" bIns="0" rtlCol="0" anchor="ctr"/>
          <a:lstStyle/>
          <a:p>
            <a:pPr marL="0" indent="0">
              <a:buNone/>
            </a:pPr>
            <a:r>
              <a:rPr lang="en-US" sz="1400" kern="0" spc="300">
                <a:solidFill>
                  <a:srgbClr val="0078D4"/>
                </a:solidFill>
                <a:latin typeface="Segoe UI Semibold" pitchFamily="34" charset="0"/>
                <a:ea typeface="Segoe UI Semibold" pitchFamily="34" charset="-122"/>
                <a:cs typeface="Segoe UI Semibold" pitchFamily="34" charset="-120"/>
              </a:rPr>
              <a:t>DAY 0</a:t>
            </a:r>
            <a:endParaRPr lang="en-US" sz="1400"/>
          </a:p>
        </p:txBody>
      </p:sp>
      <p:sp>
        <p:nvSpPr>
          <p:cNvPr id="11" name="Text 9"/>
          <p:cNvSpPr/>
          <p:nvPr/>
        </p:nvSpPr>
        <p:spPr>
          <a:xfrm>
            <a:off x="868680" y="2468880"/>
            <a:ext cx="2377440" cy="548640"/>
          </a:xfrm>
          <a:prstGeom prst="rect">
            <a:avLst/>
          </a:prstGeom>
          <a:noFill/>
          <a:ln/>
        </p:spPr>
        <p:txBody>
          <a:bodyPr wrap="square" lIns="0" tIns="0" rIns="0" bIns="0" rtlCol="0" anchor="t"/>
          <a:lstStyle/>
          <a:p>
            <a:pPr marL="0" indent="0">
              <a:buNone/>
            </a:pPr>
            <a:r>
              <a:rPr lang="en-US" sz="2400">
                <a:solidFill>
                  <a:srgbClr val="201F1E"/>
                </a:solidFill>
                <a:latin typeface="Segoe UI Semibold" pitchFamily="34" charset="0"/>
                <a:ea typeface="Segoe UI Semibold" pitchFamily="34" charset="-122"/>
                <a:cs typeface="Segoe UI Semibold" pitchFamily="34" charset="-120"/>
              </a:rPr>
              <a:t>Design &amp; plan</a:t>
            </a:r>
            <a:endParaRPr lang="en-US" sz="2400"/>
          </a:p>
        </p:txBody>
      </p:sp>
      <p:sp>
        <p:nvSpPr>
          <p:cNvPr id="12" name="Text 10"/>
          <p:cNvSpPr/>
          <p:nvPr/>
        </p:nvSpPr>
        <p:spPr>
          <a:xfrm>
            <a:off x="868680" y="3200400"/>
            <a:ext cx="2377440" cy="1097280"/>
          </a:xfrm>
          <a:prstGeom prst="rect">
            <a:avLst/>
          </a:prstGeom>
          <a:noFill/>
          <a:ln/>
        </p:spPr>
        <p:txBody>
          <a:bodyPr wrap="square" lIns="0" tIns="0" rIns="0" bIns="0" rtlCol="0" anchor="t"/>
          <a:lstStyle/>
          <a:p>
            <a:pPr marL="0" indent="0">
              <a:buNone/>
            </a:pPr>
            <a:r>
              <a:rPr lang="en-US" sz="1600">
                <a:solidFill>
                  <a:srgbClr val="323130"/>
                </a:solidFill>
                <a:latin typeface="Segoe UI" pitchFamily="34" charset="0"/>
                <a:ea typeface="Segoe UI" pitchFamily="34" charset="-122"/>
                <a:cs typeface="Segoe UI" pitchFamily="34" charset="-120"/>
              </a:rPr>
              <a:t>Design and plan the platform</a:t>
            </a:r>
            <a:endParaRPr lang="en-US" sz="1600"/>
          </a:p>
        </p:txBody>
      </p:sp>
      <p:sp>
        <p:nvSpPr>
          <p:cNvPr id="13" name="Shape 11"/>
          <p:cNvSpPr/>
          <p:nvPr/>
        </p:nvSpPr>
        <p:spPr>
          <a:xfrm>
            <a:off x="3840480" y="1828800"/>
            <a:ext cx="3017520" cy="2651760"/>
          </a:xfrm>
          <a:prstGeom prst="rect">
            <a:avLst/>
          </a:prstGeom>
          <a:solidFill>
            <a:srgbClr val="DEECF9"/>
          </a:solidFill>
          <a:ln/>
        </p:spPr>
        <p:txBody>
          <a:bodyPr/>
          <a:lstStyle/>
          <a:p>
            <a:endParaRPr lang="en-US"/>
          </a:p>
        </p:txBody>
      </p:sp>
      <p:sp>
        <p:nvSpPr>
          <p:cNvPr id="14" name="Text 12"/>
          <p:cNvSpPr/>
          <p:nvPr/>
        </p:nvSpPr>
        <p:spPr>
          <a:xfrm>
            <a:off x="4160520" y="2057400"/>
            <a:ext cx="2377440" cy="365760"/>
          </a:xfrm>
          <a:prstGeom prst="rect">
            <a:avLst/>
          </a:prstGeom>
          <a:noFill/>
          <a:ln/>
        </p:spPr>
        <p:txBody>
          <a:bodyPr wrap="square" lIns="0" tIns="0" rIns="0" bIns="0" rtlCol="0" anchor="ctr"/>
          <a:lstStyle/>
          <a:p>
            <a:pPr marL="0" indent="0">
              <a:buNone/>
            </a:pPr>
            <a:r>
              <a:rPr lang="en-US" sz="1400" kern="0" spc="300">
                <a:solidFill>
                  <a:srgbClr val="0078D4"/>
                </a:solidFill>
                <a:latin typeface="Segoe UI Semibold" pitchFamily="34" charset="0"/>
                <a:ea typeface="Segoe UI Semibold" pitchFamily="34" charset="-122"/>
                <a:cs typeface="Segoe UI Semibold" pitchFamily="34" charset="-120"/>
              </a:rPr>
              <a:t>DAY 1</a:t>
            </a:r>
            <a:endParaRPr lang="en-US" sz="1400"/>
          </a:p>
        </p:txBody>
      </p:sp>
      <p:sp>
        <p:nvSpPr>
          <p:cNvPr id="15" name="Text 13"/>
          <p:cNvSpPr/>
          <p:nvPr/>
        </p:nvSpPr>
        <p:spPr>
          <a:xfrm>
            <a:off x="4160520" y="2468880"/>
            <a:ext cx="2377440" cy="548640"/>
          </a:xfrm>
          <a:prstGeom prst="rect">
            <a:avLst/>
          </a:prstGeom>
          <a:noFill/>
          <a:ln/>
        </p:spPr>
        <p:txBody>
          <a:bodyPr wrap="square" lIns="0" tIns="0" rIns="0" bIns="0" rtlCol="0" anchor="t"/>
          <a:lstStyle/>
          <a:p>
            <a:pPr marL="0" indent="0">
              <a:buNone/>
            </a:pPr>
            <a:r>
              <a:rPr lang="en-US" sz="2400">
                <a:solidFill>
                  <a:srgbClr val="201F1E"/>
                </a:solidFill>
                <a:latin typeface="Segoe UI Semibold" pitchFamily="34" charset="0"/>
                <a:ea typeface="Segoe UI Semibold" pitchFamily="34" charset="-122"/>
                <a:cs typeface="Segoe UI Semibold" pitchFamily="34" charset="-120"/>
              </a:rPr>
              <a:t>Stand it up</a:t>
            </a:r>
            <a:endParaRPr lang="en-US" sz="2400"/>
          </a:p>
        </p:txBody>
      </p:sp>
      <p:sp>
        <p:nvSpPr>
          <p:cNvPr id="16" name="Text 14"/>
          <p:cNvSpPr/>
          <p:nvPr/>
        </p:nvSpPr>
        <p:spPr>
          <a:xfrm>
            <a:off x="4160520" y="3200400"/>
            <a:ext cx="2377440" cy="1097280"/>
          </a:xfrm>
          <a:prstGeom prst="rect">
            <a:avLst/>
          </a:prstGeom>
          <a:noFill/>
          <a:ln/>
        </p:spPr>
        <p:txBody>
          <a:bodyPr wrap="square" lIns="0" tIns="0" rIns="0" bIns="0" rtlCol="0" anchor="t"/>
          <a:lstStyle/>
          <a:p>
            <a:pPr marL="0" indent="0">
              <a:buNone/>
            </a:pPr>
            <a:r>
              <a:rPr lang="en-US" sz="1600">
                <a:solidFill>
                  <a:srgbClr val="323130"/>
                </a:solidFill>
                <a:latin typeface="Segoe UI" pitchFamily="34" charset="0"/>
                <a:ea typeface="Segoe UI" pitchFamily="34" charset="-122"/>
                <a:cs typeface="Segoe UI" pitchFamily="34" charset="-120"/>
              </a:rPr>
              <a:t>Stand up the cluster and deploy the first workload</a:t>
            </a:r>
            <a:endParaRPr lang="en-US" sz="1600"/>
          </a:p>
        </p:txBody>
      </p:sp>
      <p:sp>
        <p:nvSpPr>
          <p:cNvPr id="17" name="Shape 15"/>
          <p:cNvSpPr/>
          <p:nvPr/>
        </p:nvSpPr>
        <p:spPr>
          <a:xfrm>
            <a:off x="7132320" y="1828800"/>
            <a:ext cx="4480560" cy="2651760"/>
          </a:xfrm>
          <a:prstGeom prst="rect">
            <a:avLst/>
          </a:prstGeom>
          <a:solidFill>
            <a:srgbClr val="0078D4"/>
          </a:solidFill>
          <a:ln/>
        </p:spPr>
        <p:txBody>
          <a:bodyPr/>
          <a:lstStyle/>
          <a:p>
            <a:endParaRPr lang="en-US"/>
          </a:p>
        </p:txBody>
      </p:sp>
      <p:sp>
        <p:nvSpPr>
          <p:cNvPr id="18" name="Text 16"/>
          <p:cNvSpPr/>
          <p:nvPr/>
        </p:nvSpPr>
        <p:spPr>
          <a:xfrm>
            <a:off x="7452360" y="2057400"/>
            <a:ext cx="3840480" cy="365760"/>
          </a:xfrm>
          <a:prstGeom prst="rect">
            <a:avLst/>
          </a:prstGeom>
          <a:noFill/>
          <a:ln/>
        </p:spPr>
        <p:txBody>
          <a:bodyPr wrap="square" lIns="0" tIns="0" rIns="0" bIns="0" rtlCol="0" anchor="ctr"/>
          <a:lstStyle/>
          <a:p>
            <a:pPr marL="0" indent="0">
              <a:buNone/>
            </a:pPr>
            <a:r>
              <a:rPr lang="en-US" sz="1400" kern="0" spc="300">
                <a:solidFill>
                  <a:srgbClr val="50E6FF"/>
                </a:solidFill>
                <a:latin typeface="Segoe UI Semibold" pitchFamily="34" charset="0"/>
                <a:ea typeface="Segoe UI Semibold" pitchFamily="34" charset="-122"/>
                <a:cs typeface="Segoe UI Semibold" pitchFamily="34" charset="-120"/>
              </a:rPr>
              <a:t>DAY 2</a:t>
            </a:r>
            <a:endParaRPr lang="en-US" sz="1400"/>
          </a:p>
        </p:txBody>
      </p:sp>
      <p:sp>
        <p:nvSpPr>
          <p:cNvPr id="19" name="Text 17"/>
          <p:cNvSpPr/>
          <p:nvPr/>
        </p:nvSpPr>
        <p:spPr>
          <a:xfrm>
            <a:off x="7452360" y="2468880"/>
            <a:ext cx="3840480" cy="548640"/>
          </a:xfrm>
          <a:prstGeom prst="rect">
            <a:avLst/>
          </a:prstGeom>
          <a:noFill/>
          <a:ln/>
        </p:spPr>
        <p:txBody>
          <a:bodyPr wrap="square" lIns="0" tIns="0" rIns="0" bIns="0" rtlCol="0" anchor="t"/>
          <a:lstStyle/>
          <a:p>
            <a:pPr marL="0" indent="0">
              <a:buNone/>
            </a:pPr>
            <a:r>
              <a:rPr lang="en-US" sz="3000">
                <a:solidFill>
                  <a:srgbClr val="FFFFFF"/>
                </a:solidFill>
                <a:latin typeface="Segoe UI Semibold" pitchFamily="34" charset="0"/>
                <a:ea typeface="Segoe UI Semibold" pitchFamily="34" charset="-122"/>
                <a:cs typeface="Segoe UI Semibold" pitchFamily="34" charset="-120"/>
              </a:rPr>
              <a:t>Everything after</a:t>
            </a:r>
            <a:endParaRPr lang="en-US" sz="3000"/>
          </a:p>
        </p:txBody>
      </p:sp>
      <p:sp>
        <p:nvSpPr>
          <p:cNvPr id="20" name="Text 18"/>
          <p:cNvSpPr/>
          <p:nvPr/>
        </p:nvSpPr>
        <p:spPr>
          <a:xfrm>
            <a:off x="7452360" y="3200400"/>
            <a:ext cx="3840480" cy="1097280"/>
          </a:xfrm>
          <a:prstGeom prst="rect">
            <a:avLst/>
          </a:prstGeom>
          <a:noFill/>
          <a:ln/>
        </p:spPr>
        <p:txBody>
          <a:bodyPr wrap="square" lIns="0" tIns="0" rIns="0" bIns="0" rtlCol="0" anchor="t"/>
          <a:lstStyle/>
          <a:p>
            <a:pPr marL="0" indent="0">
              <a:buNone/>
            </a:pPr>
            <a:r>
              <a:rPr lang="en-US" sz="1600">
                <a:solidFill>
                  <a:srgbClr val="FFFFFF"/>
                </a:solidFill>
                <a:latin typeface="Segoe UI" pitchFamily="34" charset="0"/>
                <a:ea typeface="Segoe UI" pitchFamily="34" charset="-122"/>
                <a:cs typeface="Segoe UI" pitchFamily="34" charset="-120"/>
              </a:rPr>
              <a:t>Upgrades, scaling, recovery, drift, change management</a:t>
            </a:r>
            <a:endParaRPr lang="en-US" sz="1600"/>
          </a:p>
        </p:txBody>
      </p:sp>
      <p:sp>
        <p:nvSpPr>
          <p:cNvPr id="21" name="Shape 19"/>
          <p:cNvSpPr/>
          <p:nvPr/>
        </p:nvSpPr>
        <p:spPr>
          <a:xfrm>
            <a:off x="10424160" y="2057400"/>
            <a:ext cx="640080" cy="640080"/>
          </a:xfrm>
          <a:prstGeom prst="ellipse">
            <a:avLst/>
          </a:prstGeom>
          <a:solidFill>
            <a:srgbClr val="005A9E"/>
          </a:solidFill>
          <a:ln/>
        </p:spPr>
        <p:txBody>
          <a:bodyPr/>
          <a:lstStyle/>
          <a:p>
            <a:endParaRPr lang="en-US"/>
          </a:p>
        </p:txBody>
      </p:sp>
      <p:pic>
        <p:nvPicPr>
          <p:cNvPr id="22" name="Image 0" descr="/agent/turn1/workspace/output/_anthropic_assets/icon-arrow-sync-188c7913.png"/>
          <p:cNvPicPr>
            <a:picLocks noChangeAspect="1"/>
          </p:cNvPicPr>
          <p:nvPr/>
        </p:nvPicPr>
        <p:blipFill>
          <a:blip r:embed="rId3"/>
          <a:stretch>
            <a:fillRect/>
          </a:stretch>
        </p:blipFill>
        <p:spPr>
          <a:xfrm>
            <a:off x="10564978" y="2198218"/>
            <a:ext cx="358445" cy="358445"/>
          </a:xfrm>
          <a:prstGeom prst="rect">
            <a:avLst/>
          </a:prstGeom>
        </p:spPr>
      </p:pic>
      <p:sp>
        <p:nvSpPr>
          <p:cNvPr id="23" name="Shape 20"/>
          <p:cNvSpPr/>
          <p:nvPr/>
        </p:nvSpPr>
        <p:spPr>
          <a:xfrm>
            <a:off x="548640" y="4846320"/>
            <a:ext cx="11064240" cy="1097280"/>
          </a:xfrm>
          <a:prstGeom prst="rect">
            <a:avLst/>
          </a:prstGeom>
          <a:solidFill>
            <a:srgbClr val="DEECF9"/>
          </a:solidFill>
          <a:ln/>
        </p:spPr>
        <p:txBody>
          <a:bodyPr/>
          <a:lstStyle/>
          <a:p>
            <a:endParaRPr lang="en-US"/>
          </a:p>
        </p:txBody>
      </p:sp>
      <p:sp>
        <p:nvSpPr>
          <p:cNvPr id="24" name="Shape 21"/>
          <p:cNvSpPr/>
          <p:nvPr/>
        </p:nvSpPr>
        <p:spPr>
          <a:xfrm>
            <a:off x="777240" y="5166360"/>
            <a:ext cx="457200" cy="457200"/>
          </a:xfrm>
          <a:prstGeom prst="ellipse">
            <a:avLst/>
          </a:prstGeom>
          <a:solidFill>
            <a:srgbClr val="0078D4"/>
          </a:solidFill>
          <a:ln/>
        </p:spPr>
        <p:txBody>
          <a:bodyPr/>
          <a:lstStyle/>
          <a:p>
            <a:endParaRPr lang="en-US"/>
          </a:p>
        </p:txBody>
      </p:sp>
      <p:pic>
        <p:nvPicPr>
          <p:cNvPr id="25" name="Image 1" descr="/agent/turn1/workspace/output/_anthropic_assets/icon-arrow-trending-7e6387a6.png"/>
          <p:cNvPicPr>
            <a:picLocks noChangeAspect="1"/>
          </p:cNvPicPr>
          <p:nvPr/>
        </p:nvPicPr>
        <p:blipFill>
          <a:blip r:embed="rId4"/>
          <a:stretch>
            <a:fillRect/>
          </a:stretch>
        </p:blipFill>
        <p:spPr>
          <a:xfrm>
            <a:off x="877824" y="5266944"/>
            <a:ext cx="256032" cy="256032"/>
          </a:xfrm>
          <a:prstGeom prst="rect">
            <a:avLst/>
          </a:prstGeom>
        </p:spPr>
      </p:pic>
      <p:sp>
        <p:nvSpPr>
          <p:cNvPr id="26" name="Text 22"/>
          <p:cNvSpPr/>
          <p:nvPr/>
        </p:nvSpPr>
        <p:spPr>
          <a:xfrm>
            <a:off x="1417320" y="4846320"/>
            <a:ext cx="9966960" cy="1097280"/>
          </a:xfrm>
          <a:prstGeom prst="rect">
            <a:avLst/>
          </a:prstGeom>
          <a:noFill/>
          <a:ln/>
        </p:spPr>
        <p:txBody>
          <a:bodyPr wrap="square" lIns="0" tIns="0" rIns="0" bIns="0" rtlCol="0" anchor="ctr"/>
          <a:lstStyle/>
          <a:p>
            <a:pPr marL="0" indent="0">
              <a:buNone/>
            </a:pPr>
            <a:r>
              <a:rPr lang="en-US" sz="2000">
                <a:solidFill>
                  <a:srgbClr val="201F1E"/>
                </a:solidFill>
                <a:latin typeface="Segoe UI" pitchFamily="34" charset="0"/>
                <a:ea typeface="Segoe UI" pitchFamily="34" charset="-122"/>
                <a:cs typeface="Segoe UI" pitchFamily="34" charset="-120"/>
              </a:rPr>
              <a:t>Day 2 is where most of the operational cost lives. The goal is to make it </a:t>
            </a:r>
            <a:r>
              <a:rPr lang="en-US" sz="2000" b="1">
                <a:solidFill>
                  <a:srgbClr val="201F1E"/>
                </a:solidFill>
                <a:latin typeface="Segoe UI" pitchFamily="34" charset="0"/>
                <a:ea typeface="Segoe UI" pitchFamily="34" charset="-122"/>
                <a:cs typeface="Segoe UI" pitchFamily="34" charset="-120"/>
              </a:rPr>
              <a:t>repeatable, automated, and observable</a:t>
            </a:r>
            <a:r>
              <a:rPr lang="en-US" sz="2000">
                <a:solidFill>
                  <a:srgbClr val="201F1E"/>
                </a:solidFill>
                <a:latin typeface="Segoe UI" pitchFamily="34" charset="0"/>
                <a:ea typeface="Segoe UI" pitchFamily="34" charset="-122"/>
                <a:cs typeface="Segoe UI" pitchFamily="34" charset="-120"/>
              </a:rPr>
              <a:t>.</a:t>
            </a:r>
            <a:endParaRPr lang="en-US" sz="2000"/>
          </a:p>
        </p:txBody>
      </p:sp>
      <p:sp>
        <p:nvSpPr>
          <p:cNvPr id="27"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5E5C"/>
                </a:solidFill>
                <a:latin typeface="Segoe UI"/>
                <a:ea typeface="Segoe UI"/>
                <a:cs typeface="Segoe UI"/>
              </a:defRPr>
            </a:lvl1pPr>
          </a:lstStyle>
          <a:p>
            <a:pPr algn="r"/>
            <a:fld id="{F7021451-1387-4CA6-816F-3879F97B5CBC}" type="slidenum">
              <a:rPr lang="en-US" b="0"/>
              <a:t>2</a:t>
            </a:fld>
            <a:endParaRPr lang="en-US"/>
          </a:p>
        </p:txBody>
      </p:sp>
    </p:spTree>
    <p:extLst>
      <p:ext uri="{BB962C8B-B14F-4D97-AF65-F5344CB8AC3E}">
        <p14:creationId xmlns:p14="http://schemas.microsoft.com/office/powerpoint/2010/main" val="1207264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50E6FF"/>
                </a:solidFill>
                <a:latin typeface="Segoe UI Semibold" pitchFamily="34" charset="0"/>
                <a:ea typeface="Segoe UI Semibold" pitchFamily="34" charset="-122"/>
                <a:cs typeface="Segoe UI Semibold" pitchFamily="34" charset="-120"/>
              </a:rPr>
              <a:t>ADVANCED KUBERNETES</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A19F9D"/>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FFFFFF"/>
                </a:solidFill>
                <a:latin typeface="Segoe UI Semibold" pitchFamily="34" charset="0"/>
                <a:ea typeface="Segoe UI Semibold" pitchFamily="34" charset="-122"/>
                <a:cs typeface="Segoe UI Semibold" pitchFamily="34" charset="-120"/>
              </a:rPr>
              <a:t>Agenda</a:t>
            </a:r>
            <a:endParaRPr lang="en-US" sz="3200"/>
          </a:p>
        </p:txBody>
      </p:sp>
      <p:sp>
        <p:nvSpPr>
          <p:cNvPr id="9" name="Shape 7"/>
          <p:cNvSpPr/>
          <p:nvPr/>
        </p:nvSpPr>
        <p:spPr>
          <a:xfrm>
            <a:off x="548640" y="1828800"/>
            <a:ext cx="3502152" cy="2011680"/>
          </a:xfrm>
          <a:prstGeom prst="rect">
            <a:avLst/>
          </a:prstGeom>
          <a:solidFill>
            <a:srgbClr val="0078D4"/>
          </a:solidFill>
          <a:ln/>
        </p:spPr>
        <p:txBody>
          <a:bodyPr/>
          <a:lstStyle/>
          <a:p>
            <a:endParaRPr lang="en-US"/>
          </a:p>
        </p:txBody>
      </p:sp>
      <p:sp>
        <p:nvSpPr>
          <p:cNvPr id="10" name="Text 8"/>
          <p:cNvSpPr/>
          <p:nvPr/>
        </p:nvSpPr>
        <p:spPr>
          <a:xfrm>
            <a:off x="822960" y="2011680"/>
            <a:ext cx="1371600" cy="822960"/>
          </a:xfrm>
          <a:prstGeom prst="rect">
            <a:avLst/>
          </a:prstGeom>
          <a:noFill/>
          <a:ln/>
        </p:spPr>
        <p:txBody>
          <a:bodyPr wrap="square" lIns="0" tIns="0" rIns="0" bIns="0" rtlCol="0" anchor="t"/>
          <a:lstStyle/>
          <a:p>
            <a:pPr marL="0" indent="0">
              <a:buNone/>
            </a:pPr>
            <a:r>
              <a:rPr lang="en-US" sz="4400">
                <a:solidFill>
                  <a:srgbClr val="FFFFFF"/>
                </a:solidFill>
                <a:latin typeface="Segoe UI Semibold" pitchFamily="34" charset="0"/>
                <a:ea typeface="Segoe UI Semibold" pitchFamily="34" charset="-122"/>
                <a:cs typeface="Segoe UI Semibold" pitchFamily="34" charset="-120"/>
              </a:rPr>
              <a:t>01</a:t>
            </a:r>
            <a:endParaRPr lang="en-US" sz="4400"/>
          </a:p>
        </p:txBody>
      </p:sp>
      <p:sp>
        <p:nvSpPr>
          <p:cNvPr id="11" name="Shape 9"/>
          <p:cNvSpPr/>
          <p:nvPr/>
        </p:nvSpPr>
        <p:spPr>
          <a:xfrm>
            <a:off x="3182112" y="2103120"/>
            <a:ext cx="594360" cy="594360"/>
          </a:xfrm>
          <a:prstGeom prst="ellipse">
            <a:avLst/>
          </a:prstGeom>
          <a:solidFill>
            <a:srgbClr val="FFFFFF">
              <a:alpha val="20000"/>
            </a:srgbClr>
          </a:solidFill>
          <a:ln/>
        </p:spPr>
        <p:txBody>
          <a:bodyPr/>
          <a:lstStyle/>
          <a:p>
            <a:endParaRPr lang="en-US"/>
          </a:p>
        </p:txBody>
      </p:sp>
      <p:pic>
        <p:nvPicPr>
          <p:cNvPr id="12" name="Image 0" descr="/agent/turn1/workspace/output/_anthropic_assets/icon-wrench-625444fc.png"/>
          <p:cNvPicPr>
            <a:picLocks noChangeAspect="1"/>
          </p:cNvPicPr>
          <p:nvPr/>
        </p:nvPicPr>
        <p:blipFill>
          <a:blip r:embed="rId3"/>
          <a:stretch>
            <a:fillRect/>
          </a:stretch>
        </p:blipFill>
        <p:spPr>
          <a:xfrm>
            <a:off x="3319272" y="2240280"/>
            <a:ext cx="320040" cy="320040"/>
          </a:xfrm>
          <a:prstGeom prst="rect">
            <a:avLst/>
          </a:prstGeom>
        </p:spPr>
      </p:pic>
      <p:sp>
        <p:nvSpPr>
          <p:cNvPr id="13" name="Text 10"/>
          <p:cNvSpPr/>
          <p:nvPr/>
        </p:nvSpPr>
        <p:spPr>
          <a:xfrm>
            <a:off x="822960" y="2926080"/>
            <a:ext cx="2953512" cy="777240"/>
          </a:xfrm>
          <a:prstGeom prst="rect">
            <a:avLst/>
          </a:prstGeom>
          <a:noFill/>
          <a:ln/>
        </p:spPr>
        <p:txBody>
          <a:bodyPr wrap="square" lIns="0" tIns="0" rIns="0" bIns="0" rtlCol="0" anchor="t"/>
          <a:lstStyle/>
          <a:p>
            <a:pPr marL="0" indent="0">
              <a:buNone/>
            </a:pPr>
            <a:r>
              <a:rPr lang="en-US" sz="2000">
                <a:solidFill>
                  <a:srgbClr val="FFFFFF"/>
                </a:solidFill>
                <a:latin typeface="Segoe UI Semibold" pitchFamily="34" charset="0"/>
                <a:ea typeface="Segoe UI Semibold" pitchFamily="34" charset="-122"/>
                <a:cs typeface="Segoe UI Semibold" pitchFamily="34" charset="-120"/>
              </a:rPr>
              <a:t>The toolbox</a:t>
            </a:r>
            <a:endParaRPr lang="en-US" sz="2000"/>
          </a:p>
        </p:txBody>
      </p:sp>
      <p:sp>
        <p:nvSpPr>
          <p:cNvPr id="14" name="Shape 11"/>
          <p:cNvSpPr/>
          <p:nvPr/>
        </p:nvSpPr>
        <p:spPr>
          <a:xfrm>
            <a:off x="4325112" y="1828800"/>
            <a:ext cx="3502152" cy="2011680"/>
          </a:xfrm>
          <a:prstGeom prst="rect">
            <a:avLst/>
          </a:prstGeom>
          <a:solidFill>
            <a:srgbClr val="107C10"/>
          </a:solidFill>
          <a:ln/>
        </p:spPr>
        <p:txBody>
          <a:bodyPr/>
          <a:lstStyle/>
          <a:p>
            <a:endParaRPr lang="en-US"/>
          </a:p>
        </p:txBody>
      </p:sp>
      <p:sp>
        <p:nvSpPr>
          <p:cNvPr id="15" name="Text 12"/>
          <p:cNvSpPr/>
          <p:nvPr/>
        </p:nvSpPr>
        <p:spPr>
          <a:xfrm>
            <a:off x="4599432" y="2011680"/>
            <a:ext cx="1371600" cy="822960"/>
          </a:xfrm>
          <a:prstGeom prst="rect">
            <a:avLst/>
          </a:prstGeom>
          <a:noFill/>
          <a:ln/>
        </p:spPr>
        <p:txBody>
          <a:bodyPr wrap="square" lIns="0" tIns="0" rIns="0" bIns="0" rtlCol="0" anchor="t"/>
          <a:lstStyle/>
          <a:p>
            <a:pPr marL="0" indent="0">
              <a:buNone/>
            </a:pPr>
            <a:r>
              <a:rPr lang="en-US" sz="4400">
                <a:solidFill>
                  <a:srgbClr val="FFFFFF"/>
                </a:solidFill>
                <a:latin typeface="Segoe UI Semibold" pitchFamily="34" charset="0"/>
                <a:ea typeface="Segoe UI Semibold" pitchFamily="34" charset="-122"/>
                <a:cs typeface="Segoe UI Semibold" pitchFamily="34" charset="-120"/>
              </a:rPr>
              <a:t>02</a:t>
            </a:r>
            <a:endParaRPr lang="en-US" sz="4400"/>
          </a:p>
        </p:txBody>
      </p:sp>
      <p:sp>
        <p:nvSpPr>
          <p:cNvPr id="16" name="Shape 13"/>
          <p:cNvSpPr/>
          <p:nvPr/>
        </p:nvSpPr>
        <p:spPr>
          <a:xfrm>
            <a:off x="6958584" y="2103120"/>
            <a:ext cx="594360" cy="594360"/>
          </a:xfrm>
          <a:prstGeom prst="ellipse">
            <a:avLst/>
          </a:prstGeom>
          <a:solidFill>
            <a:srgbClr val="FFFFFF">
              <a:alpha val="20000"/>
            </a:srgbClr>
          </a:solidFill>
          <a:ln/>
        </p:spPr>
        <p:txBody>
          <a:bodyPr/>
          <a:lstStyle/>
          <a:p>
            <a:endParaRPr lang="en-US"/>
          </a:p>
        </p:txBody>
      </p:sp>
      <p:pic>
        <p:nvPicPr>
          <p:cNvPr id="17" name="Image 1" descr="/agent/turn1/workspace/output/_anthropic_assets/icon-box-8afa8cd4.png"/>
          <p:cNvPicPr>
            <a:picLocks noChangeAspect="1"/>
          </p:cNvPicPr>
          <p:nvPr/>
        </p:nvPicPr>
        <p:blipFill>
          <a:blip r:embed="rId4"/>
          <a:stretch>
            <a:fillRect/>
          </a:stretch>
        </p:blipFill>
        <p:spPr>
          <a:xfrm>
            <a:off x="7095744" y="2240280"/>
            <a:ext cx="320040" cy="320040"/>
          </a:xfrm>
          <a:prstGeom prst="rect">
            <a:avLst/>
          </a:prstGeom>
        </p:spPr>
      </p:pic>
      <p:sp>
        <p:nvSpPr>
          <p:cNvPr id="18" name="Text 14"/>
          <p:cNvSpPr/>
          <p:nvPr/>
        </p:nvSpPr>
        <p:spPr>
          <a:xfrm>
            <a:off x="4599432" y="2926080"/>
            <a:ext cx="2953512" cy="777240"/>
          </a:xfrm>
          <a:prstGeom prst="rect">
            <a:avLst/>
          </a:prstGeom>
          <a:noFill/>
          <a:ln/>
        </p:spPr>
        <p:txBody>
          <a:bodyPr wrap="square" lIns="0" tIns="0" rIns="0" bIns="0" rtlCol="0" anchor="t"/>
          <a:lstStyle/>
          <a:p>
            <a:pPr marL="0" indent="0">
              <a:buNone/>
            </a:pPr>
            <a:r>
              <a:rPr lang="en-US" sz="2000">
                <a:solidFill>
                  <a:srgbClr val="FFFFFF"/>
                </a:solidFill>
                <a:latin typeface="Segoe UI Semibold" pitchFamily="34" charset="0"/>
                <a:ea typeface="Segoe UI Semibold" pitchFamily="34" charset="-122"/>
                <a:cs typeface="Segoe UI Semibold" pitchFamily="34" charset="-120"/>
              </a:rPr>
              <a:t>Packaging apps with Helm</a:t>
            </a:r>
            <a:endParaRPr lang="en-US" sz="2000"/>
          </a:p>
        </p:txBody>
      </p:sp>
      <p:sp>
        <p:nvSpPr>
          <p:cNvPr id="19" name="Shape 15"/>
          <p:cNvSpPr/>
          <p:nvPr/>
        </p:nvSpPr>
        <p:spPr>
          <a:xfrm>
            <a:off x="8101584" y="1828800"/>
            <a:ext cx="3502152" cy="2011680"/>
          </a:xfrm>
          <a:prstGeom prst="rect">
            <a:avLst/>
          </a:prstGeom>
          <a:solidFill>
            <a:srgbClr val="FFB900"/>
          </a:solidFill>
          <a:ln/>
        </p:spPr>
        <p:txBody>
          <a:bodyPr/>
          <a:lstStyle/>
          <a:p>
            <a:endParaRPr lang="en-US"/>
          </a:p>
        </p:txBody>
      </p:sp>
      <p:sp>
        <p:nvSpPr>
          <p:cNvPr id="20" name="Text 16"/>
          <p:cNvSpPr/>
          <p:nvPr/>
        </p:nvSpPr>
        <p:spPr>
          <a:xfrm>
            <a:off x="8375904" y="2011680"/>
            <a:ext cx="1371600" cy="822960"/>
          </a:xfrm>
          <a:prstGeom prst="rect">
            <a:avLst/>
          </a:prstGeom>
          <a:noFill/>
          <a:ln/>
        </p:spPr>
        <p:txBody>
          <a:bodyPr wrap="square" lIns="0" tIns="0" rIns="0" bIns="0" rtlCol="0" anchor="t"/>
          <a:lstStyle/>
          <a:p>
            <a:pPr marL="0" indent="0">
              <a:buNone/>
            </a:pPr>
            <a:r>
              <a:rPr lang="en-US" sz="4400">
                <a:solidFill>
                  <a:srgbClr val="201F1E"/>
                </a:solidFill>
                <a:latin typeface="Segoe UI Semibold" pitchFamily="34" charset="0"/>
                <a:ea typeface="Segoe UI Semibold" pitchFamily="34" charset="-122"/>
                <a:cs typeface="Segoe UI Semibold" pitchFamily="34" charset="-120"/>
              </a:rPr>
              <a:t>03</a:t>
            </a:r>
            <a:endParaRPr lang="en-US" sz="4400"/>
          </a:p>
        </p:txBody>
      </p:sp>
      <p:sp>
        <p:nvSpPr>
          <p:cNvPr id="21" name="Shape 17"/>
          <p:cNvSpPr/>
          <p:nvPr/>
        </p:nvSpPr>
        <p:spPr>
          <a:xfrm>
            <a:off x="10735056" y="2103120"/>
            <a:ext cx="594360" cy="594360"/>
          </a:xfrm>
          <a:prstGeom prst="ellipse">
            <a:avLst/>
          </a:prstGeom>
          <a:solidFill>
            <a:srgbClr val="201F1E"/>
          </a:solidFill>
          <a:ln/>
        </p:spPr>
        <p:txBody>
          <a:bodyPr/>
          <a:lstStyle/>
          <a:p>
            <a:endParaRPr lang="en-US"/>
          </a:p>
        </p:txBody>
      </p:sp>
      <p:pic>
        <p:nvPicPr>
          <p:cNvPr id="22" name="Image 2" descr="/agent/turn1/workspace/output/_anthropic_assets/icon-globe-9a98f83b.png"/>
          <p:cNvPicPr>
            <a:picLocks noChangeAspect="1"/>
          </p:cNvPicPr>
          <p:nvPr/>
        </p:nvPicPr>
        <p:blipFill>
          <a:blip r:embed="rId5"/>
          <a:stretch>
            <a:fillRect/>
          </a:stretch>
        </p:blipFill>
        <p:spPr>
          <a:xfrm>
            <a:off x="10872216" y="2240280"/>
            <a:ext cx="320040" cy="320040"/>
          </a:xfrm>
          <a:prstGeom prst="rect">
            <a:avLst/>
          </a:prstGeom>
        </p:spPr>
      </p:pic>
      <p:sp>
        <p:nvSpPr>
          <p:cNvPr id="23" name="Text 18"/>
          <p:cNvSpPr/>
          <p:nvPr/>
        </p:nvSpPr>
        <p:spPr>
          <a:xfrm>
            <a:off x="8375904" y="2926080"/>
            <a:ext cx="2953512" cy="777240"/>
          </a:xfrm>
          <a:prstGeom prst="rect">
            <a:avLst/>
          </a:prstGeom>
          <a:noFill/>
          <a:ln/>
        </p:spPr>
        <p:txBody>
          <a:bodyPr wrap="square" lIns="0" tIns="0" rIns="0" bIns="0" rtlCol="0" anchor="t"/>
          <a:lstStyle/>
          <a:p>
            <a:pPr marL="0" indent="0">
              <a:buNone/>
            </a:pPr>
            <a:r>
              <a:rPr lang="en-US" sz="2000">
                <a:solidFill>
                  <a:srgbClr val="201F1E"/>
                </a:solidFill>
                <a:latin typeface="Segoe UI Semibold" pitchFamily="34" charset="0"/>
                <a:ea typeface="Segoe UI Semibold" pitchFamily="34" charset="-122"/>
                <a:cs typeface="Segoe UI Semibold" pitchFamily="34" charset="-120"/>
              </a:rPr>
              <a:t>Exposing apps with Gateway API</a:t>
            </a:r>
            <a:endParaRPr lang="en-US" sz="2000"/>
          </a:p>
        </p:txBody>
      </p:sp>
      <p:sp>
        <p:nvSpPr>
          <p:cNvPr id="24" name="Shape 19"/>
          <p:cNvSpPr/>
          <p:nvPr/>
        </p:nvSpPr>
        <p:spPr>
          <a:xfrm>
            <a:off x="548640" y="4114800"/>
            <a:ext cx="3502152" cy="2011680"/>
          </a:xfrm>
          <a:prstGeom prst="rect">
            <a:avLst/>
          </a:prstGeom>
          <a:solidFill>
            <a:srgbClr val="D83B01"/>
          </a:solidFill>
          <a:ln/>
        </p:spPr>
        <p:txBody>
          <a:bodyPr/>
          <a:lstStyle/>
          <a:p>
            <a:endParaRPr lang="en-US"/>
          </a:p>
        </p:txBody>
      </p:sp>
      <p:sp>
        <p:nvSpPr>
          <p:cNvPr id="25" name="Text 20"/>
          <p:cNvSpPr/>
          <p:nvPr/>
        </p:nvSpPr>
        <p:spPr>
          <a:xfrm>
            <a:off x="822960" y="4297680"/>
            <a:ext cx="1371600" cy="822960"/>
          </a:xfrm>
          <a:prstGeom prst="rect">
            <a:avLst/>
          </a:prstGeom>
          <a:noFill/>
          <a:ln/>
        </p:spPr>
        <p:txBody>
          <a:bodyPr wrap="square" lIns="0" tIns="0" rIns="0" bIns="0" rtlCol="0" anchor="t"/>
          <a:lstStyle/>
          <a:p>
            <a:pPr marL="0" indent="0">
              <a:buNone/>
            </a:pPr>
            <a:r>
              <a:rPr lang="en-US" sz="4400">
                <a:solidFill>
                  <a:srgbClr val="FFFFFF"/>
                </a:solidFill>
                <a:latin typeface="Segoe UI Semibold" pitchFamily="34" charset="0"/>
                <a:ea typeface="Segoe UI Semibold" pitchFamily="34" charset="-122"/>
                <a:cs typeface="Segoe UI Semibold" pitchFamily="34" charset="-120"/>
              </a:rPr>
              <a:t>04</a:t>
            </a:r>
            <a:endParaRPr lang="en-US" sz="4400"/>
          </a:p>
        </p:txBody>
      </p:sp>
      <p:sp>
        <p:nvSpPr>
          <p:cNvPr id="26" name="Shape 21"/>
          <p:cNvSpPr/>
          <p:nvPr/>
        </p:nvSpPr>
        <p:spPr>
          <a:xfrm>
            <a:off x="3182112" y="4389120"/>
            <a:ext cx="594360" cy="594360"/>
          </a:xfrm>
          <a:prstGeom prst="ellipse">
            <a:avLst/>
          </a:prstGeom>
          <a:solidFill>
            <a:srgbClr val="FFFFFF">
              <a:alpha val="20000"/>
            </a:srgbClr>
          </a:solidFill>
          <a:ln/>
        </p:spPr>
        <p:txBody>
          <a:bodyPr/>
          <a:lstStyle/>
          <a:p>
            <a:endParaRPr lang="en-US"/>
          </a:p>
        </p:txBody>
      </p:sp>
      <p:pic>
        <p:nvPicPr>
          <p:cNvPr id="27" name="Image 3" descr="/agent/turn1/workspace/output/_anthropic_assets/icon-shield-checkmark-070ed0e3.png"/>
          <p:cNvPicPr>
            <a:picLocks noChangeAspect="1"/>
          </p:cNvPicPr>
          <p:nvPr/>
        </p:nvPicPr>
        <p:blipFill>
          <a:blip r:embed="rId6"/>
          <a:stretch>
            <a:fillRect/>
          </a:stretch>
        </p:blipFill>
        <p:spPr>
          <a:xfrm>
            <a:off x="3319272" y="4526280"/>
            <a:ext cx="320040" cy="320040"/>
          </a:xfrm>
          <a:prstGeom prst="rect">
            <a:avLst/>
          </a:prstGeom>
        </p:spPr>
      </p:pic>
      <p:sp>
        <p:nvSpPr>
          <p:cNvPr id="28" name="Text 22"/>
          <p:cNvSpPr/>
          <p:nvPr/>
        </p:nvSpPr>
        <p:spPr>
          <a:xfrm>
            <a:off x="822960" y="5212080"/>
            <a:ext cx="2953512" cy="777240"/>
          </a:xfrm>
          <a:prstGeom prst="rect">
            <a:avLst/>
          </a:prstGeom>
          <a:noFill/>
          <a:ln/>
        </p:spPr>
        <p:txBody>
          <a:bodyPr wrap="square" lIns="0" tIns="0" rIns="0" bIns="0" rtlCol="0" anchor="t"/>
          <a:lstStyle/>
          <a:p>
            <a:pPr marL="0" indent="0">
              <a:buNone/>
            </a:pPr>
            <a:r>
              <a:rPr lang="en-US" sz="2000">
                <a:solidFill>
                  <a:srgbClr val="FFFFFF"/>
                </a:solidFill>
                <a:latin typeface="Segoe UI Semibold" pitchFamily="34" charset="0"/>
                <a:ea typeface="Segoe UI Semibold" pitchFamily="34" charset="-122"/>
                <a:cs typeface="Segoe UI Semibold" pitchFamily="34" charset="-120"/>
              </a:rPr>
              <a:t>Building resiliency into workloads</a:t>
            </a:r>
            <a:endParaRPr lang="en-US" sz="2000"/>
          </a:p>
        </p:txBody>
      </p:sp>
      <p:sp>
        <p:nvSpPr>
          <p:cNvPr id="29" name="Shape 23"/>
          <p:cNvSpPr/>
          <p:nvPr/>
        </p:nvSpPr>
        <p:spPr>
          <a:xfrm>
            <a:off x="4325112" y="4114800"/>
            <a:ext cx="3502152" cy="2011680"/>
          </a:xfrm>
          <a:prstGeom prst="rect">
            <a:avLst/>
          </a:prstGeom>
          <a:solidFill>
            <a:srgbClr val="5C2D91"/>
          </a:solidFill>
          <a:ln/>
        </p:spPr>
        <p:txBody>
          <a:bodyPr/>
          <a:lstStyle/>
          <a:p>
            <a:endParaRPr lang="en-US"/>
          </a:p>
        </p:txBody>
      </p:sp>
      <p:sp>
        <p:nvSpPr>
          <p:cNvPr id="30" name="Text 24"/>
          <p:cNvSpPr/>
          <p:nvPr/>
        </p:nvSpPr>
        <p:spPr>
          <a:xfrm>
            <a:off x="4599432" y="4297680"/>
            <a:ext cx="1371600" cy="822960"/>
          </a:xfrm>
          <a:prstGeom prst="rect">
            <a:avLst/>
          </a:prstGeom>
          <a:noFill/>
          <a:ln/>
        </p:spPr>
        <p:txBody>
          <a:bodyPr wrap="square" lIns="0" tIns="0" rIns="0" bIns="0" rtlCol="0" anchor="t"/>
          <a:lstStyle/>
          <a:p>
            <a:pPr marL="0" indent="0">
              <a:buNone/>
            </a:pPr>
            <a:r>
              <a:rPr lang="en-US" sz="4400">
                <a:solidFill>
                  <a:srgbClr val="FFFFFF"/>
                </a:solidFill>
                <a:latin typeface="Segoe UI Semibold" pitchFamily="34" charset="0"/>
                <a:ea typeface="Segoe UI Semibold" pitchFamily="34" charset="-122"/>
                <a:cs typeface="Segoe UI Semibold" pitchFamily="34" charset="-120"/>
              </a:rPr>
              <a:t>05</a:t>
            </a:r>
            <a:endParaRPr lang="en-US" sz="4400"/>
          </a:p>
        </p:txBody>
      </p:sp>
      <p:sp>
        <p:nvSpPr>
          <p:cNvPr id="31" name="Shape 25"/>
          <p:cNvSpPr/>
          <p:nvPr/>
        </p:nvSpPr>
        <p:spPr>
          <a:xfrm>
            <a:off x="6958584" y="4389120"/>
            <a:ext cx="594360" cy="594360"/>
          </a:xfrm>
          <a:prstGeom prst="ellipse">
            <a:avLst/>
          </a:prstGeom>
          <a:solidFill>
            <a:srgbClr val="FFFFFF">
              <a:alpha val="20000"/>
            </a:srgbClr>
          </a:solidFill>
          <a:ln/>
        </p:spPr>
        <p:txBody>
          <a:bodyPr/>
          <a:lstStyle/>
          <a:p>
            <a:endParaRPr lang="en-US"/>
          </a:p>
        </p:txBody>
      </p:sp>
      <p:pic>
        <p:nvPicPr>
          <p:cNvPr id="32" name="Image 4" descr="/agent/turn1/workspace/output/_anthropic_assets/icon-arrow-trending-7e6387a6.png"/>
          <p:cNvPicPr>
            <a:picLocks noChangeAspect="1"/>
          </p:cNvPicPr>
          <p:nvPr/>
        </p:nvPicPr>
        <p:blipFill>
          <a:blip r:embed="rId7"/>
          <a:stretch>
            <a:fillRect/>
          </a:stretch>
        </p:blipFill>
        <p:spPr>
          <a:xfrm>
            <a:off x="7095744" y="4526280"/>
            <a:ext cx="320040" cy="320040"/>
          </a:xfrm>
          <a:prstGeom prst="rect">
            <a:avLst/>
          </a:prstGeom>
        </p:spPr>
      </p:pic>
      <p:sp>
        <p:nvSpPr>
          <p:cNvPr id="33" name="Text 26"/>
          <p:cNvSpPr/>
          <p:nvPr/>
        </p:nvSpPr>
        <p:spPr>
          <a:xfrm>
            <a:off x="4599432" y="5212080"/>
            <a:ext cx="2953512" cy="777240"/>
          </a:xfrm>
          <a:prstGeom prst="rect">
            <a:avLst/>
          </a:prstGeom>
          <a:noFill/>
          <a:ln/>
        </p:spPr>
        <p:txBody>
          <a:bodyPr wrap="square" lIns="0" tIns="0" rIns="0" bIns="0" rtlCol="0" anchor="t"/>
          <a:lstStyle/>
          <a:p>
            <a:pPr marL="0" indent="0">
              <a:buNone/>
            </a:pPr>
            <a:r>
              <a:rPr lang="en-US" sz="2000">
                <a:solidFill>
                  <a:srgbClr val="FFFFFF"/>
                </a:solidFill>
                <a:latin typeface="Segoe UI Semibold" pitchFamily="34" charset="0"/>
                <a:ea typeface="Segoe UI Semibold" pitchFamily="34" charset="-122"/>
                <a:cs typeface="Segoe UI Semibold" pitchFamily="34" charset="-120"/>
              </a:rPr>
              <a:t>Scaling pods and nodes</a:t>
            </a:r>
            <a:endParaRPr lang="en-US" sz="2000"/>
          </a:p>
        </p:txBody>
      </p:sp>
      <p:sp>
        <p:nvSpPr>
          <p:cNvPr id="34" name="Shape 27"/>
          <p:cNvSpPr/>
          <p:nvPr/>
        </p:nvSpPr>
        <p:spPr>
          <a:xfrm>
            <a:off x="8101584" y="4114800"/>
            <a:ext cx="3502152" cy="2011680"/>
          </a:xfrm>
          <a:prstGeom prst="rect">
            <a:avLst/>
          </a:prstGeom>
          <a:solidFill>
            <a:srgbClr val="008575"/>
          </a:solidFill>
          <a:ln/>
        </p:spPr>
        <p:txBody>
          <a:bodyPr/>
          <a:lstStyle/>
          <a:p>
            <a:endParaRPr lang="en-US"/>
          </a:p>
        </p:txBody>
      </p:sp>
      <p:sp>
        <p:nvSpPr>
          <p:cNvPr id="35" name="Text 28"/>
          <p:cNvSpPr/>
          <p:nvPr/>
        </p:nvSpPr>
        <p:spPr>
          <a:xfrm>
            <a:off x="8375904" y="4297680"/>
            <a:ext cx="1371600" cy="822960"/>
          </a:xfrm>
          <a:prstGeom prst="rect">
            <a:avLst/>
          </a:prstGeom>
          <a:noFill/>
          <a:ln/>
        </p:spPr>
        <p:txBody>
          <a:bodyPr wrap="square" lIns="0" tIns="0" rIns="0" bIns="0" rtlCol="0" anchor="t"/>
          <a:lstStyle/>
          <a:p>
            <a:pPr marL="0" indent="0">
              <a:buNone/>
            </a:pPr>
            <a:r>
              <a:rPr lang="en-US" sz="4400">
                <a:solidFill>
                  <a:srgbClr val="FFFFFF"/>
                </a:solidFill>
                <a:latin typeface="Segoe UI Semibold" pitchFamily="34" charset="0"/>
                <a:ea typeface="Segoe UI Semibold" pitchFamily="34" charset="-122"/>
                <a:cs typeface="Segoe UI Semibold" pitchFamily="34" charset="-120"/>
              </a:rPr>
              <a:t>06</a:t>
            </a:r>
            <a:endParaRPr lang="en-US" sz="4400"/>
          </a:p>
        </p:txBody>
      </p:sp>
      <p:sp>
        <p:nvSpPr>
          <p:cNvPr id="36" name="Shape 29"/>
          <p:cNvSpPr/>
          <p:nvPr/>
        </p:nvSpPr>
        <p:spPr>
          <a:xfrm>
            <a:off x="10735056" y="4389120"/>
            <a:ext cx="594360" cy="594360"/>
          </a:xfrm>
          <a:prstGeom prst="ellipse">
            <a:avLst/>
          </a:prstGeom>
          <a:solidFill>
            <a:srgbClr val="FFFFFF">
              <a:alpha val="20000"/>
            </a:srgbClr>
          </a:solidFill>
          <a:ln/>
        </p:spPr>
        <p:txBody>
          <a:bodyPr/>
          <a:lstStyle/>
          <a:p>
            <a:endParaRPr lang="en-US"/>
          </a:p>
        </p:txBody>
      </p:sp>
      <p:pic>
        <p:nvPicPr>
          <p:cNvPr id="37" name="Image 5" descr="/agent/turn1/workspace/output/_anthropic_assets/icon-branch-67624544.png"/>
          <p:cNvPicPr>
            <a:picLocks noChangeAspect="1"/>
          </p:cNvPicPr>
          <p:nvPr/>
        </p:nvPicPr>
        <p:blipFill>
          <a:blip r:embed="rId8"/>
          <a:stretch>
            <a:fillRect/>
          </a:stretch>
        </p:blipFill>
        <p:spPr>
          <a:xfrm>
            <a:off x="10872216" y="4526280"/>
            <a:ext cx="320040" cy="320040"/>
          </a:xfrm>
          <a:prstGeom prst="rect">
            <a:avLst/>
          </a:prstGeom>
        </p:spPr>
      </p:pic>
      <p:sp>
        <p:nvSpPr>
          <p:cNvPr id="38" name="Text 30"/>
          <p:cNvSpPr/>
          <p:nvPr/>
        </p:nvSpPr>
        <p:spPr>
          <a:xfrm>
            <a:off x="8375904" y="5212080"/>
            <a:ext cx="2953512" cy="777240"/>
          </a:xfrm>
          <a:prstGeom prst="rect">
            <a:avLst/>
          </a:prstGeom>
          <a:noFill/>
          <a:ln/>
        </p:spPr>
        <p:txBody>
          <a:bodyPr wrap="square" lIns="0" tIns="0" rIns="0" bIns="0" rtlCol="0" anchor="t"/>
          <a:lstStyle/>
          <a:p>
            <a:pPr marL="0" indent="0">
              <a:buNone/>
            </a:pPr>
            <a:r>
              <a:rPr lang="en-US" sz="2000">
                <a:solidFill>
                  <a:srgbClr val="FFFFFF"/>
                </a:solidFill>
                <a:latin typeface="Segoe UI Semibold" pitchFamily="34" charset="0"/>
                <a:ea typeface="Segoe UI Semibold" pitchFamily="34" charset="-122"/>
                <a:cs typeface="Segoe UI Semibold" pitchFamily="34" charset="-120"/>
              </a:rPr>
              <a:t>GitOps with Flux and Argo CD</a:t>
            </a:r>
            <a:endParaRPr lang="en-US" sz="2000"/>
          </a:p>
        </p:txBody>
      </p:sp>
      <p:sp>
        <p:nvSpPr>
          <p:cNvPr id="39"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19F9D"/>
                </a:solidFill>
                <a:latin typeface="Segoe UI"/>
                <a:ea typeface="Segoe UI"/>
                <a:cs typeface="Segoe UI"/>
              </a:defRPr>
            </a:lvl1pPr>
          </a:lstStyle>
          <a:p>
            <a:pPr algn="r"/>
            <a:fld id="{F7021451-1387-4CA6-816F-3879F97B5CBC}" type="slidenum">
              <a:rPr lang="en-US" b="0"/>
              <a:t>3</a:t>
            </a:fld>
            <a:endParaRPr lang="en-US"/>
          </a:p>
        </p:txBody>
      </p:sp>
    </p:spTree>
    <p:extLst>
      <p:ext uri="{BB962C8B-B14F-4D97-AF65-F5344CB8AC3E}">
        <p14:creationId xmlns:p14="http://schemas.microsoft.com/office/powerpoint/2010/main" val="1604614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78D4"/>
        </a:solidFill>
        <a:effectLst/>
      </p:bgPr>
    </p:bg>
    <p:spTree>
      <p:nvGrpSpPr>
        <p:cNvPr id="1" name=""/>
        <p:cNvGrpSpPr/>
        <p:nvPr/>
      </p:nvGrpSpPr>
      <p:grpSpPr>
        <a:xfrm>
          <a:off x="0" y="0"/>
          <a:ext cx="0" cy="0"/>
          <a:chOff x="0" y="0"/>
          <a:chExt cx="0" cy="0"/>
        </a:xfrm>
      </p:grpSpPr>
      <p:sp>
        <p:nvSpPr>
          <p:cNvPr id="2" name="Text 0"/>
          <p:cNvSpPr/>
          <p:nvPr/>
        </p:nvSpPr>
        <p:spPr>
          <a:xfrm>
            <a:off x="457200" y="274320"/>
            <a:ext cx="5486400" cy="3291840"/>
          </a:xfrm>
          <a:prstGeom prst="rect">
            <a:avLst/>
          </a:prstGeom>
          <a:noFill/>
          <a:ln/>
        </p:spPr>
        <p:txBody>
          <a:bodyPr wrap="square" lIns="0" tIns="0" rIns="0" bIns="0" rtlCol="0" anchor="t"/>
          <a:lstStyle/>
          <a:p>
            <a:pPr marL="0" indent="0">
              <a:buNone/>
            </a:pPr>
            <a:r>
              <a:rPr lang="en-US" sz="22000">
                <a:solidFill>
                  <a:srgbClr val="2B8FE0"/>
                </a:solidFill>
                <a:latin typeface="Segoe UI Semibold" pitchFamily="34" charset="0"/>
                <a:ea typeface="Segoe UI Semibold" pitchFamily="34" charset="-122"/>
                <a:cs typeface="Segoe UI Semibold" pitchFamily="34" charset="-120"/>
              </a:rPr>
              <a:t>01</a:t>
            </a:r>
            <a:endParaRPr lang="en-US" sz="22000"/>
          </a:p>
        </p:txBody>
      </p:sp>
      <p:sp>
        <p:nvSpPr>
          <p:cNvPr id="3" name="Shape 1"/>
          <p:cNvSpPr/>
          <p:nvPr/>
        </p:nvSpPr>
        <p:spPr>
          <a:xfrm>
            <a:off x="640080" y="3703320"/>
            <a:ext cx="146304" cy="146304"/>
          </a:xfrm>
          <a:prstGeom prst="rect">
            <a:avLst/>
          </a:prstGeom>
          <a:solidFill>
            <a:srgbClr val="F25022"/>
          </a:solidFill>
          <a:ln/>
        </p:spPr>
        <p:txBody>
          <a:bodyPr/>
          <a:lstStyle/>
          <a:p>
            <a:endParaRPr lang="en-US"/>
          </a:p>
        </p:txBody>
      </p:sp>
      <p:sp>
        <p:nvSpPr>
          <p:cNvPr id="4" name="Shape 2"/>
          <p:cNvSpPr/>
          <p:nvPr/>
        </p:nvSpPr>
        <p:spPr>
          <a:xfrm>
            <a:off x="818571" y="3703320"/>
            <a:ext cx="146304" cy="146304"/>
          </a:xfrm>
          <a:prstGeom prst="rect">
            <a:avLst/>
          </a:prstGeom>
          <a:solidFill>
            <a:srgbClr val="7FBA00"/>
          </a:solidFill>
          <a:ln/>
        </p:spPr>
        <p:txBody>
          <a:bodyPr/>
          <a:lstStyle/>
          <a:p>
            <a:endParaRPr lang="en-US"/>
          </a:p>
        </p:txBody>
      </p:sp>
      <p:sp>
        <p:nvSpPr>
          <p:cNvPr id="5" name="Shape 3"/>
          <p:cNvSpPr/>
          <p:nvPr/>
        </p:nvSpPr>
        <p:spPr>
          <a:xfrm>
            <a:off x="640080" y="3881811"/>
            <a:ext cx="146304" cy="146304"/>
          </a:xfrm>
          <a:prstGeom prst="rect">
            <a:avLst/>
          </a:prstGeom>
          <a:solidFill>
            <a:srgbClr val="00A4EF"/>
          </a:solidFill>
          <a:ln/>
        </p:spPr>
        <p:txBody>
          <a:bodyPr/>
          <a:lstStyle/>
          <a:p>
            <a:endParaRPr lang="en-US"/>
          </a:p>
        </p:txBody>
      </p:sp>
      <p:sp>
        <p:nvSpPr>
          <p:cNvPr id="6" name="Shape 4"/>
          <p:cNvSpPr/>
          <p:nvPr/>
        </p:nvSpPr>
        <p:spPr>
          <a:xfrm>
            <a:off x="818571" y="3881811"/>
            <a:ext cx="146304" cy="146304"/>
          </a:xfrm>
          <a:prstGeom prst="rect">
            <a:avLst/>
          </a:prstGeom>
          <a:solidFill>
            <a:srgbClr val="FFB900"/>
          </a:solidFill>
          <a:ln/>
        </p:spPr>
        <p:txBody>
          <a:bodyPr/>
          <a:lstStyle/>
          <a:p>
            <a:endParaRPr lang="en-US"/>
          </a:p>
        </p:txBody>
      </p:sp>
      <p:sp>
        <p:nvSpPr>
          <p:cNvPr id="7" name="Text 5"/>
          <p:cNvSpPr/>
          <p:nvPr/>
        </p:nvSpPr>
        <p:spPr>
          <a:xfrm>
            <a:off x="1097280" y="3657600"/>
            <a:ext cx="4572000" cy="384048"/>
          </a:xfrm>
          <a:prstGeom prst="rect">
            <a:avLst/>
          </a:prstGeom>
          <a:noFill/>
          <a:ln/>
        </p:spPr>
        <p:txBody>
          <a:bodyPr wrap="square" lIns="0" tIns="0" rIns="0" bIns="0" rtlCol="0" anchor="ctr"/>
          <a:lstStyle/>
          <a:p>
            <a:pPr marL="0" indent="0">
              <a:buNone/>
            </a:pPr>
            <a:r>
              <a:rPr lang="en-US" sz="1600" kern="0" spc="300">
                <a:solidFill>
                  <a:srgbClr val="FFFFFF"/>
                </a:solidFill>
                <a:latin typeface="Segoe UI Semibold" pitchFamily="34" charset="0"/>
                <a:ea typeface="Segoe UI Semibold" pitchFamily="34" charset="-122"/>
                <a:cs typeface="Segoe UI Semibold" pitchFamily="34" charset="-120"/>
              </a:rPr>
              <a:t>PART 1</a:t>
            </a:r>
            <a:endParaRPr lang="en-US" sz="1600"/>
          </a:p>
        </p:txBody>
      </p:sp>
      <p:sp>
        <p:nvSpPr>
          <p:cNvPr id="8" name="Text 6"/>
          <p:cNvSpPr/>
          <p:nvPr/>
        </p:nvSpPr>
        <p:spPr>
          <a:xfrm>
            <a:off x="640080" y="4114800"/>
            <a:ext cx="6949440" cy="1371600"/>
          </a:xfrm>
          <a:prstGeom prst="rect">
            <a:avLst/>
          </a:prstGeom>
          <a:noFill/>
          <a:ln/>
        </p:spPr>
        <p:txBody>
          <a:bodyPr wrap="square" lIns="0" tIns="0" rIns="0" bIns="0" rtlCol="0" anchor="t"/>
          <a:lstStyle/>
          <a:p>
            <a:pPr marL="0" indent="0">
              <a:lnSpc>
                <a:spcPct val="95000"/>
              </a:lnSpc>
              <a:buNone/>
            </a:pPr>
            <a:r>
              <a:rPr lang="en-US" sz="4800">
                <a:solidFill>
                  <a:srgbClr val="FFFFFF"/>
                </a:solidFill>
                <a:latin typeface="Segoe UI Semibold" pitchFamily="34" charset="0"/>
                <a:ea typeface="Segoe UI Semibold" pitchFamily="34" charset="-122"/>
                <a:cs typeface="Segoe UI Semibold" pitchFamily="34" charset="-120"/>
              </a:rPr>
              <a:t>The Toolbox</a:t>
            </a:r>
            <a:endParaRPr lang="en-US" sz="4800"/>
          </a:p>
        </p:txBody>
      </p:sp>
      <p:sp>
        <p:nvSpPr>
          <p:cNvPr id="9" name="Text 7"/>
          <p:cNvSpPr/>
          <p:nvPr/>
        </p:nvSpPr>
        <p:spPr>
          <a:xfrm>
            <a:off x="640080" y="5577840"/>
            <a:ext cx="6766560" cy="731520"/>
          </a:xfrm>
          <a:prstGeom prst="rect">
            <a:avLst/>
          </a:prstGeom>
          <a:noFill/>
          <a:ln/>
        </p:spPr>
        <p:txBody>
          <a:bodyPr wrap="square" lIns="0" tIns="0" rIns="0" bIns="0" rtlCol="0" anchor="t"/>
          <a:lstStyle/>
          <a:p>
            <a:pPr marL="0" indent="0">
              <a:buNone/>
            </a:pPr>
            <a:r>
              <a:rPr lang="en-US" sz="1800">
                <a:solidFill>
                  <a:srgbClr val="FFFFFF"/>
                </a:solidFill>
                <a:latin typeface="Segoe UI" pitchFamily="34" charset="0"/>
                <a:ea typeface="Segoe UI" pitchFamily="34" charset="-122"/>
                <a:cs typeface="Segoe UI" pitchFamily="34" charset="-120"/>
              </a:rPr>
              <a:t>The CLIs, helpers, and AKS building blocks you’ll use every day</a:t>
            </a:r>
            <a:endParaRPr lang="en-US" sz="1800"/>
          </a:p>
        </p:txBody>
      </p:sp>
      <p:sp>
        <p:nvSpPr>
          <p:cNvPr id="10" name="Shape 8"/>
          <p:cNvSpPr/>
          <p:nvPr/>
        </p:nvSpPr>
        <p:spPr>
          <a:xfrm>
            <a:off x="8138160" y="1463040"/>
            <a:ext cx="1600200" cy="1600200"/>
          </a:xfrm>
          <a:prstGeom prst="rect">
            <a:avLst/>
          </a:prstGeom>
          <a:solidFill>
            <a:srgbClr val="FFFFFF"/>
          </a:solidFill>
          <a:ln/>
        </p:spPr>
        <p:txBody>
          <a:bodyPr/>
          <a:lstStyle/>
          <a:p>
            <a:endParaRPr lang="en-US"/>
          </a:p>
        </p:txBody>
      </p:sp>
      <p:sp>
        <p:nvSpPr>
          <p:cNvPr id="11" name="Shape 9"/>
          <p:cNvSpPr/>
          <p:nvPr/>
        </p:nvSpPr>
        <p:spPr>
          <a:xfrm>
            <a:off x="9902952" y="1463040"/>
            <a:ext cx="1600200" cy="1600200"/>
          </a:xfrm>
          <a:prstGeom prst="rect">
            <a:avLst/>
          </a:prstGeom>
          <a:solidFill>
            <a:srgbClr val="FFFFFF">
              <a:alpha val="55000"/>
            </a:srgbClr>
          </a:solidFill>
          <a:ln/>
        </p:spPr>
        <p:txBody>
          <a:bodyPr/>
          <a:lstStyle/>
          <a:p>
            <a:endParaRPr lang="en-US"/>
          </a:p>
        </p:txBody>
      </p:sp>
      <p:sp>
        <p:nvSpPr>
          <p:cNvPr id="12" name="Shape 10"/>
          <p:cNvSpPr/>
          <p:nvPr/>
        </p:nvSpPr>
        <p:spPr>
          <a:xfrm>
            <a:off x="8138160" y="3227832"/>
            <a:ext cx="1600200" cy="1600200"/>
          </a:xfrm>
          <a:prstGeom prst="rect">
            <a:avLst/>
          </a:prstGeom>
          <a:solidFill>
            <a:srgbClr val="FFFFFF">
              <a:alpha val="35000"/>
            </a:srgbClr>
          </a:solidFill>
          <a:ln/>
        </p:spPr>
        <p:txBody>
          <a:bodyPr/>
          <a:lstStyle/>
          <a:p>
            <a:endParaRPr lang="en-US"/>
          </a:p>
        </p:txBody>
      </p:sp>
      <p:sp>
        <p:nvSpPr>
          <p:cNvPr id="13" name="Shape 11"/>
          <p:cNvSpPr/>
          <p:nvPr/>
        </p:nvSpPr>
        <p:spPr>
          <a:xfrm>
            <a:off x="9902952" y="3227832"/>
            <a:ext cx="1600200" cy="1600200"/>
          </a:xfrm>
          <a:prstGeom prst="rect">
            <a:avLst/>
          </a:prstGeom>
          <a:solidFill>
            <a:srgbClr val="FFFFFF">
              <a:alpha val="18000"/>
            </a:srgbClr>
          </a:solidFill>
          <a:ln/>
        </p:spPr>
        <p:txBody>
          <a:bodyPr/>
          <a:lstStyle/>
          <a:p>
            <a:endParaRPr lang="en-US"/>
          </a:p>
        </p:txBody>
      </p:sp>
      <p:pic>
        <p:nvPicPr>
          <p:cNvPr id="14" name="Image 0" descr="/agent/turn1/workspace/output/_anthropic_assets/icon-wrench-625444fc.png"/>
          <p:cNvPicPr>
            <a:picLocks noChangeAspect="1"/>
          </p:cNvPicPr>
          <p:nvPr/>
        </p:nvPicPr>
        <p:blipFill>
          <a:blip r:embed="rId2"/>
          <a:stretch>
            <a:fillRect/>
          </a:stretch>
        </p:blipFill>
        <p:spPr>
          <a:xfrm>
            <a:off x="10314432" y="3639312"/>
            <a:ext cx="777240" cy="777240"/>
          </a:xfrm>
          <a:prstGeom prst="rect">
            <a:avLst/>
          </a:prstGeom>
        </p:spPr>
      </p:pic>
    </p:spTree>
    <p:extLst>
      <p:ext uri="{BB962C8B-B14F-4D97-AF65-F5344CB8AC3E}">
        <p14:creationId xmlns:p14="http://schemas.microsoft.com/office/powerpoint/2010/main" val="2052120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0078D4"/>
                </a:solidFill>
                <a:latin typeface="Segoe UI Semibold" pitchFamily="34" charset="0"/>
                <a:ea typeface="Segoe UI Semibold" pitchFamily="34" charset="-122"/>
                <a:cs typeface="Segoe UI Semibold" pitchFamily="34" charset="-120"/>
              </a:rPr>
              <a:t>PART 1 · THE TOOLBOX</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605E5C"/>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201F1E"/>
                </a:solidFill>
                <a:latin typeface="Segoe UI Semibold" pitchFamily="34" charset="0"/>
                <a:ea typeface="Segoe UI Semibold" pitchFamily="34" charset="-122"/>
                <a:cs typeface="Segoe UI Semibold" pitchFamily="34" charset="-120"/>
              </a:rPr>
              <a:t>Core CLI Tools</a:t>
            </a:r>
            <a:endParaRPr lang="en-US" sz="3200"/>
          </a:p>
        </p:txBody>
      </p:sp>
      <p:sp>
        <p:nvSpPr>
          <p:cNvPr id="9" name="Shape 7"/>
          <p:cNvSpPr/>
          <p:nvPr/>
        </p:nvSpPr>
        <p:spPr>
          <a:xfrm>
            <a:off x="548640" y="1828800"/>
            <a:ext cx="2029968" cy="4114800"/>
          </a:xfrm>
          <a:prstGeom prst="rect">
            <a:avLst/>
          </a:prstGeom>
          <a:solidFill>
            <a:srgbClr val="FFFFFF"/>
          </a:solidFill>
          <a:ln/>
        </p:spPr>
        <p:txBody>
          <a:bodyPr/>
          <a:lstStyle/>
          <a:p>
            <a:endParaRPr lang="en-US"/>
          </a:p>
        </p:txBody>
      </p:sp>
      <p:sp>
        <p:nvSpPr>
          <p:cNvPr id="10" name="Shape 8"/>
          <p:cNvSpPr/>
          <p:nvPr/>
        </p:nvSpPr>
        <p:spPr>
          <a:xfrm>
            <a:off x="548640" y="1828800"/>
            <a:ext cx="2029968" cy="1371600"/>
          </a:xfrm>
          <a:prstGeom prst="rect">
            <a:avLst/>
          </a:prstGeom>
          <a:solidFill>
            <a:srgbClr val="0078D4"/>
          </a:solidFill>
          <a:ln/>
        </p:spPr>
        <p:txBody>
          <a:bodyPr/>
          <a:lstStyle/>
          <a:p>
            <a:endParaRPr lang="en-US"/>
          </a:p>
        </p:txBody>
      </p:sp>
      <p:pic>
        <p:nvPicPr>
          <p:cNvPr id="11" name="Image 0" descr="/agent/turn1/workspace/output/_anthropic_assets/icon-cloud-019c1de0.png"/>
          <p:cNvPicPr>
            <a:picLocks noChangeAspect="1"/>
          </p:cNvPicPr>
          <p:nvPr/>
        </p:nvPicPr>
        <p:blipFill>
          <a:blip r:embed="rId2"/>
          <a:stretch>
            <a:fillRect/>
          </a:stretch>
        </p:blipFill>
        <p:spPr>
          <a:xfrm>
            <a:off x="822960" y="2194560"/>
            <a:ext cx="640080" cy="640080"/>
          </a:xfrm>
          <a:prstGeom prst="rect">
            <a:avLst/>
          </a:prstGeom>
        </p:spPr>
      </p:pic>
      <p:sp>
        <p:nvSpPr>
          <p:cNvPr id="12" name="Text 9"/>
          <p:cNvSpPr/>
          <p:nvPr/>
        </p:nvSpPr>
        <p:spPr>
          <a:xfrm>
            <a:off x="822960" y="3429000"/>
            <a:ext cx="1572768" cy="731520"/>
          </a:xfrm>
          <a:prstGeom prst="rect">
            <a:avLst/>
          </a:prstGeom>
          <a:noFill/>
          <a:ln/>
        </p:spPr>
        <p:txBody>
          <a:bodyPr wrap="square" lIns="0" tIns="0" rIns="0" bIns="0" rtlCol="0" anchor="t"/>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Azure CLI (</a:t>
            </a:r>
            <a:r>
              <a:rPr lang="en-US" sz="1800">
                <a:solidFill>
                  <a:srgbClr val="0F6CBD"/>
                </a:solidFill>
                <a:latin typeface="Consolas" pitchFamily="34" charset="0"/>
                <a:ea typeface="Consolas" pitchFamily="34" charset="-122"/>
                <a:cs typeface="Consolas" pitchFamily="34" charset="-120"/>
              </a:rPr>
              <a:t>az</a:t>
            </a:r>
            <a:r>
              <a:rPr lang="en-US" sz="1800">
                <a:solidFill>
                  <a:srgbClr val="201F1E"/>
                </a:solidFill>
                <a:latin typeface="Segoe UI Semibold" pitchFamily="34" charset="0"/>
                <a:ea typeface="Segoe UI Semibold" pitchFamily="34" charset="-122"/>
                <a:cs typeface="Segoe UI Semibold" pitchFamily="34" charset="-120"/>
              </a:rPr>
              <a:t>)</a:t>
            </a:r>
            <a:endParaRPr lang="en-US" sz="1800"/>
          </a:p>
        </p:txBody>
      </p:sp>
      <p:sp>
        <p:nvSpPr>
          <p:cNvPr id="13" name="Text 10"/>
          <p:cNvSpPr/>
          <p:nvPr/>
        </p:nvSpPr>
        <p:spPr>
          <a:xfrm>
            <a:off x="822960" y="4206240"/>
            <a:ext cx="1572768" cy="1554480"/>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Create and manage AKS, ACR, node pools, add-ons, extensions</a:t>
            </a:r>
            <a:endParaRPr lang="en-US" sz="1400"/>
          </a:p>
        </p:txBody>
      </p:sp>
      <p:sp>
        <p:nvSpPr>
          <p:cNvPr id="14" name="Shape 11"/>
          <p:cNvSpPr/>
          <p:nvPr/>
        </p:nvSpPr>
        <p:spPr>
          <a:xfrm>
            <a:off x="2807208" y="1828800"/>
            <a:ext cx="2029968" cy="4114800"/>
          </a:xfrm>
          <a:prstGeom prst="rect">
            <a:avLst/>
          </a:prstGeom>
          <a:solidFill>
            <a:srgbClr val="FFFFFF"/>
          </a:solidFill>
          <a:ln/>
        </p:spPr>
        <p:txBody>
          <a:bodyPr/>
          <a:lstStyle/>
          <a:p>
            <a:endParaRPr lang="en-US"/>
          </a:p>
        </p:txBody>
      </p:sp>
      <p:sp>
        <p:nvSpPr>
          <p:cNvPr id="15" name="Shape 12"/>
          <p:cNvSpPr/>
          <p:nvPr/>
        </p:nvSpPr>
        <p:spPr>
          <a:xfrm>
            <a:off x="2807208" y="1828800"/>
            <a:ext cx="2029968" cy="1371600"/>
          </a:xfrm>
          <a:prstGeom prst="rect">
            <a:avLst/>
          </a:prstGeom>
          <a:solidFill>
            <a:srgbClr val="326CE5"/>
          </a:solidFill>
          <a:ln/>
        </p:spPr>
        <p:txBody>
          <a:bodyPr/>
          <a:lstStyle/>
          <a:p>
            <a:endParaRPr lang="en-US"/>
          </a:p>
        </p:txBody>
      </p:sp>
      <p:pic>
        <p:nvPicPr>
          <p:cNvPr id="16" name="Image 1" descr="/agent/turn1/workspace/output/_anthropic_assets/icon-code-483b7672.png"/>
          <p:cNvPicPr>
            <a:picLocks noChangeAspect="1"/>
          </p:cNvPicPr>
          <p:nvPr/>
        </p:nvPicPr>
        <p:blipFill>
          <a:blip r:embed="rId3"/>
          <a:stretch>
            <a:fillRect/>
          </a:stretch>
        </p:blipFill>
        <p:spPr>
          <a:xfrm>
            <a:off x="3081528" y="2194560"/>
            <a:ext cx="640080" cy="640080"/>
          </a:xfrm>
          <a:prstGeom prst="rect">
            <a:avLst/>
          </a:prstGeom>
        </p:spPr>
      </p:pic>
      <p:sp>
        <p:nvSpPr>
          <p:cNvPr id="17" name="Text 13"/>
          <p:cNvSpPr/>
          <p:nvPr/>
        </p:nvSpPr>
        <p:spPr>
          <a:xfrm>
            <a:off x="3081528" y="3429000"/>
            <a:ext cx="1572768" cy="731520"/>
          </a:xfrm>
          <a:prstGeom prst="rect">
            <a:avLst/>
          </a:prstGeom>
          <a:noFill/>
          <a:ln/>
        </p:spPr>
        <p:txBody>
          <a:bodyPr wrap="square" lIns="0" tIns="0" rIns="0" bIns="0" rtlCol="0" anchor="t"/>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kubectl</a:t>
            </a:r>
            <a:endParaRPr lang="en-US" sz="1800"/>
          </a:p>
        </p:txBody>
      </p:sp>
      <p:sp>
        <p:nvSpPr>
          <p:cNvPr id="18" name="Text 14"/>
          <p:cNvSpPr/>
          <p:nvPr/>
        </p:nvSpPr>
        <p:spPr>
          <a:xfrm>
            <a:off x="3081528" y="4206240"/>
            <a:ext cx="1572768" cy="1554480"/>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Talk to the Kubernetes API: get, describe, apply, logs, exec</a:t>
            </a:r>
            <a:endParaRPr lang="en-US" sz="1400"/>
          </a:p>
        </p:txBody>
      </p:sp>
      <p:sp>
        <p:nvSpPr>
          <p:cNvPr id="19" name="Shape 15"/>
          <p:cNvSpPr/>
          <p:nvPr/>
        </p:nvSpPr>
        <p:spPr>
          <a:xfrm>
            <a:off x="5065776" y="1828800"/>
            <a:ext cx="2029968" cy="4114800"/>
          </a:xfrm>
          <a:prstGeom prst="rect">
            <a:avLst/>
          </a:prstGeom>
          <a:solidFill>
            <a:srgbClr val="FFFFFF"/>
          </a:solidFill>
          <a:ln/>
        </p:spPr>
        <p:txBody>
          <a:bodyPr/>
          <a:lstStyle/>
          <a:p>
            <a:endParaRPr lang="en-US"/>
          </a:p>
        </p:txBody>
      </p:sp>
      <p:sp>
        <p:nvSpPr>
          <p:cNvPr id="20" name="Shape 16"/>
          <p:cNvSpPr/>
          <p:nvPr/>
        </p:nvSpPr>
        <p:spPr>
          <a:xfrm>
            <a:off x="5065776" y="1828800"/>
            <a:ext cx="2029968" cy="1371600"/>
          </a:xfrm>
          <a:prstGeom prst="rect">
            <a:avLst/>
          </a:prstGeom>
          <a:solidFill>
            <a:srgbClr val="1D63ED"/>
          </a:solidFill>
          <a:ln/>
        </p:spPr>
        <p:txBody>
          <a:bodyPr/>
          <a:lstStyle/>
          <a:p>
            <a:endParaRPr lang="en-US"/>
          </a:p>
        </p:txBody>
      </p:sp>
      <p:pic>
        <p:nvPicPr>
          <p:cNvPr id="21" name="Image 2" descr="/agent/turn1/workspace/output/_anthropic_assets/icon-box-8afa8cd4.png"/>
          <p:cNvPicPr>
            <a:picLocks noChangeAspect="1"/>
          </p:cNvPicPr>
          <p:nvPr/>
        </p:nvPicPr>
        <p:blipFill>
          <a:blip r:embed="rId4"/>
          <a:stretch>
            <a:fillRect/>
          </a:stretch>
        </p:blipFill>
        <p:spPr>
          <a:xfrm>
            <a:off x="5340096" y="2194560"/>
            <a:ext cx="640080" cy="640080"/>
          </a:xfrm>
          <a:prstGeom prst="rect">
            <a:avLst/>
          </a:prstGeom>
        </p:spPr>
      </p:pic>
      <p:sp>
        <p:nvSpPr>
          <p:cNvPr id="22" name="Text 17"/>
          <p:cNvSpPr/>
          <p:nvPr/>
        </p:nvSpPr>
        <p:spPr>
          <a:xfrm>
            <a:off x="5340096" y="3429000"/>
            <a:ext cx="1572768" cy="731520"/>
          </a:xfrm>
          <a:prstGeom prst="rect">
            <a:avLst/>
          </a:prstGeom>
          <a:noFill/>
          <a:ln/>
        </p:spPr>
        <p:txBody>
          <a:bodyPr wrap="square" lIns="0" tIns="0" rIns="0" bIns="0" rtlCol="0" anchor="t"/>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Docker</a:t>
            </a:r>
            <a:endParaRPr lang="en-US" sz="1800"/>
          </a:p>
        </p:txBody>
      </p:sp>
      <p:sp>
        <p:nvSpPr>
          <p:cNvPr id="23" name="Text 18"/>
          <p:cNvSpPr/>
          <p:nvPr/>
        </p:nvSpPr>
        <p:spPr>
          <a:xfrm>
            <a:off x="5340096" y="4206240"/>
            <a:ext cx="1572768" cy="1554480"/>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Build, run, and inspect container images locally</a:t>
            </a:r>
            <a:endParaRPr lang="en-US" sz="1400"/>
          </a:p>
        </p:txBody>
      </p:sp>
      <p:sp>
        <p:nvSpPr>
          <p:cNvPr id="24" name="Shape 19"/>
          <p:cNvSpPr/>
          <p:nvPr/>
        </p:nvSpPr>
        <p:spPr>
          <a:xfrm>
            <a:off x="7324344" y="1828800"/>
            <a:ext cx="2029968" cy="4114800"/>
          </a:xfrm>
          <a:prstGeom prst="rect">
            <a:avLst/>
          </a:prstGeom>
          <a:solidFill>
            <a:srgbClr val="FFFFFF"/>
          </a:solidFill>
          <a:ln/>
        </p:spPr>
        <p:txBody>
          <a:bodyPr/>
          <a:lstStyle/>
          <a:p>
            <a:endParaRPr lang="en-US"/>
          </a:p>
        </p:txBody>
      </p:sp>
      <p:sp>
        <p:nvSpPr>
          <p:cNvPr id="25" name="Shape 20"/>
          <p:cNvSpPr/>
          <p:nvPr/>
        </p:nvSpPr>
        <p:spPr>
          <a:xfrm>
            <a:off x="7324344" y="1828800"/>
            <a:ext cx="2029968" cy="1371600"/>
          </a:xfrm>
          <a:prstGeom prst="rect">
            <a:avLst/>
          </a:prstGeom>
          <a:solidFill>
            <a:srgbClr val="107C10"/>
          </a:solidFill>
          <a:ln/>
        </p:spPr>
        <p:txBody>
          <a:bodyPr/>
          <a:lstStyle/>
          <a:p>
            <a:endParaRPr lang="en-US"/>
          </a:p>
        </p:txBody>
      </p:sp>
      <p:pic>
        <p:nvPicPr>
          <p:cNvPr id="26" name="Image 3" descr="/agent/turn1/workspace/output/_anthropic_assets/icon-layer-8c16b27a.png"/>
          <p:cNvPicPr>
            <a:picLocks noChangeAspect="1"/>
          </p:cNvPicPr>
          <p:nvPr/>
        </p:nvPicPr>
        <p:blipFill>
          <a:blip r:embed="rId5"/>
          <a:stretch>
            <a:fillRect/>
          </a:stretch>
        </p:blipFill>
        <p:spPr>
          <a:xfrm>
            <a:off x="7598664" y="2194560"/>
            <a:ext cx="640080" cy="640080"/>
          </a:xfrm>
          <a:prstGeom prst="rect">
            <a:avLst/>
          </a:prstGeom>
        </p:spPr>
      </p:pic>
      <p:sp>
        <p:nvSpPr>
          <p:cNvPr id="27" name="Text 21"/>
          <p:cNvSpPr/>
          <p:nvPr/>
        </p:nvSpPr>
        <p:spPr>
          <a:xfrm>
            <a:off x="7598664" y="3429000"/>
            <a:ext cx="1572768" cy="731520"/>
          </a:xfrm>
          <a:prstGeom prst="rect">
            <a:avLst/>
          </a:prstGeom>
          <a:noFill/>
          <a:ln/>
        </p:spPr>
        <p:txBody>
          <a:bodyPr wrap="square" lIns="0" tIns="0" rIns="0" bIns="0" rtlCol="0" anchor="t"/>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Helm</a:t>
            </a:r>
            <a:endParaRPr lang="en-US" sz="1800"/>
          </a:p>
        </p:txBody>
      </p:sp>
      <p:sp>
        <p:nvSpPr>
          <p:cNvPr id="28" name="Text 22"/>
          <p:cNvSpPr/>
          <p:nvPr/>
        </p:nvSpPr>
        <p:spPr>
          <a:xfrm>
            <a:off x="7598664" y="4206240"/>
            <a:ext cx="1572768" cy="1554480"/>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Package, template, install, and upgrade Kubernetes apps</a:t>
            </a:r>
            <a:endParaRPr lang="en-US" sz="1400"/>
          </a:p>
        </p:txBody>
      </p:sp>
      <p:sp>
        <p:nvSpPr>
          <p:cNvPr id="29" name="Shape 23"/>
          <p:cNvSpPr/>
          <p:nvPr/>
        </p:nvSpPr>
        <p:spPr>
          <a:xfrm>
            <a:off x="9582912" y="1828800"/>
            <a:ext cx="2029968" cy="4114800"/>
          </a:xfrm>
          <a:prstGeom prst="rect">
            <a:avLst/>
          </a:prstGeom>
          <a:solidFill>
            <a:srgbClr val="FFFFFF"/>
          </a:solidFill>
          <a:ln/>
        </p:spPr>
        <p:txBody>
          <a:bodyPr/>
          <a:lstStyle/>
          <a:p>
            <a:endParaRPr lang="en-US"/>
          </a:p>
        </p:txBody>
      </p:sp>
      <p:sp>
        <p:nvSpPr>
          <p:cNvPr id="30" name="Shape 24"/>
          <p:cNvSpPr/>
          <p:nvPr/>
        </p:nvSpPr>
        <p:spPr>
          <a:xfrm>
            <a:off x="9582912" y="1828800"/>
            <a:ext cx="2029968" cy="1371600"/>
          </a:xfrm>
          <a:prstGeom prst="rect">
            <a:avLst/>
          </a:prstGeom>
          <a:solidFill>
            <a:srgbClr val="008575"/>
          </a:solidFill>
          <a:ln/>
        </p:spPr>
        <p:txBody>
          <a:bodyPr/>
          <a:lstStyle/>
          <a:p>
            <a:endParaRPr lang="en-US"/>
          </a:p>
        </p:txBody>
      </p:sp>
      <p:pic>
        <p:nvPicPr>
          <p:cNvPr id="31" name="Image 4" descr="/agent/turn1/workspace/output/_anthropic_assets/icon-branch-67624544.png"/>
          <p:cNvPicPr>
            <a:picLocks noChangeAspect="1"/>
          </p:cNvPicPr>
          <p:nvPr/>
        </p:nvPicPr>
        <p:blipFill>
          <a:blip r:embed="rId6"/>
          <a:stretch>
            <a:fillRect/>
          </a:stretch>
        </p:blipFill>
        <p:spPr>
          <a:xfrm>
            <a:off x="9857232" y="2194560"/>
            <a:ext cx="640080" cy="640080"/>
          </a:xfrm>
          <a:prstGeom prst="rect">
            <a:avLst/>
          </a:prstGeom>
        </p:spPr>
      </p:pic>
      <p:sp>
        <p:nvSpPr>
          <p:cNvPr id="32" name="Text 25"/>
          <p:cNvSpPr/>
          <p:nvPr/>
        </p:nvSpPr>
        <p:spPr>
          <a:xfrm>
            <a:off x="9857232" y="3429000"/>
            <a:ext cx="1572768" cy="731520"/>
          </a:xfrm>
          <a:prstGeom prst="rect">
            <a:avLst/>
          </a:prstGeom>
          <a:noFill/>
          <a:ln/>
        </p:spPr>
        <p:txBody>
          <a:bodyPr wrap="square" lIns="0" tIns="0" rIns="0" bIns="0" rtlCol="0" anchor="t"/>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Git / GitHub</a:t>
            </a:r>
            <a:endParaRPr lang="en-US" sz="1800"/>
          </a:p>
        </p:txBody>
      </p:sp>
      <p:sp>
        <p:nvSpPr>
          <p:cNvPr id="33" name="Text 26"/>
          <p:cNvSpPr/>
          <p:nvPr/>
        </p:nvSpPr>
        <p:spPr>
          <a:xfrm>
            <a:off x="9857232" y="4206240"/>
            <a:ext cx="1572768" cy="1554480"/>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Version control — and, with GitOps, the deployment source of truth</a:t>
            </a:r>
            <a:endParaRPr lang="en-US" sz="1400"/>
          </a:p>
        </p:txBody>
      </p:sp>
      <p:sp>
        <p:nvSpPr>
          <p:cNvPr id="3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5E5C"/>
                </a:solidFill>
                <a:latin typeface="Segoe UI"/>
                <a:ea typeface="Segoe UI"/>
                <a:cs typeface="Segoe UI"/>
              </a:defRPr>
            </a:lvl1pPr>
          </a:lstStyle>
          <a:p>
            <a:pPr algn="r"/>
            <a:fld id="{F7021451-1387-4CA6-816F-3879F97B5CBC}" type="slidenum">
              <a:rPr lang="en-US" b="0"/>
              <a:t>5</a:t>
            </a:fld>
            <a:endParaRPr lang="en-US"/>
          </a:p>
        </p:txBody>
      </p:sp>
    </p:spTree>
    <p:extLst>
      <p:ext uri="{BB962C8B-B14F-4D97-AF65-F5344CB8AC3E}">
        <p14:creationId xmlns:p14="http://schemas.microsoft.com/office/powerpoint/2010/main" val="1678862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0078D4"/>
                </a:solidFill>
                <a:latin typeface="Segoe UI Semibold" pitchFamily="34" charset="0"/>
                <a:ea typeface="Segoe UI Semibold" pitchFamily="34" charset="-122"/>
                <a:cs typeface="Segoe UI Semibold" pitchFamily="34" charset="-120"/>
              </a:rPr>
              <a:t>PART 1 · THE TOOLBOX</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605E5C"/>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201F1E"/>
                </a:solidFill>
                <a:latin typeface="Segoe UI Semibold" pitchFamily="34" charset="0"/>
                <a:ea typeface="Segoe UI Semibold" pitchFamily="34" charset="-122"/>
                <a:cs typeface="Segoe UI Semibold" pitchFamily="34" charset="-120"/>
              </a:rPr>
              <a:t>Productivity Helpers</a:t>
            </a:r>
            <a:endParaRPr lang="en-US" sz="3200"/>
          </a:p>
        </p:txBody>
      </p:sp>
      <p:sp>
        <p:nvSpPr>
          <p:cNvPr id="9" name="Shape 7"/>
          <p:cNvSpPr/>
          <p:nvPr/>
        </p:nvSpPr>
        <p:spPr>
          <a:xfrm>
            <a:off x="548640" y="1783080"/>
            <a:ext cx="566928" cy="566928"/>
          </a:xfrm>
          <a:prstGeom prst="ellipse">
            <a:avLst/>
          </a:prstGeom>
          <a:solidFill>
            <a:srgbClr val="0078D4"/>
          </a:solidFill>
          <a:ln/>
        </p:spPr>
        <p:txBody>
          <a:bodyPr/>
          <a:lstStyle/>
          <a:p>
            <a:endParaRPr lang="en-US"/>
          </a:p>
        </p:txBody>
      </p:sp>
      <p:pic>
        <p:nvPicPr>
          <p:cNvPr id="10" name="Image 0" descr="/agent/turn1/workspace/output/_anthropic_assets/icon-search-926dd2d8.png"/>
          <p:cNvPicPr>
            <a:picLocks noChangeAspect="1"/>
          </p:cNvPicPr>
          <p:nvPr/>
        </p:nvPicPr>
        <p:blipFill>
          <a:blip r:embed="rId2"/>
          <a:stretch>
            <a:fillRect/>
          </a:stretch>
        </p:blipFill>
        <p:spPr>
          <a:xfrm>
            <a:off x="673364" y="1907804"/>
            <a:ext cx="317480" cy="317480"/>
          </a:xfrm>
          <a:prstGeom prst="rect">
            <a:avLst/>
          </a:prstGeom>
        </p:spPr>
      </p:pic>
      <p:sp>
        <p:nvSpPr>
          <p:cNvPr id="11" name="Text 8"/>
          <p:cNvSpPr/>
          <p:nvPr/>
        </p:nvSpPr>
        <p:spPr>
          <a:xfrm>
            <a:off x="1325880" y="1746504"/>
            <a:ext cx="6035040" cy="329184"/>
          </a:xfrm>
          <a:prstGeom prst="rect">
            <a:avLst/>
          </a:prstGeom>
          <a:noFill/>
          <a:ln/>
        </p:spPr>
        <p:txBody>
          <a:bodyPr wrap="square" lIns="0" tIns="0" rIns="0" bIns="0" rtlCol="0" anchor="ctr"/>
          <a:lstStyle/>
          <a:p>
            <a:pPr marL="0" indent="0">
              <a:buNone/>
            </a:pPr>
            <a:r>
              <a:rPr lang="en-US" sz="1700">
                <a:solidFill>
                  <a:srgbClr val="201F1E"/>
                </a:solidFill>
                <a:latin typeface="Segoe UI Semibold" pitchFamily="34" charset="0"/>
                <a:ea typeface="Segoe UI Semibold" pitchFamily="34" charset="-122"/>
                <a:cs typeface="Segoe UI Semibold" pitchFamily="34" charset="-120"/>
              </a:rPr>
              <a:t>curl</a:t>
            </a:r>
            <a:endParaRPr lang="en-US" sz="1700"/>
          </a:p>
        </p:txBody>
      </p:sp>
      <p:sp>
        <p:nvSpPr>
          <p:cNvPr id="12" name="Text 9"/>
          <p:cNvSpPr/>
          <p:nvPr/>
        </p:nvSpPr>
        <p:spPr>
          <a:xfrm>
            <a:off x="1325880" y="2084832"/>
            <a:ext cx="6035040" cy="384048"/>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Poke HTTP endpoints, send POSTs, set custom </a:t>
            </a:r>
            <a:r>
              <a:rPr lang="en-US" sz="1400">
                <a:solidFill>
                  <a:srgbClr val="0F6CBD"/>
                </a:solidFill>
                <a:latin typeface="Consolas" pitchFamily="34" charset="0"/>
                <a:ea typeface="Consolas" pitchFamily="34" charset="-122"/>
                <a:cs typeface="Consolas" pitchFamily="34" charset="-120"/>
              </a:rPr>
              <a:t>Host</a:t>
            </a:r>
            <a:r>
              <a:rPr lang="en-US" sz="1400">
                <a:solidFill>
                  <a:srgbClr val="323130"/>
                </a:solidFill>
                <a:latin typeface="Segoe UI" pitchFamily="34" charset="0"/>
                <a:ea typeface="Segoe UI" pitchFamily="34" charset="-122"/>
                <a:cs typeface="Segoe UI" pitchFamily="34" charset="-120"/>
              </a:rPr>
              <a:t> headers</a:t>
            </a:r>
            <a:endParaRPr lang="en-US" sz="1400"/>
          </a:p>
        </p:txBody>
      </p:sp>
      <p:sp>
        <p:nvSpPr>
          <p:cNvPr id="13" name="Shape 10"/>
          <p:cNvSpPr/>
          <p:nvPr/>
        </p:nvSpPr>
        <p:spPr>
          <a:xfrm>
            <a:off x="548640" y="2651760"/>
            <a:ext cx="566928" cy="566928"/>
          </a:xfrm>
          <a:prstGeom prst="ellipse">
            <a:avLst/>
          </a:prstGeom>
          <a:solidFill>
            <a:srgbClr val="0078D4"/>
          </a:solidFill>
          <a:ln/>
        </p:spPr>
        <p:txBody>
          <a:bodyPr/>
          <a:lstStyle/>
          <a:p>
            <a:endParaRPr lang="en-US"/>
          </a:p>
        </p:txBody>
      </p:sp>
      <p:pic>
        <p:nvPicPr>
          <p:cNvPr id="14" name="Image 1" descr="/agent/turn1/workspace/output/_anthropic_assets/icon-document-9db5b566.png"/>
          <p:cNvPicPr>
            <a:picLocks noChangeAspect="1"/>
          </p:cNvPicPr>
          <p:nvPr/>
        </p:nvPicPr>
        <p:blipFill>
          <a:blip r:embed="rId3"/>
          <a:stretch>
            <a:fillRect/>
          </a:stretch>
        </p:blipFill>
        <p:spPr>
          <a:xfrm>
            <a:off x="673364" y="2776484"/>
            <a:ext cx="317480" cy="317480"/>
          </a:xfrm>
          <a:prstGeom prst="rect">
            <a:avLst/>
          </a:prstGeom>
        </p:spPr>
      </p:pic>
      <p:sp>
        <p:nvSpPr>
          <p:cNvPr id="15" name="Text 11"/>
          <p:cNvSpPr/>
          <p:nvPr/>
        </p:nvSpPr>
        <p:spPr>
          <a:xfrm>
            <a:off x="1325880" y="2615184"/>
            <a:ext cx="6035040" cy="329184"/>
          </a:xfrm>
          <a:prstGeom prst="rect">
            <a:avLst/>
          </a:prstGeom>
          <a:noFill/>
          <a:ln/>
        </p:spPr>
        <p:txBody>
          <a:bodyPr wrap="square" lIns="0" tIns="0" rIns="0" bIns="0" rtlCol="0" anchor="ctr"/>
          <a:lstStyle/>
          <a:p>
            <a:pPr marL="0" indent="0">
              <a:buNone/>
            </a:pPr>
            <a:r>
              <a:rPr lang="en-US" sz="1700">
                <a:solidFill>
                  <a:srgbClr val="201F1E"/>
                </a:solidFill>
                <a:latin typeface="Segoe UI Semibold" pitchFamily="34" charset="0"/>
                <a:ea typeface="Segoe UI Semibold" pitchFamily="34" charset="-122"/>
                <a:cs typeface="Segoe UI Semibold" pitchFamily="34" charset="-120"/>
              </a:rPr>
              <a:t>jq</a:t>
            </a:r>
            <a:endParaRPr lang="en-US" sz="1700"/>
          </a:p>
        </p:txBody>
      </p:sp>
      <p:sp>
        <p:nvSpPr>
          <p:cNvPr id="16" name="Text 12"/>
          <p:cNvSpPr/>
          <p:nvPr/>
        </p:nvSpPr>
        <p:spPr>
          <a:xfrm>
            <a:off x="1325880" y="2953512"/>
            <a:ext cx="6035040" cy="384048"/>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Slice JSON output: </a:t>
            </a:r>
            <a:r>
              <a:rPr lang="en-US" sz="1400">
                <a:solidFill>
                  <a:srgbClr val="0F6CBD"/>
                </a:solidFill>
                <a:latin typeface="Consolas" pitchFamily="34" charset="0"/>
                <a:ea typeface="Consolas" pitchFamily="34" charset="-122"/>
                <a:cs typeface="Consolas" pitchFamily="34" charset="-120"/>
              </a:rPr>
              <a:t>kubectl get svc -o json | jq '.items[].metadata.name'</a:t>
            </a:r>
            <a:endParaRPr lang="en-US" sz="1400"/>
          </a:p>
        </p:txBody>
      </p:sp>
      <p:sp>
        <p:nvSpPr>
          <p:cNvPr id="17" name="Shape 13"/>
          <p:cNvSpPr/>
          <p:nvPr/>
        </p:nvSpPr>
        <p:spPr>
          <a:xfrm>
            <a:off x="548640" y="3520440"/>
            <a:ext cx="566928" cy="566928"/>
          </a:xfrm>
          <a:prstGeom prst="ellipse">
            <a:avLst/>
          </a:prstGeom>
          <a:solidFill>
            <a:srgbClr val="0078D4"/>
          </a:solidFill>
          <a:ln/>
        </p:spPr>
        <p:txBody>
          <a:bodyPr/>
          <a:lstStyle/>
          <a:p>
            <a:endParaRPr lang="en-US"/>
          </a:p>
        </p:txBody>
      </p:sp>
      <p:pic>
        <p:nvPicPr>
          <p:cNvPr id="18" name="Image 2" descr="/agent/turn1/workspace/output/_anthropic_assets/icon-arrow-sync-188c7913.png"/>
          <p:cNvPicPr>
            <a:picLocks noChangeAspect="1"/>
          </p:cNvPicPr>
          <p:nvPr/>
        </p:nvPicPr>
        <p:blipFill>
          <a:blip r:embed="rId4"/>
          <a:stretch>
            <a:fillRect/>
          </a:stretch>
        </p:blipFill>
        <p:spPr>
          <a:xfrm>
            <a:off x="673364" y="3645164"/>
            <a:ext cx="317480" cy="317480"/>
          </a:xfrm>
          <a:prstGeom prst="rect">
            <a:avLst/>
          </a:prstGeom>
        </p:spPr>
      </p:pic>
      <p:sp>
        <p:nvSpPr>
          <p:cNvPr id="19" name="Text 14"/>
          <p:cNvSpPr/>
          <p:nvPr/>
        </p:nvSpPr>
        <p:spPr>
          <a:xfrm>
            <a:off x="1325880" y="3483864"/>
            <a:ext cx="6035040" cy="329184"/>
          </a:xfrm>
          <a:prstGeom prst="rect">
            <a:avLst/>
          </a:prstGeom>
          <a:noFill/>
          <a:ln/>
        </p:spPr>
        <p:txBody>
          <a:bodyPr wrap="square" lIns="0" tIns="0" rIns="0" bIns="0" rtlCol="0" anchor="ctr"/>
          <a:lstStyle/>
          <a:p>
            <a:pPr marL="0" indent="0">
              <a:buNone/>
            </a:pPr>
            <a:r>
              <a:rPr lang="en-US" sz="1700">
                <a:solidFill>
                  <a:srgbClr val="201F1E"/>
                </a:solidFill>
                <a:latin typeface="Segoe UI Semibold" pitchFamily="34" charset="0"/>
                <a:ea typeface="Segoe UI Semibold" pitchFamily="34" charset="-122"/>
                <a:cs typeface="Segoe UI Semibold" pitchFamily="34" charset="-120"/>
              </a:rPr>
              <a:t>kubectx / kubens</a:t>
            </a:r>
            <a:endParaRPr lang="en-US" sz="1700"/>
          </a:p>
        </p:txBody>
      </p:sp>
      <p:sp>
        <p:nvSpPr>
          <p:cNvPr id="20" name="Text 15"/>
          <p:cNvSpPr/>
          <p:nvPr/>
        </p:nvSpPr>
        <p:spPr>
          <a:xfrm>
            <a:off x="1325880" y="3822192"/>
            <a:ext cx="6035040" cy="384048"/>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Switch clusters and namespaces quickly</a:t>
            </a:r>
            <a:endParaRPr lang="en-US" sz="1400"/>
          </a:p>
        </p:txBody>
      </p:sp>
      <p:sp>
        <p:nvSpPr>
          <p:cNvPr id="21" name="Shape 16"/>
          <p:cNvSpPr/>
          <p:nvPr/>
        </p:nvSpPr>
        <p:spPr>
          <a:xfrm>
            <a:off x="548640" y="4389120"/>
            <a:ext cx="566928" cy="566928"/>
          </a:xfrm>
          <a:prstGeom prst="ellipse">
            <a:avLst/>
          </a:prstGeom>
          <a:solidFill>
            <a:srgbClr val="0078D4"/>
          </a:solidFill>
          <a:ln/>
        </p:spPr>
        <p:txBody>
          <a:bodyPr/>
          <a:lstStyle/>
          <a:p>
            <a:endParaRPr lang="en-US"/>
          </a:p>
        </p:txBody>
      </p:sp>
      <p:pic>
        <p:nvPicPr>
          <p:cNvPr id="22" name="Image 3" descr="/agent/turn1/workspace/output/_anthropic_assets/icon-timer-d6a7c7c3.png"/>
          <p:cNvPicPr>
            <a:picLocks noChangeAspect="1"/>
          </p:cNvPicPr>
          <p:nvPr/>
        </p:nvPicPr>
        <p:blipFill>
          <a:blip r:embed="rId5"/>
          <a:stretch>
            <a:fillRect/>
          </a:stretch>
        </p:blipFill>
        <p:spPr>
          <a:xfrm>
            <a:off x="673364" y="4513844"/>
            <a:ext cx="317480" cy="317480"/>
          </a:xfrm>
          <a:prstGeom prst="rect">
            <a:avLst/>
          </a:prstGeom>
        </p:spPr>
      </p:pic>
      <p:sp>
        <p:nvSpPr>
          <p:cNvPr id="23" name="Text 17"/>
          <p:cNvSpPr/>
          <p:nvPr/>
        </p:nvSpPr>
        <p:spPr>
          <a:xfrm>
            <a:off x="1325880" y="4352544"/>
            <a:ext cx="6035040" cy="329184"/>
          </a:xfrm>
          <a:prstGeom prst="rect">
            <a:avLst/>
          </a:prstGeom>
          <a:noFill/>
          <a:ln/>
        </p:spPr>
        <p:txBody>
          <a:bodyPr wrap="square" lIns="0" tIns="0" rIns="0" bIns="0" rtlCol="0" anchor="ctr"/>
          <a:lstStyle/>
          <a:p>
            <a:pPr marL="0" indent="0">
              <a:buNone/>
            </a:pPr>
            <a:r>
              <a:rPr lang="en-US" sz="1700">
                <a:solidFill>
                  <a:srgbClr val="201F1E"/>
                </a:solidFill>
                <a:latin typeface="Segoe UI Semibold" pitchFamily="34" charset="0"/>
                <a:ea typeface="Segoe UI Semibold" pitchFamily="34" charset="-122"/>
                <a:cs typeface="Segoe UI Semibold" pitchFamily="34" charset="-120"/>
              </a:rPr>
              <a:t>kubectl aliases</a:t>
            </a:r>
            <a:endParaRPr lang="en-US" sz="1700"/>
          </a:p>
        </p:txBody>
      </p:sp>
      <p:sp>
        <p:nvSpPr>
          <p:cNvPr id="24" name="Text 18"/>
          <p:cNvSpPr/>
          <p:nvPr/>
        </p:nvSpPr>
        <p:spPr>
          <a:xfrm>
            <a:off x="1325880" y="4690872"/>
            <a:ext cx="6035040" cy="384048"/>
          </a:xfrm>
          <a:prstGeom prst="rect">
            <a:avLst/>
          </a:prstGeom>
          <a:noFill/>
          <a:ln/>
        </p:spPr>
        <p:txBody>
          <a:bodyPr wrap="square" lIns="0" tIns="0" rIns="0" bIns="0" rtlCol="0" anchor="t"/>
          <a:lstStyle/>
          <a:p>
            <a:pPr marL="0" indent="0">
              <a:buNone/>
            </a:pPr>
            <a:r>
              <a:rPr lang="en-US" sz="1400">
                <a:solidFill>
                  <a:srgbClr val="0F6CBD"/>
                </a:solidFill>
                <a:latin typeface="Consolas" pitchFamily="34" charset="0"/>
                <a:ea typeface="Consolas" pitchFamily="34" charset="-122"/>
                <a:cs typeface="Consolas" pitchFamily="34" charset="-120"/>
              </a:rPr>
              <a:t>k</a:t>
            </a:r>
            <a:r>
              <a:rPr lang="en-US" sz="1400">
                <a:solidFill>
                  <a:srgbClr val="323130"/>
                </a:solidFill>
                <a:latin typeface="Segoe UI" pitchFamily="34" charset="0"/>
                <a:ea typeface="Segoe UI" pitchFamily="34" charset="-122"/>
                <a:cs typeface="Segoe UI" pitchFamily="34" charset="-120"/>
              </a:rPr>
              <a:t>, </a:t>
            </a:r>
            <a:r>
              <a:rPr lang="en-US" sz="1400">
                <a:solidFill>
                  <a:srgbClr val="0F6CBD"/>
                </a:solidFill>
                <a:latin typeface="Consolas" pitchFamily="34" charset="0"/>
                <a:ea typeface="Consolas" pitchFamily="34" charset="-122"/>
                <a:cs typeface="Consolas" pitchFamily="34" charset="-120"/>
              </a:rPr>
              <a:t>kgp</a:t>
            </a:r>
            <a:r>
              <a:rPr lang="en-US" sz="1400">
                <a:solidFill>
                  <a:srgbClr val="323130"/>
                </a:solidFill>
                <a:latin typeface="Segoe UI" pitchFamily="34" charset="0"/>
                <a:ea typeface="Segoe UI" pitchFamily="34" charset="-122"/>
                <a:cs typeface="Segoe UI" pitchFamily="34" charset="-120"/>
              </a:rPr>
              <a:t>, </a:t>
            </a:r>
            <a:r>
              <a:rPr lang="en-US" sz="1400">
                <a:solidFill>
                  <a:srgbClr val="0F6CBD"/>
                </a:solidFill>
                <a:latin typeface="Consolas" pitchFamily="34" charset="0"/>
                <a:ea typeface="Consolas" pitchFamily="34" charset="-122"/>
                <a:cs typeface="Consolas" pitchFamily="34" charset="-120"/>
              </a:rPr>
              <a:t>kgpw</a:t>
            </a:r>
            <a:r>
              <a:rPr lang="en-US" sz="1400">
                <a:solidFill>
                  <a:srgbClr val="323130"/>
                </a:solidFill>
                <a:latin typeface="Segoe UI" pitchFamily="34" charset="0"/>
                <a:ea typeface="Segoe UI" pitchFamily="34" charset="-122"/>
                <a:cs typeface="Segoe UI" pitchFamily="34" charset="-120"/>
              </a:rPr>
              <a:t> … fewer keystrokes, fewer typos</a:t>
            </a:r>
            <a:endParaRPr lang="en-US" sz="1400"/>
          </a:p>
        </p:txBody>
      </p:sp>
      <p:sp>
        <p:nvSpPr>
          <p:cNvPr id="25" name="Shape 19"/>
          <p:cNvSpPr/>
          <p:nvPr/>
        </p:nvSpPr>
        <p:spPr>
          <a:xfrm>
            <a:off x="548640" y="5257800"/>
            <a:ext cx="566928" cy="566928"/>
          </a:xfrm>
          <a:prstGeom prst="ellipse">
            <a:avLst/>
          </a:prstGeom>
          <a:solidFill>
            <a:srgbClr val="0078D4"/>
          </a:solidFill>
          <a:ln/>
        </p:spPr>
        <p:txBody>
          <a:bodyPr/>
          <a:lstStyle/>
          <a:p>
            <a:endParaRPr lang="en-US"/>
          </a:p>
        </p:txBody>
      </p:sp>
      <p:pic>
        <p:nvPicPr>
          <p:cNvPr id="26" name="Image 4" descr="/agent/turn1/workspace/output/_anthropic_assets/icon-people-f7037772.png"/>
          <p:cNvPicPr>
            <a:picLocks noChangeAspect="1"/>
          </p:cNvPicPr>
          <p:nvPr/>
        </p:nvPicPr>
        <p:blipFill>
          <a:blip r:embed="rId6"/>
          <a:stretch>
            <a:fillRect/>
          </a:stretch>
        </p:blipFill>
        <p:spPr>
          <a:xfrm>
            <a:off x="673364" y="5382524"/>
            <a:ext cx="317480" cy="317480"/>
          </a:xfrm>
          <a:prstGeom prst="rect">
            <a:avLst/>
          </a:prstGeom>
        </p:spPr>
      </p:pic>
      <p:sp>
        <p:nvSpPr>
          <p:cNvPr id="27" name="Text 20"/>
          <p:cNvSpPr/>
          <p:nvPr/>
        </p:nvSpPr>
        <p:spPr>
          <a:xfrm>
            <a:off x="1325880" y="5221224"/>
            <a:ext cx="6035040" cy="329184"/>
          </a:xfrm>
          <a:prstGeom prst="rect">
            <a:avLst/>
          </a:prstGeom>
          <a:noFill/>
          <a:ln/>
        </p:spPr>
        <p:txBody>
          <a:bodyPr wrap="square" lIns="0" tIns="0" rIns="0" bIns="0" rtlCol="0" anchor="ctr"/>
          <a:lstStyle/>
          <a:p>
            <a:pPr marL="0" indent="0">
              <a:buNone/>
            </a:pPr>
            <a:r>
              <a:rPr lang="en-US" sz="1700">
                <a:solidFill>
                  <a:srgbClr val="201F1E"/>
                </a:solidFill>
                <a:latin typeface="Segoe UI Semibold" pitchFamily="34" charset="0"/>
                <a:ea typeface="Segoe UI Semibold" pitchFamily="34" charset="-122"/>
                <a:cs typeface="Segoe UI Semibold" pitchFamily="34" charset="-120"/>
              </a:rPr>
              <a:t>Dev containers / Codespaces</a:t>
            </a:r>
            <a:endParaRPr lang="en-US" sz="1700"/>
          </a:p>
        </p:txBody>
      </p:sp>
      <p:sp>
        <p:nvSpPr>
          <p:cNvPr id="28" name="Text 21"/>
          <p:cNvSpPr/>
          <p:nvPr/>
        </p:nvSpPr>
        <p:spPr>
          <a:xfrm>
            <a:off x="1325880" y="5559552"/>
            <a:ext cx="6035040" cy="384048"/>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A pre-built, consistent toolchain for every team member</a:t>
            </a:r>
            <a:endParaRPr lang="en-US" sz="1400"/>
          </a:p>
        </p:txBody>
      </p:sp>
      <p:sp>
        <p:nvSpPr>
          <p:cNvPr id="29" name="Shape 22"/>
          <p:cNvSpPr/>
          <p:nvPr/>
        </p:nvSpPr>
        <p:spPr>
          <a:xfrm>
            <a:off x="7818120" y="1783080"/>
            <a:ext cx="3822192" cy="4160520"/>
          </a:xfrm>
          <a:prstGeom prst="rect">
            <a:avLst/>
          </a:prstGeom>
          <a:solidFill>
            <a:srgbClr val="0B1F33"/>
          </a:solidFill>
          <a:ln/>
        </p:spPr>
        <p:txBody>
          <a:bodyPr/>
          <a:lstStyle/>
          <a:p>
            <a:endParaRPr lang="en-US"/>
          </a:p>
        </p:txBody>
      </p:sp>
      <p:sp>
        <p:nvSpPr>
          <p:cNvPr id="30" name="Shape 23"/>
          <p:cNvSpPr/>
          <p:nvPr/>
        </p:nvSpPr>
        <p:spPr>
          <a:xfrm>
            <a:off x="8092440" y="2057400"/>
            <a:ext cx="548640" cy="548640"/>
          </a:xfrm>
          <a:prstGeom prst="ellipse">
            <a:avLst/>
          </a:prstGeom>
          <a:solidFill>
            <a:srgbClr val="0078D4"/>
          </a:solidFill>
          <a:ln/>
        </p:spPr>
        <p:txBody>
          <a:bodyPr/>
          <a:lstStyle/>
          <a:p>
            <a:endParaRPr lang="en-US"/>
          </a:p>
        </p:txBody>
      </p:sp>
      <p:pic>
        <p:nvPicPr>
          <p:cNvPr id="31" name="Image 5" descr="/agent/turn1/workspace/output/_anthropic_assets/icon-key-a06932cf.png"/>
          <p:cNvPicPr>
            <a:picLocks noChangeAspect="1"/>
          </p:cNvPicPr>
          <p:nvPr/>
        </p:nvPicPr>
        <p:blipFill>
          <a:blip r:embed="rId7"/>
          <a:stretch>
            <a:fillRect/>
          </a:stretch>
        </p:blipFill>
        <p:spPr>
          <a:xfrm>
            <a:off x="8213141" y="2178101"/>
            <a:ext cx="307238" cy="307238"/>
          </a:xfrm>
          <a:prstGeom prst="rect">
            <a:avLst/>
          </a:prstGeom>
        </p:spPr>
      </p:pic>
      <p:sp>
        <p:nvSpPr>
          <p:cNvPr id="32" name="Text 24"/>
          <p:cNvSpPr/>
          <p:nvPr/>
        </p:nvSpPr>
        <p:spPr>
          <a:xfrm>
            <a:off x="8778240" y="2148840"/>
            <a:ext cx="1828800" cy="365760"/>
          </a:xfrm>
          <a:prstGeom prst="rect">
            <a:avLst/>
          </a:prstGeom>
          <a:noFill/>
          <a:ln/>
        </p:spPr>
        <p:txBody>
          <a:bodyPr wrap="square" lIns="0" tIns="0" rIns="0" bIns="0" rtlCol="0" anchor="ctr"/>
          <a:lstStyle/>
          <a:p>
            <a:pPr marL="0" indent="0">
              <a:buNone/>
            </a:pPr>
            <a:r>
              <a:rPr lang="en-US" sz="1400" kern="0" spc="300">
                <a:solidFill>
                  <a:srgbClr val="50E6FF"/>
                </a:solidFill>
                <a:latin typeface="Segoe UI Semibold" pitchFamily="34" charset="0"/>
                <a:ea typeface="Segoe UI Semibold" pitchFamily="34" charset="-122"/>
                <a:cs typeface="Segoe UI Semibold" pitchFamily="34" charset="-120"/>
              </a:rPr>
              <a:t>TIP</a:t>
            </a:r>
            <a:endParaRPr lang="en-US" sz="1400"/>
          </a:p>
        </p:txBody>
      </p:sp>
      <p:sp>
        <p:nvSpPr>
          <p:cNvPr id="33" name="Text 25"/>
          <p:cNvSpPr/>
          <p:nvPr/>
        </p:nvSpPr>
        <p:spPr>
          <a:xfrm>
            <a:off x="8092440" y="2834640"/>
            <a:ext cx="3291840" cy="2834640"/>
          </a:xfrm>
          <a:prstGeom prst="rect">
            <a:avLst/>
          </a:prstGeom>
          <a:noFill/>
          <a:ln/>
        </p:spPr>
        <p:txBody>
          <a:bodyPr wrap="square" lIns="0" tIns="0" rIns="0" bIns="0" rtlCol="0" anchor="t"/>
          <a:lstStyle/>
          <a:p>
            <a:pPr marL="0" indent="0">
              <a:buNone/>
            </a:pPr>
            <a:r>
              <a:rPr lang="en-US" sz="1800">
                <a:solidFill>
                  <a:srgbClr val="9CDCFE"/>
                </a:solidFill>
                <a:latin typeface="Consolas" pitchFamily="34" charset="0"/>
                <a:ea typeface="Consolas" pitchFamily="34" charset="-122"/>
                <a:cs typeface="Consolas" pitchFamily="34" charset="-120"/>
              </a:rPr>
              <a:t>kubectl</a:t>
            </a:r>
            <a:r>
              <a:rPr lang="en-US" sz="1800">
                <a:solidFill>
                  <a:srgbClr val="FFFFFF"/>
                </a:solidFill>
                <a:latin typeface="Segoe UI" pitchFamily="34" charset="0"/>
                <a:ea typeface="Segoe UI" pitchFamily="34" charset="-122"/>
                <a:cs typeface="Segoe UI" pitchFamily="34" charset="-120"/>
              </a:rPr>
              <a:t> also has </a:t>
            </a:r>
            <a:r>
              <a:rPr lang="en-US" sz="1800">
                <a:solidFill>
                  <a:srgbClr val="9CDCFE"/>
                </a:solidFill>
                <a:latin typeface="Consolas" pitchFamily="34" charset="0"/>
                <a:ea typeface="Consolas" pitchFamily="34" charset="-122"/>
                <a:cs typeface="Consolas" pitchFamily="34" charset="-120"/>
              </a:rPr>
              <a:t>-o jsonpath=</a:t>
            </a:r>
            <a:r>
              <a:rPr lang="en-US" sz="1800">
                <a:solidFill>
                  <a:srgbClr val="FFFFFF"/>
                </a:solidFill>
                <a:latin typeface="Segoe UI" pitchFamily="34" charset="0"/>
                <a:ea typeface="Segoe UI" pitchFamily="34" charset="-122"/>
                <a:cs typeface="Segoe UI" pitchFamily="34" charset="-120"/>
              </a:rPr>
              <a:t> and </a:t>
            </a:r>
            <a:r>
              <a:rPr lang="en-US" sz="1800">
                <a:solidFill>
                  <a:srgbClr val="9CDCFE"/>
                </a:solidFill>
                <a:latin typeface="Consolas" pitchFamily="34" charset="0"/>
                <a:ea typeface="Consolas" pitchFamily="34" charset="-122"/>
                <a:cs typeface="Consolas" pitchFamily="34" charset="-120"/>
              </a:rPr>
              <a:t>-o custom-columns=</a:t>
            </a:r>
            <a:r>
              <a:rPr lang="en-US" sz="1800">
                <a:solidFill>
                  <a:srgbClr val="FFFFFF"/>
                </a:solidFill>
                <a:latin typeface="Segoe UI" pitchFamily="34" charset="0"/>
                <a:ea typeface="Segoe UI" pitchFamily="34" charset="-122"/>
                <a:cs typeface="Segoe UI" pitchFamily="34" charset="-120"/>
              </a:rPr>
              <a:t> built in — often enough without </a:t>
            </a:r>
            <a:r>
              <a:rPr lang="en-US" sz="1800">
                <a:solidFill>
                  <a:srgbClr val="9CDCFE"/>
                </a:solidFill>
                <a:latin typeface="Consolas" pitchFamily="34" charset="0"/>
                <a:ea typeface="Consolas" pitchFamily="34" charset="-122"/>
                <a:cs typeface="Consolas" pitchFamily="34" charset="-120"/>
              </a:rPr>
              <a:t>jq</a:t>
            </a:r>
            <a:r>
              <a:rPr lang="en-US" sz="1800">
                <a:solidFill>
                  <a:srgbClr val="FFFFFF"/>
                </a:solidFill>
                <a:latin typeface="Segoe UI" pitchFamily="34" charset="0"/>
                <a:ea typeface="Segoe UI" pitchFamily="34" charset="-122"/>
                <a:cs typeface="Segoe UI" pitchFamily="34" charset="-120"/>
              </a:rPr>
              <a:t>.</a:t>
            </a:r>
            <a:endParaRPr lang="en-US" sz="1800"/>
          </a:p>
        </p:txBody>
      </p:sp>
      <p:sp>
        <p:nvSpPr>
          <p:cNvPr id="3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5E5C"/>
                </a:solidFill>
                <a:latin typeface="Segoe UI"/>
                <a:ea typeface="Segoe UI"/>
                <a:cs typeface="Segoe UI"/>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3277457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50E6FF"/>
                </a:solidFill>
                <a:latin typeface="Segoe UI Semibold" pitchFamily="34" charset="0"/>
                <a:ea typeface="Segoe UI Semibold" pitchFamily="34" charset="-122"/>
                <a:cs typeface="Segoe UI Semibold" pitchFamily="34" charset="-120"/>
              </a:rPr>
              <a:t>PART 1 · THE TOOLBOX</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A19F9D"/>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FFFFFF"/>
                </a:solidFill>
                <a:latin typeface="Segoe UI Semibold" pitchFamily="34" charset="0"/>
                <a:ea typeface="Segoe UI Semibold" pitchFamily="34" charset="-122"/>
                <a:cs typeface="Segoe UI Semibold" pitchFamily="34" charset="-120"/>
              </a:rPr>
              <a:t>kubectl Habits Worth Building</a:t>
            </a:r>
            <a:endParaRPr lang="en-US" sz="3200"/>
          </a:p>
        </p:txBody>
      </p:sp>
      <p:sp>
        <p:nvSpPr>
          <p:cNvPr id="9" name="Shape 7"/>
          <p:cNvSpPr/>
          <p:nvPr/>
        </p:nvSpPr>
        <p:spPr>
          <a:xfrm>
            <a:off x="548640" y="1737360"/>
            <a:ext cx="11064240" cy="3154680"/>
          </a:xfrm>
          <a:prstGeom prst="rect">
            <a:avLst/>
          </a:prstGeom>
          <a:solidFill>
            <a:srgbClr val="1E1E1E"/>
          </a:solidFill>
          <a:ln/>
        </p:spPr>
        <p:txBody>
          <a:bodyPr/>
          <a:lstStyle/>
          <a:p>
            <a:endParaRPr lang="en-US"/>
          </a:p>
        </p:txBody>
      </p:sp>
      <p:sp>
        <p:nvSpPr>
          <p:cNvPr id="10" name="Shape 8"/>
          <p:cNvSpPr/>
          <p:nvPr/>
        </p:nvSpPr>
        <p:spPr>
          <a:xfrm>
            <a:off x="548640" y="1737360"/>
            <a:ext cx="11064240" cy="347472"/>
          </a:xfrm>
          <a:prstGeom prst="rect">
            <a:avLst/>
          </a:prstGeom>
          <a:solidFill>
            <a:srgbClr val="2D2D30"/>
          </a:solidFill>
          <a:ln/>
        </p:spPr>
        <p:txBody>
          <a:bodyPr/>
          <a:lstStyle/>
          <a:p>
            <a:endParaRPr lang="en-US"/>
          </a:p>
        </p:txBody>
      </p:sp>
      <p:sp>
        <p:nvSpPr>
          <p:cNvPr id="11" name="Shape 9"/>
          <p:cNvSpPr/>
          <p:nvPr/>
        </p:nvSpPr>
        <p:spPr>
          <a:xfrm>
            <a:off x="548640" y="1737360"/>
            <a:ext cx="1499616" cy="347472"/>
          </a:xfrm>
          <a:prstGeom prst="rect">
            <a:avLst/>
          </a:prstGeom>
          <a:solidFill>
            <a:srgbClr val="1E1E1E"/>
          </a:solidFill>
          <a:ln/>
        </p:spPr>
        <p:txBody>
          <a:bodyPr/>
          <a:lstStyle/>
          <a:p>
            <a:endParaRPr lang="en-US"/>
          </a:p>
        </p:txBody>
      </p:sp>
      <p:sp>
        <p:nvSpPr>
          <p:cNvPr id="12" name="Text 10"/>
          <p:cNvSpPr/>
          <p:nvPr/>
        </p:nvSpPr>
        <p:spPr>
          <a:xfrm>
            <a:off x="685800" y="1737360"/>
            <a:ext cx="1316736" cy="347472"/>
          </a:xfrm>
          <a:prstGeom prst="rect">
            <a:avLst/>
          </a:prstGeom>
          <a:noFill/>
          <a:ln/>
        </p:spPr>
        <p:txBody>
          <a:bodyPr wrap="square" lIns="0" tIns="0" rIns="0" bIns="0" rtlCol="0" anchor="ctr"/>
          <a:lstStyle/>
          <a:p>
            <a:pPr marL="0" indent="0">
              <a:buNone/>
            </a:pPr>
            <a:r>
              <a:rPr lang="en-US" sz="1000">
                <a:solidFill>
                  <a:srgbClr val="CCCCCC"/>
                </a:solidFill>
                <a:latin typeface="Segoe UI" pitchFamily="34" charset="0"/>
                <a:ea typeface="Segoe UI" pitchFamily="34" charset="-122"/>
                <a:cs typeface="Segoe UI" pitchFamily="34" charset="-120"/>
              </a:rPr>
              <a:t>bash — kubectl</a:t>
            </a:r>
            <a:endParaRPr lang="en-US" sz="1000"/>
          </a:p>
        </p:txBody>
      </p:sp>
      <p:sp>
        <p:nvSpPr>
          <p:cNvPr id="13" name="Text 11"/>
          <p:cNvSpPr/>
          <p:nvPr/>
        </p:nvSpPr>
        <p:spPr>
          <a:xfrm>
            <a:off x="749808" y="2212848"/>
            <a:ext cx="10698480" cy="2587752"/>
          </a:xfrm>
          <a:prstGeom prst="rect">
            <a:avLst/>
          </a:prstGeom>
          <a:noFill/>
          <a:ln/>
        </p:spPr>
        <p:txBody>
          <a:bodyPr wrap="square" lIns="0" tIns="0" rIns="0" bIns="0" rtlCol="0" anchor="t"/>
          <a:lstStyle/>
          <a:p>
            <a:pPr marL="0" indent="0">
              <a:lnSpc>
                <a:spcPct val="105000"/>
              </a:lnSpc>
              <a:buNone/>
            </a:pPr>
            <a:r>
              <a:rPr lang="en-US" sz="1500">
                <a:solidFill>
                  <a:srgbClr val="DCDCAA"/>
                </a:solidFill>
                <a:latin typeface="Consolas" pitchFamily="34" charset="0"/>
                <a:ea typeface="Consolas" pitchFamily="34" charset="-122"/>
                <a:cs typeface="Consolas" pitchFamily="34" charset="-120"/>
              </a:rPr>
              <a:t>kubectl</a:t>
            </a:r>
            <a:r>
              <a:rPr lang="en-US" sz="1500">
                <a:solidFill>
                  <a:srgbClr val="D4D4D4"/>
                </a:solidFill>
                <a:latin typeface="Consolas" pitchFamily="34" charset="0"/>
                <a:ea typeface="Consolas" pitchFamily="34" charset="-122"/>
                <a:cs typeface="Consolas" pitchFamily="34" charset="-120"/>
              </a:rPr>
              <a:t> get pods -o wide           </a:t>
            </a:r>
            <a:r>
              <a:rPr lang="en-US" sz="1500">
                <a:solidFill>
                  <a:srgbClr val="6A9955"/>
                </a:solidFill>
                <a:latin typeface="Consolas" pitchFamily="34" charset="0"/>
                <a:ea typeface="Consolas" pitchFamily="34" charset="-122"/>
                <a:cs typeface="Consolas" pitchFamily="34" charset="-120"/>
              </a:rPr>
              <a:t> # which node is each pod on?</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kubectl</a:t>
            </a:r>
            <a:r>
              <a:rPr lang="en-US" sz="1500">
                <a:solidFill>
                  <a:srgbClr val="D4D4D4"/>
                </a:solidFill>
                <a:latin typeface="Consolas" pitchFamily="34" charset="0"/>
                <a:ea typeface="Consolas" pitchFamily="34" charset="-122"/>
                <a:cs typeface="Consolas" pitchFamily="34" charset="-120"/>
              </a:rPr>
              <a:t> describe pod &lt;name&gt;        </a:t>
            </a:r>
            <a:r>
              <a:rPr lang="en-US" sz="1500">
                <a:solidFill>
                  <a:srgbClr val="6A9955"/>
                </a:solidFill>
                <a:latin typeface="Consolas" pitchFamily="34" charset="0"/>
                <a:ea typeface="Consolas" pitchFamily="34" charset="-122"/>
                <a:cs typeface="Consolas" pitchFamily="34" charset="-120"/>
              </a:rPr>
              <a:t> # events, probe failures, scheduling issues</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kubectl</a:t>
            </a:r>
            <a:r>
              <a:rPr lang="en-US" sz="1500">
                <a:solidFill>
                  <a:srgbClr val="D4D4D4"/>
                </a:solidFill>
                <a:latin typeface="Consolas" pitchFamily="34" charset="0"/>
                <a:ea typeface="Consolas" pitchFamily="34" charset="-122"/>
                <a:cs typeface="Consolas" pitchFamily="34" charset="-120"/>
              </a:rPr>
              <a:t> get events --sort-by=.lastTimestamp</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kubectl</a:t>
            </a:r>
            <a:r>
              <a:rPr lang="en-US" sz="1500">
                <a:solidFill>
                  <a:srgbClr val="D4D4D4"/>
                </a:solidFill>
                <a:latin typeface="Consolas" pitchFamily="34" charset="0"/>
                <a:ea typeface="Consolas" pitchFamily="34" charset="-122"/>
                <a:cs typeface="Consolas" pitchFamily="34" charset="-120"/>
              </a:rPr>
              <a:t> logs &lt;pod&gt; -f --previous   </a:t>
            </a:r>
            <a:r>
              <a:rPr lang="en-US" sz="1500">
                <a:solidFill>
                  <a:srgbClr val="6A9955"/>
                </a:solidFill>
                <a:latin typeface="Consolas" pitchFamily="34" charset="0"/>
                <a:ea typeface="Consolas" pitchFamily="34" charset="-122"/>
                <a:cs typeface="Consolas" pitchFamily="34" charset="-120"/>
              </a:rPr>
              <a:t> # logs from the last (crashed) container</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kubectl</a:t>
            </a:r>
            <a:r>
              <a:rPr lang="en-US" sz="1500">
                <a:solidFill>
                  <a:srgbClr val="D4D4D4"/>
                </a:solidFill>
                <a:latin typeface="Consolas" pitchFamily="34" charset="0"/>
                <a:ea typeface="Consolas" pitchFamily="34" charset="-122"/>
                <a:cs typeface="Consolas" pitchFamily="34" charset="-120"/>
              </a:rPr>
              <a:t> get &lt;resource&gt; -w          </a:t>
            </a:r>
            <a:r>
              <a:rPr lang="en-US" sz="1500">
                <a:solidFill>
                  <a:srgbClr val="6A9955"/>
                </a:solidFill>
                <a:latin typeface="Consolas" pitchFamily="34" charset="0"/>
                <a:ea typeface="Consolas" pitchFamily="34" charset="-122"/>
                <a:cs typeface="Consolas" pitchFamily="34" charset="-120"/>
              </a:rPr>
              <a:t> # watch changes live</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kubectl</a:t>
            </a:r>
            <a:r>
              <a:rPr lang="en-US" sz="1500">
                <a:solidFill>
                  <a:srgbClr val="D4D4D4"/>
                </a:solidFill>
                <a:latin typeface="Consolas" pitchFamily="34" charset="0"/>
                <a:ea typeface="Consolas" pitchFamily="34" charset="-122"/>
                <a:cs typeface="Consolas" pitchFamily="34" charset="-120"/>
              </a:rPr>
              <a:t> top pods / kubectl top nodes </a:t>
            </a:r>
            <a:r>
              <a:rPr lang="en-US" sz="1500">
                <a:solidFill>
                  <a:srgbClr val="6A9955"/>
                </a:solidFill>
                <a:latin typeface="Consolas" pitchFamily="34" charset="0"/>
                <a:ea typeface="Consolas" pitchFamily="34" charset="-122"/>
                <a:cs typeface="Consolas" pitchFamily="34" charset="-120"/>
              </a:rPr>
              <a:t> # live CPU &amp; memory (needs metrics-server)</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kubectl</a:t>
            </a:r>
            <a:r>
              <a:rPr lang="en-US" sz="1500">
                <a:solidFill>
                  <a:srgbClr val="D4D4D4"/>
                </a:solidFill>
                <a:latin typeface="Consolas" pitchFamily="34" charset="0"/>
                <a:ea typeface="Consolas" pitchFamily="34" charset="-122"/>
                <a:cs typeface="Consolas" pitchFamily="34" charset="-120"/>
              </a:rPr>
              <a:t> explain deployment.spec.strategy </a:t>
            </a:r>
            <a:r>
              <a:rPr lang="en-US" sz="1500">
                <a:solidFill>
                  <a:srgbClr val="6A9955"/>
                </a:solidFill>
                <a:latin typeface="Consolas" pitchFamily="34" charset="0"/>
                <a:ea typeface="Consolas" pitchFamily="34" charset="-122"/>
                <a:cs typeface="Consolas" pitchFamily="34" charset="-120"/>
              </a:rPr>
              <a:t> # built-in API docs</a:t>
            </a:r>
            <a:endParaRPr lang="en-US" sz="1500"/>
          </a:p>
        </p:txBody>
      </p:sp>
      <p:sp>
        <p:nvSpPr>
          <p:cNvPr id="14" name="Shape 12"/>
          <p:cNvSpPr/>
          <p:nvPr/>
        </p:nvSpPr>
        <p:spPr>
          <a:xfrm>
            <a:off x="548640" y="5166360"/>
            <a:ext cx="11064240" cy="868680"/>
          </a:xfrm>
          <a:prstGeom prst="rect">
            <a:avLst/>
          </a:prstGeom>
          <a:solidFill>
            <a:srgbClr val="0078D4"/>
          </a:solidFill>
          <a:ln/>
        </p:spPr>
        <p:txBody>
          <a:bodyPr/>
          <a:lstStyle/>
          <a:p>
            <a:endParaRPr lang="en-US"/>
          </a:p>
        </p:txBody>
      </p:sp>
      <p:sp>
        <p:nvSpPr>
          <p:cNvPr id="15" name="Shape 13"/>
          <p:cNvSpPr/>
          <p:nvPr/>
        </p:nvSpPr>
        <p:spPr>
          <a:xfrm>
            <a:off x="777240" y="5372100"/>
            <a:ext cx="457200" cy="457200"/>
          </a:xfrm>
          <a:prstGeom prst="ellipse">
            <a:avLst/>
          </a:prstGeom>
          <a:solidFill>
            <a:srgbClr val="201F1E"/>
          </a:solidFill>
          <a:ln/>
        </p:spPr>
        <p:txBody>
          <a:bodyPr/>
          <a:lstStyle/>
          <a:p>
            <a:endParaRPr lang="en-US"/>
          </a:p>
        </p:txBody>
      </p:sp>
      <p:pic>
        <p:nvPicPr>
          <p:cNvPr id="16" name="Image 0" descr="/agent/turn1/workspace/output/_anthropic_assets/icon-search-926dd2d8.png"/>
          <p:cNvPicPr>
            <a:picLocks noChangeAspect="1"/>
          </p:cNvPicPr>
          <p:nvPr/>
        </p:nvPicPr>
        <p:blipFill>
          <a:blip r:embed="rId2"/>
          <a:stretch>
            <a:fillRect/>
          </a:stretch>
        </p:blipFill>
        <p:spPr>
          <a:xfrm>
            <a:off x="877824" y="5472684"/>
            <a:ext cx="256032" cy="256032"/>
          </a:xfrm>
          <a:prstGeom prst="rect">
            <a:avLst/>
          </a:prstGeom>
        </p:spPr>
      </p:pic>
      <p:sp>
        <p:nvSpPr>
          <p:cNvPr id="17" name="Text 14"/>
          <p:cNvSpPr/>
          <p:nvPr/>
        </p:nvSpPr>
        <p:spPr>
          <a:xfrm>
            <a:off x="1417320" y="5166360"/>
            <a:ext cx="9966960" cy="868680"/>
          </a:xfrm>
          <a:prstGeom prst="rect">
            <a:avLst/>
          </a:prstGeom>
          <a:noFill/>
          <a:ln/>
        </p:spPr>
        <p:txBody>
          <a:bodyPr wrap="square" lIns="0" tIns="0" rIns="0" bIns="0" rtlCol="0" anchor="ctr"/>
          <a:lstStyle/>
          <a:p>
            <a:pPr marL="0" indent="0">
              <a:buNone/>
            </a:pPr>
            <a:r>
              <a:rPr lang="en-US" sz="2000">
                <a:solidFill>
                  <a:srgbClr val="FFFFFF"/>
                </a:solidFill>
                <a:latin typeface="Consolas" pitchFamily="34" charset="0"/>
                <a:ea typeface="Consolas" pitchFamily="34" charset="-122"/>
                <a:cs typeface="Consolas" pitchFamily="34" charset="-120"/>
              </a:rPr>
              <a:t>describe</a:t>
            </a:r>
            <a:r>
              <a:rPr lang="en-US" sz="2000">
                <a:solidFill>
                  <a:srgbClr val="FFFFFF"/>
                </a:solidFill>
                <a:latin typeface="Segoe UI" pitchFamily="34" charset="0"/>
                <a:ea typeface="Segoe UI" pitchFamily="34" charset="-122"/>
                <a:cs typeface="Segoe UI" pitchFamily="34" charset="-120"/>
              </a:rPr>
              <a:t> + </a:t>
            </a:r>
            <a:r>
              <a:rPr lang="en-US" sz="2000">
                <a:solidFill>
                  <a:srgbClr val="FFFFFF"/>
                </a:solidFill>
                <a:latin typeface="Consolas" pitchFamily="34" charset="0"/>
                <a:ea typeface="Consolas" pitchFamily="34" charset="-122"/>
                <a:cs typeface="Consolas" pitchFamily="34" charset="-120"/>
              </a:rPr>
              <a:t>events</a:t>
            </a:r>
            <a:r>
              <a:rPr lang="en-US" sz="2000">
                <a:solidFill>
                  <a:srgbClr val="FFFFFF"/>
                </a:solidFill>
                <a:latin typeface="Segoe UI" pitchFamily="34" charset="0"/>
                <a:ea typeface="Segoe UI" pitchFamily="34" charset="-122"/>
                <a:cs typeface="Segoe UI" pitchFamily="34" charset="-120"/>
              </a:rPr>
              <a:t> answer most “why isn’t this working?” questions.</a:t>
            </a:r>
            <a:endParaRPr lang="en-US" sz="200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19F9D"/>
                </a:solidFill>
                <a:latin typeface="Segoe UI"/>
                <a:ea typeface="Segoe UI"/>
                <a:cs typeface="Segoe UI"/>
              </a:defRPr>
            </a:lvl1pPr>
          </a:lstStyle>
          <a:p>
            <a:pPr algn="r"/>
            <a:fld id="{F7021451-1387-4CA6-816F-3879F97B5CBC}" type="slidenum">
              <a:rPr lang="en-US" b="0"/>
              <a:t>7</a:t>
            </a:fld>
            <a:endParaRPr lang="en-US"/>
          </a:p>
        </p:txBody>
      </p:sp>
    </p:spTree>
    <p:extLst>
      <p:ext uri="{BB962C8B-B14F-4D97-AF65-F5344CB8AC3E}">
        <p14:creationId xmlns:p14="http://schemas.microsoft.com/office/powerpoint/2010/main" val="2408887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0078D4"/>
                </a:solidFill>
                <a:latin typeface="Segoe UI Semibold" pitchFamily="34" charset="0"/>
                <a:ea typeface="Segoe UI Semibold" pitchFamily="34" charset="-122"/>
                <a:cs typeface="Segoe UI Semibold" pitchFamily="34" charset="-120"/>
              </a:rPr>
              <a:t>PART 1 · THE TOOLBOX</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605E5C"/>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201F1E"/>
                </a:solidFill>
                <a:latin typeface="Segoe UI Semibold" pitchFamily="34" charset="0"/>
                <a:ea typeface="Segoe UI Semibold" pitchFamily="34" charset="-122"/>
                <a:cs typeface="Segoe UI Semibold" pitchFamily="34" charset="-120"/>
              </a:rPr>
              <a:t>Anatomy of an AKS Cluster</a:t>
            </a:r>
            <a:endParaRPr lang="en-US" sz="3200"/>
          </a:p>
        </p:txBody>
      </p:sp>
      <p:sp>
        <p:nvSpPr>
          <p:cNvPr id="9" name="Shape 7"/>
          <p:cNvSpPr/>
          <p:nvPr/>
        </p:nvSpPr>
        <p:spPr>
          <a:xfrm>
            <a:off x="548640" y="1737360"/>
            <a:ext cx="7589520" cy="1417320"/>
          </a:xfrm>
          <a:prstGeom prst="rect">
            <a:avLst/>
          </a:prstGeom>
          <a:solidFill>
            <a:srgbClr val="0078D4"/>
          </a:solidFill>
          <a:ln/>
        </p:spPr>
        <p:txBody>
          <a:bodyPr/>
          <a:lstStyle/>
          <a:p>
            <a:endParaRPr lang="en-US"/>
          </a:p>
        </p:txBody>
      </p:sp>
      <p:sp>
        <p:nvSpPr>
          <p:cNvPr id="10" name="Shape 8"/>
          <p:cNvSpPr/>
          <p:nvPr/>
        </p:nvSpPr>
        <p:spPr>
          <a:xfrm>
            <a:off x="777240" y="1965960"/>
            <a:ext cx="548640" cy="548640"/>
          </a:xfrm>
          <a:prstGeom prst="ellipse">
            <a:avLst/>
          </a:prstGeom>
          <a:solidFill>
            <a:srgbClr val="005A9E"/>
          </a:solidFill>
          <a:ln/>
        </p:spPr>
        <p:txBody>
          <a:bodyPr/>
          <a:lstStyle/>
          <a:p>
            <a:endParaRPr lang="en-US"/>
          </a:p>
        </p:txBody>
      </p:sp>
      <p:pic>
        <p:nvPicPr>
          <p:cNvPr id="11" name="Image 0" descr="/agent/turn1/workspace/output/_anthropic_assets/icon-cloud-019c1de0.png"/>
          <p:cNvPicPr>
            <a:picLocks noChangeAspect="1"/>
          </p:cNvPicPr>
          <p:nvPr/>
        </p:nvPicPr>
        <p:blipFill>
          <a:blip r:embed="rId2"/>
          <a:stretch>
            <a:fillRect/>
          </a:stretch>
        </p:blipFill>
        <p:spPr>
          <a:xfrm>
            <a:off x="897941" y="2086661"/>
            <a:ext cx="307238" cy="307238"/>
          </a:xfrm>
          <a:prstGeom prst="rect">
            <a:avLst/>
          </a:prstGeom>
        </p:spPr>
      </p:pic>
      <p:sp>
        <p:nvSpPr>
          <p:cNvPr id="12" name="Text 9"/>
          <p:cNvSpPr/>
          <p:nvPr/>
        </p:nvSpPr>
        <p:spPr>
          <a:xfrm>
            <a:off x="1508760" y="1901952"/>
            <a:ext cx="6400800" cy="411480"/>
          </a:xfrm>
          <a:prstGeom prst="rect">
            <a:avLst/>
          </a:prstGeom>
          <a:noFill/>
          <a:ln/>
        </p:spPr>
        <p:txBody>
          <a:bodyPr wrap="square" lIns="0" tIns="0" rIns="0" bIns="0" rtlCol="0" anchor="ctr"/>
          <a:lstStyle/>
          <a:p>
            <a:pPr marL="0" indent="0">
              <a:buNone/>
            </a:pPr>
            <a:r>
              <a:rPr lang="en-US" sz="1900">
                <a:solidFill>
                  <a:srgbClr val="FFFFFF"/>
                </a:solidFill>
                <a:latin typeface="Segoe UI Semibold" pitchFamily="34" charset="0"/>
                <a:ea typeface="Segoe UI Semibold" pitchFamily="34" charset="-122"/>
                <a:cs typeface="Segoe UI Semibold" pitchFamily="34" charset="-120"/>
              </a:rPr>
              <a:t>Control plane — managed by Azure</a:t>
            </a:r>
            <a:endParaRPr lang="en-US" sz="1900"/>
          </a:p>
        </p:txBody>
      </p:sp>
      <p:sp>
        <p:nvSpPr>
          <p:cNvPr id="13" name="Shape 10"/>
          <p:cNvSpPr/>
          <p:nvPr/>
        </p:nvSpPr>
        <p:spPr>
          <a:xfrm>
            <a:off x="1508760" y="2487168"/>
            <a:ext cx="1481328" cy="457200"/>
          </a:xfrm>
          <a:prstGeom prst="rect">
            <a:avLst/>
          </a:prstGeom>
          <a:solidFill>
            <a:srgbClr val="005A9E"/>
          </a:solidFill>
          <a:ln/>
        </p:spPr>
        <p:txBody>
          <a:bodyPr/>
          <a:lstStyle/>
          <a:p>
            <a:endParaRPr lang="en-US"/>
          </a:p>
        </p:txBody>
      </p:sp>
      <p:sp>
        <p:nvSpPr>
          <p:cNvPr id="14" name="Text 11"/>
          <p:cNvSpPr/>
          <p:nvPr/>
        </p:nvSpPr>
        <p:spPr>
          <a:xfrm>
            <a:off x="1581912" y="2487168"/>
            <a:ext cx="1335024" cy="457200"/>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API server</a:t>
            </a:r>
            <a:endParaRPr lang="en-US" sz="1300"/>
          </a:p>
        </p:txBody>
      </p:sp>
      <p:sp>
        <p:nvSpPr>
          <p:cNvPr id="15" name="Shape 12"/>
          <p:cNvSpPr/>
          <p:nvPr/>
        </p:nvSpPr>
        <p:spPr>
          <a:xfrm>
            <a:off x="3136392" y="2487168"/>
            <a:ext cx="1481328" cy="457200"/>
          </a:xfrm>
          <a:prstGeom prst="rect">
            <a:avLst/>
          </a:prstGeom>
          <a:solidFill>
            <a:srgbClr val="005A9E"/>
          </a:solidFill>
          <a:ln/>
        </p:spPr>
        <p:txBody>
          <a:bodyPr/>
          <a:lstStyle/>
          <a:p>
            <a:endParaRPr lang="en-US"/>
          </a:p>
        </p:txBody>
      </p:sp>
      <p:sp>
        <p:nvSpPr>
          <p:cNvPr id="16" name="Text 13"/>
          <p:cNvSpPr/>
          <p:nvPr/>
        </p:nvSpPr>
        <p:spPr>
          <a:xfrm>
            <a:off x="3209544" y="2487168"/>
            <a:ext cx="1335024" cy="457200"/>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etcd</a:t>
            </a:r>
            <a:endParaRPr lang="en-US" sz="1300"/>
          </a:p>
        </p:txBody>
      </p:sp>
      <p:sp>
        <p:nvSpPr>
          <p:cNvPr id="17" name="Shape 14"/>
          <p:cNvSpPr/>
          <p:nvPr/>
        </p:nvSpPr>
        <p:spPr>
          <a:xfrm>
            <a:off x="4764024" y="2487168"/>
            <a:ext cx="1481328" cy="457200"/>
          </a:xfrm>
          <a:prstGeom prst="rect">
            <a:avLst/>
          </a:prstGeom>
          <a:solidFill>
            <a:srgbClr val="005A9E"/>
          </a:solidFill>
          <a:ln/>
        </p:spPr>
        <p:txBody>
          <a:bodyPr/>
          <a:lstStyle/>
          <a:p>
            <a:endParaRPr lang="en-US"/>
          </a:p>
        </p:txBody>
      </p:sp>
      <p:sp>
        <p:nvSpPr>
          <p:cNvPr id="18" name="Text 15"/>
          <p:cNvSpPr/>
          <p:nvPr/>
        </p:nvSpPr>
        <p:spPr>
          <a:xfrm>
            <a:off x="4837176" y="2487168"/>
            <a:ext cx="1335024" cy="457200"/>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Scheduler</a:t>
            </a:r>
            <a:endParaRPr lang="en-US" sz="1300"/>
          </a:p>
        </p:txBody>
      </p:sp>
      <p:sp>
        <p:nvSpPr>
          <p:cNvPr id="19" name="Shape 16"/>
          <p:cNvSpPr/>
          <p:nvPr/>
        </p:nvSpPr>
        <p:spPr>
          <a:xfrm>
            <a:off x="6391656" y="2487168"/>
            <a:ext cx="1481328" cy="457200"/>
          </a:xfrm>
          <a:prstGeom prst="rect">
            <a:avLst/>
          </a:prstGeom>
          <a:solidFill>
            <a:srgbClr val="005A9E"/>
          </a:solidFill>
          <a:ln/>
        </p:spPr>
        <p:txBody>
          <a:bodyPr/>
          <a:lstStyle/>
          <a:p>
            <a:endParaRPr lang="en-US"/>
          </a:p>
        </p:txBody>
      </p:sp>
      <p:sp>
        <p:nvSpPr>
          <p:cNvPr id="20" name="Text 17"/>
          <p:cNvSpPr/>
          <p:nvPr/>
        </p:nvSpPr>
        <p:spPr>
          <a:xfrm>
            <a:off x="6464808" y="2487168"/>
            <a:ext cx="1335024" cy="457200"/>
          </a:xfrm>
          <a:prstGeom prst="rect">
            <a:avLst/>
          </a:prstGeom>
          <a:noFill/>
          <a:ln/>
        </p:spPr>
        <p:txBody>
          <a:bodyPr wrap="square" lIns="0" tIns="0" rIns="0" bIns="0" rtlCol="0" anchor="ctr"/>
          <a:lstStyle/>
          <a:p>
            <a:pPr marL="0" indent="0" algn="ctr">
              <a:buNone/>
            </a:pPr>
            <a:r>
              <a:rPr lang="en-US" sz="1300">
                <a:solidFill>
                  <a:srgbClr val="FFFFFF"/>
                </a:solidFill>
                <a:latin typeface="Segoe UI Semibold" pitchFamily="34" charset="0"/>
                <a:ea typeface="Segoe UI Semibold" pitchFamily="34" charset="-122"/>
                <a:cs typeface="Segoe UI Semibold" pitchFamily="34" charset="-120"/>
              </a:rPr>
              <a:t>Controllers</a:t>
            </a:r>
            <a:endParaRPr lang="en-US" sz="1300"/>
          </a:p>
        </p:txBody>
      </p:sp>
      <p:sp>
        <p:nvSpPr>
          <p:cNvPr id="21" name="Shape 18"/>
          <p:cNvSpPr/>
          <p:nvPr/>
        </p:nvSpPr>
        <p:spPr>
          <a:xfrm>
            <a:off x="4343400" y="3200400"/>
            <a:ext cx="0" cy="411480"/>
          </a:xfrm>
          <a:prstGeom prst="line">
            <a:avLst/>
          </a:prstGeom>
          <a:noFill/>
          <a:ln w="25400">
            <a:solidFill>
              <a:srgbClr val="605E5C"/>
            </a:solidFill>
            <a:prstDash val="solid"/>
            <a:headEnd type="triangle"/>
            <a:tailEnd type="triangle"/>
          </a:ln>
        </p:spPr>
        <p:txBody>
          <a:bodyPr/>
          <a:lstStyle/>
          <a:p>
            <a:endParaRPr lang="en-US"/>
          </a:p>
        </p:txBody>
      </p:sp>
      <p:sp>
        <p:nvSpPr>
          <p:cNvPr id="22" name="Shape 19"/>
          <p:cNvSpPr/>
          <p:nvPr/>
        </p:nvSpPr>
        <p:spPr>
          <a:xfrm>
            <a:off x="548640" y="3657600"/>
            <a:ext cx="3657600" cy="2377440"/>
          </a:xfrm>
          <a:prstGeom prst="rect">
            <a:avLst/>
          </a:prstGeom>
          <a:solidFill>
            <a:srgbClr val="F3F2F1"/>
          </a:solidFill>
          <a:ln/>
        </p:spPr>
        <p:txBody>
          <a:bodyPr/>
          <a:lstStyle/>
          <a:p>
            <a:endParaRPr lang="en-US"/>
          </a:p>
        </p:txBody>
      </p:sp>
      <p:sp>
        <p:nvSpPr>
          <p:cNvPr id="23" name="Text 20"/>
          <p:cNvSpPr/>
          <p:nvPr/>
        </p:nvSpPr>
        <p:spPr>
          <a:xfrm>
            <a:off x="777240" y="3794760"/>
            <a:ext cx="3291840" cy="365760"/>
          </a:xfrm>
          <a:prstGeom prst="rect">
            <a:avLst/>
          </a:prstGeom>
          <a:noFill/>
          <a:ln/>
        </p:spPr>
        <p:txBody>
          <a:bodyPr wrap="square" lIns="0" tIns="0" rIns="0" bIns="0" rtlCol="0" anchor="ctr"/>
          <a:lstStyle/>
          <a:p>
            <a:pPr marL="0" indent="0">
              <a:buNone/>
            </a:pPr>
            <a:r>
              <a:rPr lang="en-US" sz="1700">
                <a:solidFill>
                  <a:srgbClr val="201F1E"/>
                </a:solidFill>
                <a:latin typeface="Segoe UI Semibold" pitchFamily="34" charset="0"/>
                <a:ea typeface="Segoe UI Semibold" pitchFamily="34" charset="-122"/>
                <a:cs typeface="Segoe UI Semibold" pitchFamily="34" charset="-120"/>
              </a:rPr>
              <a:t>System node pool</a:t>
            </a:r>
            <a:endParaRPr lang="en-US" sz="1700"/>
          </a:p>
        </p:txBody>
      </p:sp>
      <p:sp>
        <p:nvSpPr>
          <p:cNvPr id="24" name="Text 21"/>
          <p:cNvSpPr/>
          <p:nvPr/>
        </p:nvSpPr>
        <p:spPr>
          <a:xfrm>
            <a:off x="777240" y="4160520"/>
            <a:ext cx="3291840" cy="274320"/>
          </a:xfrm>
          <a:prstGeom prst="rect">
            <a:avLst/>
          </a:prstGeom>
          <a:noFill/>
          <a:ln/>
        </p:spPr>
        <p:txBody>
          <a:bodyPr wrap="square" lIns="0" tIns="0" rIns="0" bIns="0" rtlCol="0" anchor="ctr"/>
          <a:lstStyle/>
          <a:p>
            <a:pPr marL="0" indent="0">
              <a:buNone/>
            </a:pPr>
            <a:r>
              <a:rPr lang="en-US" sz="1300">
                <a:solidFill>
                  <a:srgbClr val="605E5C"/>
                </a:solidFill>
                <a:latin typeface="Segoe UI" pitchFamily="34" charset="0"/>
                <a:ea typeface="Segoe UI" pitchFamily="34" charset="-122"/>
                <a:cs typeface="Segoe UI" pitchFamily="34" charset="-120"/>
              </a:rPr>
              <a:t>Runs critical add-ons</a:t>
            </a:r>
            <a:endParaRPr lang="en-US" sz="1300"/>
          </a:p>
        </p:txBody>
      </p:sp>
      <p:sp>
        <p:nvSpPr>
          <p:cNvPr id="25" name="Shape 22"/>
          <p:cNvSpPr/>
          <p:nvPr/>
        </p:nvSpPr>
        <p:spPr>
          <a:xfrm>
            <a:off x="777240" y="4553712"/>
            <a:ext cx="3200400" cy="384048"/>
          </a:xfrm>
          <a:prstGeom prst="rect">
            <a:avLst/>
          </a:prstGeom>
          <a:solidFill>
            <a:srgbClr val="FFFFFF"/>
          </a:solidFill>
          <a:ln w="15875">
            <a:solidFill>
              <a:srgbClr val="E1DFDD"/>
            </a:solidFill>
            <a:prstDash val="solid"/>
          </a:ln>
        </p:spPr>
        <p:txBody>
          <a:bodyPr/>
          <a:lstStyle/>
          <a:p>
            <a:endParaRPr lang="en-US"/>
          </a:p>
        </p:txBody>
      </p:sp>
      <p:sp>
        <p:nvSpPr>
          <p:cNvPr id="26" name="Text 23"/>
          <p:cNvSpPr/>
          <p:nvPr/>
        </p:nvSpPr>
        <p:spPr>
          <a:xfrm>
            <a:off x="850392" y="4553712"/>
            <a:ext cx="3054096" cy="384048"/>
          </a:xfrm>
          <a:prstGeom prst="rect">
            <a:avLst/>
          </a:prstGeom>
          <a:noFill/>
          <a:ln/>
        </p:spPr>
        <p:txBody>
          <a:bodyPr wrap="square" lIns="0" tIns="0" rIns="0" bIns="0" rtlCol="0" anchor="ctr"/>
          <a:lstStyle/>
          <a:p>
            <a:pPr marL="0" indent="0" algn="ctr">
              <a:buNone/>
            </a:pPr>
            <a:r>
              <a:rPr lang="en-US" sz="1300">
                <a:solidFill>
                  <a:srgbClr val="323130"/>
                </a:solidFill>
                <a:latin typeface="Consolas" pitchFamily="34" charset="0"/>
                <a:ea typeface="Consolas" pitchFamily="34" charset="-122"/>
                <a:cs typeface="Consolas" pitchFamily="34" charset="-120"/>
              </a:rPr>
              <a:t>CoreDNS</a:t>
            </a:r>
            <a:endParaRPr lang="en-US" sz="1300"/>
          </a:p>
        </p:txBody>
      </p:sp>
      <p:sp>
        <p:nvSpPr>
          <p:cNvPr id="27" name="Shape 24"/>
          <p:cNvSpPr/>
          <p:nvPr/>
        </p:nvSpPr>
        <p:spPr>
          <a:xfrm>
            <a:off x="777240" y="5029200"/>
            <a:ext cx="3200400" cy="384048"/>
          </a:xfrm>
          <a:prstGeom prst="rect">
            <a:avLst/>
          </a:prstGeom>
          <a:solidFill>
            <a:srgbClr val="FFFFFF"/>
          </a:solidFill>
          <a:ln w="15875">
            <a:solidFill>
              <a:srgbClr val="E1DFDD"/>
            </a:solidFill>
            <a:prstDash val="solid"/>
          </a:ln>
        </p:spPr>
        <p:txBody>
          <a:bodyPr/>
          <a:lstStyle/>
          <a:p>
            <a:endParaRPr lang="en-US"/>
          </a:p>
        </p:txBody>
      </p:sp>
      <p:sp>
        <p:nvSpPr>
          <p:cNvPr id="28" name="Text 25"/>
          <p:cNvSpPr/>
          <p:nvPr/>
        </p:nvSpPr>
        <p:spPr>
          <a:xfrm>
            <a:off x="850392" y="5029200"/>
            <a:ext cx="3054096" cy="384048"/>
          </a:xfrm>
          <a:prstGeom prst="rect">
            <a:avLst/>
          </a:prstGeom>
          <a:noFill/>
          <a:ln/>
        </p:spPr>
        <p:txBody>
          <a:bodyPr wrap="square" lIns="0" tIns="0" rIns="0" bIns="0" rtlCol="0" anchor="ctr"/>
          <a:lstStyle/>
          <a:p>
            <a:pPr marL="0" indent="0" algn="ctr">
              <a:buNone/>
            </a:pPr>
            <a:r>
              <a:rPr lang="en-US" sz="1300">
                <a:solidFill>
                  <a:srgbClr val="323130"/>
                </a:solidFill>
                <a:latin typeface="Consolas" pitchFamily="34" charset="0"/>
                <a:ea typeface="Consolas" pitchFamily="34" charset="-122"/>
                <a:cs typeface="Consolas" pitchFamily="34" charset="-120"/>
              </a:rPr>
              <a:t>metrics-server</a:t>
            </a:r>
            <a:endParaRPr lang="en-US" sz="1300"/>
          </a:p>
        </p:txBody>
      </p:sp>
      <p:sp>
        <p:nvSpPr>
          <p:cNvPr id="29" name="Shape 26"/>
          <p:cNvSpPr/>
          <p:nvPr/>
        </p:nvSpPr>
        <p:spPr>
          <a:xfrm>
            <a:off x="777240" y="5504688"/>
            <a:ext cx="3200400" cy="384048"/>
          </a:xfrm>
          <a:prstGeom prst="rect">
            <a:avLst/>
          </a:prstGeom>
          <a:solidFill>
            <a:srgbClr val="FFFFFF"/>
          </a:solidFill>
          <a:ln w="15875">
            <a:solidFill>
              <a:srgbClr val="E1DFDD"/>
            </a:solidFill>
            <a:prstDash val="solid"/>
          </a:ln>
        </p:spPr>
        <p:txBody>
          <a:bodyPr/>
          <a:lstStyle/>
          <a:p>
            <a:endParaRPr lang="en-US"/>
          </a:p>
        </p:txBody>
      </p:sp>
      <p:sp>
        <p:nvSpPr>
          <p:cNvPr id="30" name="Text 27"/>
          <p:cNvSpPr/>
          <p:nvPr/>
        </p:nvSpPr>
        <p:spPr>
          <a:xfrm>
            <a:off x="850392" y="5504688"/>
            <a:ext cx="3054096" cy="384048"/>
          </a:xfrm>
          <a:prstGeom prst="rect">
            <a:avLst/>
          </a:prstGeom>
          <a:noFill/>
          <a:ln/>
        </p:spPr>
        <p:txBody>
          <a:bodyPr wrap="square" lIns="0" tIns="0" rIns="0" bIns="0" rtlCol="0" anchor="ctr"/>
          <a:lstStyle/>
          <a:p>
            <a:pPr marL="0" indent="0" algn="ctr">
              <a:buNone/>
            </a:pPr>
            <a:r>
              <a:rPr lang="en-US" sz="1300">
                <a:solidFill>
                  <a:srgbClr val="323130"/>
                </a:solidFill>
                <a:latin typeface="Consolas" pitchFamily="34" charset="0"/>
                <a:ea typeface="Consolas" pitchFamily="34" charset="-122"/>
                <a:cs typeface="Consolas" pitchFamily="34" charset="-120"/>
              </a:rPr>
              <a:t>konnectivity</a:t>
            </a:r>
            <a:endParaRPr lang="en-US" sz="1300"/>
          </a:p>
        </p:txBody>
      </p:sp>
      <p:sp>
        <p:nvSpPr>
          <p:cNvPr id="31" name="Shape 28"/>
          <p:cNvSpPr/>
          <p:nvPr/>
        </p:nvSpPr>
        <p:spPr>
          <a:xfrm>
            <a:off x="4480560" y="3657600"/>
            <a:ext cx="3657600" cy="2377440"/>
          </a:xfrm>
          <a:prstGeom prst="rect">
            <a:avLst/>
          </a:prstGeom>
          <a:solidFill>
            <a:srgbClr val="DEECF9"/>
          </a:solidFill>
          <a:ln/>
        </p:spPr>
        <p:txBody>
          <a:bodyPr/>
          <a:lstStyle/>
          <a:p>
            <a:endParaRPr lang="en-US"/>
          </a:p>
        </p:txBody>
      </p:sp>
      <p:sp>
        <p:nvSpPr>
          <p:cNvPr id="32" name="Text 29"/>
          <p:cNvSpPr/>
          <p:nvPr/>
        </p:nvSpPr>
        <p:spPr>
          <a:xfrm>
            <a:off x="4709160" y="3794760"/>
            <a:ext cx="3291840" cy="365760"/>
          </a:xfrm>
          <a:prstGeom prst="rect">
            <a:avLst/>
          </a:prstGeom>
          <a:noFill/>
          <a:ln/>
        </p:spPr>
        <p:txBody>
          <a:bodyPr wrap="square" lIns="0" tIns="0" rIns="0" bIns="0" rtlCol="0" anchor="ctr"/>
          <a:lstStyle/>
          <a:p>
            <a:pPr marL="0" indent="0">
              <a:buNone/>
            </a:pPr>
            <a:r>
              <a:rPr lang="en-US" sz="1700">
                <a:solidFill>
                  <a:srgbClr val="201F1E"/>
                </a:solidFill>
                <a:latin typeface="Segoe UI Semibold" pitchFamily="34" charset="0"/>
                <a:ea typeface="Segoe UI Semibold" pitchFamily="34" charset="-122"/>
                <a:cs typeface="Segoe UI Semibold" pitchFamily="34" charset="-120"/>
              </a:rPr>
              <a:t>User node pool(s)</a:t>
            </a:r>
            <a:endParaRPr lang="en-US" sz="1700"/>
          </a:p>
        </p:txBody>
      </p:sp>
      <p:sp>
        <p:nvSpPr>
          <p:cNvPr id="33" name="Text 30"/>
          <p:cNvSpPr/>
          <p:nvPr/>
        </p:nvSpPr>
        <p:spPr>
          <a:xfrm>
            <a:off x="4709160" y="4160520"/>
            <a:ext cx="3291840" cy="274320"/>
          </a:xfrm>
          <a:prstGeom prst="rect">
            <a:avLst/>
          </a:prstGeom>
          <a:noFill/>
          <a:ln/>
        </p:spPr>
        <p:txBody>
          <a:bodyPr wrap="square" lIns="0" tIns="0" rIns="0" bIns="0" rtlCol="0" anchor="ctr"/>
          <a:lstStyle/>
          <a:p>
            <a:pPr marL="0" indent="0">
              <a:buNone/>
            </a:pPr>
            <a:r>
              <a:rPr lang="en-US" sz="1300">
                <a:solidFill>
                  <a:srgbClr val="605E5C"/>
                </a:solidFill>
                <a:latin typeface="Segoe UI" pitchFamily="34" charset="0"/>
                <a:ea typeface="Segoe UI" pitchFamily="34" charset="-122"/>
                <a:cs typeface="Segoe UI" pitchFamily="34" charset="-120"/>
              </a:rPr>
              <a:t>Runs your application workloads</a:t>
            </a:r>
            <a:endParaRPr lang="en-US" sz="1300"/>
          </a:p>
        </p:txBody>
      </p:sp>
      <p:sp>
        <p:nvSpPr>
          <p:cNvPr id="34" name="Shape 31"/>
          <p:cNvSpPr/>
          <p:nvPr/>
        </p:nvSpPr>
        <p:spPr>
          <a:xfrm>
            <a:off x="4709160" y="4617720"/>
            <a:ext cx="960120" cy="502920"/>
          </a:xfrm>
          <a:prstGeom prst="rect">
            <a:avLst/>
          </a:prstGeom>
          <a:solidFill>
            <a:srgbClr val="0078D4"/>
          </a:solidFill>
          <a:ln/>
        </p:spPr>
        <p:txBody>
          <a:bodyPr/>
          <a:lstStyle/>
          <a:p>
            <a:endParaRPr lang="en-US"/>
          </a:p>
        </p:txBody>
      </p:sp>
      <p:sp>
        <p:nvSpPr>
          <p:cNvPr id="35" name="Text 32"/>
          <p:cNvSpPr/>
          <p:nvPr/>
        </p:nvSpPr>
        <p:spPr>
          <a:xfrm>
            <a:off x="4782312" y="4617720"/>
            <a:ext cx="813816" cy="502920"/>
          </a:xfrm>
          <a:prstGeom prst="rect">
            <a:avLst/>
          </a:prstGeom>
          <a:noFill/>
          <a:ln/>
        </p:spPr>
        <p:txBody>
          <a:bodyPr wrap="square" lIns="0" tIns="0" rIns="0" bIns="0" rtlCol="0" anchor="ctr"/>
          <a:lstStyle/>
          <a:p>
            <a:pPr marL="0" indent="0" algn="ctr">
              <a:buNone/>
            </a:pPr>
            <a:r>
              <a:rPr lang="en-US" sz="1200">
                <a:solidFill>
                  <a:srgbClr val="FFFFFF"/>
                </a:solidFill>
                <a:latin typeface="Segoe UI Semibold" pitchFamily="34" charset="0"/>
                <a:ea typeface="Segoe UI Semibold" pitchFamily="34" charset="-122"/>
                <a:cs typeface="Segoe UI Semibold" pitchFamily="34" charset="-120"/>
              </a:rPr>
              <a:t>app</a:t>
            </a:r>
            <a:endParaRPr lang="en-US" sz="1200"/>
          </a:p>
        </p:txBody>
      </p:sp>
      <p:sp>
        <p:nvSpPr>
          <p:cNvPr id="36" name="Shape 33"/>
          <p:cNvSpPr/>
          <p:nvPr/>
        </p:nvSpPr>
        <p:spPr>
          <a:xfrm>
            <a:off x="5788152" y="4617720"/>
            <a:ext cx="960120" cy="502920"/>
          </a:xfrm>
          <a:prstGeom prst="rect">
            <a:avLst/>
          </a:prstGeom>
          <a:solidFill>
            <a:srgbClr val="2B88D8"/>
          </a:solidFill>
          <a:ln/>
        </p:spPr>
        <p:txBody>
          <a:bodyPr/>
          <a:lstStyle/>
          <a:p>
            <a:endParaRPr lang="en-US"/>
          </a:p>
        </p:txBody>
      </p:sp>
      <p:sp>
        <p:nvSpPr>
          <p:cNvPr id="37" name="Text 34"/>
          <p:cNvSpPr/>
          <p:nvPr/>
        </p:nvSpPr>
        <p:spPr>
          <a:xfrm>
            <a:off x="5861304" y="4617720"/>
            <a:ext cx="813816" cy="502920"/>
          </a:xfrm>
          <a:prstGeom prst="rect">
            <a:avLst/>
          </a:prstGeom>
          <a:noFill/>
          <a:ln/>
        </p:spPr>
        <p:txBody>
          <a:bodyPr wrap="square" lIns="0" tIns="0" rIns="0" bIns="0" rtlCol="0" anchor="ctr"/>
          <a:lstStyle/>
          <a:p>
            <a:pPr marL="0" indent="0" algn="ctr">
              <a:buNone/>
            </a:pPr>
            <a:r>
              <a:rPr lang="en-US" sz="1200">
                <a:solidFill>
                  <a:srgbClr val="FFFFFF"/>
                </a:solidFill>
                <a:latin typeface="Segoe UI Semibold" pitchFamily="34" charset="0"/>
                <a:ea typeface="Segoe UI Semibold" pitchFamily="34" charset="-122"/>
                <a:cs typeface="Segoe UI Semibold" pitchFamily="34" charset="-120"/>
              </a:rPr>
              <a:t>app</a:t>
            </a:r>
            <a:endParaRPr lang="en-US" sz="1200"/>
          </a:p>
        </p:txBody>
      </p:sp>
      <p:sp>
        <p:nvSpPr>
          <p:cNvPr id="38" name="Shape 35"/>
          <p:cNvSpPr/>
          <p:nvPr/>
        </p:nvSpPr>
        <p:spPr>
          <a:xfrm>
            <a:off x="6867144" y="4617720"/>
            <a:ext cx="960120" cy="502920"/>
          </a:xfrm>
          <a:prstGeom prst="rect">
            <a:avLst/>
          </a:prstGeom>
          <a:solidFill>
            <a:srgbClr val="0078D4"/>
          </a:solidFill>
          <a:ln/>
        </p:spPr>
        <p:txBody>
          <a:bodyPr/>
          <a:lstStyle/>
          <a:p>
            <a:endParaRPr lang="en-US"/>
          </a:p>
        </p:txBody>
      </p:sp>
      <p:sp>
        <p:nvSpPr>
          <p:cNvPr id="39" name="Text 36"/>
          <p:cNvSpPr/>
          <p:nvPr/>
        </p:nvSpPr>
        <p:spPr>
          <a:xfrm>
            <a:off x="6940296" y="4617720"/>
            <a:ext cx="813816" cy="502920"/>
          </a:xfrm>
          <a:prstGeom prst="rect">
            <a:avLst/>
          </a:prstGeom>
          <a:noFill/>
          <a:ln/>
        </p:spPr>
        <p:txBody>
          <a:bodyPr wrap="square" lIns="0" tIns="0" rIns="0" bIns="0" rtlCol="0" anchor="ctr"/>
          <a:lstStyle/>
          <a:p>
            <a:pPr marL="0" indent="0" algn="ctr">
              <a:buNone/>
            </a:pPr>
            <a:r>
              <a:rPr lang="en-US" sz="1200">
                <a:solidFill>
                  <a:srgbClr val="FFFFFF"/>
                </a:solidFill>
                <a:latin typeface="Segoe UI Semibold" pitchFamily="34" charset="0"/>
                <a:ea typeface="Segoe UI Semibold" pitchFamily="34" charset="-122"/>
                <a:cs typeface="Segoe UI Semibold" pitchFamily="34" charset="-120"/>
              </a:rPr>
              <a:t>app</a:t>
            </a:r>
            <a:endParaRPr lang="en-US" sz="1200"/>
          </a:p>
        </p:txBody>
      </p:sp>
      <p:sp>
        <p:nvSpPr>
          <p:cNvPr id="40" name="Shape 37"/>
          <p:cNvSpPr/>
          <p:nvPr/>
        </p:nvSpPr>
        <p:spPr>
          <a:xfrm>
            <a:off x="4709160" y="5257800"/>
            <a:ext cx="960120" cy="502920"/>
          </a:xfrm>
          <a:prstGeom prst="rect">
            <a:avLst/>
          </a:prstGeom>
          <a:solidFill>
            <a:srgbClr val="2B88D8"/>
          </a:solidFill>
          <a:ln/>
        </p:spPr>
        <p:txBody>
          <a:bodyPr/>
          <a:lstStyle/>
          <a:p>
            <a:endParaRPr lang="en-US"/>
          </a:p>
        </p:txBody>
      </p:sp>
      <p:sp>
        <p:nvSpPr>
          <p:cNvPr id="41" name="Text 38"/>
          <p:cNvSpPr/>
          <p:nvPr/>
        </p:nvSpPr>
        <p:spPr>
          <a:xfrm>
            <a:off x="4782312" y="5257800"/>
            <a:ext cx="813816" cy="502920"/>
          </a:xfrm>
          <a:prstGeom prst="rect">
            <a:avLst/>
          </a:prstGeom>
          <a:noFill/>
          <a:ln/>
        </p:spPr>
        <p:txBody>
          <a:bodyPr wrap="square" lIns="0" tIns="0" rIns="0" bIns="0" rtlCol="0" anchor="ctr"/>
          <a:lstStyle/>
          <a:p>
            <a:pPr marL="0" indent="0" algn="ctr">
              <a:buNone/>
            </a:pPr>
            <a:r>
              <a:rPr lang="en-US" sz="1200">
                <a:solidFill>
                  <a:srgbClr val="FFFFFF"/>
                </a:solidFill>
                <a:latin typeface="Segoe UI Semibold" pitchFamily="34" charset="0"/>
                <a:ea typeface="Segoe UI Semibold" pitchFamily="34" charset="-122"/>
                <a:cs typeface="Segoe UI Semibold" pitchFamily="34" charset="-120"/>
              </a:rPr>
              <a:t>app</a:t>
            </a:r>
            <a:endParaRPr lang="en-US" sz="1200"/>
          </a:p>
        </p:txBody>
      </p:sp>
      <p:sp>
        <p:nvSpPr>
          <p:cNvPr id="42" name="Shape 39"/>
          <p:cNvSpPr/>
          <p:nvPr/>
        </p:nvSpPr>
        <p:spPr>
          <a:xfrm>
            <a:off x="5788152" y="5257800"/>
            <a:ext cx="960120" cy="502920"/>
          </a:xfrm>
          <a:prstGeom prst="rect">
            <a:avLst/>
          </a:prstGeom>
          <a:solidFill>
            <a:srgbClr val="0078D4"/>
          </a:solidFill>
          <a:ln/>
        </p:spPr>
        <p:txBody>
          <a:bodyPr/>
          <a:lstStyle/>
          <a:p>
            <a:endParaRPr lang="en-US"/>
          </a:p>
        </p:txBody>
      </p:sp>
      <p:sp>
        <p:nvSpPr>
          <p:cNvPr id="43" name="Text 40"/>
          <p:cNvSpPr/>
          <p:nvPr/>
        </p:nvSpPr>
        <p:spPr>
          <a:xfrm>
            <a:off x="5861304" y="5257800"/>
            <a:ext cx="813816" cy="502920"/>
          </a:xfrm>
          <a:prstGeom prst="rect">
            <a:avLst/>
          </a:prstGeom>
          <a:noFill/>
          <a:ln/>
        </p:spPr>
        <p:txBody>
          <a:bodyPr wrap="square" lIns="0" tIns="0" rIns="0" bIns="0" rtlCol="0" anchor="ctr"/>
          <a:lstStyle/>
          <a:p>
            <a:pPr marL="0" indent="0" algn="ctr">
              <a:buNone/>
            </a:pPr>
            <a:r>
              <a:rPr lang="en-US" sz="1200">
                <a:solidFill>
                  <a:srgbClr val="FFFFFF"/>
                </a:solidFill>
                <a:latin typeface="Segoe UI Semibold" pitchFamily="34" charset="0"/>
                <a:ea typeface="Segoe UI Semibold" pitchFamily="34" charset="-122"/>
                <a:cs typeface="Segoe UI Semibold" pitchFamily="34" charset="-120"/>
              </a:rPr>
              <a:t>app</a:t>
            </a:r>
            <a:endParaRPr lang="en-US" sz="1200"/>
          </a:p>
        </p:txBody>
      </p:sp>
      <p:sp>
        <p:nvSpPr>
          <p:cNvPr id="44" name="Shape 41"/>
          <p:cNvSpPr/>
          <p:nvPr/>
        </p:nvSpPr>
        <p:spPr>
          <a:xfrm>
            <a:off x="6867144" y="5257800"/>
            <a:ext cx="960120" cy="502920"/>
          </a:xfrm>
          <a:prstGeom prst="rect">
            <a:avLst/>
          </a:prstGeom>
          <a:solidFill>
            <a:srgbClr val="2B88D8"/>
          </a:solidFill>
          <a:ln/>
        </p:spPr>
        <p:txBody>
          <a:bodyPr/>
          <a:lstStyle/>
          <a:p>
            <a:endParaRPr lang="en-US"/>
          </a:p>
        </p:txBody>
      </p:sp>
      <p:sp>
        <p:nvSpPr>
          <p:cNvPr id="45" name="Text 42"/>
          <p:cNvSpPr/>
          <p:nvPr/>
        </p:nvSpPr>
        <p:spPr>
          <a:xfrm>
            <a:off x="6940296" y="5257800"/>
            <a:ext cx="813816" cy="502920"/>
          </a:xfrm>
          <a:prstGeom prst="rect">
            <a:avLst/>
          </a:prstGeom>
          <a:noFill/>
          <a:ln/>
        </p:spPr>
        <p:txBody>
          <a:bodyPr wrap="square" lIns="0" tIns="0" rIns="0" bIns="0" rtlCol="0" anchor="ctr"/>
          <a:lstStyle/>
          <a:p>
            <a:pPr marL="0" indent="0" algn="ctr">
              <a:buNone/>
            </a:pPr>
            <a:r>
              <a:rPr lang="en-US" sz="1200">
                <a:solidFill>
                  <a:srgbClr val="FFFFFF"/>
                </a:solidFill>
                <a:latin typeface="Segoe UI Semibold" pitchFamily="34" charset="0"/>
                <a:ea typeface="Segoe UI Semibold" pitchFamily="34" charset="-122"/>
                <a:cs typeface="Segoe UI Semibold" pitchFamily="34" charset="-120"/>
              </a:rPr>
              <a:t>app</a:t>
            </a:r>
            <a:endParaRPr lang="en-US" sz="1200"/>
          </a:p>
        </p:txBody>
      </p:sp>
      <p:sp>
        <p:nvSpPr>
          <p:cNvPr id="46" name="Shape 43"/>
          <p:cNvSpPr/>
          <p:nvPr/>
        </p:nvSpPr>
        <p:spPr>
          <a:xfrm>
            <a:off x="8412480" y="1737360"/>
            <a:ext cx="3227832" cy="4297680"/>
          </a:xfrm>
          <a:prstGeom prst="rect">
            <a:avLst/>
          </a:prstGeom>
          <a:solidFill>
            <a:srgbClr val="0B1F33"/>
          </a:solidFill>
          <a:ln/>
        </p:spPr>
        <p:txBody>
          <a:bodyPr/>
          <a:lstStyle/>
          <a:p>
            <a:endParaRPr lang="en-US"/>
          </a:p>
        </p:txBody>
      </p:sp>
      <p:sp>
        <p:nvSpPr>
          <p:cNvPr id="47" name="Shape 44"/>
          <p:cNvSpPr/>
          <p:nvPr/>
        </p:nvSpPr>
        <p:spPr>
          <a:xfrm>
            <a:off x="8686800" y="2011680"/>
            <a:ext cx="594360" cy="594360"/>
          </a:xfrm>
          <a:prstGeom prst="ellipse">
            <a:avLst/>
          </a:prstGeom>
          <a:solidFill>
            <a:srgbClr val="0078D4"/>
          </a:solidFill>
          <a:ln/>
        </p:spPr>
        <p:txBody>
          <a:bodyPr/>
          <a:lstStyle/>
          <a:p>
            <a:endParaRPr lang="en-US"/>
          </a:p>
        </p:txBody>
      </p:sp>
      <p:pic>
        <p:nvPicPr>
          <p:cNvPr id="48" name="Image 1" descr="/agent/turn1/workspace/output/_anthropic_assets/icon-key-a06932cf.png"/>
          <p:cNvPicPr>
            <a:picLocks noChangeAspect="1"/>
          </p:cNvPicPr>
          <p:nvPr/>
        </p:nvPicPr>
        <p:blipFill>
          <a:blip r:embed="rId3"/>
          <a:stretch>
            <a:fillRect/>
          </a:stretch>
        </p:blipFill>
        <p:spPr>
          <a:xfrm>
            <a:off x="8817559" y="2142439"/>
            <a:ext cx="332842" cy="332842"/>
          </a:xfrm>
          <a:prstGeom prst="rect">
            <a:avLst/>
          </a:prstGeom>
        </p:spPr>
      </p:pic>
      <p:sp>
        <p:nvSpPr>
          <p:cNvPr id="49" name="Text 45"/>
          <p:cNvSpPr/>
          <p:nvPr/>
        </p:nvSpPr>
        <p:spPr>
          <a:xfrm>
            <a:off x="8686800" y="2788920"/>
            <a:ext cx="2743200" cy="411480"/>
          </a:xfrm>
          <a:prstGeom prst="rect">
            <a:avLst/>
          </a:prstGeom>
          <a:noFill/>
          <a:ln/>
        </p:spPr>
        <p:txBody>
          <a:bodyPr wrap="square" lIns="0" tIns="0" rIns="0" bIns="0" rtlCol="0" anchor="ctr"/>
          <a:lstStyle/>
          <a:p>
            <a:pPr marL="0" indent="0">
              <a:buNone/>
            </a:pPr>
            <a:r>
              <a:rPr lang="en-US" sz="1900">
                <a:solidFill>
                  <a:srgbClr val="FFFFFF"/>
                </a:solidFill>
                <a:latin typeface="Segoe UI Semibold" pitchFamily="34" charset="0"/>
                <a:ea typeface="Segoe UI Semibold" pitchFamily="34" charset="-122"/>
                <a:cs typeface="Segoe UI Semibold" pitchFamily="34" charset="-120"/>
              </a:rPr>
              <a:t>Managed identity</a:t>
            </a:r>
            <a:endParaRPr lang="en-US" sz="1900"/>
          </a:p>
        </p:txBody>
      </p:sp>
      <p:sp>
        <p:nvSpPr>
          <p:cNvPr id="50" name="Text 46"/>
          <p:cNvSpPr/>
          <p:nvPr/>
        </p:nvSpPr>
        <p:spPr>
          <a:xfrm>
            <a:off x="8686800" y="3246120"/>
            <a:ext cx="2697480" cy="1097280"/>
          </a:xfrm>
          <a:prstGeom prst="rect">
            <a:avLst/>
          </a:prstGeom>
          <a:noFill/>
          <a:ln/>
        </p:spPr>
        <p:txBody>
          <a:bodyPr wrap="square" lIns="0" tIns="0" rIns="0" bIns="0" rtlCol="0" anchor="t"/>
          <a:lstStyle/>
          <a:p>
            <a:pPr marL="0" indent="0">
              <a:buNone/>
            </a:pPr>
            <a:r>
              <a:rPr lang="en-US" sz="1400">
                <a:solidFill>
                  <a:srgbClr val="D2D0CE"/>
                </a:solidFill>
                <a:latin typeface="Segoe UI" pitchFamily="34" charset="0"/>
                <a:ea typeface="Segoe UI" pitchFamily="34" charset="-122"/>
                <a:cs typeface="Segoe UI" pitchFamily="34" charset="-120"/>
              </a:rPr>
              <a:t>The cluster’s Azure identity — no service principal secrets to rotate.</a:t>
            </a:r>
            <a:endParaRPr lang="en-US" sz="1400"/>
          </a:p>
        </p:txBody>
      </p:sp>
      <p:sp>
        <p:nvSpPr>
          <p:cNvPr id="51" name="Text 47"/>
          <p:cNvSpPr/>
          <p:nvPr/>
        </p:nvSpPr>
        <p:spPr>
          <a:xfrm>
            <a:off x="8686800" y="4434840"/>
            <a:ext cx="2697480" cy="1417320"/>
          </a:xfrm>
          <a:prstGeom prst="rect">
            <a:avLst/>
          </a:prstGeom>
          <a:noFill/>
          <a:ln/>
        </p:spPr>
        <p:txBody>
          <a:bodyPr wrap="square" lIns="0" tIns="0" rIns="0" bIns="0" rtlCol="0" anchor="t"/>
          <a:lstStyle/>
          <a:p>
            <a:pPr marL="0" indent="0">
              <a:buNone/>
            </a:pPr>
            <a:r>
              <a:rPr lang="en-US" sz="1400" i="1">
                <a:solidFill>
                  <a:srgbClr val="50E6FF"/>
                </a:solidFill>
                <a:latin typeface="Segoe UI" pitchFamily="34" charset="0"/>
                <a:ea typeface="Segoe UI" pitchFamily="34" charset="-122"/>
                <a:cs typeface="Segoe UI" pitchFamily="34" charset="-120"/>
              </a:rPr>
              <a:t>Separating system and user pools means a runaway app can’t starve the cluster’s own plumbing.</a:t>
            </a:r>
            <a:endParaRPr lang="en-US" sz="1400"/>
          </a:p>
        </p:txBody>
      </p:sp>
      <p:sp>
        <p:nvSpPr>
          <p:cNvPr id="52"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5E5C"/>
                </a:solidFill>
                <a:latin typeface="Segoe UI"/>
                <a:ea typeface="Segoe UI"/>
                <a:cs typeface="Segoe UI"/>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203269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50E6FF"/>
                </a:solidFill>
                <a:latin typeface="Segoe UI Semibold" pitchFamily="34" charset="0"/>
                <a:ea typeface="Segoe UI Semibold" pitchFamily="34" charset="-122"/>
                <a:cs typeface="Segoe UI Semibold" pitchFamily="34" charset="-120"/>
              </a:rPr>
              <a:t>PART 1 · THE TOOLBOX</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A19F9D"/>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FFFFFF"/>
                </a:solidFill>
                <a:latin typeface="Segoe UI Semibold" pitchFamily="34" charset="0"/>
                <a:ea typeface="Segoe UI Semibold" pitchFamily="34" charset="-122"/>
                <a:cs typeface="Segoe UI Semibold" pitchFamily="34" charset="-120"/>
              </a:rPr>
              <a:t>Creating an AKS Cluster with the Azure CLI</a:t>
            </a:r>
            <a:endParaRPr lang="en-US" sz="3200"/>
          </a:p>
        </p:txBody>
      </p:sp>
      <p:sp>
        <p:nvSpPr>
          <p:cNvPr id="9" name="Shape 7"/>
          <p:cNvSpPr/>
          <p:nvPr/>
        </p:nvSpPr>
        <p:spPr>
          <a:xfrm>
            <a:off x="548640" y="1737360"/>
            <a:ext cx="11064240" cy="3154680"/>
          </a:xfrm>
          <a:prstGeom prst="rect">
            <a:avLst/>
          </a:prstGeom>
          <a:solidFill>
            <a:srgbClr val="1E1E1E"/>
          </a:solidFill>
          <a:ln/>
        </p:spPr>
        <p:txBody>
          <a:bodyPr/>
          <a:lstStyle/>
          <a:p>
            <a:endParaRPr lang="en-US"/>
          </a:p>
        </p:txBody>
      </p:sp>
      <p:sp>
        <p:nvSpPr>
          <p:cNvPr id="10" name="Shape 8"/>
          <p:cNvSpPr/>
          <p:nvPr/>
        </p:nvSpPr>
        <p:spPr>
          <a:xfrm>
            <a:off x="548640" y="1737360"/>
            <a:ext cx="11064240" cy="347472"/>
          </a:xfrm>
          <a:prstGeom prst="rect">
            <a:avLst/>
          </a:prstGeom>
          <a:solidFill>
            <a:srgbClr val="2D2D30"/>
          </a:solidFill>
          <a:ln/>
        </p:spPr>
        <p:txBody>
          <a:bodyPr/>
          <a:lstStyle/>
          <a:p>
            <a:endParaRPr lang="en-US"/>
          </a:p>
        </p:txBody>
      </p:sp>
      <p:sp>
        <p:nvSpPr>
          <p:cNvPr id="11" name="Shape 9"/>
          <p:cNvSpPr/>
          <p:nvPr/>
        </p:nvSpPr>
        <p:spPr>
          <a:xfrm>
            <a:off x="548640" y="1737360"/>
            <a:ext cx="1499616" cy="347472"/>
          </a:xfrm>
          <a:prstGeom prst="rect">
            <a:avLst/>
          </a:prstGeom>
          <a:solidFill>
            <a:srgbClr val="1E1E1E"/>
          </a:solidFill>
          <a:ln/>
        </p:spPr>
        <p:txBody>
          <a:bodyPr/>
          <a:lstStyle/>
          <a:p>
            <a:endParaRPr lang="en-US"/>
          </a:p>
        </p:txBody>
      </p:sp>
      <p:sp>
        <p:nvSpPr>
          <p:cNvPr id="12" name="Text 10"/>
          <p:cNvSpPr/>
          <p:nvPr/>
        </p:nvSpPr>
        <p:spPr>
          <a:xfrm>
            <a:off x="685800" y="1737360"/>
            <a:ext cx="1316736" cy="347472"/>
          </a:xfrm>
          <a:prstGeom prst="rect">
            <a:avLst/>
          </a:prstGeom>
          <a:noFill/>
          <a:ln/>
        </p:spPr>
        <p:txBody>
          <a:bodyPr wrap="square" lIns="0" tIns="0" rIns="0" bIns="0" rtlCol="0" anchor="ctr"/>
          <a:lstStyle/>
          <a:p>
            <a:pPr marL="0" indent="0">
              <a:buNone/>
            </a:pPr>
            <a:r>
              <a:rPr lang="en-US" sz="1000">
                <a:solidFill>
                  <a:srgbClr val="CCCCCC"/>
                </a:solidFill>
                <a:latin typeface="Segoe UI" pitchFamily="34" charset="0"/>
                <a:ea typeface="Segoe UI" pitchFamily="34" charset="-122"/>
                <a:cs typeface="Segoe UI" pitchFamily="34" charset="-120"/>
              </a:rPr>
              <a:t>bash — az cli</a:t>
            </a:r>
            <a:endParaRPr lang="en-US" sz="1000"/>
          </a:p>
        </p:txBody>
      </p:sp>
      <p:sp>
        <p:nvSpPr>
          <p:cNvPr id="13" name="Text 11"/>
          <p:cNvSpPr/>
          <p:nvPr/>
        </p:nvSpPr>
        <p:spPr>
          <a:xfrm>
            <a:off x="749808" y="2212848"/>
            <a:ext cx="10698480" cy="2587752"/>
          </a:xfrm>
          <a:prstGeom prst="rect">
            <a:avLst/>
          </a:prstGeom>
          <a:noFill/>
          <a:ln/>
        </p:spPr>
        <p:txBody>
          <a:bodyPr wrap="square" lIns="0" tIns="0" rIns="0" bIns="0" rtlCol="0" anchor="t"/>
          <a:lstStyle/>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login                                  </a:t>
            </a:r>
            <a:r>
              <a:rPr lang="en-US" sz="1500">
                <a:solidFill>
                  <a:srgbClr val="6A9955"/>
                </a:solidFill>
                <a:latin typeface="Consolas" pitchFamily="34" charset="0"/>
                <a:ea typeface="Consolas" pitchFamily="34" charset="-122"/>
                <a:cs typeface="Consolas" pitchFamily="34" charset="-120"/>
              </a:rPr>
              <a:t> # sign in &amp; pick your subscription</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group create -n rg-aks-demo -l eastus2  </a:t>
            </a:r>
            <a:r>
              <a:rPr lang="en-US" sz="1500">
                <a:solidFill>
                  <a:srgbClr val="6A9955"/>
                </a:solidFill>
                <a:latin typeface="Consolas" pitchFamily="34" charset="0"/>
                <a:ea typeface="Consolas" pitchFamily="34" charset="-122"/>
                <a:cs typeface="Consolas" pitchFamily="34" charset="-120"/>
              </a:rPr>
              <a:t> # resource group to hold the cluster</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aks create -g rg-aks-demo -n aks-demo \</a:t>
            </a:r>
            <a:endParaRPr lang="en-US" sz="1500"/>
          </a:p>
          <a:p>
            <a:pPr marL="0" indent="0">
              <a:lnSpc>
                <a:spcPct val="105000"/>
              </a:lnSpc>
              <a:buNone/>
            </a:pPr>
            <a:r>
              <a:rPr lang="en-US" sz="1500">
                <a:solidFill>
                  <a:srgbClr val="D4D4D4"/>
                </a:solidFill>
                <a:latin typeface="Consolas" pitchFamily="34" charset="0"/>
                <a:ea typeface="Consolas" pitchFamily="34" charset="-122"/>
                <a:cs typeface="Consolas" pitchFamily="34" charset="-120"/>
              </a:rPr>
              <a:t>    --node-count 3 --node-vm-size Standard_D4ds_v5 \</a:t>
            </a:r>
            <a:endParaRPr lang="en-US" sz="1500"/>
          </a:p>
          <a:p>
            <a:pPr marL="0" indent="0">
              <a:lnSpc>
                <a:spcPct val="105000"/>
              </a:lnSpc>
              <a:buNone/>
            </a:pPr>
            <a:r>
              <a:rPr lang="en-US" sz="1500">
                <a:solidFill>
                  <a:srgbClr val="D4D4D4"/>
                </a:solidFill>
                <a:latin typeface="Consolas" pitchFamily="34" charset="0"/>
                <a:ea typeface="Consolas" pitchFamily="34" charset="-122"/>
                <a:cs typeface="Consolas" pitchFamily="34" charset="-120"/>
              </a:rPr>
              <a:t>    --network-plugin azure --network-plugin-mode overlay \</a:t>
            </a:r>
            <a:endParaRPr lang="en-US" sz="1500"/>
          </a:p>
          <a:p>
            <a:pPr marL="0" indent="0">
              <a:lnSpc>
                <a:spcPct val="105000"/>
              </a:lnSpc>
              <a:buNone/>
            </a:pPr>
            <a:r>
              <a:rPr lang="en-US" sz="1500">
                <a:solidFill>
                  <a:srgbClr val="D4D4D4"/>
                </a:solidFill>
                <a:latin typeface="Consolas" pitchFamily="34" charset="0"/>
                <a:ea typeface="Consolas" pitchFamily="34" charset="-122"/>
                <a:cs typeface="Consolas" pitchFamily="34" charset="-120"/>
              </a:rPr>
              <a:t>    --generate-ssh-keys \</a:t>
            </a:r>
            <a:endParaRPr lang="en-US" sz="1500"/>
          </a:p>
          <a:p>
            <a:pPr marL="0" indent="0">
              <a:lnSpc>
                <a:spcPct val="105000"/>
              </a:lnSpc>
              <a:buNone/>
            </a:pPr>
            <a:r>
              <a:rPr lang="en-US" sz="1500">
                <a:solidFill>
                  <a:srgbClr val="D4D4D4"/>
                </a:solidFill>
                <a:latin typeface="Consolas" pitchFamily="34" charset="0"/>
                <a:ea typeface="Consolas" pitchFamily="34" charset="-122"/>
                <a:cs typeface="Consolas" pitchFamily="34" charset="-120"/>
              </a:rPr>
              <a:t>    --attach-acr &lt;acrName&gt;               </a:t>
            </a:r>
            <a:r>
              <a:rPr lang="en-US" sz="1500">
                <a:solidFill>
                  <a:srgbClr val="6A9955"/>
                </a:solidFill>
                <a:latin typeface="Consolas" pitchFamily="34" charset="0"/>
                <a:ea typeface="Consolas" pitchFamily="34" charset="-122"/>
                <a:cs typeface="Consolas" pitchFamily="34" charset="-120"/>
              </a:rPr>
              <a:t> # optional: AcrPull for image pulls</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aks get-credentials -g rg-aks-demo -n aks-demo </a:t>
            </a:r>
            <a:r>
              <a:rPr lang="en-US" sz="1500">
                <a:solidFill>
                  <a:srgbClr val="6A9955"/>
                </a:solidFill>
                <a:latin typeface="Consolas" pitchFamily="34" charset="0"/>
                <a:ea typeface="Consolas" pitchFamily="34" charset="-122"/>
                <a:cs typeface="Consolas" pitchFamily="34" charset="-120"/>
              </a:rPr>
              <a:t> # merge into kubeconfig</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kubectl</a:t>
            </a:r>
            <a:r>
              <a:rPr lang="en-US" sz="1500">
                <a:solidFill>
                  <a:srgbClr val="D4D4D4"/>
                </a:solidFill>
                <a:latin typeface="Consolas" pitchFamily="34" charset="0"/>
                <a:ea typeface="Consolas" pitchFamily="34" charset="-122"/>
                <a:cs typeface="Consolas" pitchFamily="34" charset="-120"/>
              </a:rPr>
              <a:t> get nodes                         </a:t>
            </a:r>
            <a:r>
              <a:rPr lang="en-US" sz="1500">
                <a:solidFill>
                  <a:srgbClr val="6A9955"/>
                </a:solidFill>
                <a:latin typeface="Consolas" pitchFamily="34" charset="0"/>
                <a:ea typeface="Consolas" pitchFamily="34" charset="-122"/>
                <a:cs typeface="Consolas" pitchFamily="34" charset="-120"/>
              </a:rPr>
              <a:t> # verify nodes are Ready</a:t>
            </a:r>
            <a:endParaRPr lang="en-US" sz="1500"/>
          </a:p>
        </p:txBody>
      </p:sp>
      <p:sp>
        <p:nvSpPr>
          <p:cNvPr id="14" name="Shape 12"/>
          <p:cNvSpPr/>
          <p:nvPr/>
        </p:nvSpPr>
        <p:spPr>
          <a:xfrm>
            <a:off x="548640" y="5166360"/>
            <a:ext cx="11064240" cy="868680"/>
          </a:xfrm>
          <a:prstGeom prst="rect">
            <a:avLst/>
          </a:prstGeom>
          <a:solidFill>
            <a:srgbClr val="0078D4"/>
          </a:solidFill>
          <a:ln/>
        </p:spPr>
        <p:txBody>
          <a:bodyPr/>
          <a:lstStyle/>
          <a:p>
            <a:endParaRPr lang="en-US"/>
          </a:p>
        </p:txBody>
      </p:sp>
      <p:sp>
        <p:nvSpPr>
          <p:cNvPr id="15" name="Shape 13"/>
          <p:cNvSpPr/>
          <p:nvPr/>
        </p:nvSpPr>
        <p:spPr>
          <a:xfrm>
            <a:off x="777240" y="5372100"/>
            <a:ext cx="457200" cy="457200"/>
          </a:xfrm>
          <a:prstGeom prst="ellipse">
            <a:avLst/>
          </a:prstGeom>
          <a:solidFill>
            <a:srgbClr val="201F1E"/>
          </a:solidFill>
          <a:ln/>
        </p:spPr>
        <p:txBody>
          <a:bodyPr/>
          <a:lstStyle/>
          <a:p>
            <a:endParaRPr lang="en-US"/>
          </a:p>
        </p:txBody>
      </p:sp>
      <p:sp>
        <p:nvSpPr>
          <p:cNvPr id="17" name="Text 14"/>
          <p:cNvSpPr/>
          <p:nvPr/>
        </p:nvSpPr>
        <p:spPr>
          <a:xfrm>
            <a:off x="1417320" y="5166360"/>
            <a:ext cx="9966960" cy="868680"/>
          </a:xfrm>
          <a:prstGeom prst="rect">
            <a:avLst/>
          </a:prstGeom>
          <a:noFill/>
          <a:ln/>
        </p:spPr>
        <p:txBody>
          <a:bodyPr wrap="square" lIns="0" tIns="0" rIns="0" bIns="0" rtlCol="0" anchor="ctr"/>
          <a:lstStyle/>
          <a:p>
            <a:pPr marL="0" indent="0">
              <a:buNone/>
            </a:pPr>
            <a:r>
              <a:rPr lang="en-US" sz="2000">
                <a:solidFill>
                  <a:srgbClr val="FFFFFF"/>
                </a:solidFill>
                <a:latin typeface="Consolas" pitchFamily="34" charset="0"/>
                <a:ea typeface="Consolas" pitchFamily="34" charset="-122"/>
                <a:cs typeface="Consolas" pitchFamily="34" charset="-120"/>
              </a:rPr>
              <a:t>az aks create</a:t>
            </a:r>
            <a:r>
              <a:rPr lang="en-US" sz="2000">
                <a:solidFill>
                  <a:srgbClr val="FFFFFF"/>
                </a:solidFill>
                <a:latin typeface="Segoe UI" pitchFamily="34" charset="0"/>
                <a:ea typeface="Segoe UI" pitchFamily="34" charset="-122"/>
                <a:cs typeface="Segoe UI" pitchFamily="34" charset="-120"/>
              </a:rPr>
              <a:t> takes ~5–10 min — then </a:t>
            </a:r>
            <a:r>
              <a:rPr lang="en-US" sz="2000">
                <a:solidFill>
                  <a:srgbClr val="FFFFFF"/>
                </a:solidFill>
                <a:latin typeface="Consolas" pitchFamily="34" charset="0"/>
                <a:ea typeface="Consolas" pitchFamily="34" charset="-122"/>
                <a:cs typeface="Consolas" pitchFamily="34" charset="-120"/>
              </a:rPr>
              <a:t>get-credentials</a:t>
            </a:r>
            <a:r>
              <a:rPr lang="en-US" sz="2000">
                <a:solidFill>
                  <a:srgbClr val="FFFFFF"/>
                </a:solidFill>
                <a:latin typeface="Segoe UI" pitchFamily="34" charset="0"/>
                <a:ea typeface="Segoe UI" pitchFamily="34" charset="-122"/>
                <a:cs typeface="Segoe UI" pitchFamily="34" charset="-120"/>
              </a:rPr>
              <a:t> and kubectl is ready to go.</a:t>
            </a:r>
            <a:endParaRPr lang="en-US" sz="200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19F9D"/>
                </a:solidFill>
                <a:latin typeface="Segoe UI"/>
                <a:ea typeface="Segoe UI"/>
                <a:cs typeface="Segoe UI"/>
              </a:defRPr>
            </a:lvl1pPr>
          </a:lstStyle>
          <a:p>
            <a:pPr algn="r"/>
            <a:fld id="{F7021451-1387-4CA6-816F-3879F97B5CBC}" type="slidenum">
              <a:rPr lang="en-US" b="0"/>
              <a:t>9</a:t>
            </a:fld>
            <a:endParaRPr lang="en-US"/>
          </a:p>
        </p:txBody>
      </p:sp>
      <p:pic>
        <p:nvPicPr>
          <p:cNvPr id="26" name="Picture 25" descr="icon-window-console-6611bc03.png"/>
          <p:cNvPicPr>
            <a:picLocks noChangeAspect="1"/>
          </p:cNvPicPr>
          <p:nvPr/>
        </p:nvPicPr>
        <p:blipFill>
          <a:blip r:embed="rId2"/>
          <a:stretch>
            <a:fillRect/>
          </a:stretch>
        </p:blipFill>
        <p:spPr>
          <a:xfrm>
            <a:off x="877824" y="5472684"/>
            <a:ext cx="256032" cy="256032"/>
          </a:xfrm>
          <a:prstGeom prst="rect">
            <a:avLst/>
          </a:prstGeom>
        </p:spPr>
      </p:pic>
    </p:spTree>
    <p:extLst>
      <p:ext uri="{BB962C8B-B14F-4D97-AF65-F5344CB8AC3E}">
        <p14:creationId xmlns:p14="http://schemas.microsoft.com/office/powerpoint/2010/main" val="721480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0078D4"/>
                </a:solidFill>
                <a:latin typeface="Segoe UI Semibold" pitchFamily="34" charset="0"/>
                <a:ea typeface="Segoe UI Semibold" pitchFamily="34" charset="-122"/>
                <a:cs typeface="Segoe UI Semibold" pitchFamily="34" charset="-120"/>
              </a:rPr>
              <a:t>PART 1 · THE TOOLBOX</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605E5C"/>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201F1E"/>
                </a:solidFill>
                <a:latin typeface="Segoe UI Semibold" pitchFamily="34" charset="0"/>
                <a:ea typeface="Segoe UI Semibold" pitchFamily="34" charset="-122"/>
                <a:cs typeface="Segoe UI Semibold" pitchFamily="34" charset="-120"/>
              </a:rPr>
              <a:t>Container Registries &amp; Pull Access</a:t>
            </a:r>
            <a:endParaRPr lang="en-US" sz="3200"/>
          </a:p>
        </p:txBody>
      </p:sp>
      <p:sp>
        <p:nvSpPr>
          <p:cNvPr id="9" name="Shape 7"/>
          <p:cNvSpPr/>
          <p:nvPr/>
        </p:nvSpPr>
        <p:spPr>
          <a:xfrm>
            <a:off x="548640" y="1828800"/>
            <a:ext cx="2651760" cy="914400"/>
          </a:xfrm>
          <a:prstGeom prst="rect">
            <a:avLst/>
          </a:prstGeom>
          <a:solidFill>
            <a:srgbClr val="F3F2F1"/>
          </a:solidFill>
          <a:ln/>
        </p:spPr>
        <p:txBody>
          <a:bodyPr/>
          <a:lstStyle/>
          <a:p>
            <a:endParaRPr lang="en-US"/>
          </a:p>
        </p:txBody>
      </p:sp>
      <p:sp>
        <p:nvSpPr>
          <p:cNvPr id="10" name="Text 8"/>
          <p:cNvSpPr/>
          <p:nvPr/>
        </p:nvSpPr>
        <p:spPr>
          <a:xfrm>
            <a:off x="621792" y="1828800"/>
            <a:ext cx="2505456" cy="914400"/>
          </a:xfrm>
          <a:prstGeom prst="rect">
            <a:avLst/>
          </a:prstGeom>
          <a:noFill/>
          <a:ln/>
        </p:spPr>
        <p:txBody>
          <a:bodyPr wrap="square" lIns="0" tIns="0" rIns="0" bIns="0" rtlCol="0" anchor="ctr"/>
          <a:lstStyle/>
          <a:p>
            <a:pPr marL="0" indent="0" algn="ctr">
              <a:buNone/>
            </a:pPr>
            <a:r>
              <a:rPr lang="en-US" sz="1600">
                <a:solidFill>
                  <a:srgbClr val="201F1E"/>
                </a:solidFill>
                <a:latin typeface="Segoe UI Semibold" pitchFamily="34" charset="0"/>
                <a:ea typeface="Segoe UI Semibold" pitchFamily="34" charset="-122"/>
                <a:cs typeface="Segoe UI Semibold" pitchFamily="34" charset="-120"/>
              </a:rPr>
              <a:t>Public registry</a:t>
            </a:r>
            <a:endParaRPr lang="en-US" sz="1600"/>
          </a:p>
        </p:txBody>
      </p:sp>
      <p:sp>
        <p:nvSpPr>
          <p:cNvPr id="11" name="Shape 9"/>
          <p:cNvSpPr/>
          <p:nvPr/>
        </p:nvSpPr>
        <p:spPr>
          <a:xfrm>
            <a:off x="3246120" y="2286000"/>
            <a:ext cx="1005840" cy="0"/>
          </a:xfrm>
          <a:prstGeom prst="line">
            <a:avLst/>
          </a:prstGeom>
          <a:noFill/>
          <a:ln w="25400">
            <a:solidFill>
              <a:srgbClr val="605E5C"/>
            </a:solidFill>
            <a:prstDash val="solid"/>
            <a:tailEnd type="triangle"/>
          </a:ln>
        </p:spPr>
        <p:txBody>
          <a:bodyPr/>
          <a:lstStyle/>
          <a:p>
            <a:endParaRPr lang="en-US"/>
          </a:p>
        </p:txBody>
      </p:sp>
      <p:sp>
        <p:nvSpPr>
          <p:cNvPr id="12" name="Text 10"/>
          <p:cNvSpPr/>
          <p:nvPr/>
        </p:nvSpPr>
        <p:spPr>
          <a:xfrm>
            <a:off x="3154680" y="1901952"/>
            <a:ext cx="1188720" cy="292608"/>
          </a:xfrm>
          <a:prstGeom prst="rect">
            <a:avLst/>
          </a:prstGeom>
          <a:noFill/>
          <a:ln/>
        </p:spPr>
        <p:txBody>
          <a:bodyPr wrap="square" lIns="0" tIns="0" rIns="0" bIns="0" rtlCol="0" anchor="ctr"/>
          <a:lstStyle/>
          <a:p>
            <a:pPr marL="0" indent="0" algn="ctr">
              <a:buNone/>
            </a:pPr>
            <a:r>
              <a:rPr lang="en-US" sz="1050">
                <a:solidFill>
                  <a:srgbClr val="0F6CBD"/>
                </a:solidFill>
                <a:latin typeface="Consolas" pitchFamily="34" charset="0"/>
                <a:ea typeface="Consolas" pitchFamily="34" charset="-122"/>
                <a:cs typeface="Consolas" pitchFamily="34" charset="-120"/>
              </a:rPr>
              <a:t>az acr import</a:t>
            </a:r>
            <a:endParaRPr lang="en-US" sz="1200"/>
          </a:p>
        </p:txBody>
      </p:sp>
      <p:sp>
        <p:nvSpPr>
          <p:cNvPr id="13" name="Shape 11"/>
          <p:cNvSpPr/>
          <p:nvPr/>
        </p:nvSpPr>
        <p:spPr>
          <a:xfrm>
            <a:off x="4297680" y="1828800"/>
            <a:ext cx="3291840" cy="914400"/>
          </a:xfrm>
          <a:prstGeom prst="rect">
            <a:avLst/>
          </a:prstGeom>
          <a:solidFill>
            <a:srgbClr val="0078D4"/>
          </a:solidFill>
          <a:ln/>
        </p:spPr>
        <p:txBody>
          <a:bodyPr/>
          <a:lstStyle/>
          <a:p>
            <a:endParaRPr lang="en-US"/>
          </a:p>
        </p:txBody>
      </p:sp>
      <p:sp>
        <p:nvSpPr>
          <p:cNvPr id="14" name="Text 12"/>
          <p:cNvSpPr/>
          <p:nvPr/>
        </p:nvSpPr>
        <p:spPr>
          <a:xfrm>
            <a:off x="4370832" y="1828800"/>
            <a:ext cx="3145536" cy="914400"/>
          </a:xfrm>
          <a:prstGeom prst="rect">
            <a:avLst/>
          </a:prstGeom>
          <a:noFill/>
          <a:ln/>
        </p:spPr>
        <p:txBody>
          <a:bodyPr wrap="square" lIns="0" tIns="0" rIns="0" bIns="0" rtlCol="0" anchor="ctr"/>
          <a:lstStyle/>
          <a:p>
            <a:pPr marL="0" indent="0" algn="ctr">
              <a:buNone/>
            </a:pPr>
            <a:r>
              <a:rPr lang="en-US" sz="1600">
                <a:solidFill>
                  <a:srgbClr val="FFFFFF"/>
                </a:solidFill>
                <a:latin typeface="Segoe UI Semibold" pitchFamily="34" charset="0"/>
                <a:ea typeface="Segoe UI Semibold" pitchFamily="34" charset="-122"/>
                <a:cs typeface="Segoe UI Semibold" pitchFamily="34" charset="-120"/>
              </a:rPr>
              <a:t>Azure Container Registry</a:t>
            </a:r>
            <a:endParaRPr lang="en-US" sz="1600"/>
          </a:p>
        </p:txBody>
      </p:sp>
      <p:sp>
        <p:nvSpPr>
          <p:cNvPr id="15" name="Shape 13"/>
          <p:cNvSpPr/>
          <p:nvPr/>
        </p:nvSpPr>
        <p:spPr>
          <a:xfrm>
            <a:off x="7635240" y="2286000"/>
            <a:ext cx="1005840" cy="0"/>
          </a:xfrm>
          <a:prstGeom prst="line">
            <a:avLst/>
          </a:prstGeom>
          <a:noFill/>
          <a:ln w="25400">
            <a:solidFill>
              <a:srgbClr val="605E5C"/>
            </a:solidFill>
            <a:prstDash val="solid"/>
            <a:tailEnd type="triangle"/>
          </a:ln>
        </p:spPr>
        <p:txBody>
          <a:bodyPr/>
          <a:lstStyle/>
          <a:p>
            <a:endParaRPr lang="en-US"/>
          </a:p>
        </p:txBody>
      </p:sp>
      <p:sp>
        <p:nvSpPr>
          <p:cNvPr id="16" name="Text 14"/>
          <p:cNvSpPr/>
          <p:nvPr/>
        </p:nvSpPr>
        <p:spPr>
          <a:xfrm>
            <a:off x="7498080" y="1874520"/>
            <a:ext cx="1280160" cy="320040"/>
          </a:xfrm>
          <a:prstGeom prst="rect">
            <a:avLst/>
          </a:prstGeom>
          <a:noFill/>
          <a:ln/>
        </p:spPr>
        <p:txBody>
          <a:bodyPr wrap="square" lIns="0" tIns="0" rIns="0" bIns="0" rtlCol="0" anchor="ctr"/>
          <a:lstStyle/>
          <a:p>
            <a:pPr marL="0" indent="0" algn="ctr">
              <a:buNone/>
            </a:pPr>
            <a:r>
              <a:rPr lang="en-US" sz="1200">
                <a:solidFill>
                  <a:srgbClr val="0F6CBD"/>
                </a:solidFill>
                <a:latin typeface="Consolas" pitchFamily="34" charset="0"/>
                <a:ea typeface="Consolas" pitchFamily="34" charset="-122"/>
                <a:cs typeface="Consolas" pitchFamily="34" charset="-120"/>
              </a:rPr>
              <a:t>AcrPull</a:t>
            </a:r>
            <a:endParaRPr lang="en-US" sz="1200"/>
          </a:p>
        </p:txBody>
      </p:sp>
      <p:sp>
        <p:nvSpPr>
          <p:cNvPr id="17" name="Shape 15"/>
          <p:cNvSpPr/>
          <p:nvPr/>
        </p:nvSpPr>
        <p:spPr>
          <a:xfrm>
            <a:off x="8686800" y="1828800"/>
            <a:ext cx="2953512" cy="914400"/>
          </a:xfrm>
          <a:prstGeom prst="rect">
            <a:avLst/>
          </a:prstGeom>
          <a:solidFill>
            <a:srgbClr val="0B1F33"/>
          </a:solidFill>
          <a:ln/>
        </p:spPr>
        <p:txBody>
          <a:bodyPr/>
          <a:lstStyle/>
          <a:p>
            <a:endParaRPr lang="en-US"/>
          </a:p>
        </p:txBody>
      </p:sp>
      <p:sp>
        <p:nvSpPr>
          <p:cNvPr id="18" name="Text 16"/>
          <p:cNvSpPr/>
          <p:nvPr/>
        </p:nvSpPr>
        <p:spPr>
          <a:xfrm>
            <a:off x="8759952" y="1828800"/>
            <a:ext cx="2807208" cy="914400"/>
          </a:xfrm>
          <a:prstGeom prst="rect">
            <a:avLst/>
          </a:prstGeom>
          <a:noFill/>
          <a:ln/>
        </p:spPr>
        <p:txBody>
          <a:bodyPr wrap="square" lIns="0" tIns="0" rIns="0" bIns="0" rtlCol="0" anchor="ctr"/>
          <a:lstStyle/>
          <a:p>
            <a:pPr marL="0" indent="0" algn="ctr">
              <a:buNone/>
            </a:pPr>
            <a:r>
              <a:rPr lang="en-US" sz="1600">
                <a:solidFill>
                  <a:srgbClr val="FFFFFF"/>
                </a:solidFill>
                <a:latin typeface="Segoe UI Semibold" pitchFamily="34" charset="0"/>
                <a:ea typeface="Segoe UI Semibold" pitchFamily="34" charset="-122"/>
                <a:cs typeface="Segoe UI Semibold" pitchFamily="34" charset="-120"/>
              </a:rPr>
              <a:t>AKS kubelet identity</a:t>
            </a:r>
            <a:endParaRPr lang="en-US" sz="1600"/>
          </a:p>
        </p:txBody>
      </p:sp>
      <p:sp>
        <p:nvSpPr>
          <p:cNvPr id="19" name="Shape 17"/>
          <p:cNvSpPr/>
          <p:nvPr/>
        </p:nvSpPr>
        <p:spPr>
          <a:xfrm>
            <a:off x="548640" y="3063240"/>
            <a:ext cx="3514344" cy="2377440"/>
          </a:xfrm>
          <a:prstGeom prst="rect">
            <a:avLst/>
          </a:prstGeom>
          <a:solidFill>
            <a:srgbClr val="F3F2F1"/>
          </a:solidFill>
          <a:ln/>
        </p:spPr>
        <p:txBody>
          <a:bodyPr/>
          <a:lstStyle/>
          <a:p>
            <a:endParaRPr lang="en-US"/>
          </a:p>
        </p:txBody>
      </p:sp>
      <p:sp>
        <p:nvSpPr>
          <p:cNvPr id="20" name="Shape 18"/>
          <p:cNvSpPr/>
          <p:nvPr/>
        </p:nvSpPr>
        <p:spPr>
          <a:xfrm>
            <a:off x="777240" y="3291840"/>
            <a:ext cx="548640" cy="548640"/>
          </a:xfrm>
          <a:prstGeom prst="ellipse">
            <a:avLst/>
          </a:prstGeom>
          <a:solidFill>
            <a:srgbClr val="0078D4"/>
          </a:solidFill>
          <a:ln/>
        </p:spPr>
        <p:txBody>
          <a:bodyPr/>
          <a:lstStyle/>
          <a:p>
            <a:endParaRPr lang="en-US"/>
          </a:p>
        </p:txBody>
      </p:sp>
      <p:pic>
        <p:nvPicPr>
          <p:cNvPr id="21" name="Image 0" descr="/agent/turn1/workspace/output/_anthropic_assets/icon-server-e00bce85.png"/>
          <p:cNvPicPr>
            <a:picLocks noChangeAspect="1"/>
          </p:cNvPicPr>
          <p:nvPr/>
        </p:nvPicPr>
        <p:blipFill>
          <a:blip r:embed="rId2"/>
          <a:stretch>
            <a:fillRect/>
          </a:stretch>
        </p:blipFill>
        <p:spPr>
          <a:xfrm>
            <a:off x="897941" y="3412541"/>
            <a:ext cx="307238" cy="307238"/>
          </a:xfrm>
          <a:prstGeom prst="rect">
            <a:avLst/>
          </a:prstGeom>
        </p:spPr>
      </p:pic>
      <p:sp>
        <p:nvSpPr>
          <p:cNvPr id="22" name="Text 19"/>
          <p:cNvSpPr/>
          <p:nvPr/>
        </p:nvSpPr>
        <p:spPr>
          <a:xfrm>
            <a:off x="777240" y="3977640"/>
            <a:ext cx="3057144" cy="411480"/>
          </a:xfrm>
          <a:prstGeom prst="rect">
            <a:avLst/>
          </a:prstGeom>
          <a:noFill/>
          <a:ln/>
        </p:spPr>
        <p:txBody>
          <a:bodyPr wrap="square" lIns="0" tIns="0" rIns="0" bIns="0" rtlCol="0" anchor="t"/>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Private &amp; regional</a:t>
            </a:r>
            <a:endParaRPr lang="en-US" sz="1800"/>
          </a:p>
        </p:txBody>
      </p:sp>
      <p:sp>
        <p:nvSpPr>
          <p:cNvPr id="23" name="Text 20"/>
          <p:cNvSpPr/>
          <p:nvPr/>
        </p:nvSpPr>
        <p:spPr>
          <a:xfrm>
            <a:off x="777240" y="4434840"/>
            <a:ext cx="3057144" cy="868680"/>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ACR is a private, regional registry close to your cluster.</a:t>
            </a:r>
            <a:endParaRPr lang="en-US" sz="1400"/>
          </a:p>
        </p:txBody>
      </p:sp>
      <p:sp>
        <p:nvSpPr>
          <p:cNvPr id="24" name="Shape 21"/>
          <p:cNvSpPr/>
          <p:nvPr/>
        </p:nvSpPr>
        <p:spPr>
          <a:xfrm>
            <a:off x="4337304" y="3063240"/>
            <a:ext cx="3514344" cy="2377440"/>
          </a:xfrm>
          <a:prstGeom prst="rect">
            <a:avLst/>
          </a:prstGeom>
          <a:solidFill>
            <a:srgbClr val="F3F2F1"/>
          </a:solidFill>
          <a:ln/>
        </p:spPr>
        <p:txBody>
          <a:bodyPr/>
          <a:lstStyle/>
          <a:p>
            <a:endParaRPr lang="en-US"/>
          </a:p>
        </p:txBody>
      </p:sp>
      <p:sp>
        <p:nvSpPr>
          <p:cNvPr id="25" name="Shape 22"/>
          <p:cNvSpPr/>
          <p:nvPr/>
        </p:nvSpPr>
        <p:spPr>
          <a:xfrm>
            <a:off x="4565904" y="3291840"/>
            <a:ext cx="548640" cy="548640"/>
          </a:xfrm>
          <a:prstGeom prst="ellipse">
            <a:avLst/>
          </a:prstGeom>
          <a:solidFill>
            <a:srgbClr val="0078D4"/>
          </a:solidFill>
          <a:ln/>
        </p:spPr>
        <p:txBody>
          <a:bodyPr/>
          <a:lstStyle/>
          <a:p>
            <a:endParaRPr lang="en-US"/>
          </a:p>
        </p:txBody>
      </p:sp>
      <p:pic>
        <p:nvPicPr>
          <p:cNvPr id="26" name="Image 1" descr="/agent/turn1/workspace/output/_anthropic_assets/icon-key-a06932cf.png"/>
          <p:cNvPicPr>
            <a:picLocks noChangeAspect="1"/>
          </p:cNvPicPr>
          <p:nvPr/>
        </p:nvPicPr>
        <p:blipFill>
          <a:blip r:embed="rId3"/>
          <a:stretch>
            <a:fillRect/>
          </a:stretch>
        </p:blipFill>
        <p:spPr>
          <a:xfrm>
            <a:off x="4686605" y="3412541"/>
            <a:ext cx="307238" cy="307238"/>
          </a:xfrm>
          <a:prstGeom prst="rect">
            <a:avLst/>
          </a:prstGeom>
        </p:spPr>
      </p:pic>
      <p:sp>
        <p:nvSpPr>
          <p:cNvPr id="27" name="Text 23"/>
          <p:cNvSpPr/>
          <p:nvPr/>
        </p:nvSpPr>
        <p:spPr>
          <a:xfrm>
            <a:off x="4565904" y="3977640"/>
            <a:ext cx="3057144" cy="411480"/>
          </a:xfrm>
          <a:prstGeom prst="rect">
            <a:avLst/>
          </a:prstGeom>
          <a:noFill/>
          <a:ln/>
        </p:spPr>
        <p:txBody>
          <a:bodyPr wrap="square" lIns="0" tIns="0" rIns="0" bIns="0" rtlCol="0" anchor="t"/>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Attach ACR to AKS</a:t>
            </a:r>
            <a:endParaRPr lang="en-US" sz="1800"/>
          </a:p>
        </p:txBody>
      </p:sp>
      <p:sp>
        <p:nvSpPr>
          <p:cNvPr id="28" name="Text 24"/>
          <p:cNvSpPr/>
          <p:nvPr/>
        </p:nvSpPr>
        <p:spPr>
          <a:xfrm>
            <a:off x="4565904" y="4434840"/>
            <a:ext cx="3057144" cy="868680"/>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Grants the kubelet identity the </a:t>
            </a:r>
            <a:r>
              <a:rPr lang="en-US" sz="1400">
                <a:solidFill>
                  <a:srgbClr val="0F6CBD"/>
                </a:solidFill>
                <a:latin typeface="Consolas" pitchFamily="34" charset="0"/>
                <a:ea typeface="Consolas" pitchFamily="34" charset="-122"/>
                <a:cs typeface="Consolas" pitchFamily="34" charset="-120"/>
              </a:rPr>
              <a:t>AcrPull</a:t>
            </a:r>
            <a:r>
              <a:rPr lang="en-US" sz="1400">
                <a:solidFill>
                  <a:srgbClr val="323130"/>
                </a:solidFill>
                <a:latin typeface="Segoe UI" pitchFamily="34" charset="0"/>
                <a:ea typeface="Segoe UI" pitchFamily="34" charset="-122"/>
                <a:cs typeface="Segoe UI" pitchFamily="34" charset="-120"/>
              </a:rPr>
              <a:t> role — no </a:t>
            </a:r>
            <a:r>
              <a:rPr lang="en-US" sz="1400">
                <a:solidFill>
                  <a:srgbClr val="0F6CBD"/>
                </a:solidFill>
                <a:latin typeface="Consolas" pitchFamily="34" charset="0"/>
                <a:ea typeface="Consolas" pitchFamily="34" charset="-122"/>
                <a:cs typeface="Consolas" pitchFamily="34" charset="-120"/>
              </a:rPr>
              <a:t>imagePullSecrets</a:t>
            </a:r>
            <a:r>
              <a:rPr lang="en-US" sz="1400">
                <a:solidFill>
                  <a:srgbClr val="323130"/>
                </a:solidFill>
                <a:latin typeface="Segoe UI" pitchFamily="34" charset="0"/>
                <a:ea typeface="Segoe UI" pitchFamily="34" charset="-122"/>
                <a:cs typeface="Segoe UI" pitchFamily="34" charset="-120"/>
              </a:rPr>
              <a:t> needed in your manifests.</a:t>
            </a:r>
            <a:endParaRPr lang="en-US" sz="1400"/>
          </a:p>
        </p:txBody>
      </p:sp>
      <p:sp>
        <p:nvSpPr>
          <p:cNvPr id="29" name="Shape 25"/>
          <p:cNvSpPr/>
          <p:nvPr/>
        </p:nvSpPr>
        <p:spPr>
          <a:xfrm>
            <a:off x="8125968" y="3063240"/>
            <a:ext cx="3514344" cy="2377440"/>
          </a:xfrm>
          <a:prstGeom prst="rect">
            <a:avLst/>
          </a:prstGeom>
          <a:solidFill>
            <a:srgbClr val="F3F2F1"/>
          </a:solidFill>
          <a:ln/>
        </p:spPr>
        <p:txBody>
          <a:bodyPr/>
          <a:lstStyle/>
          <a:p>
            <a:endParaRPr lang="en-US"/>
          </a:p>
        </p:txBody>
      </p:sp>
      <p:sp>
        <p:nvSpPr>
          <p:cNvPr id="30" name="Shape 26"/>
          <p:cNvSpPr/>
          <p:nvPr/>
        </p:nvSpPr>
        <p:spPr>
          <a:xfrm>
            <a:off x="8354568" y="3291840"/>
            <a:ext cx="548640" cy="548640"/>
          </a:xfrm>
          <a:prstGeom prst="ellipse">
            <a:avLst/>
          </a:prstGeom>
          <a:solidFill>
            <a:srgbClr val="0078D4"/>
          </a:solidFill>
          <a:ln/>
        </p:spPr>
        <p:txBody>
          <a:bodyPr/>
          <a:lstStyle/>
          <a:p>
            <a:endParaRPr lang="en-US"/>
          </a:p>
        </p:txBody>
      </p:sp>
      <p:pic>
        <p:nvPicPr>
          <p:cNvPr id="31" name="Image 2" descr="/agent/turn1/workspace/output/_anthropic_assets/icon-shield-checkmark-070ed0e3.png"/>
          <p:cNvPicPr>
            <a:picLocks noChangeAspect="1"/>
          </p:cNvPicPr>
          <p:nvPr/>
        </p:nvPicPr>
        <p:blipFill>
          <a:blip r:embed="rId4"/>
          <a:stretch>
            <a:fillRect/>
          </a:stretch>
        </p:blipFill>
        <p:spPr>
          <a:xfrm>
            <a:off x="8475269" y="3412541"/>
            <a:ext cx="307238" cy="307238"/>
          </a:xfrm>
          <a:prstGeom prst="rect">
            <a:avLst/>
          </a:prstGeom>
        </p:spPr>
      </p:pic>
      <p:sp>
        <p:nvSpPr>
          <p:cNvPr id="32" name="Text 27"/>
          <p:cNvSpPr/>
          <p:nvPr/>
        </p:nvSpPr>
        <p:spPr>
          <a:xfrm>
            <a:off x="8354568" y="3977640"/>
            <a:ext cx="3057144" cy="411480"/>
          </a:xfrm>
          <a:prstGeom prst="rect">
            <a:avLst/>
          </a:prstGeom>
          <a:noFill/>
          <a:ln/>
        </p:spPr>
        <p:txBody>
          <a:bodyPr wrap="square" lIns="0" tIns="0" rIns="0" bIns="0" rtlCol="0" anchor="t"/>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Import public images</a:t>
            </a:r>
            <a:endParaRPr lang="en-US" sz="1800"/>
          </a:p>
        </p:txBody>
      </p:sp>
      <p:sp>
        <p:nvSpPr>
          <p:cNvPr id="33" name="Text 28"/>
          <p:cNvSpPr/>
          <p:nvPr/>
        </p:nvSpPr>
        <p:spPr>
          <a:xfrm>
            <a:off x="8354568" y="4434840"/>
            <a:ext cx="3057144" cy="868680"/>
          </a:xfrm>
          <a:prstGeom prst="rect">
            <a:avLst/>
          </a:prstGeom>
          <a:noFill/>
          <a:ln/>
        </p:spPr>
        <p:txBody>
          <a:bodyPr wrap="square" lIns="0" tIns="0" rIns="0" bIns="0" rtlCol="0" anchor="t"/>
          <a:lstStyle/>
          <a:p>
            <a:pPr marL="0" indent="0">
              <a:buNone/>
            </a:pPr>
            <a:r>
              <a:rPr lang="en-US" sz="1400">
                <a:solidFill>
                  <a:srgbClr val="0F6CBD"/>
                </a:solidFill>
                <a:latin typeface="Consolas" pitchFamily="34" charset="0"/>
                <a:ea typeface="Consolas" pitchFamily="34" charset="-122"/>
                <a:cs typeface="Consolas" pitchFamily="34" charset="-120"/>
              </a:rPr>
              <a:t>az acr import</a:t>
            </a:r>
            <a:r>
              <a:rPr lang="en-US" sz="1400">
                <a:solidFill>
                  <a:srgbClr val="323130"/>
                </a:solidFill>
                <a:latin typeface="Segoe UI" pitchFamily="34" charset="0"/>
                <a:ea typeface="Segoe UI" pitchFamily="34" charset="-122"/>
                <a:cs typeface="Segoe UI" pitchFamily="34" charset="-120"/>
              </a:rPr>
              <a:t> copies public images into your registry — avoids public rate limits and gives you control over what runs.</a:t>
            </a:r>
            <a:endParaRPr lang="en-US" sz="1400"/>
          </a:p>
        </p:txBody>
      </p:sp>
      <p:sp>
        <p:nvSpPr>
          <p:cNvPr id="34" name="Text 29"/>
          <p:cNvSpPr/>
          <p:nvPr/>
        </p:nvSpPr>
        <p:spPr>
          <a:xfrm>
            <a:off x="548640" y="5623560"/>
            <a:ext cx="11064240" cy="411480"/>
          </a:xfrm>
          <a:prstGeom prst="rect">
            <a:avLst/>
          </a:prstGeom>
          <a:noFill/>
          <a:ln/>
        </p:spPr>
        <p:txBody>
          <a:bodyPr wrap="square" lIns="0" tIns="0" rIns="0" bIns="0" rtlCol="0" anchor="t"/>
          <a:lstStyle/>
          <a:p>
            <a:pPr marL="0" indent="0">
              <a:buNone/>
            </a:pPr>
            <a:r>
              <a:rPr lang="en-US" sz="1200">
                <a:solidFill>
                  <a:srgbClr val="605E5C"/>
                </a:solidFill>
                <a:latin typeface="Segoe UI" pitchFamily="34" charset="0"/>
                <a:ea typeface="Segoe UI" pitchFamily="34" charset="-122"/>
                <a:cs typeface="Segoe UI" pitchFamily="34" charset="-120"/>
              </a:rPr>
              <a:t>Note (Microsoft Learn): for ABAC-enabled registries, the integration assigns </a:t>
            </a:r>
            <a:r>
              <a:rPr lang="en-US" sz="1200" b="1">
                <a:solidFill>
                  <a:srgbClr val="605E5C"/>
                </a:solidFill>
                <a:latin typeface="Segoe UI" pitchFamily="34" charset="0"/>
                <a:ea typeface="Segoe UI" pitchFamily="34" charset="-122"/>
                <a:cs typeface="Segoe UI" pitchFamily="34" charset="-120"/>
              </a:rPr>
              <a:t>Container Registry Repository Reader</a:t>
            </a:r>
            <a:r>
              <a:rPr lang="en-US" sz="1200">
                <a:solidFill>
                  <a:srgbClr val="605E5C"/>
                </a:solidFill>
                <a:latin typeface="Segoe UI" pitchFamily="34" charset="0"/>
                <a:ea typeface="Segoe UI" pitchFamily="34" charset="-122"/>
                <a:cs typeface="Segoe UI" pitchFamily="34" charset="-120"/>
              </a:rPr>
              <a:t> instead of </a:t>
            </a:r>
            <a:r>
              <a:rPr lang="en-US" sz="1200">
                <a:solidFill>
                  <a:srgbClr val="0F6CBD"/>
                </a:solidFill>
                <a:latin typeface="Consolas" pitchFamily="34" charset="0"/>
                <a:ea typeface="Consolas" pitchFamily="34" charset="-122"/>
                <a:cs typeface="Consolas" pitchFamily="34" charset="-120"/>
              </a:rPr>
              <a:t>AcrPull</a:t>
            </a:r>
            <a:r>
              <a:rPr lang="en-US" sz="1200">
                <a:solidFill>
                  <a:srgbClr val="605E5C"/>
                </a:solidFill>
                <a:latin typeface="Segoe UI" pitchFamily="34" charset="0"/>
                <a:ea typeface="Segoe UI" pitchFamily="34" charset="-122"/>
                <a:cs typeface="Segoe UI" pitchFamily="34" charset="-120"/>
              </a:rPr>
              <a:t>.</a:t>
            </a:r>
            <a:endParaRPr lang="en-US" sz="1200"/>
          </a:p>
        </p:txBody>
      </p:sp>
      <p:sp>
        <p:nvSpPr>
          <p:cNvPr id="3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5E5C"/>
                </a:solidFill>
                <a:latin typeface="Segoe UI"/>
                <a:ea typeface="Segoe UI"/>
                <a:cs typeface="Segoe UI"/>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1188619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50E6FF"/>
                </a:solidFill>
                <a:latin typeface="Segoe UI Semibold" pitchFamily="34" charset="0"/>
                <a:ea typeface="Segoe UI Semibold" pitchFamily="34" charset="-122"/>
                <a:cs typeface="Segoe UI Semibold" pitchFamily="34" charset="-120"/>
              </a:rPr>
              <a:t>PART 1 · THE TOOLBOX</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A19F9D"/>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FFFFFF"/>
                </a:solidFill>
                <a:latin typeface="Segoe UI Semibold" pitchFamily="34" charset="0"/>
                <a:ea typeface="Segoe UI Semibold" pitchFamily="34" charset="-122"/>
                <a:cs typeface="Segoe UI Semibold" pitchFamily="34" charset="-120"/>
              </a:rPr>
              <a:t>Creating an ACR with the Azure CLI</a:t>
            </a:r>
            <a:endParaRPr lang="en-US" sz="3200"/>
          </a:p>
        </p:txBody>
      </p:sp>
      <p:sp>
        <p:nvSpPr>
          <p:cNvPr id="9" name="Shape 7"/>
          <p:cNvSpPr/>
          <p:nvPr/>
        </p:nvSpPr>
        <p:spPr>
          <a:xfrm>
            <a:off x="548640" y="1737360"/>
            <a:ext cx="11064240" cy="3154680"/>
          </a:xfrm>
          <a:prstGeom prst="rect">
            <a:avLst/>
          </a:prstGeom>
          <a:solidFill>
            <a:srgbClr val="1E1E1E"/>
          </a:solidFill>
          <a:ln/>
        </p:spPr>
        <p:txBody>
          <a:bodyPr/>
          <a:lstStyle/>
          <a:p>
            <a:endParaRPr lang="en-US"/>
          </a:p>
        </p:txBody>
      </p:sp>
      <p:sp>
        <p:nvSpPr>
          <p:cNvPr id="10" name="Shape 8"/>
          <p:cNvSpPr/>
          <p:nvPr/>
        </p:nvSpPr>
        <p:spPr>
          <a:xfrm>
            <a:off x="548640" y="1737360"/>
            <a:ext cx="11064240" cy="347472"/>
          </a:xfrm>
          <a:prstGeom prst="rect">
            <a:avLst/>
          </a:prstGeom>
          <a:solidFill>
            <a:srgbClr val="2D2D30"/>
          </a:solidFill>
          <a:ln/>
        </p:spPr>
        <p:txBody>
          <a:bodyPr/>
          <a:lstStyle/>
          <a:p>
            <a:endParaRPr lang="en-US"/>
          </a:p>
        </p:txBody>
      </p:sp>
      <p:sp>
        <p:nvSpPr>
          <p:cNvPr id="11" name="Shape 9"/>
          <p:cNvSpPr/>
          <p:nvPr/>
        </p:nvSpPr>
        <p:spPr>
          <a:xfrm>
            <a:off x="548640" y="1737360"/>
            <a:ext cx="1499616" cy="347472"/>
          </a:xfrm>
          <a:prstGeom prst="rect">
            <a:avLst/>
          </a:prstGeom>
          <a:solidFill>
            <a:srgbClr val="1E1E1E"/>
          </a:solidFill>
          <a:ln/>
        </p:spPr>
        <p:txBody>
          <a:bodyPr/>
          <a:lstStyle/>
          <a:p>
            <a:endParaRPr lang="en-US"/>
          </a:p>
        </p:txBody>
      </p:sp>
      <p:sp>
        <p:nvSpPr>
          <p:cNvPr id="12" name="Text 10"/>
          <p:cNvSpPr/>
          <p:nvPr/>
        </p:nvSpPr>
        <p:spPr>
          <a:xfrm>
            <a:off x="685800" y="1737360"/>
            <a:ext cx="1316736" cy="347472"/>
          </a:xfrm>
          <a:prstGeom prst="rect">
            <a:avLst/>
          </a:prstGeom>
          <a:noFill/>
          <a:ln/>
        </p:spPr>
        <p:txBody>
          <a:bodyPr wrap="square" lIns="0" tIns="0" rIns="0" bIns="0" rtlCol="0" anchor="ctr"/>
          <a:lstStyle/>
          <a:p>
            <a:pPr marL="0" indent="0">
              <a:buNone/>
            </a:pPr>
            <a:r>
              <a:rPr lang="en-US" sz="1000">
                <a:solidFill>
                  <a:srgbClr val="CCCCCC"/>
                </a:solidFill>
                <a:latin typeface="Segoe UI" pitchFamily="34" charset="0"/>
                <a:ea typeface="Segoe UI" pitchFamily="34" charset="-122"/>
                <a:cs typeface="Segoe UI" pitchFamily="34" charset="-120"/>
              </a:rPr>
              <a:t>bash — az acr</a:t>
            </a:r>
            <a:endParaRPr lang="en-US" sz="1000"/>
          </a:p>
        </p:txBody>
      </p:sp>
      <p:sp>
        <p:nvSpPr>
          <p:cNvPr id="13" name="Text 11"/>
          <p:cNvSpPr/>
          <p:nvPr/>
        </p:nvSpPr>
        <p:spPr>
          <a:xfrm>
            <a:off x="749808" y="2212848"/>
            <a:ext cx="10698480" cy="2587752"/>
          </a:xfrm>
          <a:prstGeom prst="rect">
            <a:avLst/>
          </a:prstGeom>
          <a:noFill/>
          <a:ln/>
        </p:spPr>
        <p:txBody>
          <a:bodyPr wrap="square" lIns="0" tIns="0" rIns="0" bIns="0" rtlCol="0" anchor="t"/>
          <a:lstStyle/>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acr check-name -n &lt;acrName&gt;                      </a:t>
            </a:r>
            <a:r>
              <a:rPr lang="en-US" sz="1500">
                <a:solidFill>
                  <a:srgbClr val="6A9955"/>
                </a:solidFill>
                <a:latin typeface="Consolas" pitchFamily="34" charset="0"/>
                <a:ea typeface="Consolas" pitchFamily="34" charset="-122"/>
                <a:cs typeface="Consolas" pitchFamily="34" charset="-120"/>
              </a:rPr>
              <a:t> # globally unique, 5–50 alphanumerics</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acr create -g rg-aks-demo -n &lt;acrName&gt; \</a:t>
            </a:r>
            <a:endParaRPr lang="en-US" sz="1500"/>
          </a:p>
          <a:p>
            <a:pPr marL="0" indent="0">
              <a:lnSpc>
                <a:spcPct val="105000"/>
              </a:lnSpc>
              <a:buNone/>
            </a:pPr>
            <a:r>
              <a:rPr lang="en-US" sz="1500">
                <a:solidFill>
                  <a:srgbClr val="D4D4D4"/>
                </a:solidFill>
                <a:latin typeface="Consolas" pitchFamily="34" charset="0"/>
                <a:ea typeface="Consolas" pitchFamily="34" charset="-122"/>
                <a:cs typeface="Consolas" pitchFamily="34" charset="-120"/>
              </a:rPr>
              <a:t>    --sku Standard -l eastus2                       </a:t>
            </a:r>
            <a:r>
              <a:rPr lang="en-US" sz="1500">
                <a:solidFill>
                  <a:srgbClr val="6A9955"/>
                </a:solidFill>
                <a:latin typeface="Consolas" pitchFamily="34" charset="0"/>
                <a:ea typeface="Consolas" pitchFamily="34" charset="-122"/>
                <a:cs typeface="Consolas" pitchFamily="34" charset="-120"/>
              </a:rPr>
              <a:t> # Basic | Standard | Premium</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acr login -n &lt;acrName&gt;                           </a:t>
            </a:r>
            <a:r>
              <a:rPr lang="en-US" sz="1500">
                <a:solidFill>
                  <a:srgbClr val="6A9955"/>
                </a:solidFill>
                <a:latin typeface="Consolas" pitchFamily="34" charset="0"/>
                <a:ea typeface="Consolas" pitchFamily="34" charset="-122"/>
                <a:cs typeface="Consolas" pitchFamily="34" charset="-120"/>
              </a:rPr>
              <a:t> # Docker auth with your Entra ID</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acr build -r &lt;acrName&gt; -t myapp:v1 .             </a:t>
            </a:r>
            <a:r>
              <a:rPr lang="en-US" sz="1500">
                <a:solidFill>
                  <a:srgbClr val="6A9955"/>
                </a:solidFill>
                <a:latin typeface="Consolas" pitchFamily="34" charset="0"/>
                <a:ea typeface="Consolas" pitchFamily="34" charset="-122"/>
                <a:cs typeface="Consolas" pitchFamily="34" charset="-120"/>
              </a:rPr>
              <a:t> # build in the cloud, no local Docker</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acr import -n &lt;acrName&gt; \</a:t>
            </a:r>
            <a:endParaRPr lang="en-US" sz="1500"/>
          </a:p>
          <a:p>
            <a:pPr marL="0" indent="0">
              <a:lnSpc>
                <a:spcPct val="105000"/>
              </a:lnSpc>
              <a:buNone/>
            </a:pPr>
            <a:r>
              <a:rPr lang="en-US" sz="1500">
                <a:solidFill>
                  <a:srgbClr val="D4D4D4"/>
                </a:solidFill>
                <a:latin typeface="Consolas" pitchFamily="34" charset="0"/>
                <a:ea typeface="Consolas" pitchFamily="34" charset="-122"/>
                <a:cs typeface="Consolas" pitchFamily="34" charset="-120"/>
              </a:rPr>
              <a:t>    --source docker.io/library/nginx:latest --image nginx:latest</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aks update -g rg-aks-demo -n aks-demo --attach-acr &lt;acrName&gt;</a:t>
            </a:r>
            <a:r>
              <a:rPr lang="en-US" sz="1500">
                <a:solidFill>
                  <a:srgbClr val="6A9955"/>
                </a:solidFill>
                <a:latin typeface="Consolas" pitchFamily="34" charset="0"/>
                <a:ea typeface="Consolas" pitchFamily="34" charset="-122"/>
                <a:cs typeface="Consolas" pitchFamily="34" charset="-120"/>
              </a:rPr>
              <a:t> # grant AcrPull</a:t>
            </a:r>
            <a:endParaRPr lang="en-US" sz="1500"/>
          </a:p>
          <a:p>
            <a:pPr marL="0" indent="0">
              <a:lnSpc>
                <a:spcPct val="105000"/>
              </a:lnSpc>
              <a:buNone/>
            </a:pPr>
            <a:r>
              <a:rPr lang="en-US" sz="1500">
                <a:solidFill>
                  <a:srgbClr val="DCDCAA"/>
                </a:solidFill>
                <a:latin typeface="Consolas" pitchFamily="34" charset="0"/>
                <a:ea typeface="Consolas" pitchFamily="34" charset="-122"/>
                <a:cs typeface="Consolas" pitchFamily="34" charset="-120"/>
              </a:rPr>
              <a:t>az</a:t>
            </a:r>
            <a:r>
              <a:rPr lang="en-US" sz="1500">
                <a:solidFill>
                  <a:srgbClr val="D4D4D4"/>
                </a:solidFill>
                <a:latin typeface="Consolas" pitchFamily="34" charset="0"/>
                <a:ea typeface="Consolas" pitchFamily="34" charset="-122"/>
                <a:cs typeface="Consolas" pitchFamily="34" charset="-120"/>
              </a:rPr>
              <a:t> acr repository list -n &lt;acrName&gt; -o table        </a:t>
            </a:r>
            <a:r>
              <a:rPr lang="en-US" sz="1500">
                <a:solidFill>
                  <a:srgbClr val="6A9955"/>
                </a:solidFill>
                <a:latin typeface="Consolas" pitchFamily="34" charset="0"/>
                <a:ea typeface="Consolas" pitchFamily="34" charset="-122"/>
                <a:cs typeface="Consolas" pitchFamily="34" charset="-120"/>
              </a:rPr>
              <a:t> # verify images landed</a:t>
            </a:r>
            <a:endParaRPr lang="en-US" sz="1500"/>
          </a:p>
        </p:txBody>
      </p:sp>
      <p:sp>
        <p:nvSpPr>
          <p:cNvPr id="14" name="Shape 12"/>
          <p:cNvSpPr/>
          <p:nvPr/>
        </p:nvSpPr>
        <p:spPr>
          <a:xfrm>
            <a:off x="548640" y="5166360"/>
            <a:ext cx="11064240" cy="868680"/>
          </a:xfrm>
          <a:prstGeom prst="rect">
            <a:avLst/>
          </a:prstGeom>
          <a:solidFill>
            <a:srgbClr val="0078D4"/>
          </a:solidFill>
          <a:ln/>
        </p:spPr>
        <p:txBody>
          <a:bodyPr/>
          <a:lstStyle/>
          <a:p>
            <a:endParaRPr lang="en-US"/>
          </a:p>
        </p:txBody>
      </p:sp>
      <p:sp>
        <p:nvSpPr>
          <p:cNvPr id="15" name="Shape 13"/>
          <p:cNvSpPr/>
          <p:nvPr/>
        </p:nvSpPr>
        <p:spPr>
          <a:xfrm>
            <a:off x="777240" y="5372100"/>
            <a:ext cx="457200" cy="457200"/>
          </a:xfrm>
          <a:prstGeom prst="ellipse">
            <a:avLst/>
          </a:prstGeom>
          <a:solidFill>
            <a:srgbClr val="201F1E"/>
          </a:solidFill>
          <a:ln/>
        </p:spPr>
        <p:txBody>
          <a:bodyPr/>
          <a:lstStyle/>
          <a:p>
            <a:endParaRPr lang="en-US"/>
          </a:p>
        </p:txBody>
      </p:sp>
      <p:sp>
        <p:nvSpPr>
          <p:cNvPr id="17" name="Text 14"/>
          <p:cNvSpPr/>
          <p:nvPr/>
        </p:nvSpPr>
        <p:spPr>
          <a:xfrm>
            <a:off x="1417320" y="5166360"/>
            <a:ext cx="9966960" cy="868680"/>
          </a:xfrm>
          <a:prstGeom prst="rect">
            <a:avLst/>
          </a:prstGeom>
          <a:noFill/>
          <a:ln/>
        </p:spPr>
        <p:txBody>
          <a:bodyPr wrap="square" lIns="0" tIns="0" rIns="0" bIns="0" rtlCol="0" anchor="ctr"/>
          <a:lstStyle/>
          <a:p>
            <a:pPr marL="0" indent="0">
              <a:buNone/>
            </a:pPr>
            <a:r>
              <a:rPr lang="en-US" sz="2000">
                <a:solidFill>
                  <a:srgbClr val="FFFFFF"/>
                </a:solidFill>
                <a:latin typeface="Consolas" pitchFamily="34" charset="0"/>
                <a:ea typeface="Consolas" pitchFamily="34" charset="-122"/>
                <a:cs typeface="Consolas" pitchFamily="34" charset="-120"/>
              </a:rPr>
              <a:t>&lt;acrName&gt;.azurecr.io/myapp:v1</a:t>
            </a:r>
            <a:r>
              <a:rPr lang="en-US" sz="2000">
                <a:solidFill>
                  <a:srgbClr val="FFFFFF"/>
                </a:solidFill>
                <a:latin typeface="Segoe UI" pitchFamily="34" charset="0"/>
                <a:ea typeface="Segoe UI" pitchFamily="34" charset="-122"/>
                <a:cs typeface="Segoe UI" pitchFamily="34" charset="-120"/>
              </a:rPr>
              <a:t> is now pullable by every AKS node.</a:t>
            </a:r>
            <a:endParaRPr lang="en-US" sz="200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A19F9D"/>
                </a:solidFill>
                <a:latin typeface="Segoe UI"/>
                <a:ea typeface="Segoe UI"/>
                <a:cs typeface="Segoe UI"/>
              </a:defRPr>
            </a:lvl1pPr>
          </a:lstStyle>
          <a:p>
            <a:pPr algn="r"/>
            <a:fld id="{F7021451-1387-4CA6-816F-3879F97B5CBC}" type="slidenum">
              <a:rPr lang="en-US" b="0"/>
              <a:t>11</a:t>
            </a:fld>
            <a:endParaRPr lang="en-US"/>
          </a:p>
        </p:txBody>
      </p:sp>
      <p:pic>
        <p:nvPicPr>
          <p:cNvPr id="26" name="Picture 25" descr="icon-window-console-6611bc03.png"/>
          <p:cNvPicPr>
            <a:picLocks noChangeAspect="1"/>
          </p:cNvPicPr>
          <p:nvPr/>
        </p:nvPicPr>
        <p:blipFill>
          <a:blip r:embed="rId2"/>
          <a:stretch>
            <a:fillRect/>
          </a:stretch>
        </p:blipFill>
        <p:spPr>
          <a:xfrm>
            <a:off x="877824" y="5472684"/>
            <a:ext cx="256032" cy="256032"/>
          </a:xfrm>
          <a:prstGeom prst="rect">
            <a:avLst/>
          </a:prstGeom>
        </p:spPr>
      </p:pic>
    </p:spTree>
    <p:extLst>
      <p:ext uri="{BB962C8B-B14F-4D97-AF65-F5344CB8AC3E}">
        <p14:creationId xmlns:p14="http://schemas.microsoft.com/office/powerpoint/2010/main" val="188131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7C10"/>
        </a:solidFill>
        <a:effectLst/>
      </p:bgPr>
    </p:bg>
    <p:spTree>
      <p:nvGrpSpPr>
        <p:cNvPr id="1" name=""/>
        <p:cNvGrpSpPr/>
        <p:nvPr/>
      </p:nvGrpSpPr>
      <p:grpSpPr>
        <a:xfrm>
          <a:off x="0" y="0"/>
          <a:ext cx="0" cy="0"/>
          <a:chOff x="0" y="0"/>
          <a:chExt cx="0" cy="0"/>
        </a:xfrm>
      </p:grpSpPr>
      <p:sp>
        <p:nvSpPr>
          <p:cNvPr id="2" name="Text 0"/>
          <p:cNvSpPr/>
          <p:nvPr/>
        </p:nvSpPr>
        <p:spPr>
          <a:xfrm>
            <a:off x="457200" y="274320"/>
            <a:ext cx="5486400" cy="3291840"/>
          </a:xfrm>
          <a:prstGeom prst="rect">
            <a:avLst/>
          </a:prstGeom>
          <a:noFill/>
          <a:ln/>
        </p:spPr>
        <p:txBody>
          <a:bodyPr wrap="square" lIns="0" tIns="0" rIns="0" bIns="0" rtlCol="0" anchor="t"/>
          <a:lstStyle/>
          <a:p>
            <a:pPr marL="0" indent="0">
              <a:buNone/>
            </a:pPr>
            <a:r>
              <a:rPr lang="en-US" sz="22000">
                <a:solidFill>
                  <a:srgbClr val="2F952F"/>
                </a:solidFill>
                <a:latin typeface="Segoe UI Semibold" pitchFamily="34" charset="0"/>
                <a:ea typeface="Segoe UI Semibold" pitchFamily="34" charset="-122"/>
                <a:cs typeface="Segoe UI Semibold" pitchFamily="34" charset="-120"/>
              </a:rPr>
              <a:t>02</a:t>
            </a:r>
            <a:endParaRPr lang="en-US" sz="22000"/>
          </a:p>
        </p:txBody>
      </p:sp>
      <p:sp>
        <p:nvSpPr>
          <p:cNvPr id="3" name="Shape 1"/>
          <p:cNvSpPr/>
          <p:nvPr/>
        </p:nvSpPr>
        <p:spPr>
          <a:xfrm>
            <a:off x="640080" y="3703320"/>
            <a:ext cx="146304" cy="146304"/>
          </a:xfrm>
          <a:prstGeom prst="rect">
            <a:avLst/>
          </a:prstGeom>
          <a:solidFill>
            <a:srgbClr val="F25022"/>
          </a:solidFill>
          <a:ln/>
        </p:spPr>
        <p:txBody>
          <a:bodyPr/>
          <a:lstStyle/>
          <a:p>
            <a:endParaRPr lang="en-US"/>
          </a:p>
        </p:txBody>
      </p:sp>
      <p:sp>
        <p:nvSpPr>
          <p:cNvPr id="4" name="Shape 2"/>
          <p:cNvSpPr/>
          <p:nvPr/>
        </p:nvSpPr>
        <p:spPr>
          <a:xfrm>
            <a:off x="818571" y="3703320"/>
            <a:ext cx="146304" cy="146304"/>
          </a:xfrm>
          <a:prstGeom prst="rect">
            <a:avLst/>
          </a:prstGeom>
          <a:solidFill>
            <a:srgbClr val="7FBA00"/>
          </a:solidFill>
          <a:ln/>
        </p:spPr>
        <p:txBody>
          <a:bodyPr/>
          <a:lstStyle/>
          <a:p>
            <a:endParaRPr lang="en-US"/>
          </a:p>
        </p:txBody>
      </p:sp>
      <p:sp>
        <p:nvSpPr>
          <p:cNvPr id="5" name="Shape 3"/>
          <p:cNvSpPr/>
          <p:nvPr/>
        </p:nvSpPr>
        <p:spPr>
          <a:xfrm>
            <a:off x="640080" y="3881811"/>
            <a:ext cx="146304" cy="146304"/>
          </a:xfrm>
          <a:prstGeom prst="rect">
            <a:avLst/>
          </a:prstGeom>
          <a:solidFill>
            <a:srgbClr val="00A4EF"/>
          </a:solidFill>
          <a:ln/>
        </p:spPr>
        <p:txBody>
          <a:bodyPr/>
          <a:lstStyle/>
          <a:p>
            <a:endParaRPr lang="en-US"/>
          </a:p>
        </p:txBody>
      </p:sp>
      <p:sp>
        <p:nvSpPr>
          <p:cNvPr id="6" name="Shape 4"/>
          <p:cNvSpPr/>
          <p:nvPr/>
        </p:nvSpPr>
        <p:spPr>
          <a:xfrm>
            <a:off x="818571" y="3881811"/>
            <a:ext cx="146304" cy="146304"/>
          </a:xfrm>
          <a:prstGeom prst="rect">
            <a:avLst/>
          </a:prstGeom>
          <a:solidFill>
            <a:srgbClr val="FFB900"/>
          </a:solidFill>
          <a:ln/>
        </p:spPr>
        <p:txBody>
          <a:bodyPr/>
          <a:lstStyle/>
          <a:p>
            <a:endParaRPr lang="en-US"/>
          </a:p>
        </p:txBody>
      </p:sp>
      <p:sp>
        <p:nvSpPr>
          <p:cNvPr id="7" name="Text 5"/>
          <p:cNvSpPr/>
          <p:nvPr/>
        </p:nvSpPr>
        <p:spPr>
          <a:xfrm>
            <a:off x="1097280" y="3657600"/>
            <a:ext cx="4572000" cy="384048"/>
          </a:xfrm>
          <a:prstGeom prst="rect">
            <a:avLst/>
          </a:prstGeom>
          <a:noFill/>
          <a:ln/>
        </p:spPr>
        <p:txBody>
          <a:bodyPr wrap="square" lIns="0" tIns="0" rIns="0" bIns="0" rtlCol="0" anchor="ctr"/>
          <a:lstStyle/>
          <a:p>
            <a:pPr marL="0" indent="0">
              <a:buNone/>
            </a:pPr>
            <a:r>
              <a:rPr lang="en-US" sz="1600" kern="0" spc="300">
                <a:solidFill>
                  <a:srgbClr val="FFFFFF"/>
                </a:solidFill>
                <a:latin typeface="Segoe UI Semibold" pitchFamily="34" charset="0"/>
                <a:ea typeface="Segoe UI Semibold" pitchFamily="34" charset="-122"/>
                <a:cs typeface="Segoe UI Semibold" pitchFamily="34" charset="-120"/>
              </a:rPr>
              <a:t>PART 2</a:t>
            </a:r>
            <a:endParaRPr lang="en-US" sz="1600"/>
          </a:p>
        </p:txBody>
      </p:sp>
      <p:sp>
        <p:nvSpPr>
          <p:cNvPr id="8" name="Text 6"/>
          <p:cNvSpPr/>
          <p:nvPr/>
        </p:nvSpPr>
        <p:spPr>
          <a:xfrm>
            <a:off x="640080" y="4114800"/>
            <a:ext cx="6949440" cy="1371600"/>
          </a:xfrm>
          <a:prstGeom prst="rect">
            <a:avLst/>
          </a:prstGeom>
          <a:noFill/>
          <a:ln/>
        </p:spPr>
        <p:txBody>
          <a:bodyPr wrap="square" lIns="0" tIns="0" rIns="0" bIns="0" rtlCol="0" anchor="t"/>
          <a:lstStyle/>
          <a:p>
            <a:pPr marL="0" indent="0">
              <a:lnSpc>
                <a:spcPct val="95000"/>
              </a:lnSpc>
              <a:buNone/>
            </a:pPr>
            <a:r>
              <a:rPr lang="en-US" sz="4800">
                <a:solidFill>
                  <a:srgbClr val="FFFFFF"/>
                </a:solidFill>
                <a:latin typeface="Segoe UI Semibold" pitchFamily="34" charset="0"/>
                <a:ea typeface="Segoe UI Semibold" pitchFamily="34" charset="-122"/>
                <a:cs typeface="Segoe UI Semibold" pitchFamily="34" charset="-120"/>
              </a:rPr>
              <a:t>Packaging Apps with Helm</a:t>
            </a:r>
            <a:endParaRPr lang="en-US" sz="4800"/>
          </a:p>
        </p:txBody>
      </p:sp>
      <p:sp>
        <p:nvSpPr>
          <p:cNvPr id="9" name="Text 7"/>
          <p:cNvSpPr/>
          <p:nvPr/>
        </p:nvSpPr>
        <p:spPr>
          <a:xfrm>
            <a:off x="640080" y="5577840"/>
            <a:ext cx="6766560" cy="731520"/>
          </a:xfrm>
          <a:prstGeom prst="rect">
            <a:avLst/>
          </a:prstGeom>
          <a:noFill/>
          <a:ln/>
        </p:spPr>
        <p:txBody>
          <a:bodyPr wrap="square" lIns="0" tIns="0" rIns="0" bIns="0" rtlCol="0" anchor="t"/>
          <a:lstStyle/>
          <a:p>
            <a:pPr marL="0" indent="0">
              <a:buNone/>
            </a:pPr>
            <a:r>
              <a:rPr lang="en-US" sz="1800">
                <a:solidFill>
                  <a:srgbClr val="FFFFFF"/>
                </a:solidFill>
                <a:latin typeface="Segoe UI" pitchFamily="34" charset="0"/>
                <a:ea typeface="Segoe UI" pitchFamily="34" charset="-122"/>
                <a:cs typeface="Segoe UI" pitchFamily="34" charset="-120"/>
              </a:rPr>
              <a:t>Template once, configure per environment, version every release</a:t>
            </a:r>
            <a:endParaRPr lang="en-US" sz="1800"/>
          </a:p>
        </p:txBody>
      </p:sp>
      <p:sp>
        <p:nvSpPr>
          <p:cNvPr id="10" name="Shape 8"/>
          <p:cNvSpPr/>
          <p:nvPr/>
        </p:nvSpPr>
        <p:spPr>
          <a:xfrm>
            <a:off x="8138160" y="1463040"/>
            <a:ext cx="1600200" cy="1600200"/>
          </a:xfrm>
          <a:prstGeom prst="rect">
            <a:avLst/>
          </a:prstGeom>
          <a:solidFill>
            <a:srgbClr val="FFFFFF"/>
          </a:solidFill>
          <a:ln/>
        </p:spPr>
        <p:txBody>
          <a:bodyPr/>
          <a:lstStyle/>
          <a:p>
            <a:endParaRPr lang="en-US"/>
          </a:p>
        </p:txBody>
      </p:sp>
      <p:sp>
        <p:nvSpPr>
          <p:cNvPr id="11" name="Shape 9"/>
          <p:cNvSpPr/>
          <p:nvPr/>
        </p:nvSpPr>
        <p:spPr>
          <a:xfrm>
            <a:off x="9902952" y="1463040"/>
            <a:ext cx="1600200" cy="1600200"/>
          </a:xfrm>
          <a:prstGeom prst="rect">
            <a:avLst/>
          </a:prstGeom>
          <a:solidFill>
            <a:srgbClr val="FFFFFF">
              <a:alpha val="55000"/>
            </a:srgbClr>
          </a:solidFill>
          <a:ln/>
        </p:spPr>
        <p:txBody>
          <a:bodyPr/>
          <a:lstStyle/>
          <a:p>
            <a:endParaRPr lang="en-US"/>
          </a:p>
        </p:txBody>
      </p:sp>
      <p:sp>
        <p:nvSpPr>
          <p:cNvPr id="12" name="Shape 10"/>
          <p:cNvSpPr/>
          <p:nvPr/>
        </p:nvSpPr>
        <p:spPr>
          <a:xfrm>
            <a:off x="8138160" y="3227832"/>
            <a:ext cx="1600200" cy="1600200"/>
          </a:xfrm>
          <a:prstGeom prst="rect">
            <a:avLst/>
          </a:prstGeom>
          <a:solidFill>
            <a:srgbClr val="FFFFFF">
              <a:alpha val="35000"/>
            </a:srgbClr>
          </a:solidFill>
          <a:ln/>
        </p:spPr>
        <p:txBody>
          <a:bodyPr/>
          <a:lstStyle/>
          <a:p>
            <a:endParaRPr lang="en-US"/>
          </a:p>
        </p:txBody>
      </p:sp>
      <p:sp>
        <p:nvSpPr>
          <p:cNvPr id="13" name="Shape 11"/>
          <p:cNvSpPr/>
          <p:nvPr/>
        </p:nvSpPr>
        <p:spPr>
          <a:xfrm>
            <a:off x="9902952" y="3227832"/>
            <a:ext cx="1600200" cy="1600200"/>
          </a:xfrm>
          <a:prstGeom prst="rect">
            <a:avLst/>
          </a:prstGeom>
          <a:solidFill>
            <a:srgbClr val="FFFFFF">
              <a:alpha val="18000"/>
            </a:srgbClr>
          </a:solidFill>
          <a:ln/>
        </p:spPr>
        <p:txBody>
          <a:bodyPr/>
          <a:lstStyle/>
          <a:p>
            <a:endParaRPr lang="en-US"/>
          </a:p>
        </p:txBody>
      </p:sp>
      <p:pic>
        <p:nvPicPr>
          <p:cNvPr id="14" name="Image 0" descr="/agent/turn1/workspace/output/_anthropic_assets/icon-box-8afa8cd4.png"/>
          <p:cNvPicPr>
            <a:picLocks noChangeAspect="1"/>
          </p:cNvPicPr>
          <p:nvPr/>
        </p:nvPicPr>
        <p:blipFill>
          <a:blip r:embed="rId2"/>
          <a:stretch>
            <a:fillRect/>
          </a:stretch>
        </p:blipFill>
        <p:spPr>
          <a:xfrm>
            <a:off x="10314432" y="3639312"/>
            <a:ext cx="777240" cy="777240"/>
          </a:xfrm>
          <a:prstGeom prst="rect">
            <a:avLst/>
          </a:prstGeom>
        </p:spPr>
      </p:pic>
    </p:spTree>
    <p:extLst>
      <p:ext uri="{BB962C8B-B14F-4D97-AF65-F5344CB8AC3E}">
        <p14:creationId xmlns:p14="http://schemas.microsoft.com/office/powerpoint/2010/main" val="3255587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a:p>
        </p:txBody>
      </p:sp>
      <p:sp>
        <p:nvSpPr>
          <p:cNvPr id="7" name="Text 5"/>
          <p:cNvSpPr/>
          <p:nvPr/>
        </p:nvSpPr>
        <p:spPr>
          <a:xfrm>
            <a:off x="548640" y="6419088"/>
            <a:ext cx="5486400" cy="256032"/>
          </a:xfrm>
          <a:prstGeom prst="rect">
            <a:avLst/>
          </a:prstGeom>
          <a:noFill/>
          <a:ln/>
        </p:spPr>
        <p:txBody>
          <a:bodyPr wrap="square" lIns="0" tIns="0" rIns="0" bIns="0" rtlCol="0" anchor="ctr"/>
          <a:lstStyle/>
          <a:p>
            <a:pPr marL="0" indent="0">
              <a:buNone/>
            </a:pPr>
            <a:r>
              <a:rPr lang="en-US" sz="1100">
                <a:solidFill>
                  <a:srgbClr val="605E5C"/>
                </a:solidFill>
                <a:latin typeface="Segoe UI" pitchFamily="34" charset="0"/>
                <a:ea typeface="Segoe UI" pitchFamily="34" charset="-122"/>
                <a:cs typeface="Segoe UI" pitchFamily="34" charset="-120"/>
              </a:rPr>
              <a:t>Advanced Kubernetes  |  Day-2 Operations</a:t>
            </a:r>
            <a:endParaRPr lang="en-US" sz="900"/>
          </a:p>
        </p:txBody>
      </p:sp>
      <p:sp>
        <p:nvSpPr>
          <p:cNvPr id="8" name="Text 6"/>
          <p:cNvSpPr/>
          <p:nvPr/>
        </p:nvSpPr>
        <p:spPr>
          <a:xfrm>
            <a:off x="548640" y="804672"/>
            <a:ext cx="11064240" cy="731520"/>
          </a:xfrm>
          <a:prstGeom prst="rect">
            <a:avLst/>
          </a:prstGeom>
          <a:noFill/>
          <a:ln/>
        </p:spPr>
        <p:txBody>
          <a:bodyPr wrap="square" lIns="0" tIns="0" rIns="0" bIns="0" rtlCol="0" anchor="t"/>
          <a:lstStyle/>
          <a:p>
            <a:pPr marL="0" indent="0">
              <a:buNone/>
            </a:pPr>
            <a:r>
              <a:rPr lang="en-US" sz="3200">
                <a:solidFill>
                  <a:srgbClr val="201F1E"/>
                </a:solidFill>
                <a:latin typeface="Segoe UI Semibold" pitchFamily="34" charset="0"/>
                <a:ea typeface="Segoe UI Semibold" pitchFamily="34" charset="-122"/>
                <a:cs typeface="Segoe UI Semibold" pitchFamily="34" charset="-120"/>
              </a:rPr>
              <a:t>Why Helm?</a:t>
            </a:r>
            <a:endParaRPr lang="en-US" sz="3200"/>
          </a:p>
        </p:txBody>
      </p:sp>
      <p:sp>
        <p:nvSpPr>
          <p:cNvPr id="9" name="Text 7"/>
          <p:cNvSpPr/>
          <p:nvPr/>
        </p:nvSpPr>
        <p:spPr>
          <a:xfrm>
            <a:off x="548640" y="1691640"/>
            <a:ext cx="5486400" cy="411480"/>
          </a:xfrm>
          <a:prstGeom prst="rect">
            <a:avLst/>
          </a:prstGeom>
          <a:noFill/>
          <a:ln/>
        </p:spPr>
        <p:txBody>
          <a:bodyPr wrap="square" lIns="0" tIns="0" rIns="0" bIns="0" rtlCol="0" anchor="ctr"/>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Raw YAML doesn’t scale well:</a:t>
            </a:r>
            <a:endParaRPr lang="en-US" sz="1800"/>
          </a:p>
        </p:txBody>
      </p:sp>
      <p:sp>
        <p:nvSpPr>
          <p:cNvPr id="10" name="Shape 8"/>
          <p:cNvSpPr/>
          <p:nvPr/>
        </p:nvSpPr>
        <p:spPr>
          <a:xfrm>
            <a:off x="548640" y="2286000"/>
            <a:ext cx="5486400" cy="1005840"/>
          </a:xfrm>
          <a:prstGeom prst="rect">
            <a:avLst/>
          </a:prstGeom>
          <a:solidFill>
            <a:srgbClr val="F3F2F1"/>
          </a:solidFill>
          <a:ln/>
        </p:spPr>
        <p:txBody>
          <a:bodyPr/>
          <a:lstStyle/>
          <a:p>
            <a:endParaRPr lang="en-US"/>
          </a:p>
        </p:txBody>
      </p:sp>
      <p:sp>
        <p:nvSpPr>
          <p:cNvPr id="11" name="Shape 9"/>
          <p:cNvSpPr/>
          <p:nvPr/>
        </p:nvSpPr>
        <p:spPr>
          <a:xfrm>
            <a:off x="777240" y="2514600"/>
            <a:ext cx="548640" cy="548640"/>
          </a:xfrm>
          <a:prstGeom prst="ellipse">
            <a:avLst/>
          </a:prstGeom>
          <a:solidFill>
            <a:srgbClr val="A4262C"/>
          </a:solidFill>
          <a:ln/>
        </p:spPr>
        <p:txBody>
          <a:bodyPr/>
          <a:lstStyle/>
          <a:p>
            <a:endParaRPr lang="en-US"/>
          </a:p>
        </p:txBody>
      </p:sp>
      <p:pic>
        <p:nvPicPr>
          <p:cNvPr id="12" name="Image 0" descr="/agent/turn1/workspace/output/_anthropic_assets/icon-warning-21a1060b.png"/>
          <p:cNvPicPr>
            <a:picLocks noChangeAspect="1"/>
          </p:cNvPicPr>
          <p:nvPr/>
        </p:nvPicPr>
        <p:blipFill>
          <a:blip r:embed="rId2"/>
          <a:stretch>
            <a:fillRect/>
          </a:stretch>
        </p:blipFill>
        <p:spPr>
          <a:xfrm>
            <a:off x="897941" y="2635301"/>
            <a:ext cx="307238" cy="307238"/>
          </a:xfrm>
          <a:prstGeom prst="rect">
            <a:avLst/>
          </a:prstGeom>
        </p:spPr>
      </p:pic>
      <p:sp>
        <p:nvSpPr>
          <p:cNvPr id="13" name="Text 10"/>
          <p:cNvSpPr/>
          <p:nvPr/>
        </p:nvSpPr>
        <p:spPr>
          <a:xfrm>
            <a:off x="1508760" y="2286000"/>
            <a:ext cx="4389120" cy="1005840"/>
          </a:xfrm>
          <a:prstGeom prst="rect">
            <a:avLst/>
          </a:prstGeom>
          <a:noFill/>
          <a:ln/>
        </p:spPr>
        <p:txBody>
          <a:bodyPr wrap="square" lIns="0" tIns="0" rIns="0" bIns="0" rtlCol="0" anchor="ctr"/>
          <a:lstStyle/>
          <a:p>
            <a:pPr marL="0" indent="0">
              <a:buNone/>
            </a:pPr>
            <a:r>
              <a:rPr lang="en-US" sz="1600">
                <a:solidFill>
                  <a:srgbClr val="323130"/>
                </a:solidFill>
                <a:latin typeface="Segoe UI" pitchFamily="34" charset="0"/>
                <a:ea typeface="Segoe UI" pitchFamily="34" charset="-122"/>
                <a:cs typeface="Segoe UI" pitchFamily="34" charset="-120"/>
              </a:rPr>
              <a:t>The same app needs slightly different config per environment</a:t>
            </a:r>
            <a:endParaRPr lang="en-US" sz="1600"/>
          </a:p>
        </p:txBody>
      </p:sp>
      <p:sp>
        <p:nvSpPr>
          <p:cNvPr id="14" name="Shape 11"/>
          <p:cNvSpPr/>
          <p:nvPr/>
        </p:nvSpPr>
        <p:spPr>
          <a:xfrm>
            <a:off x="548640" y="3474720"/>
            <a:ext cx="5486400" cy="1005840"/>
          </a:xfrm>
          <a:prstGeom prst="rect">
            <a:avLst/>
          </a:prstGeom>
          <a:solidFill>
            <a:srgbClr val="F3F2F1"/>
          </a:solidFill>
          <a:ln/>
        </p:spPr>
        <p:txBody>
          <a:bodyPr/>
          <a:lstStyle/>
          <a:p>
            <a:endParaRPr lang="en-US"/>
          </a:p>
        </p:txBody>
      </p:sp>
      <p:sp>
        <p:nvSpPr>
          <p:cNvPr id="15" name="Shape 12"/>
          <p:cNvSpPr/>
          <p:nvPr/>
        </p:nvSpPr>
        <p:spPr>
          <a:xfrm>
            <a:off x="777240" y="3703320"/>
            <a:ext cx="548640" cy="548640"/>
          </a:xfrm>
          <a:prstGeom prst="ellipse">
            <a:avLst/>
          </a:prstGeom>
          <a:solidFill>
            <a:srgbClr val="A4262C"/>
          </a:solidFill>
          <a:ln/>
        </p:spPr>
        <p:txBody>
          <a:bodyPr/>
          <a:lstStyle/>
          <a:p>
            <a:endParaRPr lang="en-US"/>
          </a:p>
        </p:txBody>
      </p:sp>
      <p:pic>
        <p:nvPicPr>
          <p:cNvPr id="16" name="Image 1" descr="/agent/turn1/workspace/output/_anthropic_assets/icon-warning-21a1060b.png"/>
          <p:cNvPicPr>
            <a:picLocks noChangeAspect="1"/>
          </p:cNvPicPr>
          <p:nvPr/>
        </p:nvPicPr>
        <p:blipFill>
          <a:blip r:embed="rId2"/>
          <a:stretch>
            <a:fillRect/>
          </a:stretch>
        </p:blipFill>
        <p:spPr>
          <a:xfrm>
            <a:off x="897941" y="3824021"/>
            <a:ext cx="307238" cy="307238"/>
          </a:xfrm>
          <a:prstGeom prst="rect">
            <a:avLst/>
          </a:prstGeom>
        </p:spPr>
      </p:pic>
      <p:sp>
        <p:nvSpPr>
          <p:cNvPr id="17" name="Text 13"/>
          <p:cNvSpPr/>
          <p:nvPr/>
        </p:nvSpPr>
        <p:spPr>
          <a:xfrm>
            <a:off x="1508760" y="3474720"/>
            <a:ext cx="4389120" cy="1005840"/>
          </a:xfrm>
          <a:prstGeom prst="rect">
            <a:avLst/>
          </a:prstGeom>
          <a:noFill/>
          <a:ln/>
        </p:spPr>
        <p:txBody>
          <a:bodyPr wrap="square" lIns="0" tIns="0" rIns="0" bIns="0" rtlCol="0" anchor="ctr"/>
          <a:lstStyle/>
          <a:p>
            <a:pPr marL="0" indent="0">
              <a:buNone/>
            </a:pPr>
            <a:r>
              <a:rPr lang="en-US" sz="1600">
                <a:solidFill>
                  <a:srgbClr val="323130"/>
                </a:solidFill>
                <a:latin typeface="Segoe UI" pitchFamily="34" charset="0"/>
                <a:ea typeface="Segoe UI" pitchFamily="34" charset="-122"/>
                <a:cs typeface="Segoe UI" pitchFamily="34" charset="-120"/>
              </a:rPr>
              <a:t>Copy-paste manifests drift apart over time</a:t>
            </a:r>
            <a:endParaRPr lang="en-US" sz="1600"/>
          </a:p>
        </p:txBody>
      </p:sp>
      <p:sp>
        <p:nvSpPr>
          <p:cNvPr id="18" name="Shape 14"/>
          <p:cNvSpPr/>
          <p:nvPr/>
        </p:nvSpPr>
        <p:spPr>
          <a:xfrm>
            <a:off x="548640" y="4663440"/>
            <a:ext cx="5486400" cy="1005840"/>
          </a:xfrm>
          <a:prstGeom prst="rect">
            <a:avLst/>
          </a:prstGeom>
          <a:solidFill>
            <a:srgbClr val="F3F2F1"/>
          </a:solidFill>
          <a:ln/>
        </p:spPr>
        <p:txBody>
          <a:bodyPr/>
          <a:lstStyle/>
          <a:p>
            <a:endParaRPr lang="en-US"/>
          </a:p>
        </p:txBody>
      </p:sp>
      <p:sp>
        <p:nvSpPr>
          <p:cNvPr id="19" name="Shape 15"/>
          <p:cNvSpPr/>
          <p:nvPr/>
        </p:nvSpPr>
        <p:spPr>
          <a:xfrm>
            <a:off x="777240" y="4892040"/>
            <a:ext cx="548640" cy="548640"/>
          </a:xfrm>
          <a:prstGeom prst="ellipse">
            <a:avLst/>
          </a:prstGeom>
          <a:solidFill>
            <a:srgbClr val="A4262C"/>
          </a:solidFill>
          <a:ln/>
        </p:spPr>
        <p:txBody>
          <a:bodyPr/>
          <a:lstStyle/>
          <a:p>
            <a:endParaRPr lang="en-US"/>
          </a:p>
        </p:txBody>
      </p:sp>
      <p:pic>
        <p:nvPicPr>
          <p:cNvPr id="20" name="Image 2" descr="/agent/turn1/workspace/output/_anthropic_assets/icon-warning-21a1060b.png"/>
          <p:cNvPicPr>
            <a:picLocks noChangeAspect="1"/>
          </p:cNvPicPr>
          <p:nvPr/>
        </p:nvPicPr>
        <p:blipFill>
          <a:blip r:embed="rId2"/>
          <a:stretch>
            <a:fillRect/>
          </a:stretch>
        </p:blipFill>
        <p:spPr>
          <a:xfrm>
            <a:off x="897941" y="5012741"/>
            <a:ext cx="307238" cy="307238"/>
          </a:xfrm>
          <a:prstGeom prst="rect">
            <a:avLst/>
          </a:prstGeom>
        </p:spPr>
      </p:pic>
      <p:sp>
        <p:nvSpPr>
          <p:cNvPr id="21" name="Text 16"/>
          <p:cNvSpPr/>
          <p:nvPr/>
        </p:nvSpPr>
        <p:spPr>
          <a:xfrm>
            <a:off x="1508760" y="4663440"/>
            <a:ext cx="4389120" cy="1005840"/>
          </a:xfrm>
          <a:prstGeom prst="rect">
            <a:avLst/>
          </a:prstGeom>
          <a:noFill/>
          <a:ln/>
        </p:spPr>
        <p:txBody>
          <a:bodyPr wrap="square" lIns="0" tIns="0" rIns="0" bIns="0" rtlCol="0" anchor="ctr"/>
          <a:lstStyle/>
          <a:p>
            <a:pPr marL="0" indent="0">
              <a:buNone/>
            </a:pPr>
            <a:r>
              <a:rPr lang="en-US" sz="1600">
                <a:solidFill>
                  <a:srgbClr val="323130"/>
                </a:solidFill>
                <a:latin typeface="Segoe UI" pitchFamily="34" charset="0"/>
                <a:ea typeface="Segoe UI" pitchFamily="34" charset="-122"/>
                <a:cs typeface="Segoe UI" pitchFamily="34" charset="-120"/>
              </a:rPr>
              <a:t>No concept of “version” or “rollback” for a group of resources</a:t>
            </a:r>
            <a:endParaRPr lang="en-US" sz="1600"/>
          </a:p>
        </p:txBody>
      </p:sp>
      <p:sp>
        <p:nvSpPr>
          <p:cNvPr id="22" name="Shape 17"/>
          <p:cNvSpPr/>
          <p:nvPr/>
        </p:nvSpPr>
        <p:spPr>
          <a:xfrm>
            <a:off x="6400800" y="1691640"/>
            <a:ext cx="5239512" cy="4343400"/>
          </a:xfrm>
          <a:prstGeom prst="rect">
            <a:avLst/>
          </a:prstGeom>
          <a:solidFill>
            <a:srgbClr val="107C10"/>
          </a:solidFill>
          <a:ln/>
        </p:spPr>
        <p:txBody>
          <a:bodyPr/>
          <a:lstStyle/>
          <a:p>
            <a:endParaRPr lang="en-US"/>
          </a:p>
        </p:txBody>
      </p:sp>
      <p:sp>
        <p:nvSpPr>
          <p:cNvPr id="23" name="Text 18"/>
          <p:cNvSpPr/>
          <p:nvPr/>
        </p:nvSpPr>
        <p:spPr>
          <a:xfrm>
            <a:off x="6720840" y="1920240"/>
            <a:ext cx="4663440" cy="1234440"/>
          </a:xfrm>
          <a:prstGeom prst="rect">
            <a:avLst/>
          </a:prstGeom>
          <a:noFill/>
          <a:ln/>
        </p:spPr>
        <p:txBody>
          <a:bodyPr wrap="square" lIns="0" tIns="0" rIns="0" bIns="0" rtlCol="0" anchor="t"/>
          <a:lstStyle/>
          <a:p>
            <a:pPr marL="0" indent="0">
              <a:buNone/>
            </a:pPr>
            <a:r>
              <a:rPr lang="en-US" sz="1800" b="1">
                <a:solidFill>
                  <a:srgbClr val="FFFFFF"/>
                </a:solidFill>
                <a:latin typeface="Segoe UI" pitchFamily="34" charset="0"/>
                <a:ea typeface="Segoe UI" pitchFamily="34" charset="-122"/>
                <a:cs typeface="Segoe UI" pitchFamily="34" charset="-120"/>
              </a:rPr>
              <a:t>Helm</a:t>
            </a:r>
            <a:r>
              <a:rPr lang="en-US" sz="1800">
                <a:solidFill>
                  <a:srgbClr val="FFFFFF"/>
                </a:solidFill>
                <a:latin typeface="Segoe UI" pitchFamily="34" charset="0"/>
                <a:ea typeface="Segoe UI" pitchFamily="34" charset="-122"/>
                <a:cs typeface="Segoe UI" pitchFamily="34" charset="-120"/>
              </a:rPr>
              <a:t> is the package manager for Kubernetes — a CNCF graduated project — that solves these with:</a:t>
            </a:r>
            <a:endParaRPr lang="en-US" sz="1800"/>
          </a:p>
        </p:txBody>
      </p:sp>
      <p:sp>
        <p:nvSpPr>
          <p:cNvPr id="24" name="Shape 19"/>
          <p:cNvSpPr/>
          <p:nvPr/>
        </p:nvSpPr>
        <p:spPr>
          <a:xfrm>
            <a:off x="6720840" y="3337560"/>
            <a:ext cx="4599432" cy="713232"/>
          </a:xfrm>
          <a:prstGeom prst="rect">
            <a:avLst/>
          </a:prstGeom>
          <a:solidFill>
            <a:srgbClr val="0B5A0B"/>
          </a:solidFill>
          <a:ln/>
        </p:spPr>
        <p:txBody>
          <a:bodyPr/>
          <a:lstStyle/>
          <a:p>
            <a:endParaRPr lang="en-US"/>
          </a:p>
        </p:txBody>
      </p:sp>
      <p:pic>
        <p:nvPicPr>
          <p:cNvPr id="25" name="Image 3" descr="/agent/turn1/workspace/output/_anthropic_assets/icon-code-483b7672.png"/>
          <p:cNvPicPr>
            <a:picLocks noChangeAspect="1"/>
          </p:cNvPicPr>
          <p:nvPr/>
        </p:nvPicPr>
        <p:blipFill>
          <a:blip r:embed="rId3"/>
          <a:stretch>
            <a:fillRect/>
          </a:stretch>
        </p:blipFill>
        <p:spPr>
          <a:xfrm>
            <a:off x="6903720" y="3493008"/>
            <a:ext cx="402336" cy="402336"/>
          </a:xfrm>
          <a:prstGeom prst="rect">
            <a:avLst/>
          </a:prstGeom>
        </p:spPr>
      </p:pic>
      <p:sp>
        <p:nvSpPr>
          <p:cNvPr id="26" name="Text 20"/>
          <p:cNvSpPr/>
          <p:nvPr/>
        </p:nvSpPr>
        <p:spPr>
          <a:xfrm>
            <a:off x="7498080" y="3337560"/>
            <a:ext cx="3657600" cy="713232"/>
          </a:xfrm>
          <a:prstGeom prst="rect">
            <a:avLst/>
          </a:prstGeom>
          <a:noFill/>
          <a:ln/>
        </p:spPr>
        <p:txBody>
          <a:bodyPr wrap="square" lIns="0" tIns="0" rIns="0" bIns="0" rtlCol="0" anchor="ctr"/>
          <a:lstStyle/>
          <a:p>
            <a:pPr marL="0" indent="0">
              <a:buNone/>
            </a:pPr>
            <a:r>
              <a:rPr lang="en-US" sz="2000">
                <a:solidFill>
                  <a:srgbClr val="FFFFFF"/>
                </a:solidFill>
                <a:latin typeface="Segoe UI Semibold" pitchFamily="34" charset="0"/>
                <a:ea typeface="Segoe UI Semibold" pitchFamily="34" charset="-122"/>
                <a:cs typeface="Segoe UI Semibold" pitchFamily="34" charset="-120"/>
              </a:rPr>
              <a:t>Templating</a:t>
            </a:r>
            <a:endParaRPr lang="en-US" sz="2000"/>
          </a:p>
        </p:txBody>
      </p:sp>
      <p:sp>
        <p:nvSpPr>
          <p:cNvPr id="27" name="Shape 21"/>
          <p:cNvSpPr/>
          <p:nvPr/>
        </p:nvSpPr>
        <p:spPr>
          <a:xfrm>
            <a:off x="6720840" y="4206240"/>
            <a:ext cx="4599432" cy="713232"/>
          </a:xfrm>
          <a:prstGeom prst="rect">
            <a:avLst/>
          </a:prstGeom>
          <a:solidFill>
            <a:srgbClr val="0B5A0B"/>
          </a:solidFill>
          <a:ln/>
        </p:spPr>
        <p:txBody>
          <a:bodyPr/>
          <a:lstStyle/>
          <a:p>
            <a:endParaRPr lang="en-US"/>
          </a:p>
        </p:txBody>
      </p:sp>
      <p:pic>
        <p:nvPicPr>
          <p:cNvPr id="28" name="Image 4" descr="/agent/turn1/workspace/output/_anthropic_assets/icon-box-8afa8cd4.png"/>
          <p:cNvPicPr>
            <a:picLocks noChangeAspect="1"/>
          </p:cNvPicPr>
          <p:nvPr/>
        </p:nvPicPr>
        <p:blipFill>
          <a:blip r:embed="rId4"/>
          <a:stretch>
            <a:fillRect/>
          </a:stretch>
        </p:blipFill>
        <p:spPr>
          <a:xfrm>
            <a:off x="6903720" y="4361688"/>
            <a:ext cx="402336" cy="402336"/>
          </a:xfrm>
          <a:prstGeom prst="rect">
            <a:avLst/>
          </a:prstGeom>
        </p:spPr>
      </p:pic>
      <p:sp>
        <p:nvSpPr>
          <p:cNvPr id="29" name="Text 22"/>
          <p:cNvSpPr/>
          <p:nvPr/>
        </p:nvSpPr>
        <p:spPr>
          <a:xfrm>
            <a:off x="7498080" y="4206240"/>
            <a:ext cx="3657600" cy="713232"/>
          </a:xfrm>
          <a:prstGeom prst="rect">
            <a:avLst/>
          </a:prstGeom>
          <a:noFill/>
          <a:ln/>
        </p:spPr>
        <p:txBody>
          <a:bodyPr wrap="square" lIns="0" tIns="0" rIns="0" bIns="0" rtlCol="0" anchor="ctr"/>
          <a:lstStyle/>
          <a:p>
            <a:pPr marL="0" indent="0">
              <a:buNone/>
            </a:pPr>
            <a:r>
              <a:rPr lang="en-US" sz="2000">
                <a:solidFill>
                  <a:srgbClr val="FFFFFF"/>
                </a:solidFill>
                <a:latin typeface="Segoe UI Semibold" pitchFamily="34" charset="0"/>
                <a:ea typeface="Segoe UI Semibold" pitchFamily="34" charset="-122"/>
                <a:cs typeface="Segoe UI Semibold" pitchFamily="34" charset="-120"/>
              </a:rPr>
              <a:t>Packaging</a:t>
            </a:r>
            <a:endParaRPr lang="en-US" sz="2000"/>
          </a:p>
        </p:txBody>
      </p:sp>
      <p:sp>
        <p:nvSpPr>
          <p:cNvPr id="30" name="Shape 23"/>
          <p:cNvSpPr/>
          <p:nvPr/>
        </p:nvSpPr>
        <p:spPr>
          <a:xfrm>
            <a:off x="6720840" y="5074920"/>
            <a:ext cx="4599432" cy="713232"/>
          </a:xfrm>
          <a:prstGeom prst="rect">
            <a:avLst/>
          </a:prstGeom>
          <a:solidFill>
            <a:srgbClr val="0B5A0B"/>
          </a:solidFill>
          <a:ln/>
        </p:spPr>
        <p:txBody>
          <a:bodyPr/>
          <a:lstStyle/>
          <a:p>
            <a:endParaRPr lang="en-US"/>
          </a:p>
        </p:txBody>
      </p:sp>
      <p:pic>
        <p:nvPicPr>
          <p:cNvPr id="31" name="Image 5" descr="/agent/turn1/workspace/output/_anthropic_assets/icon-document-9db5b566.png"/>
          <p:cNvPicPr>
            <a:picLocks noChangeAspect="1"/>
          </p:cNvPicPr>
          <p:nvPr/>
        </p:nvPicPr>
        <p:blipFill>
          <a:blip r:embed="rId5"/>
          <a:stretch>
            <a:fillRect/>
          </a:stretch>
        </p:blipFill>
        <p:spPr>
          <a:xfrm>
            <a:off x="6903720" y="5230368"/>
            <a:ext cx="402336" cy="402336"/>
          </a:xfrm>
          <a:prstGeom prst="rect">
            <a:avLst/>
          </a:prstGeom>
        </p:spPr>
      </p:pic>
      <p:sp>
        <p:nvSpPr>
          <p:cNvPr id="32" name="Text 24"/>
          <p:cNvSpPr/>
          <p:nvPr/>
        </p:nvSpPr>
        <p:spPr>
          <a:xfrm>
            <a:off x="7498080" y="5074920"/>
            <a:ext cx="3657600" cy="713232"/>
          </a:xfrm>
          <a:prstGeom prst="rect">
            <a:avLst/>
          </a:prstGeom>
          <a:noFill/>
          <a:ln/>
        </p:spPr>
        <p:txBody>
          <a:bodyPr wrap="square" lIns="0" tIns="0" rIns="0" bIns="0" rtlCol="0" anchor="ctr"/>
          <a:lstStyle/>
          <a:p>
            <a:pPr marL="0" indent="0">
              <a:buNone/>
            </a:pPr>
            <a:r>
              <a:rPr lang="en-US" sz="2000">
                <a:solidFill>
                  <a:srgbClr val="FFFFFF"/>
                </a:solidFill>
                <a:latin typeface="Segoe UI Semibold" pitchFamily="34" charset="0"/>
                <a:ea typeface="Segoe UI Semibold" pitchFamily="34" charset="-122"/>
                <a:cs typeface="Segoe UI Semibold" pitchFamily="34" charset="-120"/>
              </a:rPr>
              <a:t>Release tracking</a:t>
            </a:r>
            <a:endParaRPr lang="en-US" sz="2000"/>
          </a:p>
        </p:txBody>
      </p:sp>
      <p:sp>
        <p:nvSpPr>
          <p:cNvPr id="33"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05E5C"/>
                </a:solidFill>
                <a:latin typeface="Segoe UI"/>
                <a:ea typeface="Segoe UI"/>
                <a:cs typeface="Segoe UI"/>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1376124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166AD457-63DE-4957-B448-025D85F64E14}" type="slidenum">
              <a:rPr lang="en-US" sz="1100">
                <a:solidFill>
                  <a:srgbClr val="605E5C"/>
                </a:solidFill>
                <a:latin typeface="Segoe UI" pitchFamily="34" charset="0"/>
                <a:ea typeface="Segoe UI" pitchFamily="34" charset="-122"/>
                <a:cs typeface="Segoe UI" pitchFamily="34" charset="-120"/>
              </a:rPr>
              <a:t>14</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Helm Key Concepts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766560" cy="3657600"/>
        </p:xfrm>
        <a:graphic>
          <a:graphicData uri="http://schemas.openxmlformats.org/drawingml/2006/table">
            <a:tbl>
              <a:tblPr/>
              <a:tblGrid>
                <a:gridCol w="16459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731520">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Concept</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107C10"/>
                    </a:solidFill>
                  </a:tcPr>
                </a:tc>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Meaning</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107C10"/>
                    </a:solidFill>
                  </a:tcPr>
                </a:tc>
                <a:extLst>
                  <a:ext uri="{0D108BD9-81ED-4DB2-BD59-A6C34878D82A}">
                    <a16:rowId xmlns:a16="http://schemas.microsoft.com/office/drawing/2014/main" val="10000"/>
                  </a:ext>
                </a:extLst>
              </a:tr>
              <a:tr h="731520">
                <a:tc>
                  <a:txBody>
                    <a:bodyPr/>
                    <a:lstStyle/>
                    <a:p>
                      <a:pPr marL="0" indent="0">
                        <a:buNone/>
                      </a:pPr>
                      <a:r>
                        <a:rPr lang="en-US" sz="1500" b="1" dirty="0">
                          <a:solidFill>
                            <a:srgbClr val="323130"/>
                          </a:solidFill>
                          <a:latin typeface="Segoe UI" pitchFamily="34" charset="0"/>
                          <a:ea typeface="Segoe UI" pitchFamily="34" charset="-122"/>
                          <a:cs typeface="Segoe UI" pitchFamily="34" charset="-120"/>
                        </a:rPr>
                        <a:t>Chart</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A package: templates + defaults + metadata</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500" b="1" dirty="0">
                          <a:solidFill>
                            <a:srgbClr val="323130"/>
                          </a:solidFill>
                          <a:latin typeface="Segoe UI" pitchFamily="34" charset="0"/>
                          <a:ea typeface="Segoe UI" pitchFamily="34" charset="-122"/>
                          <a:cs typeface="Segoe UI" pitchFamily="34" charset="-120"/>
                        </a:rPr>
                        <a:t>Values</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Configuration merged into the templates at install time</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extLst>
                  <a:ext uri="{0D108BD9-81ED-4DB2-BD59-A6C34878D82A}">
                    <a16:rowId xmlns:a16="http://schemas.microsoft.com/office/drawing/2014/main" val="10002"/>
                  </a:ext>
                </a:extLst>
              </a:tr>
              <a:tr h="731520">
                <a:tc>
                  <a:txBody>
                    <a:bodyPr/>
                    <a:lstStyle/>
                    <a:p>
                      <a:pPr marL="0" indent="0">
                        <a:buNone/>
                      </a:pPr>
                      <a:r>
                        <a:rPr lang="en-US" sz="1500" b="1" dirty="0">
                          <a:solidFill>
                            <a:srgbClr val="323130"/>
                          </a:solidFill>
                          <a:latin typeface="Segoe UI" pitchFamily="34" charset="0"/>
                          <a:ea typeface="Segoe UI" pitchFamily="34" charset="-122"/>
                          <a:cs typeface="Segoe UI" pitchFamily="34" charset="-120"/>
                        </a:rPr>
                        <a:t>Release</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A running instance of a chart, with a name and a revision history</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500" b="1" dirty="0">
                          <a:solidFill>
                            <a:srgbClr val="323130"/>
                          </a:solidFill>
                          <a:latin typeface="Segoe UI" pitchFamily="34" charset="0"/>
                          <a:ea typeface="Segoe UI" pitchFamily="34" charset="-122"/>
                          <a:cs typeface="Segoe UI" pitchFamily="34" charset="-120"/>
                        </a:rPr>
                        <a:t>Repository</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Where charts are published (HTTP repo or OCI registry)</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extLst>
                  <a:ext uri="{0D108BD9-81ED-4DB2-BD59-A6C34878D82A}">
                    <a16:rowId xmlns:a16="http://schemas.microsoft.com/office/drawing/2014/main" val="10004"/>
                  </a:ext>
                </a:extLst>
              </a:tr>
            </a:tbl>
          </a:graphicData>
        </a:graphic>
      </p:graphicFrame>
      <p:sp>
        <p:nvSpPr>
          <p:cNvPr id="11" name="Shape 8"/>
          <p:cNvSpPr/>
          <p:nvPr/>
        </p:nvSpPr>
        <p:spPr>
          <a:xfrm>
            <a:off x="7680960" y="1783080"/>
            <a:ext cx="3959352" cy="4251960"/>
          </a:xfrm>
          <a:prstGeom prst="rect">
            <a:avLst/>
          </a:prstGeom>
          <a:solidFill>
            <a:srgbClr val="DFF6DD"/>
          </a:solidFill>
          <a:ln/>
        </p:spPr>
        <p:txBody>
          <a:bodyPr/>
          <a:lstStyle/>
          <a:p>
            <a:endParaRPr lang="en-US"/>
          </a:p>
        </p:txBody>
      </p:sp>
      <p:sp>
        <p:nvSpPr>
          <p:cNvPr id="12" name="Text 9"/>
          <p:cNvSpPr/>
          <p:nvPr/>
        </p:nvSpPr>
        <p:spPr>
          <a:xfrm>
            <a:off x="8549640" y="2011680"/>
            <a:ext cx="2194560" cy="685800"/>
          </a:xfrm>
          <a:prstGeom prst="rect">
            <a:avLst/>
          </a:prstGeom>
          <a:solidFill>
            <a:srgbClr val="107C10"/>
          </a:solidFill>
          <a:ln/>
        </p:spPr>
        <p:txBody>
          <a:bodyPr wrap="square" lIns="76200" tIns="76200" rIns="76200" bIns="7620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Chart: myapp</a:t>
            </a:r>
            <a:endParaRPr lang="en-US" sz="1600" dirty="0"/>
          </a:p>
        </p:txBody>
      </p:sp>
      <p:sp>
        <p:nvSpPr>
          <p:cNvPr id="13" name="Shape 10"/>
          <p:cNvSpPr/>
          <p:nvPr/>
        </p:nvSpPr>
        <p:spPr>
          <a:xfrm flipH="1">
            <a:off x="8458200" y="2724912"/>
            <a:ext cx="1188720" cy="768096"/>
          </a:xfrm>
          <a:prstGeom prst="line">
            <a:avLst/>
          </a:prstGeom>
          <a:noFill/>
          <a:ln w="22225">
            <a:solidFill>
              <a:srgbClr val="107C10"/>
            </a:solidFill>
            <a:prstDash val="solid"/>
            <a:tailEnd type="triangle"/>
          </a:ln>
        </p:spPr>
        <p:txBody>
          <a:bodyPr/>
          <a:lstStyle/>
          <a:p>
            <a:endParaRPr lang="en-US"/>
          </a:p>
        </p:txBody>
      </p:sp>
      <p:sp>
        <p:nvSpPr>
          <p:cNvPr id="14" name="Text 11"/>
          <p:cNvSpPr/>
          <p:nvPr/>
        </p:nvSpPr>
        <p:spPr>
          <a:xfrm>
            <a:off x="7909560" y="3520440"/>
            <a:ext cx="1097280" cy="777240"/>
          </a:xfrm>
          <a:prstGeom prst="rect">
            <a:avLst/>
          </a:prstGeom>
          <a:solidFill>
            <a:srgbClr val="FFFFFF"/>
          </a:solidFill>
          <a:ln w="15875">
            <a:solidFill>
              <a:srgbClr val="107C10"/>
            </a:solidFill>
          </a:ln>
        </p:spPr>
        <p:txBody>
          <a:bodyPr wrap="square" lIns="76200" tIns="76200" rIns="76200" bIns="76200" rtlCol="0" anchor="ctr"/>
          <a:lstStyle/>
          <a:p>
            <a:pPr marL="0" indent="0" algn="ctr">
              <a:buNone/>
            </a:pPr>
            <a:r>
              <a:rPr lang="en-US" sz="1200" dirty="0">
                <a:solidFill>
                  <a:srgbClr val="201F1E"/>
                </a:solidFill>
                <a:latin typeface="Segoe UI Semibold" pitchFamily="34" charset="0"/>
                <a:ea typeface="Segoe UI Semibold" pitchFamily="34" charset="-122"/>
                <a:cs typeface="Segoe UI Semibold" pitchFamily="34" charset="-120"/>
              </a:rPr>
              <a:t>Release: dev</a:t>
            </a:r>
            <a:endParaRPr lang="en-US" sz="1200" dirty="0"/>
          </a:p>
        </p:txBody>
      </p:sp>
      <p:sp>
        <p:nvSpPr>
          <p:cNvPr id="15" name="Text 12"/>
          <p:cNvSpPr/>
          <p:nvPr/>
        </p:nvSpPr>
        <p:spPr>
          <a:xfrm>
            <a:off x="7854696" y="4370832"/>
            <a:ext cx="1207008" cy="274320"/>
          </a:xfrm>
          <a:prstGeom prst="rect">
            <a:avLst/>
          </a:prstGeom>
          <a:noFill/>
          <a:ln/>
        </p:spPr>
        <p:txBody>
          <a:bodyPr wrap="square" lIns="0" tIns="0" rIns="0" bIns="0" rtlCol="0" anchor="ctr"/>
          <a:lstStyle/>
          <a:p>
            <a:pPr marL="0" indent="0" algn="ctr">
              <a:buNone/>
            </a:pPr>
            <a:r>
              <a:rPr lang="en-US" sz="1000" dirty="0">
                <a:solidFill>
                  <a:srgbClr val="605E5C"/>
                </a:solidFill>
                <a:latin typeface="Consolas" pitchFamily="34" charset="0"/>
                <a:ea typeface="Consolas" pitchFamily="34" charset="-122"/>
                <a:cs typeface="Consolas" pitchFamily="34" charset="-120"/>
              </a:rPr>
              <a:t>values-dev.yaml</a:t>
            </a:r>
            <a:endParaRPr lang="en-US" sz="1000" dirty="0"/>
          </a:p>
        </p:txBody>
      </p:sp>
      <p:sp>
        <p:nvSpPr>
          <p:cNvPr id="16" name="Shape 13"/>
          <p:cNvSpPr/>
          <p:nvPr/>
        </p:nvSpPr>
        <p:spPr>
          <a:xfrm>
            <a:off x="9646920" y="2724912"/>
            <a:ext cx="27432" cy="768096"/>
          </a:xfrm>
          <a:prstGeom prst="line">
            <a:avLst/>
          </a:prstGeom>
          <a:noFill/>
          <a:ln w="22225">
            <a:solidFill>
              <a:srgbClr val="107C10"/>
            </a:solidFill>
            <a:prstDash val="solid"/>
            <a:tailEnd type="triangle"/>
          </a:ln>
        </p:spPr>
        <p:txBody>
          <a:bodyPr/>
          <a:lstStyle/>
          <a:p>
            <a:endParaRPr lang="en-US"/>
          </a:p>
        </p:txBody>
      </p:sp>
      <p:sp>
        <p:nvSpPr>
          <p:cNvPr id="17" name="Text 14"/>
          <p:cNvSpPr/>
          <p:nvPr/>
        </p:nvSpPr>
        <p:spPr>
          <a:xfrm>
            <a:off x="9125712" y="3520440"/>
            <a:ext cx="1097280" cy="777240"/>
          </a:xfrm>
          <a:prstGeom prst="rect">
            <a:avLst/>
          </a:prstGeom>
          <a:solidFill>
            <a:srgbClr val="FFFFFF"/>
          </a:solidFill>
          <a:ln w="15875">
            <a:solidFill>
              <a:srgbClr val="107C10"/>
            </a:solidFill>
          </a:ln>
        </p:spPr>
        <p:txBody>
          <a:bodyPr wrap="square" lIns="76200" tIns="76200" rIns="76200" bIns="76200" rtlCol="0" anchor="ctr"/>
          <a:lstStyle/>
          <a:p>
            <a:pPr marL="0" indent="0" algn="ctr">
              <a:buNone/>
            </a:pPr>
            <a:r>
              <a:rPr lang="en-US" sz="1200" dirty="0">
                <a:solidFill>
                  <a:srgbClr val="201F1E"/>
                </a:solidFill>
                <a:latin typeface="Segoe UI Semibold" pitchFamily="34" charset="0"/>
                <a:ea typeface="Segoe UI Semibold" pitchFamily="34" charset="-122"/>
                <a:cs typeface="Segoe UI Semibold" pitchFamily="34" charset="-120"/>
              </a:rPr>
              <a:t>Release: test</a:t>
            </a:r>
            <a:endParaRPr lang="en-US" sz="1200" dirty="0"/>
          </a:p>
        </p:txBody>
      </p:sp>
      <p:sp>
        <p:nvSpPr>
          <p:cNvPr id="18" name="Text 15"/>
          <p:cNvSpPr/>
          <p:nvPr/>
        </p:nvSpPr>
        <p:spPr>
          <a:xfrm>
            <a:off x="9070848" y="4370832"/>
            <a:ext cx="1207008" cy="274320"/>
          </a:xfrm>
          <a:prstGeom prst="rect">
            <a:avLst/>
          </a:prstGeom>
          <a:noFill/>
          <a:ln/>
        </p:spPr>
        <p:txBody>
          <a:bodyPr wrap="square" lIns="0" tIns="0" rIns="0" bIns="0" rtlCol="0" anchor="ctr"/>
          <a:lstStyle/>
          <a:p>
            <a:pPr marL="0" indent="0" algn="ctr">
              <a:buNone/>
            </a:pPr>
            <a:r>
              <a:rPr lang="en-US" sz="1000" dirty="0">
                <a:solidFill>
                  <a:srgbClr val="605E5C"/>
                </a:solidFill>
                <a:latin typeface="Consolas" pitchFamily="34" charset="0"/>
                <a:ea typeface="Consolas" pitchFamily="34" charset="-122"/>
                <a:cs typeface="Consolas" pitchFamily="34" charset="-120"/>
              </a:rPr>
              <a:t>values-test.yaml</a:t>
            </a:r>
            <a:endParaRPr lang="en-US" sz="1000" dirty="0"/>
          </a:p>
        </p:txBody>
      </p:sp>
      <p:sp>
        <p:nvSpPr>
          <p:cNvPr id="19" name="Shape 16"/>
          <p:cNvSpPr/>
          <p:nvPr/>
        </p:nvSpPr>
        <p:spPr>
          <a:xfrm>
            <a:off x="9646920" y="2724912"/>
            <a:ext cx="1243584" cy="768096"/>
          </a:xfrm>
          <a:prstGeom prst="line">
            <a:avLst/>
          </a:prstGeom>
          <a:noFill/>
          <a:ln w="22225">
            <a:solidFill>
              <a:srgbClr val="107C10"/>
            </a:solidFill>
            <a:prstDash val="solid"/>
            <a:tailEnd type="triangle"/>
          </a:ln>
        </p:spPr>
        <p:txBody>
          <a:bodyPr/>
          <a:lstStyle/>
          <a:p>
            <a:endParaRPr lang="en-US"/>
          </a:p>
        </p:txBody>
      </p:sp>
      <p:sp>
        <p:nvSpPr>
          <p:cNvPr id="20" name="Text 17"/>
          <p:cNvSpPr/>
          <p:nvPr/>
        </p:nvSpPr>
        <p:spPr>
          <a:xfrm>
            <a:off x="10341864" y="3520440"/>
            <a:ext cx="1097280" cy="777240"/>
          </a:xfrm>
          <a:prstGeom prst="rect">
            <a:avLst/>
          </a:prstGeom>
          <a:solidFill>
            <a:srgbClr val="FFFFFF"/>
          </a:solidFill>
          <a:ln w="15875">
            <a:solidFill>
              <a:srgbClr val="107C10"/>
            </a:solidFill>
          </a:ln>
        </p:spPr>
        <p:txBody>
          <a:bodyPr wrap="square" lIns="76200" tIns="76200" rIns="76200" bIns="76200" rtlCol="0" anchor="ctr"/>
          <a:lstStyle/>
          <a:p>
            <a:pPr marL="0" indent="0" algn="ctr">
              <a:buNone/>
            </a:pPr>
            <a:r>
              <a:rPr lang="en-US" sz="1200" dirty="0">
                <a:solidFill>
                  <a:srgbClr val="201F1E"/>
                </a:solidFill>
                <a:latin typeface="Segoe UI Semibold" pitchFamily="34" charset="0"/>
                <a:ea typeface="Segoe UI Semibold" pitchFamily="34" charset="-122"/>
                <a:cs typeface="Segoe UI Semibold" pitchFamily="34" charset="-120"/>
              </a:rPr>
              <a:t>Release: prod</a:t>
            </a:r>
            <a:endParaRPr lang="en-US" sz="1200" dirty="0"/>
          </a:p>
        </p:txBody>
      </p:sp>
      <p:sp>
        <p:nvSpPr>
          <p:cNvPr id="21" name="Text 18"/>
          <p:cNvSpPr/>
          <p:nvPr/>
        </p:nvSpPr>
        <p:spPr>
          <a:xfrm>
            <a:off x="10287000" y="4370832"/>
            <a:ext cx="1207008" cy="274320"/>
          </a:xfrm>
          <a:prstGeom prst="rect">
            <a:avLst/>
          </a:prstGeom>
          <a:noFill/>
          <a:ln/>
        </p:spPr>
        <p:txBody>
          <a:bodyPr wrap="square" lIns="0" tIns="0" rIns="0" bIns="0" rtlCol="0" anchor="ctr"/>
          <a:lstStyle/>
          <a:p>
            <a:pPr marL="0" indent="0" algn="ctr">
              <a:buNone/>
            </a:pPr>
            <a:r>
              <a:rPr lang="en-US" sz="1000" dirty="0">
                <a:solidFill>
                  <a:srgbClr val="605E5C"/>
                </a:solidFill>
                <a:latin typeface="Consolas" pitchFamily="34" charset="0"/>
                <a:ea typeface="Consolas" pitchFamily="34" charset="-122"/>
                <a:cs typeface="Consolas" pitchFamily="34" charset="-120"/>
              </a:rPr>
              <a:t>values-prod.yaml</a:t>
            </a:r>
            <a:endParaRPr lang="en-US" sz="1000" dirty="0"/>
          </a:p>
        </p:txBody>
      </p:sp>
      <p:sp>
        <p:nvSpPr>
          <p:cNvPr id="22" name="Text 19"/>
          <p:cNvSpPr/>
          <p:nvPr/>
        </p:nvSpPr>
        <p:spPr>
          <a:xfrm>
            <a:off x="7909560" y="4892040"/>
            <a:ext cx="3520440" cy="960120"/>
          </a:xfrm>
          <a:prstGeom prst="rect">
            <a:avLst/>
          </a:prstGeom>
          <a:noFill/>
          <a:ln/>
        </p:spPr>
        <p:txBody>
          <a:bodyPr wrap="square" lIns="0" tIns="0" rIns="0" bIns="0" rtlCol="0" anchor="t"/>
          <a:lstStyle/>
          <a:p>
            <a:pPr marL="0" indent="0">
              <a:buNone/>
            </a:pPr>
            <a:r>
              <a:rPr lang="en-US" sz="1500" dirty="0">
                <a:solidFill>
                  <a:srgbClr val="0B5A0B"/>
                </a:solidFill>
                <a:latin typeface="Segoe UI Semibold" pitchFamily="34" charset="0"/>
                <a:ea typeface="Segoe UI Semibold" pitchFamily="34" charset="-122"/>
                <a:cs typeface="Segoe UI Semibold" pitchFamily="34" charset="-120"/>
              </a:rPr>
              <a:t>One chart → many releases (dev, test, prod) with different values.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9BE564"/>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DD38C269-C876-4844-94EC-0E8A96096B84}" type="slidenum">
              <a:rPr lang="en-US" sz="1100">
                <a:solidFill>
                  <a:srgbClr val="A9B8C8"/>
                </a:solidFill>
                <a:latin typeface="Segoe UI" pitchFamily="34" charset="0"/>
                <a:ea typeface="Segoe UI" pitchFamily="34" charset="-122"/>
                <a:cs typeface="Segoe UI" pitchFamily="34" charset="-120"/>
              </a:rPr>
              <a:t>15</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Anatomy of a Chart</a:t>
            </a:r>
            <a:endParaRPr lang="en-US" sz="3200" dirty="0"/>
          </a:p>
        </p:txBody>
      </p:sp>
      <p:sp>
        <p:nvSpPr>
          <p:cNvPr id="10" name="Shape 8"/>
          <p:cNvSpPr/>
          <p:nvPr/>
        </p:nvSpPr>
        <p:spPr>
          <a:xfrm>
            <a:off x="548640" y="1737360"/>
            <a:ext cx="6035040" cy="4343400"/>
          </a:xfrm>
          <a:prstGeom prst="rect">
            <a:avLst/>
          </a:prstGeom>
          <a:solidFill>
            <a:srgbClr val="1E1E1E"/>
          </a:solidFill>
          <a:ln/>
        </p:spPr>
        <p:txBody>
          <a:bodyPr/>
          <a:lstStyle/>
          <a:p>
            <a:endParaRPr lang="en-US"/>
          </a:p>
        </p:txBody>
      </p:sp>
      <p:sp>
        <p:nvSpPr>
          <p:cNvPr id="11" name="Shape 9"/>
          <p:cNvSpPr/>
          <p:nvPr/>
        </p:nvSpPr>
        <p:spPr>
          <a:xfrm>
            <a:off x="548640" y="1737360"/>
            <a:ext cx="6035040" cy="347472"/>
          </a:xfrm>
          <a:prstGeom prst="rect">
            <a:avLst/>
          </a:prstGeom>
          <a:solidFill>
            <a:srgbClr val="2D2D30"/>
          </a:solidFill>
          <a:ln/>
        </p:spPr>
        <p:txBody>
          <a:bodyPr/>
          <a:lstStyle/>
          <a:p>
            <a:endParaRPr lang="en-US"/>
          </a:p>
        </p:txBody>
      </p:sp>
      <p:sp>
        <p:nvSpPr>
          <p:cNvPr id="12" name="Shape 10"/>
          <p:cNvSpPr/>
          <p:nvPr/>
        </p:nvSpPr>
        <p:spPr>
          <a:xfrm>
            <a:off x="548640" y="1737360"/>
            <a:ext cx="2103120" cy="347472"/>
          </a:xfrm>
          <a:prstGeom prst="rect">
            <a:avLst/>
          </a:prstGeom>
          <a:solidFill>
            <a:srgbClr val="1E1E1E"/>
          </a:solidFill>
          <a:ln/>
        </p:spPr>
        <p:txBody>
          <a:bodyPr/>
          <a:lstStyle/>
          <a:p>
            <a:endParaRPr lang="en-US"/>
          </a:p>
        </p:txBody>
      </p:sp>
      <p:sp>
        <p:nvSpPr>
          <p:cNvPr id="13" name="Text 11"/>
          <p:cNvSpPr/>
          <p:nvPr/>
        </p:nvSpPr>
        <p:spPr>
          <a:xfrm>
            <a:off x="685800" y="1737360"/>
            <a:ext cx="1920240"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myapp — chart layout</a:t>
            </a:r>
            <a:endParaRPr lang="en-US" sz="1100" dirty="0"/>
          </a:p>
        </p:txBody>
      </p:sp>
      <p:sp>
        <p:nvSpPr>
          <p:cNvPr id="14" name="Text 12"/>
          <p:cNvSpPr/>
          <p:nvPr/>
        </p:nvSpPr>
        <p:spPr>
          <a:xfrm>
            <a:off x="749808" y="2212848"/>
            <a:ext cx="5669280" cy="3749040"/>
          </a:xfrm>
          <a:prstGeom prst="rect">
            <a:avLst/>
          </a:prstGeom>
          <a:noFill/>
          <a:ln/>
        </p:spPr>
        <p:txBody>
          <a:bodyPr wrap="square" lIns="0" tIns="0" rIns="0" bIns="0" rtlCol="0" anchor="t"/>
          <a:lstStyle/>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myapp</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Chart.yaml       </a:t>
            </a:r>
            <a:r>
              <a:rPr lang="en-US" sz="1500" dirty="0">
                <a:solidFill>
                  <a:srgbClr val="6A9955"/>
                </a:solidFill>
                <a:latin typeface="Consolas" pitchFamily="34" charset="0"/>
                <a:ea typeface="Consolas" pitchFamily="34" charset="-122"/>
                <a:cs typeface="Consolas" pitchFamily="34" charset="-120"/>
              </a:rPr>
              <a:t> # name, version, appVersion</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values.yaml      </a:t>
            </a:r>
            <a:r>
              <a:rPr lang="en-US" sz="1500" dirty="0">
                <a:solidFill>
                  <a:srgbClr val="6A9955"/>
                </a:solidFill>
                <a:latin typeface="Consolas" pitchFamily="34" charset="0"/>
                <a:ea typeface="Consolas" pitchFamily="34" charset="-122"/>
                <a:cs typeface="Consolas" pitchFamily="34" charset="-120"/>
              </a:rPr>
              <a:t> # default configuration</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charts           </a:t>
            </a:r>
            <a:r>
              <a:rPr lang="en-US" sz="1500" dirty="0">
                <a:solidFill>
                  <a:srgbClr val="6A9955"/>
                </a:solidFill>
                <a:latin typeface="Consolas" pitchFamily="34" charset="0"/>
                <a:ea typeface="Consolas" pitchFamily="34" charset="-122"/>
                <a:cs typeface="Consolas" pitchFamily="34" charset="-120"/>
              </a:rPr>
              <a:t> # dependencies (subcharts)</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templates</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deployment.yaml</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service.yaml</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httproute.yaml</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_helpers.tpl   </a:t>
            </a:r>
            <a:r>
              <a:rPr lang="en-US" sz="1500" dirty="0">
                <a:solidFill>
                  <a:srgbClr val="6A9955"/>
                </a:solidFill>
                <a:latin typeface="Consolas" pitchFamily="34" charset="0"/>
                <a:ea typeface="Consolas" pitchFamily="34" charset="-122"/>
                <a:cs typeface="Consolas" pitchFamily="34" charset="-120"/>
              </a:rPr>
              <a:t> # reusable named templates</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NOTES.txt      </a:t>
            </a:r>
            <a:r>
              <a:rPr lang="en-US" sz="1500" dirty="0">
                <a:solidFill>
                  <a:srgbClr val="6A9955"/>
                </a:solidFill>
                <a:latin typeface="Consolas" pitchFamily="34" charset="0"/>
                <a:ea typeface="Consolas" pitchFamily="34" charset="-122"/>
                <a:cs typeface="Consolas" pitchFamily="34" charset="-120"/>
              </a:rPr>
              <a:t> # printed after install</a:t>
            </a:r>
            <a:endParaRPr lang="en-US" sz="1500" dirty="0"/>
          </a:p>
          <a:p>
            <a:pPr marL="0" indent="0">
              <a:lnSpc>
                <a:spcPct val="105000"/>
              </a:lnSpc>
              <a:buNone/>
            </a:pPr>
            <a:r>
              <a:rPr lang="en-US" sz="1500" dirty="0">
                <a:solidFill>
                  <a:srgbClr val="D4D4D4"/>
                </a:solidFill>
                <a:latin typeface="Consolas" pitchFamily="34" charset="0"/>
                <a:ea typeface="Consolas" pitchFamily="34" charset="-122"/>
                <a:cs typeface="Consolas" pitchFamily="34" charset="-120"/>
              </a:rPr>
              <a:t>  .helmignore</a:t>
            </a:r>
            <a:endParaRPr lang="en-US" sz="1500" dirty="0"/>
          </a:p>
        </p:txBody>
      </p:sp>
      <p:sp>
        <p:nvSpPr>
          <p:cNvPr id="15" name="Shape 13"/>
          <p:cNvSpPr/>
          <p:nvPr/>
        </p:nvSpPr>
        <p:spPr>
          <a:xfrm>
            <a:off x="6903720" y="1737360"/>
            <a:ext cx="4736592" cy="1325880"/>
          </a:xfrm>
          <a:prstGeom prst="rect">
            <a:avLst/>
          </a:prstGeom>
          <a:solidFill>
            <a:srgbClr val="16304A"/>
          </a:solidFill>
          <a:ln/>
        </p:spPr>
        <p:txBody>
          <a:bodyPr/>
          <a:lstStyle/>
          <a:p>
            <a:endParaRPr lang="en-US"/>
          </a:p>
        </p:txBody>
      </p:sp>
      <p:sp>
        <p:nvSpPr>
          <p:cNvPr id="16" name="Shape 14"/>
          <p:cNvSpPr/>
          <p:nvPr/>
        </p:nvSpPr>
        <p:spPr>
          <a:xfrm>
            <a:off x="7132320" y="1965960"/>
            <a:ext cx="502920" cy="502920"/>
          </a:xfrm>
          <a:prstGeom prst="ellipse">
            <a:avLst/>
          </a:prstGeom>
          <a:solidFill>
            <a:srgbClr val="107C10"/>
          </a:solidFill>
          <a:ln/>
        </p:spPr>
        <p:txBody>
          <a:bodyPr/>
          <a:lstStyle/>
          <a:p>
            <a:endParaRPr lang="en-US"/>
          </a:p>
        </p:txBody>
      </p:sp>
      <p:pic>
        <p:nvPicPr>
          <p:cNvPr id="17" name="Image 0" descr="/agent/turn2/workspace/output/_anthropic_assets/icon-document-f36ec721.png"/>
          <p:cNvPicPr>
            <a:picLocks noChangeAspect="1"/>
          </p:cNvPicPr>
          <p:nvPr/>
        </p:nvPicPr>
        <p:blipFill>
          <a:blip r:embed="rId2"/>
          <a:stretch>
            <a:fillRect/>
          </a:stretch>
        </p:blipFill>
        <p:spPr>
          <a:xfrm>
            <a:off x="7242962" y="2076602"/>
            <a:ext cx="281635" cy="281635"/>
          </a:xfrm>
          <a:prstGeom prst="rect">
            <a:avLst/>
          </a:prstGeom>
        </p:spPr>
      </p:pic>
      <p:sp>
        <p:nvSpPr>
          <p:cNvPr id="18" name="Text 15"/>
          <p:cNvSpPr/>
          <p:nvPr/>
        </p:nvSpPr>
        <p:spPr>
          <a:xfrm>
            <a:off x="7863840" y="1920240"/>
            <a:ext cx="3593592" cy="384048"/>
          </a:xfrm>
          <a:prstGeom prst="rect">
            <a:avLst/>
          </a:prstGeom>
          <a:noFill/>
          <a:ln/>
        </p:spPr>
        <p:txBody>
          <a:bodyPr wrap="square" lIns="0" tIns="0" rIns="0" bIns="0" rtlCol="0" anchor="ctr"/>
          <a:lstStyle/>
          <a:p>
            <a:pPr marL="0" indent="0">
              <a:buNone/>
            </a:pPr>
            <a:r>
              <a:rPr lang="en-US" sz="1700" dirty="0">
                <a:solidFill>
                  <a:srgbClr val="FFFFFF"/>
                </a:solidFill>
                <a:latin typeface="Segoe UI Semibold" pitchFamily="34" charset="0"/>
                <a:ea typeface="Segoe UI Semibold" pitchFamily="34" charset="-122"/>
                <a:cs typeface="Segoe UI Semibold" pitchFamily="34" charset="-120"/>
              </a:rPr>
              <a:t>Chart.yaml</a:t>
            </a:r>
            <a:endParaRPr lang="en-US" sz="1700" dirty="0"/>
          </a:p>
        </p:txBody>
      </p:sp>
      <p:sp>
        <p:nvSpPr>
          <p:cNvPr id="19" name="Text 16"/>
          <p:cNvSpPr/>
          <p:nvPr/>
        </p:nvSpPr>
        <p:spPr>
          <a:xfrm>
            <a:off x="7863840" y="2331720"/>
            <a:ext cx="3593592" cy="594360"/>
          </a:xfrm>
          <a:prstGeom prst="rect">
            <a:avLst/>
          </a:prstGeom>
          <a:noFill/>
          <a:ln/>
        </p:spPr>
        <p:txBody>
          <a:bodyPr wrap="square" lIns="0" tIns="0" rIns="0" bIns="0" rtlCol="0" anchor="t"/>
          <a:lstStyle/>
          <a:p>
            <a:pPr marL="0" indent="0">
              <a:buNone/>
            </a:pPr>
            <a:r>
              <a:rPr lang="en-US" sz="1400" dirty="0">
                <a:solidFill>
                  <a:srgbClr val="D0D8E2"/>
                </a:solidFill>
                <a:latin typeface="Segoe UI" pitchFamily="34" charset="0"/>
                <a:ea typeface="Segoe UI" pitchFamily="34" charset="-122"/>
                <a:cs typeface="Segoe UI" pitchFamily="34" charset="-120"/>
              </a:rPr>
              <a:t>Metadata: chart </a:t>
            </a:r>
            <a:r>
              <a:rPr lang="en-US" sz="1400" dirty="0">
                <a:solidFill>
                  <a:srgbClr val="9CDCFE"/>
                </a:solidFill>
                <a:latin typeface="Consolas" pitchFamily="34" charset="0"/>
                <a:ea typeface="Consolas" pitchFamily="34" charset="-122"/>
                <a:cs typeface="Consolas" pitchFamily="34" charset="-120"/>
              </a:rPr>
              <a:t>name</a:t>
            </a:r>
            <a:r>
              <a:rPr lang="en-US" sz="1400" dirty="0">
                <a:solidFill>
                  <a:srgbClr val="D0D8E2"/>
                </a:solidFill>
                <a:latin typeface="Segoe UI" pitchFamily="34" charset="0"/>
                <a:ea typeface="Segoe UI" pitchFamily="34" charset="-122"/>
                <a:cs typeface="Segoe UI" pitchFamily="34" charset="-120"/>
              </a:rPr>
              <a:t>, chart </a:t>
            </a:r>
            <a:r>
              <a:rPr lang="en-US" sz="1400" dirty="0">
                <a:solidFill>
                  <a:srgbClr val="9CDCFE"/>
                </a:solidFill>
                <a:latin typeface="Consolas" pitchFamily="34" charset="0"/>
                <a:ea typeface="Consolas" pitchFamily="34" charset="-122"/>
                <a:cs typeface="Consolas" pitchFamily="34" charset="-120"/>
              </a:rPr>
              <a:t>version</a:t>
            </a:r>
            <a:r>
              <a:rPr lang="en-US" sz="1400" dirty="0">
                <a:solidFill>
                  <a:srgbClr val="D0D8E2"/>
                </a:solidFill>
                <a:latin typeface="Segoe UI" pitchFamily="34" charset="0"/>
                <a:ea typeface="Segoe UI" pitchFamily="34" charset="-122"/>
                <a:cs typeface="Segoe UI" pitchFamily="34" charset="-120"/>
              </a:rPr>
              <a:t>, </a:t>
            </a:r>
            <a:r>
              <a:rPr lang="en-US" sz="1400" dirty="0">
                <a:solidFill>
                  <a:srgbClr val="9CDCFE"/>
                </a:solidFill>
                <a:latin typeface="Consolas" pitchFamily="34" charset="0"/>
                <a:ea typeface="Consolas" pitchFamily="34" charset="-122"/>
                <a:cs typeface="Consolas" pitchFamily="34" charset="-120"/>
              </a:rPr>
              <a:t>appVersion</a:t>
            </a:r>
            <a:r>
              <a:rPr lang="en-US" sz="1400" dirty="0">
                <a:solidFill>
                  <a:srgbClr val="D0D8E2"/>
                </a:solidFill>
                <a:latin typeface="Segoe UI" pitchFamily="34" charset="0"/>
                <a:ea typeface="Segoe UI" pitchFamily="34" charset="-122"/>
                <a:cs typeface="Segoe UI" pitchFamily="34" charset="-120"/>
              </a:rPr>
              <a:t>, dependencies.</a:t>
            </a:r>
            <a:endParaRPr lang="en-US" sz="1400" dirty="0"/>
          </a:p>
        </p:txBody>
      </p:sp>
      <p:sp>
        <p:nvSpPr>
          <p:cNvPr id="20" name="Shape 17"/>
          <p:cNvSpPr/>
          <p:nvPr/>
        </p:nvSpPr>
        <p:spPr>
          <a:xfrm>
            <a:off x="6903720" y="3246120"/>
            <a:ext cx="4736592" cy="1325880"/>
          </a:xfrm>
          <a:prstGeom prst="rect">
            <a:avLst/>
          </a:prstGeom>
          <a:solidFill>
            <a:srgbClr val="16304A"/>
          </a:solidFill>
          <a:ln/>
        </p:spPr>
        <p:txBody>
          <a:bodyPr/>
          <a:lstStyle/>
          <a:p>
            <a:endParaRPr lang="en-US"/>
          </a:p>
        </p:txBody>
      </p:sp>
      <p:sp>
        <p:nvSpPr>
          <p:cNvPr id="21" name="Shape 18"/>
          <p:cNvSpPr/>
          <p:nvPr/>
        </p:nvSpPr>
        <p:spPr>
          <a:xfrm>
            <a:off x="7132320" y="3474720"/>
            <a:ext cx="502920" cy="502920"/>
          </a:xfrm>
          <a:prstGeom prst="ellipse">
            <a:avLst/>
          </a:prstGeom>
          <a:solidFill>
            <a:srgbClr val="107C10"/>
          </a:solidFill>
          <a:ln/>
        </p:spPr>
        <p:txBody>
          <a:bodyPr/>
          <a:lstStyle/>
          <a:p>
            <a:endParaRPr lang="en-US"/>
          </a:p>
        </p:txBody>
      </p:sp>
      <p:pic>
        <p:nvPicPr>
          <p:cNvPr id="22" name="Image 1" descr="/agent/turn2/workspace/output/_anthropic_assets/icon-settings-29333648.png"/>
          <p:cNvPicPr>
            <a:picLocks noChangeAspect="1"/>
          </p:cNvPicPr>
          <p:nvPr/>
        </p:nvPicPr>
        <p:blipFill>
          <a:blip r:embed="rId3"/>
          <a:stretch>
            <a:fillRect/>
          </a:stretch>
        </p:blipFill>
        <p:spPr>
          <a:xfrm>
            <a:off x="7242962" y="3585362"/>
            <a:ext cx="281635" cy="281635"/>
          </a:xfrm>
          <a:prstGeom prst="rect">
            <a:avLst/>
          </a:prstGeom>
        </p:spPr>
      </p:pic>
      <p:sp>
        <p:nvSpPr>
          <p:cNvPr id="23" name="Text 19"/>
          <p:cNvSpPr/>
          <p:nvPr/>
        </p:nvSpPr>
        <p:spPr>
          <a:xfrm>
            <a:off x="7863840" y="3429000"/>
            <a:ext cx="3593592" cy="384048"/>
          </a:xfrm>
          <a:prstGeom prst="rect">
            <a:avLst/>
          </a:prstGeom>
          <a:noFill/>
          <a:ln/>
        </p:spPr>
        <p:txBody>
          <a:bodyPr wrap="square" lIns="0" tIns="0" rIns="0" bIns="0" rtlCol="0" anchor="ctr"/>
          <a:lstStyle/>
          <a:p>
            <a:pPr marL="0" indent="0">
              <a:buNone/>
            </a:pPr>
            <a:r>
              <a:rPr lang="en-US" sz="1700" dirty="0">
                <a:solidFill>
                  <a:srgbClr val="FFFFFF"/>
                </a:solidFill>
                <a:latin typeface="Segoe UI Semibold" pitchFamily="34" charset="0"/>
                <a:ea typeface="Segoe UI Semibold" pitchFamily="34" charset="-122"/>
                <a:cs typeface="Segoe UI Semibold" pitchFamily="34" charset="-120"/>
              </a:rPr>
              <a:t>values.yaml</a:t>
            </a:r>
            <a:endParaRPr lang="en-US" sz="1700" dirty="0"/>
          </a:p>
        </p:txBody>
      </p:sp>
      <p:sp>
        <p:nvSpPr>
          <p:cNvPr id="24" name="Text 20"/>
          <p:cNvSpPr/>
          <p:nvPr/>
        </p:nvSpPr>
        <p:spPr>
          <a:xfrm>
            <a:off x="7863840" y="3840480"/>
            <a:ext cx="3593592" cy="594360"/>
          </a:xfrm>
          <a:prstGeom prst="rect">
            <a:avLst/>
          </a:prstGeom>
          <a:noFill/>
          <a:ln/>
        </p:spPr>
        <p:txBody>
          <a:bodyPr wrap="square" lIns="0" tIns="0" rIns="0" bIns="0" rtlCol="0" anchor="t"/>
          <a:lstStyle/>
          <a:p>
            <a:pPr marL="0" indent="0">
              <a:buNone/>
            </a:pPr>
            <a:r>
              <a:rPr lang="en-US" sz="1400" dirty="0">
                <a:solidFill>
                  <a:srgbClr val="D0D8E2"/>
                </a:solidFill>
                <a:latin typeface="Segoe UI" pitchFamily="34" charset="0"/>
                <a:ea typeface="Segoe UI" pitchFamily="34" charset="-122"/>
                <a:cs typeface="Segoe UI" pitchFamily="34" charset="-120"/>
              </a:rPr>
              <a:t>Defaults every environment starts from — override, don't fork.</a:t>
            </a:r>
            <a:endParaRPr lang="en-US" sz="1400" dirty="0"/>
          </a:p>
        </p:txBody>
      </p:sp>
      <p:sp>
        <p:nvSpPr>
          <p:cNvPr id="25" name="Shape 21"/>
          <p:cNvSpPr/>
          <p:nvPr/>
        </p:nvSpPr>
        <p:spPr>
          <a:xfrm>
            <a:off x="6903720" y="4754880"/>
            <a:ext cx="4736592" cy="1325880"/>
          </a:xfrm>
          <a:prstGeom prst="rect">
            <a:avLst/>
          </a:prstGeom>
          <a:solidFill>
            <a:srgbClr val="16304A"/>
          </a:solidFill>
          <a:ln/>
        </p:spPr>
        <p:txBody>
          <a:bodyPr/>
          <a:lstStyle/>
          <a:p>
            <a:endParaRPr lang="en-US"/>
          </a:p>
        </p:txBody>
      </p:sp>
      <p:sp>
        <p:nvSpPr>
          <p:cNvPr id="26" name="Shape 22"/>
          <p:cNvSpPr/>
          <p:nvPr/>
        </p:nvSpPr>
        <p:spPr>
          <a:xfrm>
            <a:off x="7132320" y="4983480"/>
            <a:ext cx="502920" cy="502920"/>
          </a:xfrm>
          <a:prstGeom prst="ellipse">
            <a:avLst/>
          </a:prstGeom>
          <a:solidFill>
            <a:srgbClr val="107C10"/>
          </a:solidFill>
          <a:ln/>
        </p:spPr>
        <p:txBody>
          <a:bodyPr/>
          <a:lstStyle/>
          <a:p>
            <a:endParaRPr lang="en-US"/>
          </a:p>
        </p:txBody>
      </p:sp>
      <p:pic>
        <p:nvPicPr>
          <p:cNvPr id="27" name="Image 2" descr="/agent/turn2/workspace/output/_anthropic_assets/icon-code-2c7ac4d5.png"/>
          <p:cNvPicPr>
            <a:picLocks noChangeAspect="1"/>
          </p:cNvPicPr>
          <p:nvPr/>
        </p:nvPicPr>
        <p:blipFill>
          <a:blip r:embed="rId4"/>
          <a:stretch>
            <a:fillRect/>
          </a:stretch>
        </p:blipFill>
        <p:spPr>
          <a:xfrm>
            <a:off x="7242962" y="5094122"/>
            <a:ext cx="281635" cy="281635"/>
          </a:xfrm>
          <a:prstGeom prst="rect">
            <a:avLst/>
          </a:prstGeom>
        </p:spPr>
      </p:pic>
      <p:sp>
        <p:nvSpPr>
          <p:cNvPr id="28" name="Text 23"/>
          <p:cNvSpPr/>
          <p:nvPr/>
        </p:nvSpPr>
        <p:spPr>
          <a:xfrm>
            <a:off x="7863840" y="4937760"/>
            <a:ext cx="3593592" cy="384048"/>
          </a:xfrm>
          <a:prstGeom prst="rect">
            <a:avLst/>
          </a:prstGeom>
          <a:noFill/>
          <a:ln/>
        </p:spPr>
        <p:txBody>
          <a:bodyPr wrap="square" lIns="0" tIns="0" rIns="0" bIns="0" rtlCol="0" anchor="ctr"/>
          <a:lstStyle/>
          <a:p>
            <a:pPr marL="0" indent="0">
              <a:buNone/>
            </a:pPr>
            <a:r>
              <a:rPr lang="en-US" sz="1700" dirty="0">
                <a:solidFill>
                  <a:srgbClr val="FFFFFF"/>
                </a:solidFill>
                <a:latin typeface="Segoe UI Semibold" pitchFamily="34" charset="0"/>
                <a:ea typeface="Segoe UI Semibold" pitchFamily="34" charset="-122"/>
                <a:cs typeface="Segoe UI Semibold" pitchFamily="34" charset="-120"/>
              </a:rPr>
              <a:t>templates</a:t>
            </a:r>
            <a:endParaRPr lang="en-US" sz="1700" dirty="0"/>
          </a:p>
        </p:txBody>
      </p:sp>
      <p:sp>
        <p:nvSpPr>
          <p:cNvPr id="29" name="Text 24"/>
          <p:cNvSpPr/>
          <p:nvPr/>
        </p:nvSpPr>
        <p:spPr>
          <a:xfrm>
            <a:off x="7863840" y="5349240"/>
            <a:ext cx="3593592" cy="594360"/>
          </a:xfrm>
          <a:prstGeom prst="rect">
            <a:avLst/>
          </a:prstGeom>
          <a:noFill/>
          <a:ln/>
        </p:spPr>
        <p:txBody>
          <a:bodyPr wrap="square" lIns="0" tIns="0" rIns="0" bIns="0" rtlCol="0" anchor="t"/>
          <a:lstStyle/>
          <a:p>
            <a:pPr marL="0" indent="0">
              <a:buNone/>
            </a:pPr>
            <a:r>
              <a:rPr lang="en-US" sz="1400" dirty="0">
                <a:solidFill>
                  <a:srgbClr val="D0D8E2"/>
                </a:solidFill>
                <a:latin typeface="Segoe UI" pitchFamily="34" charset="0"/>
                <a:ea typeface="Segoe UI" pitchFamily="34" charset="-122"/>
                <a:cs typeface="Segoe UI" pitchFamily="34" charset="-120"/>
              </a:rPr>
              <a:t>Manifests with Go templating; files starting with </a:t>
            </a:r>
            <a:r>
              <a:rPr lang="en-US" sz="1400" dirty="0">
                <a:solidFill>
                  <a:srgbClr val="9CDCFE"/>
                </a:solidFill>
                <a:latin typeface="Consolas" pitchFamily="34" charset="0"/>
                <a:ea typeface="Consolas" pitchFamily="34" charset="-122"/>
                <a:cs typeface="Consolas" pitchFamily="34" charset="-120"/>
              </a:rPr>
              <a:t>_</a:t>
            </a:r>
            <a:r>
              <a:rPr lang="en-US" sz="1400" dirty="0">
                <a:solidFill>
                  <a:srgbClr val="D0D8E2"/>
                </a:solidFill>
                <a:latin typeface="Segoe UI" pitchFamily="34" charset="0"/>
                <a:ea typeface="Segoe UI" pitchFamily="34" charset="-122"/>
                <a:cs typeface="Segoe UI" pitchFamily="34" charset="-120"/>
              </a:rPr>
              <a:t> render nothing on their own.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4E562028-5CF2-4BC2-B987-FBED89AAC719}" type="slidenum">
              <a:rPr lang="en-US" sz="1100">
                <a:solidFill>
                  <a:srgbClr val="605E5C"/>
                </a:solidFill>
                <a:latin typeface="Segoe UI" pitchFamily="34" charset="0"/>
                <a:ea typeface="Segoe UI" pitchFamily="34" charset="-122"/>
                <a:cs typeface="Segoe UI" pitchFamily="34" charset="-120"/>
              </a:rPr>
              <a:t>16</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a:solidFill>
                  <a:srgbClr val="201F1E"/>
                </a:solidFill>
                <a:latin typeface="Segoe UI Semibold" pitchFamily="34" charset="0"/>
                <a:ea typeface="Segoe UI Semibold" pitchFamily="34" charset="-122"/>
                <a:cs typeface="Segoe UI Semibold" pitchFamily="34" charset="-120"/>
              </a:rPr>
              <a:t>Scaffolding a Chart with helm create</a:t>
            </a:r>
            <a:endParaRPr lang="en-US" sz="3200" dirty="0"/>
          </a:p>
        </p:txBody>
      </p:sp>
      <p:sp>
        <p:nvSpPr>
          <p:cNvPr id="10" name="Shape 8"/>
          <p:cNvSpPr/>
          <p:nvPr/>
        </p:nvSpPr>
        <p:spPr>
          <a:xfrm>
            <a:off x="548640" y="1783080"/>
            <a:ext cx="3108960" cy="4297680"/>
          </a:xfrm>
          <a:prstGeom prst="rect">
            <a:avLst/>
          </a:prstGeom>
          <a:solidFill>
            <a:srgbClr val="107C10"/>
          </a:solidFill>
          <a:ln/>
        </p:spPr>
        <p:txBody>
          <a:bodyPr/>
          <a:lstStyle/>
          <a:p>
            <a:endParaRPr lang="en-US"/>
          </a:p>
        </p:txBody>
      </p:sp>
      <p:sp>
        <p:nvSpPr>
          <p:cNvPr id="11" name="Text 9"/>
          <p:cNvSpPr/>
          <p:nvPr/>
        </p:nvSpPr>
        <p:spPr>
          <a:xfrm>
            <a:off x="822960" y="2011680"/>
            <a:ext cx="2651760" cy="640080"/>
          </a:xfrm>
          <a:prstGeom prst="rect">
            <a:avLst/>
          </a:prstGeom>
          <a:noFill/>
          <a:ln/>
        </p:spPr>
        <p:txBody>
          <a:bodyPr wrap="square" lIns="0" tIns="0" rIns="0" bIns="0" rtlCol="0" anchor="ctr"/>
          <a:lstStyle/>
          <a:p>
            <a:pPr marL="0" indent="0">
              <a:buNone/>
            </a:pPr>
            <a:r>
              <a:rPr lang="en-US" sz="2800">
                <a:solidFill>
                  <a:srgbClr val="FFFFFF"/>
                </a:solidFill>
                <a:latin typeface="Consolas" pitchFamily="34" charset="0"/>
                <a:ea typeface="Consolas" pitchFamily="34" charset="-122"/>
                <a:cs typeface="Consolas" pitchFamily="34" charset="-120"/>
              </a:rPr>
              <a:t>helm create</a:t>
            </a:r>
            <a:endParaRPr lang="en-US" sz="2800" dirty="0"/>
          </a:p>
        </p:txBody>
      </p:sp>
      <p:sp>
        <p:nvSpPr>
          <p:cNvPr id="12" name="Text 10"/>
          <p:cNvSpPr/>
          <p:nvPr/>
        </p:nvSpPr>
        <p:spPr>
          <a:xfrm>
            <a:off x="822960" y="2743200"/>
            <a:ext cx="2651760" cy="457200"/>
          </a:xfrm>
          <a:prstGeom prst="rect">
            <a:avLst/>
          </a:prstGeom>
          <a:noFill/>
          <a:ln/>
        </p:spPr>
        <p:txBody>
          <a:bodyPr wrap="square" lIns="0" tIns="0" rIns="0" bIns="0" rtlCol="0" anchor="ctr"/>
          <a:lstStyle/>
          <a:p>
            <a:pPr marL="0" indent="0">
              <a:buNone/>
            </a:pPr>
            <a:r>
              <a:rPr lang="en-US" sz="1800">
                <a:solidFill>
                  <a:srgbClr val="FFFFFF"/>
                </a:solidFill>
                <a:latin typeface="Segoe UI Semibold" pitchFamily="34" charset="0"/>
                <a:ea typeface="Segoe UI Semibold" pitchFamily="34" charset="-122"/>
                <a:cs typeface="Segoe UI Semibold" pitchFamily="34" charset="-120"/>
              </a:rPr>
              <a:t>Start from a scaffold</a:t>
            </a:r>
            <a:endParaRPr lang="en-US" sz="1800" dirty="0"/>
          </a:p>
        </p:txBody>
      </p:sp>
      <p:sp>
        <p:nvSpPr>
          <p:cNvPr id="13" name="Text 11"/>
          <p:cNvSpPr/>
          <p:nvPr/>
        </p:nvSpPr>
        <p:spPr>
          <a:xfrm>
            <a:off x="822960" y="3291840"/>
            <a:ext cx="2606040" cy="2377440"/>
          </a:xfrm>
          <a:prstGeom prst="rect">
            <a:avLst/>
          </a:prstGeom>
          <a:noFill/>
          <a:ln/>
        </p:spPr>
        <p:txBody>
          <a:bodyPr wrap="square" lIns="0" tIns="0" rIns="0" bIns="0" rtlCol="0" anchor="t"/>
          <a:lstStyle/>
          <a:p>
            <a:pPr marL="0" indent="0">
              <a:buNone/>
            </a:pPr>
            <a:r>
              <a:rPr lang="en-US" sz="1500">
                <a:solidFill>
                  <a:srgbClr val="FFFFFF"/>
                </a:solidFill>
                <a:latin typeface="Segoe UI" pitchFamily="34" charset="0"/>
                <a:ea typeface="Segoe UI" pitchFamily="34" charset="-122"/>
                <a:cs typeface="Segoe UI" pitchFamily="34" charset="-120"/>
              </a:rPr>
              <a:t>Generates a </a:t>
            </a:r>
            <a:r>
              <a:rPr lang="en-US" sz="1500" b="1">
                <a:solidFill>
                  <a:srgbClr val="FFFFFF"/>
                </a:solidFill>
                <a:latin typeface="Segoe UI" pitchFamily="34" charset="0"/>
                <a:ea typeface="Segoe UI" pitchFamily="34" charset="-122"/>
                <a:cs typeface="Segoe UI" pitchFamily="34" charset="-120"/>
              </a:rPr>
              <a:t>working chart</a:t>
            </a:r>
            <a:r>
              <a:rPr lang="en-US" sz="1500">
                <a:solidFill>
                  <a:srgbClr val="FFFFFF"/>
                </a:solidFill>
                <a:latin typeface="Segoe UI" pitchFamily="34" charset="0"/>
                <a:ea typeface="Segoe UI" pitchFamily="34" charset="-122"/>
                <a:cs typeface="Segoe UI" pitchFamily="34" charset="-120"/>
              </a:rPr>
              <a:t> for a sample nginx app — Deployment, Service, Ingress, HPA and a test — ready to rename and edit</a:t>
            </a:r>
            <a:r>
              <a:rPr lang="en-US" sz="1500" dirty="0">
                <a:solidFill>
                  <a:srgbClr val="FFFFFF"/>
                </a:solidFill>
                <a:latin typeface="Segoe UI" pitchFamily="34" charset="0"/>
                <a:ea typeface="Segoe UI" pitchFamily="34" charset="-122"/>
                <a:cs typeface="Segoe UI" pitchFamily="34" charset="-120"/>
              </a:rPr>
              <a:t>.</a:t>
            </a:r>
            <a:endParaRPr lang="en-US" sz="1500" dirty="0"/>
          </a:p>
        </p:txBody>
      </p:sp>
      <p:sp>
        <p:nvSpPr>
          <p:cNvPr id="14" name="Shape 12"/>
          <p:cNvSpPr/>
          <p:nvPr/>
        </p:nvSpPr>
        <p:spPr>
          <a:xfrm>
            <a:off x="3931920" y="1783080"/>
            <a:ext cx="3108960" cy="4297680"/>
          </a:xfrm>
          <a:prstGeom prst="rect">
            <a:avLst/>
          </a:prstGeom>
          <a:solidFill>
            <a:srgbClr val="FFFFFF"/>
          </a:solidFill>
          <a:ln w="19050">
            <a:solidFill>
              <a:srgbClr val="107C10"/>
            </a:solidFill>
            <a:prstDash val="solid"/>
          </a:ln>
        </p:spPr>
        <p:txBody>
          <a:bodyPr anchor="t"/>
          <a:lstStyle/>
          <a:p>
            <a:endParaRPr lang="en-US"/>
          </a:p>
        </p:txBody>
      </p:sp>
      <p:sp>
        <p:nvSpPr>
          <p:cNvPr id="15" name="Text 13"/>
          <p:cNvSpPr/>
          <p:nvPr/>
        </p:nvSpPr>
        <p:spPr>
          <a:xfrm>
            <a:off x="4206240" y="2011680"/>
            <a:ext cx="2651760" cy="640080"/>
          </a:xfrm>
          <a:prstGeom prst="rect">
            <a:avLst/>
          </a:prstGeom>
          <a:noFill/>
          <a:ln/>
        </p:spPr>
        <p:txBody>
          <a:bodyPr wrap="square" lIns="0" tIns="0" rIns="0" bIns="0" rtlCol="0" anchor="ctr"/>
          <a:lstStyle/>
          <a:p>
            <a:pPr marL="0" indent="0">
              <a:buNone/>
            </a:pPr>
            <a:r>
              <a:rPr lang="en-US" sz="2800">
                <a:solidFill>
                  <a:srgbClr val="107C10"/>
                </a:solidFill>
                <a:latin typeface="Consolas" pitchFamily="34" charset="0"/>
                <a:ea typeface="Consolas" pitchFamily="34" charset="-122"/>
                <a:cs typeface="Consolas" pitchFamily="34" charset="-120"/>
              </a:rPr>
              <a:t>values.yaml</a:t>
            </a:r>
            <a:endParaRPr lang="en-US" sz="2800" dirty="0"/>
          </a:p>
        </p:txBody>
      </p:sp>
      <p:sp>
        <p:nvSpPr>
          <p:cNvPr id="16" name="Text 14"/>
          <p:cNvSpPr/>
          <p:nvPr/>
        </p:nvSpPr>
        <p:spPr>
          <a:xfrm>
            <a:off x="4206240" y="2743200"/>
            <a:ext cx="2651760" cy="457200"/>
          </a:xfrm>
          <a:prstGeom prst="rect">
            <a:avLst/>
          </a:prstGeom>
          <a:noFill/>
          <a:ln/>
        </p:spPr>
        <p:txBody>
          <a:bodyPr wrap="square" lIns="0" tIns="0" rIns="0" bIns="0" rtlCol="0" anchor="ctr"/>
          <a:lstStyle/>
          <a:p>
            <a:pPr marL="0" indent="0">
              <a:buNone/>
            </a:pPr>
            <a:r>
              <a:rPr lang="en-US" sz="1800">
                <a:solidFill>
                  <a:srgbClr val="201F1E"/>
                </a:solidFill>
                <a:latin typeface="Segoe UI Semibold" pitchFamily="34" charset="0"/>
                <a:ea typeface="Segoe UI Semibold" pitchFamily="34" charset="-122"/>
                <a:cs typeface="Segoe UI Semibold" pitchFamily="34" charset="-120"/>
              </a:rPr>
              <a:t>Defaults you override</a:t>
            </a:r>
            <a:endParaRPr lang="en-US" sz="1800" dirty="0"/>
          </a:p>
        </p:txBody>
      </p:sp>
      <p:sp>
        <p:nvSpPr>
          <p:cNvPr id="17" name="Text 15"/>
          <p:cNvSpPr/>
          <p:nvPr/>
        </p:nvSpPr>
        <p:spPr>
          <a:xfrm>
            <a:off x="4206240" y="3291840"/>
            <a:ext cx="2606040" cy="2377440"/>
          </a:xfrm>
          <a:prstGeom prst="rect">
            <a:avLst/>
          </a:prstGeom>
          <a:noFill/>
          <a:ln/>
        </p:spPr>
        <p:txBody>
          <a:bodyPr wrap="square" lIns="0" tIns="0" rIns="0" bIns="0" rtlCol="0"/>
          <a:lstStyle/>
          <a:p>
            <a:pPr marL="0" indent="0">
              <a:buNone/>
            </a:pPr>
            <a:r>
              <a:rPr lang="en-US" sz="1500">
                <a:solidFill>
                  <a:srgbClr val="201F1E"/>
                </a:solidFill>
                <a:latin typeface="Segoe UI" pitchFamily="34" charset="0"/>
                <a:ea typeface="Segoe UI" pitchFamily="34" charset="-122"/>
                <a:cs typeface="Segoe UI" pitchFamily="34" charset="-120"/>
              </a:rPr>
              <a:t>Every template reads from </a:t>
            </a:r>
            <a:r>
              <a:rPr lang="en-US" sz="1500" b="1">
                <a:solidFill>
                  <a:srgbClr val="201F1E"/>
                </a:solidFill>
                <a:latin typeface="Segoe UI" pitchFamily="34" charset="0"/>
                <a:ea typeface="Segoe UI" pitchFamily="34" charset="-122"/>
                <a:cs typeface="Segoe UI" pitchFamily="34" charset="-120"/>
              </a:rPr>
              <a:t>values</a:t>
            </a:r>
            <a:r>
              <a:rPr lang="en-US" sz="1500">
                <a:solidFill>
                  <a:srgbClr val="201F1E"/>
                </a:solidFill>
                <a:latin typeface="Segoe UI" pitchFamily="34" charset="0"/>
                <a:ea typeface="Segoe UI" pitchFamily="34" charset="-122"/>
                <a:cs typeface="Segoe UI" pitchFamily="34" charset="-120"/>
              </a:rPr>
              <a:t>: </a:t>
            </a:r>
            <a:r>
              <a:rPr lang="en-US" sz="1500" dirty="0">
                <a:solidFill>
                  <a:srgbClr val="201F1E"/>
                </a:solidFill>
                <a:latin typeface="Segoe UI" pitchFamily="34" charset="0"/>
                <a:ea typeface="Segoe UI" pitchFamily="34" charset="-122"/>
                <a:cs typeface="Segoe UI" pitchFamily="34" charset="-120"/>
              </a:rPr>
              <a:t>image</a:t>
            </a:r>
            <a:r>
              <a:rPr lang="en-US" sz="1500">
                <a:solidFill>
                  <a:srgbClr val="201F1E"/>
                </a:solidFill>
                <a:latin typeface="Segoe UI" pitchFamily="34" charset="0"/>
                <a:ea typeface="Segoe UI" pitchFamily="34" charset="-122"/>
                <a:cs typeface="Segoe UI" pitchFamily="34" charset="-120"/>
              </a:rPr>
              <a:t>, replicas, service, ingress, resources, autoscaling</a:t>
            </a:r>
            <a:r>
              <a:rPr lang="en-US" sz="1500" dirty="0">
                <a:solidFill>
                  <a:srgbClr val="201F1E"/>
                </a:solidFill>
                <a:latin typeface="Segoe UI" pitchFamily="34" charset="0"/>
                <a:ea typeface="Segoe UI" pitchFamily="34" charset="-122"/>
                <a:cs typeface="Segoe UI" pitchFamily="34" charset="-120"/>
              </a:rPr>
              <a:t>. </a:t>
            </a:r>
            <a:r>
              <a:rPr lang="en-US" sz="1500">
                <a:solidFill>
                  <a:srgbClr val="201F1E"/>
                </a:solidFill>
                <a:latin typeface="Segoe UI" pitchFamily="34" charset="0"/>
                <a:ea typeface="Segoe UI" pitchFamily="34" charset="-122"/>
                <a:cs typeface="Segoe UI" pitchFamily="34" charset="-120"/>
              </a:rPr>
              <a:t>Override per environment with -f or --set</a:t>
            </a:r>
            <a:r>
              <a:rPr lang="en-US" sz="1500" dirty="0">
                <a:solidFill>
                  <a:srgbClr val="201F1E"/>
                </a:solidFill>
                <a:latin typeface="Segoe UI" pitchFamily="34" charset="0"/>
                <a:ea typeface="Segoe UI" pitchFamily="34" charset="-122"/>
                <a:cs typeface="Segoe UI" pitchFamily="34" charset="-120"/>
              </a:rPr>
              <a:t>.</a:t>
            </a:r>
            <a:endParaRPr lang="en-US" sz="1500" dirty="0"/>
          </a:p>
        </p:txBody>
      </p:sp>
      <p:sp>
        <p:nvSpPr>
          <p:cNvPr id="18" name="Shape 16"/>
          <p:cNvSpPr/>
          <p:nvPr/>
        </p:nvSpPr>
        <p:spPr>
          <a:xfrm>
            <a:off x="7406640" y="1783080"/>
            <a:ext cx="4233672" cy="2926080"/>
          </a:xfrm>
          <a:prstGeom prst="rect">
            <a:avLst/>
          </a:prstGeom>
          <a:solidFill>
            <a:srgbClr val="1E1E1E"/>
          </a:solidFill>
          <a:ln/>
        </p:spPr>
        <p:txBody>
          <a:bodyPr/>
          <a:lstStyle/>
          <a:p>
            <a:endParaRPr lang="en-US"/>
          </a:p>
        </p:txBody>
      </p:sp>
      <p:sp>
        <p:nvSpPr>
          <p:cNvPr id="19" name="Shape 17"/>
          <p:cNvSpPr/>
          <p:nvPr/>
        </p:nvSpPr>
        <p:spPr>
          <a:xfrm>
            <a:off x="7406640" y="1783080"/>
            <a:ext cx="4233672" cy="347472"/>
          </a:xfrm>
          <a:prstGeom prst="rect">
            <a:avLst/>
          </a:prstGeom>
          <a:solidFill>
            <a:srgbClr val="2D2D30"/>
          </a:solidFill>
          <a:ln/>
        </p:spPr>
        <p:txBody>
          <a:bodyPr/>
          <a:lstStyle/>
          <a:p>
            <a:endParaRPr lang="en-US"/>
          </a:p>
        </p:txBody>
      </p:sp>
      <p:sp>
        <p:nvSpPr>
          <p:cNvPr id="20" name="Shape 18"/>
          <p:cNvSpPr/>
          <p:nvPr/>
        </p:nvSpPr>
        <p:spPr>
          <a:xfrm>
            <a:off x="7406640" y="1783080"/>
            <a:ext cx="1325880" cy="347472"/>
          </a:xfrm>
          <a:prstGeom prst="rect">
            <a:avLst/>
          </a:prstGeom>
          <a:solidFill>
            <a:srgbClr val="1E1E1E"/>
          </a:solidFill>
          <a:ln/>
        </p:spPr>
        <p:txBody>
          <a:bodyPr anchor="t"/>
          <a:lstStyle/>
          <a:p>
            <a:endParaRPr lang="en-US"/>
          </a:p>
        </p:txBody>
      </p:sp>
      <p:sp>
        <p:nvSpPr>
          <p:cNvPr id="21" name="Text 19"/>
          <p:cNvSpPr/>
          <p:nvPr/>
        </p:nvSpPr>
        <p:spPr>
          <a:xfrm>
            <a:off x="7543800" y="1783080"/>
            <a:ext cx="1143000" cy="347472"/>
          </a:xfrm>
          <a:prstGeom prst="rect">
            <a:avLst/>
          </a:prstGeom>
          <a:noFill/>
          <a:ln/>
        </p:spPr>
        <p:txBody>
          <a:bodyPr wrap="square" lIns="0" tIns="0" rIns="0" bIns="0" rtlCol="0" anchor="ctr"/>
          <a:lstStyle/>
          <a:p>
            <a:pPr marL="0" indent="0">
              <a:buNone/>
            </a:pPr>
            <a:r>
              <a:rPr lang="en-US" sz="1100">
                <a:solidFill>
                  <a:srgbClr val="CCCCCC"/>
                </a:solidFill>
                <a:latin typeface="Segoe UI" pitchFamily="34" charset="0"/>
                <a:ea typeface="Segoe UI" pitchFamily="34" charset="-122"/>
                <a:cs typeface="Segoe UI" pitchFamily="34" charset="-120"/>
              </a:rPr>
              <a:t>bash — helm</a:t>
            </a:r>
            <a:endParaRPr lang="en-US" sz="1100" dirty="0"/>
          </a:p>
        </p:txBody>
      </p:sp>
      <p:sp>
        <p:nvSpPr>
          <p:cNvPr id="22" name="Text 20"/>
          <p:cNvSpPr/>
          <p:nvPr/>
        </p:nvSpPr>
        <p:spPr>
          <a:xfrm>
            <a:off x="7607808" y="2258568"/>
            <a:ext cx="3867912" cy="2377440"/>
          </a:xfrm>
          <a:prstGeom prst="rect">
            <a:avLst/>
          </a:prstGeom>
          <a:noFill/>
          <a:ln/>
        </p:spPr>
        <p:txBody>
          <a:bodyPr wrap="square" lIns="0" tIns="0" rIns="0" bIns="0" rtlCol="0"/>
          <a:lstStyle/>
          <a:p>
            <a:pPr marL="0" indent="0">
              <a:lnSpc>
                <a:spcPct val="105000"/>
              </a:lnSpc>
              <a:buNone/>
            </a:pPr>
            <a:r>
              <a:rPr lang="en-US" sz="1200">
                <a:solidFill>
                  <a:srgbClr val="808080"/>
                </a:solidFill>
                <a:latin typeface="Consolas" pitchFamily="34" charset="0"/>
                <a:ea typeface="Consolas" pitchFamily="34" charset="-122"/>
                <a:cs typeface="Consolas" pitchFamily="34" charset="-120"/>
              </a:rPr>
              <a:t>$ </a:t>
            </a:r>
            <a:r>
              <a:rPr lang="en-US" sz="1200">
                <a:solidFill>
                  <a:srgbClr val="DCDCAA"/>
                </a:solidFill>
                <a:latin typeface="Consolas" pitchFamily="34" charset="0"/>
                <a:ea typeface="Consolas" pitchFamily="34" charset="-122"/>
                <a:cs typeface="Consolas" pitchFamily="34" charset="-120"/>
              </a:rPr>
              <a:t>helm</a:t>
            </a:r>
            <a:r>
              <a:rPr lang="en-US" sz="1200">
                <a:solidFill>
                  <a:srgbClr val="D4D4D4"/>
                </a:solidFill>
                <a:latin typeface="Consolas" pitchFamily="34" charset="0"/>
                <a:ea typeface="Consolas" pitchFamily="34" charset="-122"/>
                <a:cs typeface="Consolas" pitchFamily="34" charset="-120"/>
              </a:rPr>
              <a:t> create myapp</a:t>
            </a:r>
            <a:endParaRPr lang="en-US" sz="1200"/>
          </a:p>
          <a:p>
            <a:pPr marL="0" indent="0">
              <a:lnSpc>
                <a:spcPct val="105000"/>
              </a:lnSpc>
              <a:buNone/>
            </a:pPr>
            <a:r>
              <a:rPr lang="en-US" sz="1200">
                <a:solidFill>
                  <a:srgbClr val="9CDCFE"/>
                </a:solidFill>
                <a:latin typeface="Consolas" pitchFamily="34" charset="0"/>
                <a:ea typeface="Consolas" pitchFamily="34" charset="-122"/>
                <a:cs typeface="Consolas" pitchFamily="34" charset="-120"/>
              </a:rPr>
              <a:t>myapp/</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Chart.yaml    </a:t>
            </a:r>
            <a:r>
              <a:rPr lang="en-US" sz="1200">
                <a:solidFill>
                  <a:srgbClr val="6A9955"/>
                </a:solidFill>
                <a:latin typeface="Consolas" pitchFamily="34" charset="0"/>
                <a:ea typeface="Consolas" pitchFamily="34" charset="-122"/>
                <a:cs typeface="Consolas" pitchFamily="34" charset="-120"/>
              </a:rPr>
              <a:t># version, appVersion</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values.yaml   </a:t>
            </a:r>
            <a:r>
              <a:rPr lang="en-US" sz="1200">
                <a:solidFill>
                  <a:srgbClr val="6A9955"/>
                </a:solidFill>
                <a:latin typeface="Consolas" pitchFamily="34" charset="0"/>
                <a:ea typeface="Consolas" pitchFamily="34" charset="-122"/>
                <a:cs typeface="Consolas" pitchFamily="34" charset="-120"/>
              </a:rPr>
              <a:t># default config</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charts/       </a:t>
            </a:r>
            <a:r>
              <a:rPr lang="en-US" sz="1200">
                <a:solidFill>
                  <a:srgbClr val="6A9955"/>
                </a:solidFill>
                <a:latin typeface="Consolas" pitchFamily="34" charset="0"/>
                <a:ea typeface="Consolas" pitchFamily="34" charset="-122"/>
                <a:cs typeface="Consolas" pitchFamily="34" charset="-120"/>
              </a:rPr>
              <a:t># subchart dependencies</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.helmignore   </a:t>
            </a:r>
            <a:r>
              <a:rPr lang="en-US" sz="1200">
                <a:solidFill>
                  <a:srgbClr val="6A9955"/>
                </a:solidFill>
                <a:latin typeface="Consolas" pitchFamily="34" charset="0"/>
                <a:ea typeface="Consolas" pitchFamily="34" charset="-122"/>
                <a:cs typeface="Consolas" pitchFamily="34" charset="-120"/>
              </a:rPr>
              <a:t># like .gitignore</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a:t>
            </a:r>
            <a:r>
              <a:rPr lang="en-US" sz="1200">
                <a:solidFill>
                  <a:srgbClr val="9CDCFE"/>
                </a:solidFill>
                <a:latin typeface="Consolas" pitchFamily="34" charset="0"/>
                <a:ea typeface="Consolas" pitchFamily="34" charset="-122"/>
                <a:cs typeface="Consolas" pitchFamily="34" charset="-120"/>
              </a:rPr>
              <a:t>templates/</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 deployment.yaml  service.yaml</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 ingress.yaml  hpa.yaml</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 serviceaccount.yaml</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 _helpers.tpl  NOTES.txt</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 tests/test-connection.yaml</a:t>
            </a:r>
            <a:endParaRPr lang="en-US" sz="1200"/>
          </a:p>
        </p:txBody>
      </p:sp>
      <p:sp>
        <p:nvSpPr>
          <p:cNvPr id="23" name="Shape 21"/>
          <p:cNvSpPr/>
          <p:nvPr/>
        </p:nvSpPr>
        <p:spPr>
          <a:xfrm>
            <a:off x="7406640" y="4937760"/>
            <a:ext cx="4233672" cy="1143000"/>
          </a:xfrm>
          <a:prstGeom prst="rect">
            <a:avLst/>
          </a:prstGeom>
          <a:solidFill>
            <a:srgbClr val="DFF6DD"/>
          </a:solidFill>
          <a:ln/>
        </p:spPr>
        <p:txBody>
          <a:bodyPr/>
          <a:lstStyle/>
          <a:p>
            <a:endParaRPr lang="en-US"/>
          </a:p>
        </p:txBody>
      </p:sp>
      <p:sp>
        <p:nvSpPr>
          <p:cNvPr id="24" name="Text 22"/>
          <p:cNvSpPr/>
          <p:nvPr/>
        </p:nvSpPr>
        <p:spPr>
          <a:xfrm>
            <a:off x="7680960" y="4937760"/>
            <a:ext cx="3730752" cy="1143000"/>
          </a:xfrm>
          <a:prstGeom prst="rect">
            <a:avLst/>
          </a:prstGeom>
          <a:noFill/>
          <a:ln/>
        </p:spPr>
        <p:txBody>
          <a:bodyPr wrap="square" lIns="0" tIns="0" rIns="0" bIns="0" rtlCol="0" anchor="ctr"/>
          <a:lstStyle/>
          <a:p>
            <a:pPr marL="0" indent="0">
              <a:buNone/>
            </a:pPr>
            <a:r>
              <a:rPr lang="en-US" sz="1400">
                <a:solidFill>
                  <a:srgbClr val="201F1E"/>
                </a:solidFill>
                <a:latin typeface="Segoe UI" pitchFamily="34" charset="0"/>
                <a:ea typeface="Segoe UI" pitchFamily="34" charset="-122"/>
                <a:cs typeface="Segoe UI" pitchFamily="34" charset="-120"/>
              </a:rPr>
              <a:t>Treat </a:t>
            </a:r>
            <a:r>
              <a:rPr lang="en-US" sz="1400">
                <a:solidFill>
                  <a:srgbClr val="0F6CBD"/>
                </a:solidFill>
                <a:latin typeface="Consolas" pitchFamily="34" charset="0"/>
                <a:ea typeface="Consolas" pitchFamily="34" charset="-122"/>
                <a:cs typeface="Consolas" pitchFamily="34" charset="-120"/>
              </a:rPr>
              <a:t>helm create</a:t>
            </a:r>
            <a:r>
              <a:rPr lang="en-US" sz="1400">
                <a:solidFill>
                  <a:srgbClr val="201F1E"/>
                </a:solidFill>
                <a:latin typeface="Segoe UI" pitchFamily="34" charset="0"/>
                <a:ea typeface="Segoe UI" pitchFamily="34" charset="-122"/>
                <a:cs typeface="Segoe UI" pitchFamily="34" charset="-120"/>
              </a:rPr>
              <a:t> as a starting point — delete templates you don't need and keep </a:t>
            </a:r>
            <a:r>
              <a:rPr lang="en-US" sz="1400">
                <a:solidFill>
                  <a:srgbClr val="0F6CBD"/>
                </a:solidFill>
                <a:latin typeface="Consolas" pitchFamily="34" charset="0"/>
                <a:ea typeface="Consolas" pitchFamily="34" charset="-122"/>
                <a:cs typeface="Consolas" pitchFamily="34" charset="-120"/>
              </a:rPr>
              <a:t>values.yaml</a:t>
            </a:r>
            <a:r>
              <a:rPr lang="en-US" sz="1400">
                <a:solidFill>
                  <a:srgbClr val="201F1E"/>
                </a:solidFill>
                <a:latin typeface="Segoe UI" pitchFamily="34" charset="0"/>
                <a:ea typeface="Segoe UI" pitchFamily="34" charset="-122"/>
                <a:cs typeface="Segoe UI" pitchFamily="34" charset="-120"/>
              </a:rPr>
              <a:t> as the chart's contract</a:t>
            </a:r>
            <a:r>
              <a:rPr lang="en-US" sz="1400" dirty="0">
                <a:solidFill>
                  <a:srgbClr val="201F1E"/>
                </a:solidFill>
                <a:latin typeface="Segoe UI" pitchFamily="34" charset="0"/>
                <a:ea typeface="Segoe UI" pitchFamily="34" charset="-122"/>
                <a:cs typeface="Segoe UI" pitchFamily="34" charset="-120"/>
              </a:rPr>
              <a: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0AA24463-7D2B-4272-A46E-68405193CE63}" type="slidenum">
              <a:rPr lang="en-US" sz="1100">
                <a:solidFill>
                  <a:srgbClr val="605E5C"/>
                </a:solidFill>
                <a:latin typeface="Segoe UI" pitchFamily="34" charset="0"/>
                <a:ea typeface="Segoe UI" pitchFamily="34" charset="-122"/>
                <a:cs typeface="Segoe UI" pitchFamily="34" charset="-120"/>
              </a:rPr>
              <a:t>17</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Templating Basics</a:t>
            </a:r>
            <a:endParaRPr lang="en-US" sz="3200" dirty="0"/>
          </a:p>
        </p:txBody>
      </p:sp>
      <p:sp>
        <p:nvSpPr>
          <p:cNvPr id="10" name="Shape 8"/>
          <p:cNvSpPr/>
          <p:nvPr/>
        </p:nvSpPr>
        <p:spPr>
          <a:xfrm>
            <a:off x="548640" y="1737360"/>
            <a:ext cx="7223760" cy="4343400"/>
          </a:xfrm>
          <a:prstGeom prst="rect">
            <a:avLst/>
          </a:prstGeom>
          <a:solidFill>
            <a:srgbClr val="1E1E1E"/>
          </a:solidFill>
          <a:ln/>
        </p:spPr>
        <p:txBody>
          <a:bodyPr/>
          <a:lstStyle/>
          <a:p>
            <a:endParaRPr lang="en-US"/>
          </a:p>
        </p:txBody>
      </p:sp>
      <p:sp>
        <p:nvSpPr>
          <p:cNvPr id="11" name="Shape 9"/>
          <p:cNvSpPr/>
          <p:nvPr/>
        </p:nvSpPr>
        <p:spPr>
          <a:xfrm>
            <a:off x="548640" y="1737360"/>
            <a:ext cx="7223760" cy="347472"/>
          </a:xfrm>
          <a:prstGeom prst="rect">
            <a:avLst/>
          </a:prstGeom>
          <a:solidFill>
            <a:srgbClr val="2D2D30"/>
          </a:solidFill>
          <a:ln/>
        </p:spPr>
        <p:txBody>
          <a:bodyPr/>
          <a:lstStyle/>
          <a:p>
            <a:endParaRPr lang="en-US"/>
          </a:p>
        </p:txBody>
      </p:sp>
      <p:sp>
        <p:nvSpPr>
          <p:cNvPr id="12" name="Shape 10"/>
          <p:cNvSpPr/>
          <p:nvPr/>
        </p:nvSpPr>
        <p:spPr>
          <a:xfrm>
            <a:off x="548640" y="1737360"/>
            <a:ext cx="2491740" cy="347472"/>
          </a:xfrm>
          <a:prstGeom prst="rect">
            <a:avLst/>
          </a:prstGeom>
          <a:solidFill>
            <a:srgbClr val="1E1E1E"/>
          </a:solidFill>
          <a:ln/>
        </p:spPr>
        <p:txBody>
          <a:bodyPr/>
          <a:lstStyle/>
          <a:p>
            <a:endParaRPr lang="en-US"/>
          </a:p>
        </p:txBody>
      </p:sp>
      <p:sp>
        <p:nvSpPr>
          <p:cNvPr id="13" name="Text 11"/>
          <p:cNvSpPr/>
          <p:nvPr/>
        </p:nvSpPr>
        <p:spPr>
          <a:xfrm>
            <a:off x="685800" y="1737360"/>
            <a:ext cx="2308860"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templates/deployment.yaml</a:t>
            </a:r>
            <a:endParaRPr lang="en-US" sz="1100" dirty="0"/>
          </a:p>
        </p:txBody>
      </p:sp>
      <p:sp>
        <p:nvSpPr>
          <p:cNvPr id="14" name="Text 12"/>
          <p:cNvSpPr/>
          <p:nvPr/>
        </p:nvSpPr>
        <p:spPr>
          <a:xfrm>
            <a:off x="749808" y="2212848"/>
            <a:ext cx="6858000" cy="3749040"/>
          </a:xfrm>
          <a:prstGeom prst="rect">
            <a:avLst/>
          </a:prstGeom>
          <a:noFill/>
          <a:ln/>
        </p:spPr>
        <p:txBody>
          <a:bodyPr wrap="square" lIns="0" tIns="0" rIns="0" bIns="0" rtlCol="0" anchor="t"/>
          <a:lstStyle/>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apiVersion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apps/v1</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kind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Deployment</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metadata</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DCDCAA"/>
                </a:solidFill>
                <a:latin typeface="Consolas" pitchFamily="34" charset="0"/>
                <a:ea typeface="Consolas" pitchFamily="34" charset="-122"/>
                <a:cs typeface="Consolas" pitchFamily="34" charset="-120"/>
              </a:rPr>
              <a:t> {{ include "myapp.fullname" . }}</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labels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DCDCAA"/>
                </a:solidFill>
                <a:latin typeface="Consolas" pitchFamily="34" charset="0"/>
                <a:ea typeface="Consolas" pitchFamily="34" charset="-122"/>
                <a:cs typeface="Consolas" pitchFamily="34" charset="-120"/>
              </a:rPr>
              <a:t> {{- include "myapp.labels" . | nindent 4 }}</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replicas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DCDCAA"/>
                </a:solidFill>
                <a:latin typeface="Consolas" pitchFamily="34" charset="0"/>
                <a:ea typeface="Consolas" pitchFamily="34" charset="-122"/>
                <a:cs typeface="Consolas" pitchFamily="34" charset="-120"/>
              </a:rPr>
              <a:t> {{ .Values.replicaCount }}</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template</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containers</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app</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image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DCDCAA"/>
                </a:solidFill>
                <a:latin typeface="Consolas" pitchFamily="34" charset="0"/>
                <a:ea typeface="Consolas" pitchFamily="34" charset="-122"/>
                <a:cs typeface="Consolas" pitchFamily="34" charset="-120"/>
              </a:rPr>
              <a:t> "{{ .Values.image.repository }}:{{ .Values.image.tag }}"</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resources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DCDCAA"/>
                </a:solidFill>
                <a:latin typeface="Consolas" pitchFamily="34" charset="0"/>
                <a:ea typeface="Consolas" pitchFamily="34" charset="-122"/>
                <a:cs typeface="Consolas" pitchFamily="34" charset="-120"/>
              </a:rPr>
              <a:t> {{- toYaml .Values.resources | nindent 12 }}</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046720" y="1737360"/>
          <a:ext cx="3593592" cy="3840480"/>
        </p:xfrm>
        <a:graphic>
          <a:graphicData uri="http://schemas.openxmlformats.org/drawingml/2006/table">
            <a:tbl>
              <a:tblPr/>
              <a:tblGrid>
                <a:gridCol w="1508760">
                  <a:extLst>
                    <a:ext uri="{9D8B030D-6E8A-4147-A177-3AD203B41FA5}">
                      <a16:colId xmlns:a16="http://schemas.microsoft.com/office/drawing/2014/main" val="20000"/>
                    </a:ext>
                  </a:extLst>
                </a:gridCol>
                <a:gridCol w="2084832">
                  <a:extLst>
                    <a:ext uri="{9D8B030D-6E8A-4147-A177-3AD203B41FA5}">
                      <a16:colId xmlns:a16="http://schemas.microsoft.com/office/drawing/2014/main" val="20001"/>
                    </a:ext>
                  </a:extLst>
                </a:gridCol>
              </a:tblGrid>
              <a:tr h="640080">
                <a:tc>
                  <a:txBody>
                    <a:bodyPr/>
                    <a:lstStyle/>
                    <a:p>
                      <a:pPr marL="0" indent="0">
                        <a:buNone/>
                      </a:pPr>
                      <a:r>
                        <a:rPr lang="en-US" sz="1200" b="1" dirty="0">
                          <a:solidFill>
                            <a:srgbClr val="FFFFFF"/>
                          </a:solidFill>
                          <a:latin typeface="Segoe UI Semibold" pitchFamily="34" charset="0"/>
                          <a:ea typeface="Segoe UI Semibold" pitchFamily="34" charset="-122"/>
                          <a:cs typeface="Segoe UI Semibold" pitchFamily="34" charset="-120"/>
                        </a:rPr>
                        <a:t>Object / function</a:t>
                      </a:r>
                      <a:endParaRPr lang="en-US" sz="12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107C10"/>
                    </a:solidFill>
                  </a:tcPr>
                </a:tc>
                <a:tc>
                  <a:txBody>
                    <a:bodyPr/>
                    <a:lstStyle/>
                    <a:p>
                      <a:pPr marL="0" indent="0">
                        <a:buNone/>
                      </a:pPr>
                      <a:r>
                        <a:rPr lang="en-US" sz="1200" b="1" dirty="0">
                          <a:solidFill>
                            <a:srgbClr val="FFFFFF"/>
                          </a:solidFill>
                          <a:latin typeface="Segoe UI Semibold" pitchFamily="34" charset="0"/>
                          <a:ea typeface="Segoe UI Semibold" pitchFamily="34" charset="-122"/>
                          <a:cs typeface="Segoe UI Semibold" pitchFamily="34" charset="-120"/>
                        </a:rPr>
                        <a:t>Use</a:t>
                      </a:r>
                      <a:endParaRPr lang="en-US" sz="12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107C10"/>
                    </a:solidFill>
                  </a:tcPr>
                </a:tc>
                <a:extLst>
                  <a:ext uri="{0D108BD9-81ED-4DB2-BD59-A6C34878D82A}">
                    <a16:rowId xmlns:a16="http://schemas.microsoft.com/office/drawing/2014/main" val="10000"/>
                  </a:ext>
                </a:extLst>
              </a:tr>
              <a:tr h="640080">
                <a:tc>
                  <a:txBody>
                    <a:bodyPr/>
                    <a:lstStyle/>
                    <a:p>
                      <a:pPr marL="0" indent="0">
                        <a:buNone/>
                      </a:pPr>
                      <a:r>
                        <a:rPr lang="en-US" sz="1200" dirty="0">
                          <a:solidFill>
                            <a:srgbClr val="0F6CBD"/>
                          </a:solidFill>
                          <a:latin typeface="Consolas" pitchFamily="34" charset="0"/>
                          <a:ea typeface="Consolas" pitchFamily="34" charset="-122"/>
                          <a:cs typeface="Consolas" pitchFamily="34" charset="-120"/>
                        </a:rPr>
                        <a:t>.Values</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200" dirty="0">
                          <a:solidFill>
                            <a:srgbClr val="323130"/>
                          </a:solidFill>
                          <a:latin typeface="Segoe UI" pitchFamily="34" charset="0"/>
                          <a:ea typeface="Segoe UI" pitchFamily="34" charset="-122"/>
                          <a:cs typeface="Segoe UI" pitchFamily="34" charset="-120"/>
                        </a:rPr>
                        <a:t>Merged configuration</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200" dirty="0">
                          <a:solidFill>
                            <a:srgbClr val="0F6CBD"/>
                          </a:solidFill>
                          <a:latin typeface="Consolas" pitchFamily="34" charset="0"/>
                          <a:ea typeface="Consolas" pitchFamily="34" charset="-122"/>
                          <a:cs typeface="Consolas" pitchFamily="34" charset="-120"/>
                        </a:rPr>
                        <a:t>.Release</a:t>
                      </a:r>
                      <a:r>
                        <a:rPr lang="en-US" sz="1200" dirty="0">
                          <a:solidFill>
                            <a:srgbClr val="323130"/>
                          </a:solidFill>
                          <a:latin typeface="Segoe UI" pitchFamily="34" charset="0"/>
                          <a:ea typeface="Segoe UI" pitchFamily="34" charset="-122"/>
                          <a:cs typeface="Segoe UI" pitchFamily="34" charset="-120"/>
                        </a:rPr>
                        <a:t> </a:t>
                      </a:r>
                      <a:r>
                        <a:rPr lang="en-US" sz="1200" dirty="0">
                          <a:solidFill>
                            <a:srgbClr val="0F6CBD"/>
                          </a:solidFill>
                          <a:latin typeface="Consolas" pitchFamily="34" charset="0"/>
                          <a:ea typeface="Consolas" pitchFamily="34" charset="-122"/>
                          <a:cs typeface="Consolas" pitchFamily="34" charset="-120"/>
                        </a:rPr>
                        <a:t>.Chart</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200" dirty="0">
                          <a:solidFill>
                            <a:srgbClr val="323130"/>
                          </a:solidFill>
                          <a:latin typeface="Segoe UI" pitchFamily="34" charset="0"/>
                          <a:ea typeface="Segoe UI" pitchFamily="34" charset="-122"/>
                          <a:cs typeface="Segoe UI" pitchFamily="34" charset="-120"/>
                        </a:rPr>
                        <a:t>Release name, namespace; chart metadata</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extLst>
                  <a:ext uri="{0D108BD9-81ED-4DB2-BD59-A6C34878D82A}">
                    <a16:rowId xmlns:a16="http://schemas.microsoft.com/office/drawing/2014/main" val="10002"/>
                  </a:ext>
                </a:extLst>
              </a:tr>
              <a:tr h="640080">
                <a:tc>
                  <a:txBody>
                    <a:bodyPr/>
                    <a:lstStyle/>
                    <a:p>
                      <a:pPr marL="0" indent="0">
                        <a:buNone/>
                      </a:pPr>
                      <a:r>
                        <a:rPr lang="en-US" sz="1200" dirty="0">
                          <a:solidFill>
                            <a:srgbClr val="0F6CBD"/>
                          </a:solidFill>
                          <a:latin typeface="Consolas" pitchFamily="34" charset="0"/>
                          <a:ea typeface="Consolas" pitchFamily="34" charset="-122"/>
                          <a:cs typeface="Consolas" pitchFamily="34" charset="-120"/>
                        </a:rPr>
                        <a:t>include</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200" dirty="0">
                          <a:solidFill>
                            <a:srgbClr val="323130"/>
                          </a:solidFill>
                          <a:latin typeface="Segoe UI" pitchFamily="34" charset="0"/>
                          <a:ea typeface="Segoe UI" pitchFamily="34" charset="-122"/>
                          <a:cs typeface="Segoe UI" pitchFamily="34" charset="-120"/>
                        </a:rPr>
                        <a:t>Call a named template from _helpers.tpl</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200" dirty="0">
                          <a:solidFill>
                            <a:srgbClr val="0F6CBD"/>
                          </a:solidFill>
                          <a:latin typeface="Consolas" pitchFamily="34" charset="0"/>
                          <a:ea typeface="Consolas" pitchFamily="34" charset="-122"/>
                          <a:cs typeface="Consolas" pitchFamily="34" charset="-120"/>
                        </a:rPr>
                        <a:t>default</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200" dirty="0">
                          <a:solidFill>
                            <a:srgbClr val="323130"/>
                          </a:solidFill>
                          <a:latin typeface="Segoe UI" pitchFamily="34" charset="0"/>
                          <a:ea typeface="Segoe UI" pitchFamily="34" charset="-122"/>
                          <a:cs typeface="Segoe UI" pitchFamily="34" charset="-120"/>
                        </a:rPr>
                        <a:t>Fallback when a value is empty</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extLst>
                  <a:ext uri="{0D108BD9-81ED-4DB2-BD59-A6C34878D82A}">
                    <a16:rowId xmlns:a16="http://schemas.microsoft.com/office/drawing/2014/main" val="10004"/>
                  </a:ext>
                </a:extLst>
              </a:tr>
              <a:tr h="640080">
                <a:tc>
                  <a:txBody>
                    <a:bodyPr/>
                    <a:lstStyle/>
                    <a:p>
                      <a:pPr marL="0" indent="0">
                        <a:buNone/>
                      </a:pPr>
                      <a:r>
                        <a:rPr lang="en-US" sz="1200" dirty="0">
                          <a:solidFill>
                            <a:srgbClr val="0F6CBD"/>
                          </a:solidFill>
                          <a:latin typeface="Consolas" pitchFamily="34" charset="0"/>
                          <a:ea typeface="Consolas" pitchFamily="34" charset="-122"/>
                          <a:cs typeface="Consolas" pitchFamily="34" charset="-120"/>
                        </a:rPr>
                        <a:t>toYaml</a:t>
                      </a:r>
                      <a:r>
                        <a:rPr lang="en-US" sz="1200" dirty="0">
                          <a:solidFill>
                            <a:srgbClr val="323130"/>
                          </a:solidFill>
                          <a:latin typeface="Segoe UI" pitchFamily="34" charset="0"/>
                          <a:ea typeface="Segoe UI" pitchFamily="34" charset="-122"/>
                          <a:cs typeface="Segoe UI" pitchFamily="34" charset="-120"/>
                        </a:rPr>
                        <a:t> </a:t>
                      </a:r>
                      <a:r>
                        <a:rPr lang="en-US" sz="1200" dirty="0">
                          <a:solidFill>
                            <a:srgbClr val="0F6CBD"/>
                          </a:solidFill>
                          <a:latin typeface="Consolas" pitchFamily="34" charset="0"/>
                          <a:ea typeface="Consolas" pitchFamily="34" charset="-122"/>
                          <a:cs typeface="Consolas" pitchFamily="34" charset="-120"/>
                        </a:rPr>
                        <a:t>nindent</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200" dirty="0">
                          <a:solidFill>
                            <a:srgbClr val="323130"/>
                          </a:solidFill>
                          <a:latin typeface="Segoe UI" pitchFamily="34" charset="0"/>
                          <a:ea typeface="Segoe UI" pitchFamily="34" charset="-122"/>
                          <a:cs typeface="Segoe UI" pitchFamily="34" charset="-120"/>
                        </a:rPr>
                        <a:t>Embed a YAML block, correctly indented</a:t>
                      </a:r>
                      <a:endParaRPr lang="en-US" sz="12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nchor="t"/>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CC816AA4-73E4-47FC-A5FB-1C56F6816364}" type="slidenum">
              <a:rPr lang="en-US" sz="1100">
                <a:solidFill>
                  <a:srgbClr val="605E5C"/>
                </a:solidFill>
                <a:latin typeface="Segoe UI" pitchFamily="34" charset="0"/>
                <a:ea typeface="Segoe UI" pitchFamily="34" charset="-122"/>
                <a:cs typeface="Segoe UI" pitchFamily="34" charset="-120"/>
              </a:rPr>
              <a:t>18</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Feature Flags with Conditionals</a:t>
            </a:r>
            <a:endParaRPr lang="en-US" sz="3200" dirty="0"/>
          </a:p>
        </p:txBody>
      </p:sp>
      <p:sp>
        <p:nvSpPr>
          <p:cNvPr id="10" name="Shape 8"/>
          <p:cNvSpPr/>
          <p:nvPr/>
        </p:nvSpPr>
        <p:spPr>
          <a:xfrm>
            <a:off x="548640" y="1737360"/>
            <a:ext cx="4023360" cy="2377440"/>
          </a:xfrm>
          <a:prstGeom prst="rect">
            <a:avLst/>
          </a:prstGeom>
          <a:solidFill>
            <a:srgbClr val="1E1E1E"/>
          </a:solidFill>
          <a:ln/>
        </p:spPr>
        <p:txBody>
          <a:bodyPr/>
          <a:lstStyle/>
          <a:p>
            <a:endParaRPr lang="en-US"/>
          </a:p>
        </p:txBody>
      </p:sp>
      <p:sp>
        <p:nvSpPr>
          <p:cNvPr id="11" name="Shape 9"/>
          <p:cNvSpPr/>
          <p:nvPr/>
        </p:nvSpPr>
        <p:spPr>
          <a:xfrm>
            <a:off x="548640" y="1737360"/>
            <a:ext cx="4023360" cy="347472"/>
          </a:xfrm>
          <a:prstGeom prst="rect">
            <a:avLst/>
          </a:prstGeom>
          <a:solidFill>
            <a:srgbClr val="2D2D30"/>
          </a:solidFill>
          <a:ln/>
        </p:spPr>
        <p:txBody>
          <a:bodyPr/>
          <a:lstStyle/>
          <a:p>
            <a:endParaRPr lang="en-US"/>
          </a:p>
        </p:txBody>
      </p:sp>
      <p:sp>
        <p:nvSpPr>
          <p:cNvPr id="12" name="Shape 10"/>
          <p:cNvSpPr/>
          <p:nvPr/>
        </p:nvSpPr>
        <p:spPr>
          <a:xfrm>
            <a:off x="548640" y="1737360"/>
            <a:ext cx="1403604" cy="347472"/>
          </a:xfrm>
          <a:prstGeom prst="rect">
            <a:avLst/>
          </a:prstGeom>
          <a:solidFill>
            <a:srgbClr val="1E1E1E"/>
          </a:solidFill>
          <a:ln/>
        </p:spPr>
        <p:txBody>
          <a:bodyPr/>
          <a:lstStyle/>
          <a:p>
            <a:endParaRPr lang="en-US"/>
          </a:p>
        </p:txBody>
      </p:sp>
      <p:sp>
        <p:nvSpPr>
          <p:cNvPr id="13" name="Text 11"/>
          <p:cNvSpPr/>
          <p:nvPr/>
        </p:nvSpPr>
        <p:spPr>
          <a:xfrm>
            <a:off x="685800" y="1737360"/>
            <a:ext cx="1220724"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values.yaml</a:t>
            </a:r>
            <a:endParaRPr lang="en-US" sz="1100" dirty="0"/>
          </a:p>
        </p:txBody>
      </p:sp>
      <p:sp>
        <p:nvSpPr>
          <p:cNvPr id="14" name="Text 12"/>
          <p:cNvSpPr/>
          <p:nvPr/>
        </p:nvSpPr>
        <p:spPr>
          <a:xfrm>
            <a:off x="749808" y="2212848"/>
            <a:ext cx="3657600" cy="1783080"/>
          </a:xfrm>
          <a:prstGeom prst="rect">
            <a:avLst/>
          </a:prstGeom>
          <a:noFill/>
          <a:ln/>
        </p:spPr>
        <p:txBody>
          <a:bodyPr wrap="square" lIns="0" tIns="0" rIns="0" bIns="0" rtlCol="0" anchor="t"/>
          <a:lstStyle/>
          <a:p>
            <a:pPr marL="0" indent="0">
              <a:lnSpc>
                <a:spcPct val="105000"/>
              </a:lnSpc>
              <a:buNone/>
            </a:pPr>
            <a:r>
              <a:rPr lang="en-US" sz="1400" dirty="0">
                <a:solidFill>
                  <a:srgbClr val="9CDCFE"/>
                </a:solidFill>
                <a:latin typeface="Consolas" pitchFamily="34" charset="0"/>
                <a:ea typeface="Consolas" pitchFamily="34" charset="-122"/>
                <a:cs typeface="Consolas" pitchFamily="34" charset="-120"/>
              </a:rPr>
              <a:t>httpRoute</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enabled</a:t>
            </a:r>
            <a:r>
              <a:rPr lang="en-US" sz="1400" dirty="0">
                <a:solidFill>
                  <a:srgbClr val="D4D4D4"/>
                </a:solidFill>
                <a:latin typeface="Consolas" pitchFamily="34" charset="0"/>
                <a:ea typeface="Consolas" pitchFamily="34" charset="-122"/>
                <a:cs typeface="Consolas" pitchFamily="34" charset="-120"/>
              </a:rPr>
              <a:t>:</a:t>
            </a:r>
            <a:r>
              <a:rPr lang="en-US" sz="1400" dirty="0">
                <a:solidFill>
                  <a:srgbClr val="CE9178"/>
                </a:solidFill>
                <a:latin typeface="Consolas" pitchFamily="34" charset="0"/>
                <a:ea typeface="Consolas" pitchFamily="34" charset="-122"/>
                <a:cs typeface="Consolas" pitchFamily="34" charset="-120"/>
              </a:rPr>
              <a:t> true</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hostname</a:t>
            </a:r>
            <a:r>
              <a:rPr lang="en-US" sz="1400" dirty="0">
                <a:solidFill>
                  <a:srgbClr val="D4D4D4"/>
                </a:solidFill>
                <a:latin typeface="Consolas" pitchFamily="34" charset="0"/>
                <a:ea typeface="Consolas" pitchFamily="34" charset="-122"/>
                <a:cs typeface="Consolas" pitchFamily="34" charset="-120"/>
              </a:rPr>
              <a:t>:</a:t>
            </a:r>
            <a:r>
              <a:rPr lang="en-US" sz="1400" dirty="0">
                <a:solidFill>
                  <a:srgbClr val="CE9178"/>
                </a:solidFill>
                <a:latin typeface="Consolas" pitchFamily="34" charset="0"/>
                <a:ea typeface="Consolas" pitchFamily="34" charset="-122"/>
                <a:cs typeface="Consolas" pitchFamily="34" charset="-120"/>
              </a:rPr>
              <a:t> myapp.contoso.com</a:t>
            </a:r>
            <a:endParaRPr lang="en-US" sz="1400" dirty="0"/>
          </a:p>
          <a:p>
            <a:pPr marL="0" indent="0">
              <a:lnSpc>
                <a:spcPct val="105000"/>
              </a:lnSpc>
              <a:buNone/>
            </a:pPr>
            <a:r>
              <a:rPr lang="en-US" sz="1400" dirty="0">
                <a:solidFill>
                  <a:srgbClr val="9CDCFE"/>
                </a:solidFill>
                <a:latin typeface="Consolas" pitchFamily="34" charset="0"/>
                <a:ea typeface="Consolas" pitchFamily="34" charset="-122"/>
                <a:cs typeface="Consolas" pitchFamily="34" charset="-120"/>
              </a:rPr>
              <a:t>autoscaling</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enabled</a:t>
            </a:r>
            <a:r>
              <a:rPr lang="en-US" sz="1400" dirty="0">
                <a:solidFill>
                  <a:srgbClr val="D4D4D4"/>
                </a:solidFill>
                <a:latin typeface="Consolas" pitchFamily="34" charset="0"/>
                <a:ea typeface="Consolas" pitchFamily="34" charset="-122"/>
                <a:cs typeface="Consolas" pitchFamily="34" charset="-120"/>
              </a:rPr>
              <a:t>:</a:t>
            </a:r>
            <a:r>
              <a:rPr lang="en-US" sz="1400" dirty="0">
                <a:solidFill>
                  <a:srgbClr val="CE9178"/>
                </a:solidFill>
                <a:latin typeface="Consolas" pitchFamily="34" charset="0"/>
                <a:ea typeface="Consolas" pitchFamily="34" charset="-122"/>
                <a:cs typeface="Consolas" pitchFamily="34" charset="-120"/>
              </a:rPr>
              <a:t> false</a:t>
            </a:r>
            <a:endParaRPr lang="en-US" sz="1400" dirty="0"/>
          </a:p>
        </p:txBody>
      </p:sp>
      <p:sp>
        <p:nvSpPr>
          <p:cNvPr id="15" name="Shape 13"/>
          <p:cNvSpPr/>
          <p:nvPr/>
        </p:nvSpPr>
        <p:spPr>
          <a:xfrm>
            <a:off x="4846320" y="1737360"/>
            <a:ext cx="6793992" cy="2377440"/>
          </a:xfrm>
          <a:prstGeom prst="rect">
            <a:avLst/>
          </a:prstGeom>
          <a:solidFill>
            <a:srgbClr val="1E1E1E"/>
          </a:solidFill>
          <a:ln/>
        </p:spPr>
        <p:txBody>
          <a:bodyPr/>
          <a:lstStyle/>
          <a:p>
            <a:endParaRPr lang="en-US"/>
          </a:p>
        </p:txBody>
      </p:sp>
      <p:sp>
        <p:nvSpPr>
          <p:cNvPr id="16" name="Shape 14"/>
          <p:cNvSpPr/>
          <p:nvPr/>
        </p:nvSpPr>
        <p:spPr>
          <a:xfrm>
            <a:off x="4846320" y="1737360"/>
            <a:ext cx="6793992" cy="347472"/>
          </a:xfrm>
          <a:prstGeom prst="rect">
            <a:avLst/>
          </a:prstGeom>
          <a:solidFill>
            <a:srgbClr val="2D2D30"/>
          </a:solidFill>
          <a:ln/>
        </p:spPr>
        <p:txBody>
          <a:bodyPr/>
          <a:lstStyle/>
          <a:p>
            <a:endParaRPr lang="en-US"/>
          </a:p>
        </p:txBody>
      </p:sp>
      <p:sp>
        <p:nvSpPr>
          <p:cNvPr id="17" name="Shape 15"/>
          <p:cNvSpPr/>
          <p:nvPr/>
        </p:nvSpPr>
        <p:spPr>
          <a:xfrm>
            <a:off x="4846320" y="1737360"/>
            <a:ext cx="2414016" cy="347472"/>
          </a:xfrm>
          <a:prstGeom prst="rect">
            <a:avLst/>
          </a:prstGeom>
          <a:solidFill>
            <a:srgbClr val="1E1E1E"/>
          </a:solidFill>
          <a:ln/>
        </p:spPr>
        <p:txBody>
          <a:bodyPr/>
          <a:lstStyle/>
          <a:p>
            <a:endParaRPr lang="en-US"/>
          </a:p>
        </p:txBody>
      </p:sp>
      <p:sp>
        <p:nvSpPr>
          <p:cNvPr id="18" name="Text 16"/>
          <p:cNvSpPr/>
          <p:nvPr/>
        </p:nvSpPr>
        <p:spPr>
          <a:xfrm>
            <a:off x="4983480" y="1737360"/>
            <a:ext cx="223113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templates/httproute.yaml</a:t>
            </a:r>
            <a:endParaRPr lang="en-US" sz="1100" dirty="0"/>
          </a:p>
        </p:txBody>
      </p:sp>
      <p:sp>
        <p:nvSpPr>
          <p:cNvPr id="19" name="Text 17"/>
          <p:cNvSpPr/>
          <p:nvPr/>
        </p:nvSpPr>
        <p:spPr>
          <a:xfrm>
            <a:off x="5047488" y="2212848"/>
            <a:ext cx="6428232" cy="1783080"/>
          </a:xfrm>
          <a:prstGeom prst="rect">
            <a:avLst/>
          </a:prstGeom>
          <a:noFill/>
          <a:ln/>
        </p:spPr>
        <p:txBody>
          <a:bodyPr wrap="square" lIns="0" tIns="0" rIns="0" bIns="0" rtlCol="0" anchor="t"/>
          <a:lstStyle/>
          <a:p>
            <a:pPr marL="0" indent="0">
              <a:lnSpc>
                <a:spcPct val="105000"/>
              </a:lnSpc>
              <a:buNone/>
            </a:pPr>
            <a:r>
              <a:rPr lang="en-US" sz="1250" dirty="0">
                <a:solidFill>
                  <a:srgbClr val="C586C0"/>
                </a:solidFill>
                <a:latin typeface="Consolas" pitchFamily="34" charset="0"/>
                <a:ea typeface="Consolas" pitchFamily="34" charset="-122"/>
                <a:cs typeface="Consolas" pitchFamily="34" charset="-120"/>
              </a:rPr>
              <a:t>{{- if .Values.httpRoute.enabled }}</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apiVersion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gateway.networking.k8s.io/v1</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kind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HTTPRoute</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metadata</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DCDCAA"/>
                </a:solidFill>
                <a:latin typeface="Consolas" pitchFamily="34" charset="0"/>
                <a:ea typeface="Consolas" pitchFamily="34" charset="-122"/>
                <a:cs typeface="Consolas" pitchFamily="34" charset="-120"/>
              </a:rPr>
              <a:t> {{ include "myapp.fullname" . }}</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hostnames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DCDCAA"/>
                </a:solidFill>
                <a:latin typeface="Consolas" pitchFamily="34" charset="0"/>
                <a:ea typeface="Consolas" pitchFamily="34" charset="-122"/>
                <a:cs typeface="Consolas" pitchFamily="34" charset="-120"/>
              </a:rPr>
              <a:t> [{{ .Values.httpRoute.hostname | quote }}]</a:t>
            </a:r>
            <a:endParaRPr lang="en-US" sz="1250" dirty="0"/>
          </a:p>
          <a:p>
            <a:pPr marL="0" indent="0">
              <a:lnSpc>
                <a:spcPct val="105000"/>
              </a:lnSpc>
              <a:buNone/>
            </a:pPr>
            <a:r>
              <a:rPr lang="en-US" sz="1250" dirty="0">
                <a:solidFill>
                  <a:srgbClr val="C586C0"/>
                </a:solidFill>
                <a:latin typeface="Consolas" pitchFamily="34" charset="0"/>
                <a:ea typeface="Consolas" pitchFamily="34" charset="-122"/>
                <a:cs typeface="Consolas" pitchFamily="34" charset="-120"/>
              </a:rPr>
              <a:t>{{- end }}</a:t>
            </a:r>
            <a:endParaRPr lang="en-US" sz="1250" dirty="0"/>
          </a:p>
        </p:txBody>
      </p:sp>
      <p:sp>
        <p:nvSpPr>
          <p:cNvPr id="20" name="Shape 18"/>
          <p:cNvSpPr/>
          <p:nvPr/>
        </p:nvSpPr>
        <p:spPr>
          <a:xfrm>
            <a:off x="548640" y="4389120"/>
            <a:ext cx="3514344" cy="1691640"/>
          </a:xfrm>
          <a:prstGeom prst="rect">
            <a:avLst/>
          </a:prstGeom>
          <a:solidFill>
            <a:srgbClr val="FFFFFF"/>
          </a:solidFill>
          <a:ln/>
        </p:spPr>
        <p:txBody>
          <a:bodyPr/>
          <a:lstStyle/>
          <a:p>
            <a:endParaRPr lang="en-US"/>
          </a:p>
        </p:txBody>
      </p:sp>
      <p:sp>
        <p:nvSpPr>
          <p:cNvPr id="21" name="Shape 19"/>
          <p:cNvSpPr/>
          <p:nvPr/>
        </p:nvSpPr>
        <p:spPr>
          <a:xfrm>
            <a:off x="777240" y="4617720"/>
            <a:ext cx="502920" cy="502920"/>
          </a:xfrm>
          <a:prstGeom prst="ellipse">
            <a:avLst/>
          </a:prstGeom>
          <a:solidFill>
            <a:srgbClr val="107C10"/>
          </a:solidFill>
          <a:ln/>
        </p:spPr>
        <p:txBody>
          <a:bodyPr/>
          <a:lstStyle/>
          <a:p>
            <a:endParaRPr lang="en-US"/>
          </a:p>
        </p:txBody>
      </p:sp>
      <p:pic>
        <p:nvPicPr>
          <p:cNvPr id="22" name="Image 0" descr="/agent/turn2/workspace/output/_anthropic_assets/icon-settings-29333648.png"/>
          <p:cNvPicPr>
            <a:picLocks noChangeAspect="1"/>
          </p:cNvPicPr>
          <p:nvPr/>
        </p:nvPicPr>
        <p:blipFill>
          <a:blip r:embed="rId2"/>
          <a:stretch>
            <a:fillRect/>
          </a:stretch>
        </p:blipFill>
        <p:spPr>
          <a:xfrm>
            <a:off x="887882" y="4728362"/>
            <a:ext cx="281635" cy="281635"/>
          </a:xfrm>
          <a:prstGeom prst="rect">
            <a:avLst/>
          </a:prstGeom>
        </p:spPr>
      </p:pic>
      <p:sp>
        <p:nvSpPr>
          <p:cNvPr id="23" name="Text 20"/>
          <p:cNvSpPr/>
          <p:nvPr/>
        </p:nvSpPr>
        <p:spPr>
          <a:xfrm>
            <a:off x="1508760" y="457200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Optional resources</a:t>
            </a:r>
            <a:endParaRPr lang="en-US" sz="1600" dirty="0"/>
          </a:p>
        </p:txBody>
      </p:sp>
      <p:sp>
        <p:nvSpPr>
          <p:cNvPr id="24" name="Text 21"/>
          <p:cNvSpPr/>
          <p:nvPr/>
        </p:nvSpPr>
        <p:spPr>
          <a:xfrm>
            <a:off x="1508760" y="4983480"/>
            <a:ext cx="2371344" cy="96012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Wrap whole manifests in </a:t>
            </a:r>
            <a:r>
              <a:rPr lang="en-US" sz="1400" dirty="0">
                <a:solidFill>
                  <a:srgbClr val="0F6CBD"/>
                </a:solidFill>
                <a:latin typeface="Consolas" pitchFamily="34" charset="0"/>
                <a:ea typeface="Consolas" pitchFamily="34" charset="-122"/>
                <a:cs typeface="Consolas" pitchFamily="34" charset="-120"/>
              </a:rPr>
              <a:t>if</a:t>
            </a:r>
            <a:r>
              <a:rPr lang="en-US" sz="1400" dirty="0">
                <a:solidFill>
                  <a:srgbClr val="323130"/>
                </a:solidFill>
                <a:latin typeface="Segoe UI" pitchFamily="34" charset="0"/>
                <a:ea typeface="Segoe UI" pitchFamily="34" charset="-122"/>
                <a:cs typeface="Segoe UI" pitchFamily="34" charset="-120"/>
              </a:rPr>
              <a:t> so environments opt in.</a:t>
            </a:r>
            <a:endParaRPr lang="en-US" sz="1400" dirty="0"/>
          </a:p>
        </p:txBody>
      </p:sp>
      <p:sp>
        <p:nvSpPr>
          <p:cNvPr id="25" name="Shape 22"/>
          <p:cNvSpPr/>
          <p:nvPr/>
        </p:nvSpPr>
        <p:spPr>
          <a:xfrm>
            <a:off x="4337304" y="4389120"/>
            <a:ext cx="3514344" cy="1691640"/>
          </a:xfrm>
          <a:prstGeom prst="rect">
            <a:avLst/>
          </a:prstGeom>
          <a:solidFill>
            <a:srgbClr val="FFFFFF"/>
          </a:solidFill>
          <a:ln/>
        </p:spPr>
        <p:txBody>
          <a:bodyPr/>
          <a:lstStyle/>
          <a:p>
            <a:endParaRPr lang="en-US"/>
          </a:p>
        </p:txBody>
      </p:sp>
      <p:sp>
        <p:nvSpPr>
          <p:cNvPr id="26" name="Shape 23"/>
          <p:cNvSpPr/>
          <p:nvPr/>
        </p:nvSpPr>
        <p:spPr>
          <a:xfrm>
            <a:off x="4565904" y="4617720"/>
            <a:ext cx="502920" cy="502920"/>
          </a:xfrm>
          <a:prstGeom prst="ellipse">
            <a:avLst/>
          </a:prstGeom>
          <a:solidFill>
            <a:srgbClr val="107C10"/>
          </a:solidFill>
          <a:ln/>
        </p:spPr>
        <p:txBody>
          <a:bodyPr/>
          <a:lstStyle/>
          <a:p>
            <a:endParaRPr lang="en-US"/>
          </a:p>
        </p:txBody>
      </p:sp>
      <p:pic>
        <p:nvPicPr>
          <p:cNvPr id="27" name="Image 1" descr="/agent/turn2/workspace/output/_anthropic_assets/icon-layer-549dba7a.png"/>
          <p:cNvPicPr>
            <a:picLocks noChangeAspect="1"/>
          </p:cNvPicPr>
          <p:nvPr/>
        </p:nvPicPr>
        <p:blipFill>
          <a:blip r:embed="rId3"/>
          <a:stretch>
            <a:fillRect/>
          </a:stretch>
        </p:blipFill>
        <p:spPr>
          <a:xfrm>
            <a:off x="4676546" y="4728362"/>
            <a:ext cx="281635" cy="281635"/>
          </a:xfrm>
          <a:prstGeom prst="rect">
            <a:avLst/>
          </a:prstGeom>
        </p:spPr>
      </p:pic>
      <p:sp>
        <p:nvSpPr>
          <p:cNvPr id="28" name="Text 24"/>
          <p:cNvSpPr/>
          <p:nvPr/>
        </p:nvSpPr>
        <p:spPr>
          <a:xfrm>
            <a:off x="5297424" y="457200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One chart, many shapes</a:t>
            </a:r>
            <a:endParaRPr lang="en-US" sz="1600" dirty="0"/>
          </a:p>
        </p:txBody>
      </p:sp>
      <p:sp>
        <p:nvSpPr>
          <p:cNvPr id="29" name="Text 25"/>
          <p:cNvSpPr/>
          <p:nvPr/>
        </p:nvSpPr>
        <p:spPr>
          <a:xfrm>
            <a:off x="5297424" y="4983480"/>
            <a:ext cx="2371344" cy="96012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dev skips autoscaling; prod turns it on — same templates.</a:t>
            </a:r>
            <a:endParaRPr lang="en-US" sz="1400" dirty="0"/>
          </a:p>
        </p:txBody>
      </p:sp>
      <p:sp>
        <p:nvSpPr>
          <p:cNvPr id="30" name="Shape 26"/>
          <p:cNvSpPr/>
          <p:nvPr/>
        </p:nvSpPr>
        <p:spPr>
          <a:xfrm>
            <a:off x="8125968" y="4389120"/>
            <a:ext cx="3514344" cy="1691640"/>
          </a:xfrm>
          <a:prstGeom prst="rect">
            <a:avLst/>
          </a:prstGeom>
          <a:solidFill>
            <a:srgbClr val="FFFFFF"/>
          </a:solidFill>
          <a:ln/>
        </p:spPr>
        <p:txBody>
          <a:bodyPr/>
          <a:lstStyle/>
          <a:p>
            <a:endParaRPr lang="en-US"/>
          </a:p>
        </p:txBody>
      </p:sp>
      <p:sp>
        <p:nvSpPr>
          <p:cNvPr id="31" name="Shape 27"/>
          <p:cNvSpPr/>
          <p:nvPr/>
        </p:nvSpPr>
        <p:spPr>
          <a:xfrm>
            <a:off x="8354568" y="4617720"/>
            <a:ext cx="502920" cy="502920"/>
          </a:xfrm>
          <a:prstGeom prst="ellipse">
            <a:avLst/>
          </a:prstGeom>
          <a:solidFill>
            <a:srgbClr val="107C10"/>
          </a:solidFill>
          <a:ln/>
        </p:spPr>
        <p:txBody>
          <a:bodyPr/>
          <a:lstStyle/>
          <a:p>
            <a:endParaRPr lang="en-US"/>
          </a:p>
        </p:txBody>
      </p:sp>
      <p:pic>
        <p:nvPicPr>
          <p:cNvPr id="32" name="Image 2" descr="/agent/turn2/workspace/output/_anthropic_assets/icon-warning-adbe1e7c.png"/>
          <p:cNvPicPr>
            <a:picLocks noChangeAspect="1"/>
          </p:cNvPicPr>
          <p:nvPr/>
        </p:nvPicPr>
        <p:blipFill>
          <a:blip r:embed="rId4"/>
          <a:stretch>
            <a:fillRect/>
          </a:stretch>
        </p:blipFill>
        <p:spPr>
          <a:xfrm>
            <a:off x="8465210" y="4728362"/>
            <a:ext cx="281635" cy="281635"/>
          </a:xfrm>
          <a:prstGeom prst="rect">
            <a:avLst/>
          </a:prstGeom>
        </p:spPr>
      </p:pic>
      <p:sp>
        <p:nvSpPr>
          <p:cNvPr id="33" name="Text 28"/>
          <p:cNvSpPr/>
          <p:nvPr/>
        </p:nvSpPr>
        <p:spPr>
          <a:xfrm>
            <a:off x="9086088" y="457200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Mind the whitespace</a:t>
            </a:r>
            <a:endParaRPr lang="en-US" sz="1600" dirty="0"/>
          </a:p>
        </p:txBody>
      </p:sp>
      <p:sp>
        <p:nvSpPr>
          <p:cNvPr id="34" name="Text 29"/>
          <p:cNvSpPr/>
          <p:nvPr/>
        </p:nvSpPr>
        <p:spPr>
          <a:xfrm>
            <a:off x="9086088" y="4983480"/>
            <a:ext cx="2371344" cy="960120"/>
          </a:xfrm>
          <a:prstGeom prst="rect">
            <a:avLst/>
          </a:prstGeom>
          <a:noFill/>
          <a:ln/>
        </p:spPr>
        <p:txBody>
          <a:bodyPr wrap="square" lIns="0" tIns="0" rIns="0" bIns="0" rtlCol="0" anchor="t"/>
          <a:lstStyle/>
          <a:p>
            <a:pPr marL="0" indent="0">
              <a:buNone/>
            </a:pPr>
            <a:r>
              <a:rPr lang="en-US" sz="1400" dirty="0">
                <a:solidFill>
                  <a:srgbClr val="0F6CBD"/>
                </a:solidFill>
                <a:latin typeface="Consolas" pitchFamily="34" charset="0"/>
                <a:ea typeface="Consolas" pitchFamily="34" charset="-122"/>
                <a:cs typeface="Consolas" pitchFamily="34" charset="-120"/>
              </a:rPr>
              <a:t>{{-</a:t>
            </a:r>
            <a:r>
              <a:rPr lang="en-US" sz="1400" dirty="0">
                <a:solidFill>
                  <a:srgbClr val="323130"/>
                </a:solidFill>
                <a:latin typeface="Segoe UI" pitchFamily="34" charset="0"/>
                <a:ea typeface="Segoe UI" pitchFamily="34" charset="-122"/>
                <a:cs typeface="Segoe UI" pitchFamily="34" charset="-120"/>
              </a:rPr>
              <a:t> and </a:t>
            </a:r>
            <a:r>
              <a:rPr lang="en-US" sz="1400" dirty="0">
                <a:solidFill>
                  <a:srgbClr val="0F6CBD"/>
                </a:solidFill>
                <a:latin typeface="Consolas" pitchFamily="34" charset="0"/>
                <a:ea typeface="Consolas" pitchFamily="34" charset="-122"/>
                <a:cs typeface="Consolas" pitchFamily="34" charset="-120"/>
              </a:rPr>
              <a:t>-}}</a:t>
            </a:r>
            <a:r>
              <a:rPr lang="en-US" sz="1400" dirty="0">
                <a:solidFill>
                  <a:srgbClr val="323130"/>
                </a:solidFill>
                <a:latin typeface="Segoe UI" pitchFamily="34" charset="0"/>
                <a:ea typeface="Segoe UI" pitchFamily="34" charset="-122"/>
                <a:cs typeface="Segoe UI" pitchFamily="34" charset="-120"/>
              </a:rPr>
              <a:t> trim newlines so output stays valid YAML.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6093B2D2-230F-478C-9FFE-D19D6257517A}" type="slidenum">
              <a:rPr lang="en-US" sz="1100">
                <a:solidFill>
                  <a:srgbClr val="605E5C"/>
                </a:solidFill>
                <a:latin typeface="Segoe UI" pitchFamily="34" charset="0"/>
                <a:ea typeface="Segoe UI" pitchFamily="34" charset="-122"/>
                <a:cs typeface="Segoe UI" pitchFamily="34" charset="-120"/>
              </a:rPr>
              <a:t>19</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Values Precedence: Who Wins?</a:t>
            </a:r>
            <a:endParaRPr lang="en-US" sz="3200" dirty="0"/>
          </a:p>
        </p:txBody>
      </p:sp>
      <p:sp>
        <p:nvSpPr>
          <p:cNvPr id="10" name="Text 8"/>
          <p:cNvSpPr/>
          <p:nvPr/>
        </p:nvSpPr>
        <p:spPr>
          <a:xfrm>
            <a:off x="1280160" y="1783080"/>
            <a:ext cx="4480560" cy="914400"/>
          </a:xfrm>
          <a:prstGeom prst="rect">
            <a:avLst/>
          </a:prstGeom>
          <a:solidFill>
            <a:srgbClr val="107C10"/>
          </a:solidFill>
          <a:ln/>
        </p:spPr>
        <p:txBody>
          <a:bodyPr wrap="square" lIns="76200" tIns="76200" rIns="76200" bIns="76200" rtlCol="0" anchor="ctr"/>
          <a:lstStyle/>
          <a:p>
            <a:pPr marL="0" indent="0" algn="ctr">
              <a:buNone/>
            </a:pPr>
            <a:r>
              <a:rPr lang="en-US" sz="1600" dirty="0">
                <a:solidFill>
                  <a:srgbClr val="FFFFFF"/>
                </a:solidFill>
                <a:latin typeface="Consolas" pitchFamily="34" charset="0"/>
                <a:ea typeface="Consolas" pitchFamily="34" charset="-122"/>
                <a:cs typeface="Consolas" pitchFamily="34" charset="-120"/>
              </a:rPr>
              <a:t>--set</a:t>
            </a:r>
            <a:r>
              <a:rPr lang="en-US" sz="1600" dirty="0">
                <a:solidFill>
                  <a:srgbClr val="FFFFFF"/>
                </a:solidFill>
                <a:latin typeface="Segoe UI" pitchFamily="34" charset="0"/>
                <a:ea typeface="Segoe UI" pitchFamily="34" charset="-122"/>
                <a:cs typeface="Segoe UI" pitchFamily="34" charset="-120"/>
              </a:rPr>
              <a:t> flags on the command line</a:t>
            </a:r>
            <a:endParaRPr lang="en-US" sz="1600" dirty="0"/>
          </a:p>
        </p:txBody>
      </p:sp>
      <p:sp>
        <p:nvSpPr>
          <p:cNvPr id="11" name="Text 9"/>
          <p:cNvSpPr/>
          <p:nvPr/>
        </p:nvSpPr>
        <p:spPr>
          <a:xfrm>
            <a:off x="6766560" y="1783080"/>
            <a:ext cx="914400" cy="914400"/>
          </a:xfrm>
          <a:prstGeom prst="rect">
            <a:avLst/>
          </a:prstGeom>
          <a:noFill/>
          <a:ln/>
        </p:spPr>
        <p:txBody>
          <a:bodyPr wrap="square" lIns="0" tIns="0" rIns="0" bIns="0" rtlCol="0" anchor="ctr"/>
          <a:lstStyle/>
          <a:p>
            <a:pPr marL="0" indent="0">
              <a:buNone/>
            </a:pPr>
            <a:r>
              <a:rPr lang="en-US" sz="1400" dirty="0">
                <a:solidFill>
                  <a:srgbClr val="107C10"/>
                </a:solidFill>
                <a:latin typeface="Segoe UI Semibold" pitchFamily="34" charset="0"/>
                <a:ea typeface="Segoe UI Semibold" pitchFamily="34" charset="-122"/>
                <a:cs typeface="Segoe UI Semibold" pitchFamily="34" charset="-120"/>
              </a:rPr>
              <a:t>Highest</a:t>
            </a:r>
            <a:endParaRPr lang="en-US" sz="1400" dirty="0"/>
          </a:p>
        </p:txBody>
      </p:sp>
      <p:sp>
        <p:nvSpPr>
          <p:cNvPr id="12" name="Text 10"/>
          <p:cNvSpPr/>
          <p:nvPr/>
        </p:nvSpPr>
        <p:spPr>
          <a:xfrm>
            <a:off x="914400" y="2862072"/>
            <a:ext cx="5212080" cy="914400"/>
          </a:xfrm>
          <a:prstGeom prst="rect">
            <a:avLst/>
          </a:prstGeom>
          <a:solidFill>
            <a:srgbClr val="2F952F"/>
          </a:solidFill>
          <a:ln/>
        </p:spPr>
        <p:txBody>
          <a:bodyPr wrap="square" lIns="76200" tIns="76200" rIns="76200" bIns="76200" rtlCol="0" anchor="ctr"/>
          <a:lstStyle/>
          <a:p>
            <a:pPr marL="0" indent="0" algn="ctr">
              <a:buNone/>
            </a:pPr>
            <a:r>
              <a:rPr lang="en-US" sz="1600" dirty="0">
                <a:solidFill>
                  <a:srgbClr val="FFFFFF"/>
                </a:solidFill>
                <a:latin typeface="Consolas" pitchFamily="34" charset="0"/>
                <a:ea typeface="Consolas" pitchFamily="34" charset="-122"/>
                <a:cs typeface="Consolas" pitchFamily="34" charset="-120"/>
              </a:rPr>
              <a:t>-f</a:t>
            </a:r>
            <a:r>
              <a:rPr lang="en-US" sz="1600" dirty="0">
                <a:solidFill>
                  <a:srgbClr val="FFFFFF"/>
                </a:solidFill>
                <a:latin typeface="Segoe UI" pitchFamily="34" charset="0"/>
                <a:ea typeface="Segoe UI" pitchFamily="34" charset="-122"/>
                <a:cs typeface="Segoe UI" pitchFamily="34" charset="-120"/>
              </a:rPr>
              <a:t> values files (the last file wins)</a:t>
            </a:r>
            <a:endParaRPr lang="en-US" sz="1600" dirty="0"/>
          </a:p>
        </p:txBody>
      </p:sp>
      <p:sp>
        <p:nvSpPr>
          <p:cNvPr id="13" name="Text 11"/>
          <p:cNvSpPr/>
          <p:nvPr/>
        </p:nvSpPr>
        <p:spPr>
          <a:xfrm>
            <a:off x="548640" y="3941064"/>
            <a:ext cx="5943600" cy="914400"/>
          </a:xfrm>
          <a:prstGeom prst="rect">
            <a:avLst/>
          </a:prstGeom>
          <a:solidFill>
            <a:srgbClr val="9BD99B"/>
          </a:solidFill>
          <a:ln/>
        </p:spPr>
        <p:txBody>
          <a:bodyPr wrap="square" lIns="76200" tIns="76200" rIns="76200" bIns="76200" rtlCol="0" anchor="ctr"/>
          <a:lstStyle/>
          <a:p>
            <a:pPr marL="0" indent="0" algn="ctr">
              <a:buNone/>
            </a:pPr>
            <a:r>
              <a:rPr lang="en-US" sz="1600" dirty="0">
                <a:solidFill>
                  <a:srgbClr val="201F1E"/>
                </a:solidFill>
                <a:latin typeface="Segoe UI" pitchFamily="34" charset="0"/>
                <a:ea typeface="Segoe UI" pitchFamily="34" charset="-122"/>
                <a:cs typeface="Segoe UI" pitchFamily="34" charset="-120"/>
              </a:rPr>
              <a:t>Parent chart values (for subcharts)</a:t>
            </a:r>
            <a:endParaRPr lang="en-US" sz="1600" dirty="0"/>
          </a:p>
        </p:txBody>
      </p:sp>
      <p:sp>
        <p:nvSpPr>
          <p:cNvPr id="14" name="Text 12"/>
          <p:cNvSpPr/>
          <p:nvPr/>
        </p:nvSpPr>
        <p:spPr>
          <a:xfrm>
            <a:off x="182880" y="5020056"/>
            <a:ext cx="6675120" cy="914400"/>
          </a:xfrm>
          <a:prstGeom prst="rect">
            <a:avLst/>
          </a:prstGeom>
          <a:solidFill>
            <a:srgbClr val="DFF6DD"/>
          </a:solidFill>
          <a:ln/>
        </p:spPr>
        <p:txBody>
          <a:bodyPr wrap="square" lIns="76200" tIns="76200" rIns="76200" bIns="76200" rtlCol="0" anchor="ctr"/>
          <a:lstStyle/>
          <a:p>
            <a:pPr marL="0" indent="0" algn="ctr">
              <a:buNone/>
            </a:pPr>
            <a:r>
              <a:rPr lang="en-US" sz="1600" dirty="0">
                <a:solidFill>
                  <a:srgbClr val="201F1E"/>
                </a:solidFill>
                <a:latin typeface="Segoe UI" pitchFamily="34" charset="0"/>
                <a:ea typeface="Segoe UI" pitchFamily="34" charset="-122"/>
                <a:cs typeface="Segoe UI" pitchFamily="34" charset="-120"/>
              </a:rPr>
              <a:t>The chart's own values.yaml defaults</a:t>
            </a:r>
            <a:endParaRPr lang="en-US" sz="1600" dirty="0"/>
          </a:p>
        </p:txBody>
      </p:sp>
      <p:sp>
        <p:nvSpPr>
          <p:cNvPr id="15" name="Text 13"/>
          <p:cNvSpPr/>
          <p:nvPr/>
        </p:nvSpPr>
        <p:spPr>
          <a:xfrm>
            <a:off x="6766560" y="5020056"/>
            <a:ext cx="914400" cy="914400"/>
          </a:xfrm>
          <a:prstGeom prst="rect">
            <a:avLst/>
          </a:prstGeom>
          <a:noFill/>
          <a:ln/>
        </p:spPr>
        <p:txBody>
          <a:bodyPr wrap="square" lIns="0" tIns="0" rIns="0" bIns="0" rtlCol="0" anchor="ctr"/>
          <a:lstStyle/>
          <a:p>
            <a:pPr marL="0" indent="0">
              <a:buNone/>
            </a:pPr>
            <a:r>
              <a:rPr lang="en-US" sz="1400" dirty="0">
                <a:solidFill>
                  <a:srgbClr val="107C10"/>
                </a:solidFill>
                <a:latin typeface="Segoe UI Semibold" pitchFamily="34" charset="0"/>
                <a:ea typeface="Segoe UI Semibold" pitchFamily="34" charset="-122"/>
                <a:cs typeface="Segoe UI Semibold" pitchFamily="34" charset="-120"/>
              </a:rPr>
              <a:t>Lowest</a:t>
            </a:r>
            <a:endParaRPr lang="en-US" sz="1400" dirty="0"/>
          </a:p>
        </p:txBody>
      </p:sp>
      <p:sp>
        <p:nvSpPr>
          <p:cNvPr id="16" name="Shape 14"/>
          <p:cNvSpPr/>
          <p:nvPr/>
        </p:nvSpPr>
        <p:spPr>
          <a:xfrm flipV="1">
            <a:off x="6583680" y="2286000"/>
            <a:ext cx="914" cy="2651760"/>
          </a:xfrm>
          <a:prstGeom prst="line">
            <a:avLst/>
          </a:prstGeom>
          <a:noFill/>
          <a:ln w="31750">
            <a:solidFill>
              <a:srgbClr val="107C10"/>
            </a:solidFill>
            <a:prstDash val="solid"/>
            <a:tailEnd type="triangle"/>
          </a:ln>
        </p:spPr>
        <p:txBody>
          <a:bodyPr/>
          <a:lstStyle/>
          <a:p>
            <a:endParaRPr lang="en-US"/>
          </a:p>
        </p:txBody>
      </p:sp>
      <p:sp>
        <p:nvSpPr>
          <p:cNvPr id="17" name="Shape 15"/>
          <p:cNvSpPr/>
          <p:nvPr/>
        </p:nvSpPr>
        <p:spPr>
          <a:xfrm>
            <a:off x="7863840" y="1783080"/>
            <a:ext cx="3776472" cy="2194560"/>
          </a:xfrm>
          <a:prstGeom prst="rect">
            <a:avLst/>
          </a:prstGeom>
          <a:solidFill>
            <a:srgbClr val="1E1E1E"/>
          </a:solidFill>
          <a:ln/>
        </p:spPr>
        <p:txBody>
          <a:bodyPr anchor="t"/>
          <a:lstStyle/>
          <a:p>
            <a:endParaRPr lang="en-US"/>
          </a:p>
        </p:txBody>
      </p:sp>
      <p:sp>
        <p:nvSpPr>
          <p:cNvPr id="18" name="Shape 16"/>
          <p:cNvSpPr/>
          <p:nvPr/>
        </p:nvSpPr>
        <p:spPr>
          <a:xfrm>
            <a:off x="7863840" y="1783080"/>
            <a:ext cx="3776472" cy="347472"/>
          </a:xfrm>
          <a:prstGeom prst="rect">
            <a:avLst/>
          </a:prstGeom>
          <a:solidFill>
            <a:srgbClr val="2D2D30"/>
          </a:solidFill>
          <a:ln/>
        </p:spPr>
        <p:txBody>
          <a:bodyPr/>
          <a:lstStyle/>
          <a:p>
            <a:endParaRPr lang="en-US"/>
          </a:p>
        </p:txBody>
      </p:sp>
      <p:sp>
        <p:nvSpPr>
          <p:cNvPr id="19" name="Shape 17"/>
          <p:cNvSpPr/>
          <p:nvPr/>
        </p:nvSpPr>
        <p:spPr>
          <a:xfrm>
            <a:off x="7863840" y="1783080"/>
            <a:ext cx="859536" cy="347472"/>
          </a:xfrm>
          <a:prstGeom prst="rect">
            <a:avLst/>
          </a:prstGeom>
          <a:solidFill>
            <a:srgbClr val="1E1E1E"/>
          </a:solidFill>
          <a:ln/>
        </p:spPr>
        <p:txBody>
          <a:bodyPr/>
          <a:lstStyle/>
          <a:p>
            <a:endParaRPr lang="en-US"/>
          </a:p>
        </p:txBody>
      </p:sp>
      <p:sp>
        <p:nvSpPr>
          <p:cNvPr id="20" name="Text 18"/>
          <p:cNvSpPr/>
          <p:nvPr/>
        </p:nvSpPr>
        <p:spPr>
          <a:xfrm>
            <a:off x="8001000" y="178308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21" name="Text 19"/>
          <p:cNvSpPr/>
          <p:nvPr/>
        </p:nvSpPr>
        <p:spPr>
          <a:xfrm>
            <a:off x="8065008" y="2258568"/>
            <a:ext cx="3410712" cy="1600200"/>
          </a:xfrm>
          <a:prstGeom prst="rect">
            <a:avLst/>
          </a:prstGeom>
          <a:noFill/>
          <a:ln/>
        </p:spPr>
        <p:txBody>
          <a:bodyPr wrap="square" lIns="0" tIns="0" rIns="0" bIns="0" rtlCol="0" anchor="t"/>
          <a:lstStyle/>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helm</a:t>
            </a:r>
            <a:r>
              <a:rPr lang="en-US" sz="1300" dirty="0">
                <a:solidFill>
                  <a:srgbClr val="D4D4D4"/>
                </a:solidFill>
                <a:latin typeface="Consolas" pitchFamily="34" charset="0"/>
                <a:ea typeface="Consolas" pitchFamily="34" charset="-122"/>
                <a:cs typeface="Consolas" pitchFamily="34" charset="-120"/>
              </a:rPr>
              <a:t> upgrade --install web ./myapp \</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DCDCAA"/>
                </a:solidFill>
                <a:latin typeface="Consolas" pitchFamily="34" charset="0"/>
                <a:ea typeface="Consolas" pitchFamily="34" charset="-122"/>
                <a:cs typeface="Consolas" pitchFamily="34" charset="-120"/>
              </a:rPr>
              <a:t>-f</a:t>
            </a:r>
            <a:r>
              <a:rPr lang="en-US" sz="1300" dirty="0">
                <a:solidFill>
                  <a:srgbClr val="D4D4D4"/>
                </a:solidFill>
                <a:latin typeface="Consolas" pitchFamily="34" charset="0"/>
                <a:ea typeface="Consolas" pitchFamily="34" charset="-122"/>
                <a:cs typeface="Consolas" pitchFamily="34" charset="-120"/>
              </a:rPr>
              <a:t> values.yaml \</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DCDCAA"/>
                </a:solidFill>
                <a:latin typeface="Consolas" pitchFamily="34" charset="0"/>
                <a:ea typeface="Consolas" pitchFamily="34" charset="-122"/>
                <a:cs typeface="Consolas" pitchFamily="34" charset="-120"/>
              </a:rPr>
              <a:t>-f</a:t>
            </a:r>
            <a:r>
              <a:rPr lang="en-US" sz="1300" dirty="0">
                <a:solidFill>
                  <a:srgbClr val="D4D4D4"/>
                </a:solidFill>
                <a:latin typeface="Consolas" pitchFamily="34" charset="0"/>
                <a:ea typeface="Consolas" pitchFamily="34" charset="-122"/>
                <a:cs typeface="Consolas" pitchFamily="34" charset="-120"/>
              </a:rPr>
              <a:t> values-prod.yaml \</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DCDCAA"/>
                </a:solidFill>
                <a:latin typeface="Consolas" pitchFamily="34" charset="0"/>
                <a:ea typeface="Consolas" pitchFamily="34" charset="-122"/>
                <a:cs typeface="Consolas" pitchFamily="34" charset="-120"/>
              </a:rPr>
              <a:t>--set</a:t>
            </a:r>
            <a:r>
              <a:rPr lang="en-US" sz="1300" dirty="0">
                <a:solidFill>
                  <a:srgbClr val="D4D4D4"/>
                </a:solidFill>
                <a:latin typeface="Consolas" pitchFamily="34" charset="0"/>
                <a:ea typeface="Consolas" pitchFamily="34" charset="-122"/>
                <a:cs typeface="Consolas" pitchFamily="34" charset="-120"/>
              </a:rPr>
              <a:t> image.tag=2.7.1</a:t>
            </a:r>
            <a:endParaRPr lang="en-US" sz="1300" dirty="0"/>
          </a:p>
        </p:txBody>
      </p:sp>
      <p:sp>
        <p:nvSpPr>
          <p:cNvPr id="22" name="Shape 20"/>
          <p:cNvSpPr/>
          <p:nvPr/>
        </p:nvSpPr>
        <p:spPr>
          <a:xfrm>
            <a:off x="7863840" y="4206240"/>
            <a:ext cx="3776472" cy="1737360"/>
          </a:xfrm>
          <a:prstGeom prst="rect">
            <a:avLst/>
          </a:prstGeom>
          <a:solidFill>
            <a:srgbClr val="DFF6DD"/>
          </a:solidFill>
          <a:ln/>
        </p:spPr>
        <p:txBody>
          <a:bodyPr anchor="t"/>
          <a:lstStyle/>
          <a:p>
            <a:endParaRPr lang="en-US"/>
          </a:p>
        </p:txBody>
      </p:sp>
      <p:sp>
        <p:nvSpPr>
          <p:cNvPr id="23" name="Shape 21"/>
          <p:cNvSpPr/>
          <p:nvPr/>
        </p:nvSpPr>
        <p:spPr>
          <a:xfrm>
            <a:off x="8092440" y="4823460"/>
            <a:ext cx="502920" cy="502920"/>
          </a:xfrm>
          <a:prstGeom prst="ellipse">
            <a:avLst/>
          </a:prstGeom>
          <a:solidFill>
            <a:srgbClr val="107C10"/>
          </a:solidFill>
          <a:ln/>
        </p:spPr>
        <p:txBody>
          <a:bodyPr/>
          <a:lstStyle/>
          <a:p>
            <a:endParaRPr lang="en-US"/>
          </a:p>
        </p:txBody>
      </p:sp>
      <p:pic>
        <p:nvPicPr>
          <p:cNvPr id="24" name="Image 0" descr="/agent/turn2/workspace/output/_anthropic_assets/icon-document-f36ec721.png"/>
          <p:cNvPicPr>
            <a:picLocks noChangeAspect="1"/>
          </p:cNvPicPr>
          <p:nvPr/>
        </p:nvPicPr>
        <p:blipFill>
          <a:blip r:embed="rId2"/>
          <a:stretch>
            <a:fillRect/>
          </a:stretch>
        </p:blipFill>
        <p:spPr>
          <a:xfrm>
            <a:off x="8203082" y="4934102"/>
            <a:ext cx="281635" cy="281635"/>
          </a:xfrm>
          <a:prstGeom prst="rect">
            <a:avLst/>
          </a:prstGeom>
        </p:spPr>
      </p:pic>
      <p:sp>
        <p:nvSpPr>
          <p:cNvPr id="25" name="Text 22"/>
          <p:cNvSpPr/>
          <p:nvPr/>
        </p:nvSpPr>
        <p:spPr>
          <a:xfrm>
            <a:off x="8823960" y="4206240"/>
            <a:ext cx="2587752" cy="1737360"/>
          </a:xfrm>
          <a:prstGeom prst="rect">
            <a:avLst/>
          </a:prstGeom>
          <a:noFill/>
          <a:ln/>
        </p:spPr>
        <p:txBody>
          <a:bodyPr wrap="square" lIns="0" tIns="0" rIns="0" bIns="0" rtlCol="0" anchor="ctr"/>
          <a:lstStyle/>
          <a:p>
            <a:pPr marL="0" indent="0">
              <a:buNone/>
            </a:pPr>
            <a:r>
              <a:rPr lang="en-US" sz="1500" dirty="0">
                <a:solidFill>
                  <a:srgbClr val="201F1E"/>
                </a:solidFill>
                <a:latin typeface="Segoe UI" pitchFamily="34" charset="0"/>
                <a:ea typeface="Segoe UI" pitchFamily="34" charset="-122"/>
                <a:cs typeface="Segoe UI" pitchFamily="34" charset="-120"/>
              </a:rPr>
              <a:t>Prefer </a:t>
            </a:r>
            <a:r>
              <a:rPr lang="en-US" sz="1500" b="1" dirty="0">
                <a:solidFill>
                  <a:srgbClr val="201F1E"/>
                </a:solidFill>
                <a:latin typeface="Segoe UI" pitchFamily="34" charset="0"/>
                <a:ea typeface="Segoe UI" pitchFamily="34" charset="-122"/>
                <a:cs typeface="Segoe UI" pitchFamily="34" charset="-120"/>
              </a:rPr>
              <a:t>files in Git</a:t>
            </a:r>
            <a:r>
              <a:rPr lang="en-US" sz="1500" dirty="0">
                <a:solidFill>
                  <a:srgbClr val="201F1E"/>
                </a:solidFill>
                <a:latin typeface="Segoe UI" pitchFamily="34" charset="0"/>
                <a:ea typeface="Segoe UI" pitchFamily="34" charset="-122"/>
                <a:cs typeface="Segoe UI" pitchFamily="34" charset="-120"/>
              </a:rPr>
              <a:t> over </a:t>
            </a:r>
            <a:r>
              <a:rPr lang="en-US" sz="1500" dirty="0">
                <a:solidFill>
                  <a:srgbClr val="0F6CBD"/>
                </a:solidFill>
                <a:latin typeface="Consolas" pitchFamily="34" charset="0"/>
                <a:ea typeface="Consolas" pitchFamily="34" charset="-122"/>
                <a:cs typeface="Consolas" pitchFamily="34" charset="-120"/>
              </a:rPr>
              <a:t>--set</a:t>
            </a:r>
            <a:r>
              <a:rPr lang="en-US" sz="1500" dirty="0">
                <a:solidFill>
                  <a:srgbClr val="201F1E"/>
                </a:solidFill>
                <a:latin typeface="Segoe UI" pitchFamily="34" charset="0"/>
                <a:ea typeface="Segoe UI" pitchFamily="34" charset="-122"/>
                <a:cs typeface="Segoe UI" pitchFamily="34" charset="-120"/>
              </a:rPr>
              <a:t> so every override is reviewed and repeatable.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BC0F3084-F23F-44C1-8000-B136CFDA94DC}" type="slidenum">
              <a:rPr lang="en-US" sz="1100">
                <a:solidFill>
                  <a:srgbClr val="605E5C"/>
                </a:solidFill>
                <a:latin typeface="Segoe UI" pitchFamily="34" charset="0"/>
                <a:ea typeface="Segoe UI" pitchFamily="34" charset="-122"/>
                <a:cs typeface="Segoe UI" pitchFamily="34" charset="-120"/>
              </a:rPr>
              <a:t>20</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Render Before You Deploy</a:t>
            </a:r>
            <a:endParaRPr lang="en-US" sz="3200" dirty="0"/>
          </a:p>
        </p:txBody>
      </p:sp>
      <p:sp>
        <p:nvSpPr>
          <p:cNvPr id="10" name="Shape 8"/>
          <p:cNvSpPr/>
          <p:nvPr/>
        </p:nvSpPr>
        <p:spPr>
          <a:xfrm>
            <a:off x="548640" y="1783080"/>
            <a:ext cx="2587752" cy="3291840"/>
          </a:xfrm>
          <a:prstGeom prst="rect">
            <a:avLst/>
          </a:prstGeom>
          <a:solidFill>
            <a:srgbClr val="FFFFFF"/>
          </a:solidFill>
          <a:ln/>
        </p:spPr>
        <p:txBody>
          <a:bodyPr/>
          <a:lstStyle/>
          <a:p>
            <a:endParaRPr lang="en-US"/>
          </a:p>
        </p:txBody>
      </p:sp>
      <p:sp>
        <p:nvSpPr>
          <p:cNvPr id="11" name="Shape 9"/>
          <p:cNvSpPr/>
          <p:nvPr/>
        </p:nvSpPr>
        <p:spPr>
          <a:xfrm>
            <a:off x="777240" y="2011680"/>
            <a:ext cx="640080" cy="640080"/>
          </a:xfrm>
          <a:prstGeom prst="ellipse">
            <a:avLst/>
          </a:prstGeom>
          <a:solidFill>
            <a:srgbClr val="107C10"/>
          </a:solidFill>
          <a:ln/>
        </p:spPr>
        <p:txBody>
          <a:bodyPr/>
          <a:lstStyle/>
          <a:p>
            <a:endParaRPr lang="en-US"/>
          </a:p>
        </p:txBody>
      </p:sp>
      <p:sp>
        <p:nvSpPr>
          <p:cNvPr id="12" name="Text 10"/>
          <p:cNvSpPr/>
          <p:nvPr/>
        </p:nvSpPr>
        <p:spPr>
          <a:xfrm>
            <a:off x="777240" y="2011680"/>
            <a:ext cx="64008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Segoe UI Semibold" pitchFamily="34" charset="0"/>
                <a:ea typeface="Segoe UI Semibold" pitchFamily="34" charset="-122"/>
                <a:cs typeface="Segoe UI Semibold" pitchFamily="34" charset="-120"/>
              </a:rPr>
              <a:t>1</a:t>
            </a:r>
            <a:endParaRPr lang="en-US" sz="2000" dirty="0"/>
          </a:p>
        </p:txBody>
      </p:sp>
      <p:sp>
        <p:nvSpPr>
          <p:cNvPr id="13" name="Text 11"/>
          <p:cNvSpPr/>
          <p:nvPr/>
        </p:nvSpPr>
        <p:spPr>
          <a:xfrm>
            <a:off x="1554480" y="2011680"/>
            <a:ext cx="146304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lint</a:t>
            </a:r>
            <a:endParaRPr lang="en-US" sz="2000" dirty="0"/>
          </a:p>
        </p:txBody>
      </p:sp>
      <p:sp>
        <p:nvSpPr>
          <p:cNvPr id="14" name="Text 12"/>
          <p:cNvSpPr/>
          <p:nvPr/>
        </p:nvSpPr>
        <p:spPr>
          <a:xfrm>
            <a:off x="777240" y="2834640"/>
            <a:ext cx="2148840" cy="8229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Catch chart structure and syntax errors</a:t>
            </a:r>
            <a:endParaRPr lang="en-US" sz="1400" dirty="0"/>
          </a:p>
        </p:txBody>
      </p:sp>
      <p:sp>
        <p:nvSpPr>
          <p:cNvPr id="15" name="Text 13"/>
          <p:cNvSpPr/>
          <p:nvPr/>
        </p:nvSpPr>
        <p:spPr>
          <a:xfrm>
            <a:off x="685800" y="3794760"/>
            <a:ext cx="2313432" cy="1097280"/>
          </a:xfrm>
          <a:prstGeom prst="rect">
            <a:avLst/>
          </a:prstGeom>
          <a:solidFill>
            <a:srgbClr val="1E1E1E"/>
          </a:solidFill>
          <a:ln/>
        </p:spPr>
        <p:txBody>
          <a:bodyPr wrap="square" lIns="76200" tIns="76200" rIns="76200" bIns="76200" rtlCol="0" anchor="ctr"/>
          <a:lstStyle/>
          <a:p>
            <a:pPr marL="0" indent="0">
              <a:buNone/>
            </a:pPr>
            <a:r>
              <a:rPr lang="en-US" sz="1150" dirty="0">
                <a:solidFill>
                  <a:srgbClr val="D4D4D4"/>
                </a:solidFill>
                <a:latin typeface="Consolas" pitchFamily="34" charset="0"/>
                <a:ea typeface="Consolas" pitchFamily="34" charset="-122"/>
                <a:cs typeface="Consolas" pitchFamily="34" charset="-120"/>
              </a:rPr>
              <a:t>helm lint ./myapp</a:t>
            </a:r>
            <a:endParaRPr lang="en-US" sz="1150" dirty="0"/>
          </a:p>
        </p:txBody>
      </p:sp>
      <p:sp>
        <p:nvSpPr>
          <p:cNvPr id="16" name="Shape 14"/>
          <p:cNvSpPr/>
          <p:nvPr/>
        </p:nvSpPr>
        <p:spPr>
          <a:xfrm>
            <a:off x="3163824" y="3429000"/>
            <a:ext cx="192024" cy="0"/>
          </a:xfrm>
          <a:prstGeom prst="line">
            <a:avLst/>
          </a:prstGeom>
          <a:noFill/>
          <a:ln w="25400">
            <a:solidFill>
              <a:srgbClr val="107C10"/>
            </a:solidFill>
            <a:prstDash val="solid"/>
            <a:tailEnd type="triangle"/>
          </a:ln>
        </p:spPr>
        <p:txBody>
          <a:bodyPr anchor="t"/>
          <a:lstStyle/>
          <a:p>
            <a:endParaRPr lang="en-US"/>
          </a:p>
        </p:txBody>
      </p:sp>
      <p:sp>
        <p:nvSpPr>
          <p:cNvPr id="17" name="Shape 15"/>
          <p:cNvSpPr/>
          <p:nvPr/>
        </p:nvSpPr>
        <p:spPr>
          <a:xfrm>
            <a:off x="3383280" y="1783080"/>
            <a:ext cx="2587752" cy="3291840"/>
          </a:xfrm>
          <a:prstGeom prst="rect">
            <a:avLst/>
          </a:prstGeom>
          <a:solidFill>
            <a:srgbClr val="FFFFFF"/>
          </a:solidFill>
          <a:ln/>
        </p:spPr>
        <p:txBody>
          <a:bodyPr/>
          <a:lstStyle/>
          <a:p>
            <a:endParaRPr lang="en-US"/>
          </a:p>
        </p:txBody>
      </p:sp>
      <p:sp>
        <p:nvSpPr>
          <p:cNvPr id="18" name="Shape 16"/>
          <p:cNvSpPr/>
          <p:nvPr/>
        </p:nvSpPr>
        <p:spPr>
          <a:xfrm>
            <a:off x="3611880" y="2011680"/>
            <a:ext cx="640080" cy="640080"/>
          </a:xfrm>
          <a:prstGeom prst="ellipse">
            <a:avLst/>
          </a:prstGeom>
          <a:solidFill>
            <a:srgbClr val="107C10"/>
          </a:solidFill>
          <a:ln/>
        </p:spPr>
        <p:txBody>
          <a:bodyPr/>
          <a:lstStyle/>
          <a:p>
            <a:endParaRPr lang="en-US"/>
          </a:p>
        </p:txBody>
      </p:sp>
      <p:sp>
        <p:nvSpPr>
          <p:cNvPr id="19" name="Text 17"/>
          <p:cNvSpPr/>
          <p:nvPr/>
        </p:nvSpPr>
        <p:spPr>
          <a:xfrm>
            <a:off x="3611880" y="2011680"/>
            <a:ext cx="64008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Segoe UI Semibold" pitchFamily="34" charset="0"/>
                <a:ea typeface="Segoe UI Semibold" pitchFamily="34" charset="-122"/>
                <a:cs typeface="Segoe UI Semibold" pitchFamily="34" charset="-120"/>
              </a:rPr>
              <a:t>2</a:t>
            </a:r>
            <a:endParaRPr lang="en-US" sz="2000" dirty="0"/>
          </a:p>
        </p:txBody>
      </p:sp>
      <p:sp>
        <p:nvSpPr>
          <p:cNvPr id="20" name="Text 18"/>
          <p:cNvSpPr/>
          <p:nvPr/>
        </p:nvSpPr>
        <p:spPr>
          <a:xfrm>
            <a:off x="4389120" y="2011680"/>
            <a:ext cx="146304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template</a:t>
            </a:r>
            <a:endParaRPr lang="en-US" sz="2000" dirty="0"/>
          </a:p>
        </p:txBody>
      </p:sp>
      <p:sp>
        <p:nvSpPr>
          <p:cNvPr id="21" name="Text 19"/>
          <p:cNvSpPr/>
          <p:nvPr/>
        </p:nvSpPr>
        <p:spPr>
          <a:xfrm>
            <a:off x="3611880" y="2834640"/>
            <a:ext cx="2148840" cy="8229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Render manifests locally — no cluster needed</a:t>
            </a:r>
            <a:endParaRPr lang="en-US" sz="1400" dirty="0"/>
          </a:p>
        </p:txBody>
      </p:sp>
      <p:sp>
        <p:nvSpPr>
          <p:cNvPr id="22" name="Text 20"/>
          <p:cNvSpPr/>
          <p:nvPr/>
        </p:nvSpPr>
        <p:spPr>
          <a:xfrm>
            <a:off x="3520440" y="3794760"/>
            <a:ext cx="2313432" cy="1097280"/>
          </a:xfrm>
          <a:prstGeom prst="rect">
            <a:avLst/>
          </a:prstGeom>
          <a:solidFill>
            <a:srgbClr val="1E1E1E"/>
          </a:solidFill>
          <a:ln/>
        </p:spPr>
        <p:txBody>
          <a:bodyPr wrap="square" lIns="76200" tIns="76200" rIns="76200" bIns="76200" rtlCol="0" anchor="ctr"/>
          <a:lstStyle/>
          <a:p>
            <a:pPr marL="0" indent="0">
              <a:buNone/>
            </a:pPr>
            <a:r>
              <a:rPr lang="en-US" sz="1150" dirty="0">
                <a:solidFill>
                  <a:srgbClr val="D4D4D4"/>
                </a:solidFill>
                <a:latin typeface="Consolas" pitchFamily="34" charset="0"/>
                <a:ea typeface="Consolas" pitchFamily="34" charset="-122"/>
                <a:cs typeface="Consolas" pitchFamily="34" charset="-120"/>
              </a:rPr>
              <a:t>helm template web ./myapp -f values-prod.yaml</a:t>
            </a:r>
            <a:endParaRPr lang="en-US" sz="1150" dirty="0"/>
          </a:p>
        </p:txBody>
      </p:sp>
      <p:sp>
        <p:nvSpPr>
          <p:cNvPr id="23" name="Shape 21"/>
          <p:cNvSpPr/>
          <p:nvPr/>
        </p:nvSpPr>
        <p:spPr>
          <a:xfrm>
            <a:off x="5998464" y="3429000"/>
            <a:ext cx="192024" cy="0"/>
          </a:xfrm>
          <a:prstGeom prst="line">
            <a:avLst/>
          </a:prstGeom>
          <a:noFill/>
          <a:ln w="25400">
            <a:solidFill>
              <a:srgbClr val="107C10"/>
            </a:solidFill>
            <a:prstDash val="solid"/>
            <a:tailEnd type="triangle"/>
          </a:ln>
        </p:spPr>
        <p:txBody>
          <a:bodyPr anchor="t"/>
          <a:lstStyle/>
          <a:p>
            <a:endParaRPr lang="en-US"/>
          </a:p>
        </p:txBody>
      </p:sp>
      <p:sp>
        <p:nvSpPr>
          <p:cNvPr id="24" name="Shape 22"/>
          <p:cNvSpPr/>
          <p:nvPr/>
        </p:nvSpPr>
        <p:spPr>
          <a:xfrm>
            <a:off x="6217920" y="1783080"/>
            <a:ext cx="2587752" cy="3291840"/>
          </a:xfrm>
          <a:prstGeom prst="rect">
            <a:avLst/>
          </a:prstGeom>
          <a:solidFill>
            <a:srgbClr val="FFFFFF"/>
          </a:solidFill>
          <a:ln/>
        </p:spPr>
        <p:txBody>
          <a:bodyPr anchor="t"/>
          <a:lstStyle/>
          <a:p>
            <a:endParaRPr lang="en-US"/>
          </a:p>
        </p:txBody>
      </p:sp>
      <p:sp>
        <p:nvSpPr>
          <p:cNvPr id="25" name="Shape 23"/>
          <p:cNvSpPr/>
          <p:nvPr/>
        </p:nvSpPr>
        <p:spPr>
          <a:xfrm>
            <a:off x="6446520" y="2011680"/>
            <a:ext cx="640080" cy="640080"/>
          </a:xfrm>
          <a:prstGeom prst="ellipse">
            <a:avLst/>
          </a:prstGeom>
          <a:solidFill>
            <a:srgbClr val="107C10"/>
          </a:solidFill>
          <a:ln/>
        </p:spPr>
        <p:txBody>
          <a:bodyPr/>
          <a:lstStyle/>
          <a:p>
            <a:endParaRPr lang="en-US"/>
          </a:p>
        </p:txBody>
      </p:sp>
      <p:sp>
        <p:nvSpPr>
          <p:cNvPr id="26" name="Text 24"/>
          <p:cNvSpPr/>
          <p:nvPr/>
        </p:nvSpPr>
        <p:spPr>
          <a:xfrm>
            <a:off x="6446520" y="2011680"/>
            <a:ext cx="64008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Segoe UI Semibold" pitchFamily="34" charset="0"/>
                <a:ea typeface="Segoe UI Semibold" pitchFamily="34" charset="-122"/>
                <a:cs typeface="Segoe UI Semibold" pitchFamily="34" charset="-120"/>
              </a:rPr>
              <a:t>3</a:t>
            </a:r>
            <a:endParaRPr lang="en-US" sz="2000" dirty="0"/>
          </a:p>
        </p:txBody>
      </p:sp>
      <p:sp>
        <p:nvSpPr>
          <p:cNvPr id="27" name="Text 25"/>
          <p:cNvSpPr/>
          <p:nvPr/>
        </p:nvSpPr>
        <p:spPr>
          <a:xfrm>
            <a:off x="7223760" y="2011680"/>
            <a:ext cx="146304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dry-run</a:t>
            </a:r>
            <a:endParaRPr lang="en-US" sz="2000" dirty="0"/>
          </a:p>
        </p:txBody>
      </p:sp>
      <p:sp>
        <p:nvSpPr>
          <p:cNvPr id="28" name="Text 26"/>
          <p:cNvSpPr/>
          <p:nvPr/>
        </p:nvSpPr>
        <p:spPr>
          <a:xfrm>
            <a:off x="6446520" y="2834640"/>
            <a:ext cx="2148840" cy="822960"/>
          </a:xfrm>
          <a:prstGeom prst="rect">
            <a:avLst/>
          </a:prstGeom>
          <a:noFill/>
          <a:ln/>
        </p:spPr>
        <p:txBody>
          <a:bodyPr wrap="square" lIns="0" tIns="0" rIns="0" bIns="0" rtlCol="0"/>
          <a:lstStyle/>
          <a:p>
            <a:pPr marL="0" indent="0">
              <a:buNone/>
            </a:pPr>
            <a:r>
              <a:rPr lang="en-US" sz="1400" dirty="0">
                <a:solidFill>
                  <a:srgbClr val="323130"/>
                </a:solidFill>
                <a:latin typeface="Segoe UI" pitchFamily="34" charset="0"/>
                <a:ea typeface="Segoe UI" pitchFamily="34" charset="-122"/>
                <a:cs typeface="Segoe UI" pitchFamily="34" charset="-120"/>
              </a:rPr>
              <a:t>Validate against the live cluster API</a:t>
            </a:r>
            <a:endParaRPr lang="en-US" sz="1400" dirty="0"/>
          </a:p>
        </p:txBody>
      </p:sp>
      <p:sp>
        <p:nvSpPr>
          <p:cNvPr id="29" name="Text 27"/>
          <p:cNvSpPr/>
          <p:nvPr/>
        </p:nvSpPr>
        <p:spPr>
          <a:xfrm>
            <a:off x="6355080" y="3794760"/>
            <a:ext cx="2313432" cy="1097280"/>
          </a:xfrm>
          <a:prstGeom prst="rect">
            <a:avLst/>
          </a:prstGeom>
          <a:solidFill>
            <a:srgbClr val="1E1E1E"/>
          </a:solidFill>
          <a:ln/>
        </p:spPr>
        <p:txBody>
          <a:bodyPr wrap="square" lIns="76200" tIns="76200" rIns="76200" bIns="76200" rtlCol="0" anchor="ctr"/>
          <a:lstStyle/>
          <a:p>
            <a:pPr marL="0" indent="0">
              <a:buNone/>
            </a:pPr>
            <a:r>
              <a:rPr lang="en-US" sz="1150" dirty="0">
                <a:solidFill>
                  <a:srgbClr val="D4D4D4"/>
                </a:solidFill>
                <a:latin typeface="Consolas" pitchFamily="34" charset="0"/>
                <a:ea typeface="Consolas" pitchFamily="34" charset="-122"/>
                <a:cs typeface="Consolas" pitchFamily="34" charset="-120"/>
              </a:rPr>
              <a:t>helm upgrade --install web ./myapp --dry-run</a:t>
            </a:r>
            <a:r>
              <a:rPr lang="en-US" sz="1150">
                <a:solidFill>
                  <a:srgbClr val="D4D4D4"/>
                </a:solidFill>
                <a:latin typeface="Consolas" pitchFamily="34" charset="0"/>
                <a:ea typeface="Consolas" pitchFamily="34" charset="-122"/>
                <a:cs typeface="Consolas" pitchFamily="34" charset="-120"/>
              </a:rPr>
              <a:t>=server</a:t>
            </a:r>
            <a:r>
              <a:rPr lang="en-US" sz="1150" dirty="0">
                <a:solidFill>
                  <a:srgbClr val="D4D4D4"/>
                </a:solidFill>
                <a:latin typeface="Consolas" pitchFamily="34" charset="0"/>
                <a:ea typeface="Consolas" pitchFamily="34" charset="-122"/>
                <a:cs typeface="Consolas" pitchFamily="34" charset="-120"/>
              </a:rPr>
              <a:t> --debug</a:t>
            </a:r>
            <a:endParaRPr lang="en-US" sz="1150" dirty="0"/>
          </a:p>
        </p:txBody>
      </p:sp>
      <p:sp>
        <p:nvSpPr>
          <p:cNvPr id="30" name="Shape 28"/>
          <p:cNvSpPr/>
          <p:nvPr/>
        </p:nvSpPr>
        <p:spPr>
          <a:xfrm>
            <a:off x="8833104" y="3429000"/>
            <a:ext cx="192024" cy="0"/>
          </a:xfrm>
          <a:prstGeom prst="line">
            <a:avLst/>
          </a:prstGeom>
          <a:noFill/>
          <a:ln w="25400">
            <a:solidFill>
              <a:srgbClr val="107C10"/>
            </a:solidFill>
            <a:prstDash val="solid"/>
            <a:tailEnd type="triangle"/>
          </a:ln>
        </p:spPr>
        <p:txBody>
          <a:bodyPr/>
          <a:lstStyle/>
          <a:p>
            <a:endParaRPr lang="en-US"/>
          </a:p>
        </p:txBody>
      </p:sp>
      <p:sp>
        <p:nvSpPr>
          <p:cNvPr id="31" name="Shape 29"/>
          <p:cNvSpPr/>
          <p:nvPr/>
        </p:nvSpPr>
        <p:spPr>
          <a:xfrm>
            <a:off x="9052560" y="1783080"/>
            <a:ext cx="2587752" cy="3291840"/>
          </a:xfrm>
          <a:prstGeom prst="rect">
            <a:avLst/>
          </a:prstGeom>
          <a:solidFill>
            <a:srgbClr val="FFFFFF"/>
          </a:solidFill>
          <a:ln/>
        </p:spPr>
        <p:txBody>
          <a:bodyPr anchor="t"/>
          <a:lstStyle/>
          <a:p>
            <a:endParaRPr lang="en-US"/>
          </a:p>
        </p:txBody>
      </p:sp>
      <p:sp>
        <p:nvSpPr>
          <p:cNvPr id="32" name="Shape 30"/>
          <p:cNvSpPr/>
          <p:nvPr/>
        </p:nvSpPr>
        <p:spPr>
          <a:xfrm>
            <a:off x="9281160" y="2011680"/>
            <a:ext cx="640080" cy="640080"/>
          </a:xfrm>
          <a:prstGeom prst="ellipse">
            <a:avLst/>
          </a:prstGeom>
          <a:solidFill>
            <a:srgbClr val="107C10"/>
          </a:solidFill>
          <a:ln/>
        </p:spPr>
        <p:txBody>
          <a:bodyPr anchor="t"/>
          <a:lstStyle/>
          <a:p>
            <a:endParaRPr lang="en-US"/>
          </a:p>
        </p:txBody>
      </p:sp>
      <p:sp>
        <p:nvSpPr>
          <p:cNvPr id="33" name="Text 31"/>
          <p:cNvSpPr/>
          <p:nvPr/>
        </p:nvSpPr>
        <p:spPr>
          <a:xfrm>
            <a:off x="9281160" y="2011680"/>
            <a:ext cx="640080" cy="640080"/>
          </a:xfrm>
          <a:prstGeom prst="rect">
            <a:avLst/>
          </a:prstGeom>
          <a:noFill/>
          <a:ln/>
        </p:spPr>
        <p:txBody>
          <a:bodyPr wrap="square" lIns="0" tIns="0" rIns="0" bIns="0" rtlCol="0" anchor="ctr"/>
          <a:lstStyle/>
          <a:p>
            <a:pPr marL="0" indent="0" algn="ctr">
              <a:buNone/>
            </a:pPr>
            <a:r>
              <a:rPr lang="en-US" sz="2000" dirty="0">
                <a:solidFill>
                  <a:srgbClr val="FFFFFF"/>
                </a:solidFill>
                <a:latin typeface="Segoe UI Semibold" pitchFamily="34" charset="0"/>
                <a:ea typeface="Segoe UI Semibold" pitchFamily="34" charset="-122"/>
                <a:cs typeface="Segoe UI Semibold" pitchFamily="34" charset="-120"/>
              </a:rPr>
              <a:t>4</a:t>
            </a:r>
            <a:endParaRPr lang="en-US" sz="2000" dirty="0"/>
          </a:p>
        </p:txBody>
      </p:sp>
      <p:sp>
        <p:nvSpPr>
          <p:cNvPr id="34" name="Text 32"/>
          <p:cNvSpPr/>
          <p:nvPr/>
        </p:nvSpPr>
        <p:spPr>
          <a:xfrm>
            <a:off x="10058400" y="2011680"/>
            <a:ext cx="146304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diff</a:t>
            </a:r>
            <a:endParaRPr lang="en-US" sz="2000" dirty="0"/>
          </a:p>
        </p:txBody>
      </p:sp>
      <p:sp>
        <p:nvSpPr>
          <p:cNvPr id="35" name="Text 33"/>
          <p:cNvSpPr/>
          <p:nvPr/>
        </p:nvSpPr>
        <p:spPr>
          <a:xfrm>
            <a:off x="9281160" y="2834640"/>
            <a:ext cx="2148840" cy="8229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See exactly what will change (helm-diff plugin)</a:t>
            </a:r>
            <a:endParaRPr lang="en-US" sz="1400" dirty="0"/>
          </a:p>
        </p:txBody>
      </p:sp>
      <p:sp>
        <p:nvSpPr>
          <p:cNvPr id="36" name="Text 34"/>
          <p:cNvSpPr/>
          <p:nvPr/>
        </p:nvSpPr>
        <p:spPr>
          <a:xfrm>
            <a:off x="9189720" y="3794760"/>
            <a:ext cx="2313432" cy="1097280"/>
          </a:xfrm>
          <a:prstGeom prst="rect">
            <a:avLst/>
          </a:prstGeom>
          <a:solidFill>
            <a:srgbClr val="1E1E1E"/>
          </a:solidFill>
          <a:ln/>
        </p:spPr>
        <p:txBody>
          <a:bodyPr wrap="square" lIns="76200" tIns="76200" rIns="76200" bIns="76200" rtlCol="0" anchor="ctr"/>
          <a:lstStyle/>
          <a:p>
            <a:pPr marL="0" indent="0">
              <a:buNone/>
            </a:pPr>
            <a:r>
              <a:rPr lang="en-US" sz="1150" dirty="0">
                <a:solidFill>
                  <a:srgbClr val="D4D4D4"/>
                </a:solidFill>
                <a:latin typeface="Consolas" pitchFamily="34" charset="0"/>
                <a:ea typeface="Consolas" pitchFamily="34" charset="-122"/>
                <a:cs typeface="Consolas" pitchFamily="34" charset="-120"/>
              </a:rPr>
              <a:t>helm diff upgrade web ./myapp</a:t>
            </a:r>
            <a:endParaRPr lang="en-US" sz="1150" dirty="0"/>
          </a:p>
        </p:txBody>
      </p:sp>
      <p:sp>
        <p:nvSpPr>
          <p:cNvPr id="37" name="Shape 35"/>
          <p:cNvSpPr/>
          <p:nvPr/>
        </p:nvSpPr>
        <p:spPr>
          <a:xfrm>
            <a:off x="548640" y="5349240"/>
            <a:ext cx="11091672" cy="731520"/>
          </a:xfrm>
          <a:prstGeom prst="rect">
            <a:avLst/>
          </a:prstGeom>
          <a:solidFill>
            <a:srgbClr val="107C10"/>
          </a:solidFill>
          <a:ln/>
        </p:spPr>
        <p:txBody>
          <a:bodyPr/>
          <a:lstStyle/>
          <a:p>
            <a:endParaRPr lang="en-US"/>
          </a:p>
        </p:txBody>
      </p:sp>
      <p:sp>
        <p:nvSpPr>
          <p:cNvPr id="38" name="Shape 36"/>
          <p:cNvSpPr/>
          <p:nvPr/>
        </p:nvSpPr>
        <p:spPr>
          <a:xfrm>
            <a:off x="777240" y="5486400"/>
            <a:ext cx="457200" cy="457200"/>
          </a:xfrm>
          <a:prstGeom prst="ellipse">
            <a:avLst/>
          </a:prstGeom>
          <a:solidFill>
            <a:srgbClr val="0B5A0B"/>
          </a:solidFill>
          <a:ln/>
        </p:spPr>
        <p:txBody>
          <a:bodyPr/>
          <a:lstStyle/>
          <a:p>
            <a:endParaRPr lang="en-US"/>
          </a:p>
        </p:txBody>
      </p:sp>
      <p:pic>
        <p:nvPicPr>
          <p:cNvPr id="39" name="Image 0" descr="/agent/turn2/workspace/output/_anthropic_assets/icon-checkmark-circle-fc6554a2.png"/>
          <p:cNvPicPr>
            <a:picLocks noChangeAspect="1"/>
          </p:cNvPicPr>
          <p:nvPr/>
        </p:nvPicPr>
        <p:blipFill>
          <a:blip r:embed="rId2"/>
          <a:stretch>
            <a:fillRect/>
          </a:stretch>
        </p:blipFill>
        <p:spPr>
          <a:xfrm>
            <a:off x="877824" y="5586984"/>
            <a:ext cx="256032" cy="256032"/>
          </a:xfrm>
          <a:prstGeom prst="rect">
            <a:avLst/>
          </a:prstGeom>
        </p:spPr>
      </p:pic>
      <p:sp>
        <p:nvSpPr>
          <p:cNvPr id="40" name="Text 37"/>
          <p:cNvSpPr/>
          <p:nvPr/>
        </p:nvSpPr>
        <p:spPr>
          <a:xfrm>
            <a:off x="1463040" y="5349240"/>
            <a:ext cx="9948672" cy="731520"/>
          </a:xfrm>
          <a:prstGeom prst="rect">
            <a:avLst/>
          </a:prstGeom>
          <a:noFill/>
          <a:ln/>
        </p:spPr>
        <p:txBody>
          <a:bodyPr wrap="square" lIns="0" tIns="0" rIns="0" bIns="0" rtlCol="0" anchor="ctr"/>
          <a:lstStyle/>
          <a:p>
            <a:pPr marL="0" indent="0">
              <a:buNone/>
            </a:pPr>
            <a:r>
              <a:rPr lang="en-US" sz="1600" dirty="0">
                <a:solidFill>
                  <a:srgbClr val="FFFFFF"/>
                </a:solidFill>
                <a:latin typeface="Segoe UI" pitchFamily="34" charset="0"/>
                <a:ea typeface="Segoe UI" pitchFamily="34" charset="-122"/>
                <a:cs typeface="Segoe UI" pitchFamily="34" charset="-120"/>
              </a:rPr>
              <a:t>Run the same render-and-diff steps in CI so reviewers see real manifest changes in every pull request.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98E06C4F-C6C7-496B-8A6C-DE051DFEF85D}" type="slidenum">
              <a:rPr lang="en-US" sz="1100">
                <a:solidFill>
                  <a:srgbClr val="605E5C"/>
                </a:solidFill>
                <a:latin typeface="Segoe UI" pitchFamily="34" charset="0"/>
                <a:ea typeface="Segoe UI" pitchFamily="34" charset="-122"/>
                <a:cs typeface="Segoe UI" pitchFamily="34" charset="-120"/>
              </a:rPr>
              <a:t>21</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The Release Lifecycle</a:t>
            </a:r>
            <a:endParaRPr lang="en-US" sz="3200" dirty="0"/>
          </a:p>
        </p:txBody>
      </p:sp>
      <p:sp>
        <p:nvSpPr>
          <p:cNvPr id="10" name="Shape 8"/>
          <p:cNvSpPr/>
          <p:nvPr/>
        </p:nvSpPr>
        <p:spPr>
          <a:xfrm>
            <a:off x="1280160" y="2816352"/>
            <a:ext cx="9601200" cy="73152"/>
          </a:xfrm>
          <a:prstGeom prst="rect">
            <a:avLst/>
          </a:prstGeom>
          <a:solidFill>
            <a:srgbClr val="DFF6DD"/>
          </a:solidFill>
          <a:ln/>
        </p:spPr>
        <p:txBody>
          <a:bodyPr/>
          <a:lstStyle/>
          <a:p>
            <a:endParaRPr lang="en-US"/>
          </a:p>
        </p:txBody>
      </p:sp>
      <p:sp>
        <p:nvSpPr>
          <p:cNvPr id="11" name="Shape 9"/>
          <p:cNvSpPr/>
          <p:nvPr/>
        </p:nvSpPr>
        <p:spPr>
          <a:xfrm>
            <a:off x="1600200" y="2578608"/>
            <a:ext cx="548640" cy="548640"/>
          </a:xfrm>
          <a:prstGeom prst="ellipse">
            <a:avLst/>
          </a:prstGeom>
          <a:solidFill>
            <a:srgbClr val="107C10"/>
          </a:solidFill>
          <a:ln w="38100">
            <a:solidFill>
              <a:srgbClr val="FFFFFF"/>
            </a:solidFill>
            <a:prstDash val="solid"/>
          </a:ln>
        </p:spPr>
        <p:txBody>
          <a:bodyPr/>
          <a:lstStyle/>
          <a:p>
            <a:endParaRPr lang="en-US"/>
          </a:p>
        </p:txBody>
      </p:sp>
      <p:sp>
        <p:nvSpPr>
          <p:cNvPr id="12" name="Text 10"/>
          <p:cNvSpPr/>
          <p:nvPr/>
        </p:nvSpPr>
        <p:spPr>
          <a:xfrm>
            <a:off x="548640" y="1783080"/>
            <a:ext cx="2651760" cy="548640"/>
          </a:xfrm>
          <a:prstGeom prst="rect">
            <a:avLst/>
          </a:prstGeom>
          <a:noFill/>
          <a:ln/>
        </p:spPr>
        <p:txBody>
          <a:bodyPr wrap="square" lIns="0" tIns="0" rIns="0" bIns="0" rtlCol="0" anchor="ctr"/>
          <a:lstStyle/>
          <a:p>
            <a:pPr marL="0" indent="0" algn="ctr">
              <a:buNone/>
            </a:pPr>
            <a:r>
              <a:rPr lang="en-US" sz="1800" dirty="0">
                <a:solidFill>
                  <a:srgbClr val="107C10"/>
                </a:solidFill>
                <a:latin typeface="Consolas" pitchFamily="34" charset="0"/>
                <a:ea typeface="Consolas" pitchFamily="34" charset="-122"/>
                <a:cs typeface="Consolas" pitchFamily="34" charset="-120"/>
              </a:rPr>
              <a:t>install</a:t>
            </a:r>
            <a:endParaRPr lang="en-US" sz="1800" dirty="0"/>
          </a:p>
        </p:txBody>
      </p:sp>
      <p:sp>
        <p:nvSpPr>
          <p:cNvPr id="13" name="Text 11"/>
          <p:cNvSpPr/>
          <p:nvPr/>
        </p:nvSpPr>
        <p:spPr>
          <a:xfrm>
            <a:off x="548640" y="3291840"/>
            <a:ext cx="2651760" cy="411480"/>
          </a:xfrm>
          <a:prstGeom prst="rect">
            <a:avLst/>
          </a:prstGeom>
          <a:noFill/>
          <a:ln/>
        </p:spPr>
        <p:txBody>
          <a:bodyPr wrap="square" lIns="0" tIns="0" rIns="0" bIns="0" rtlCol="0" anchor="ctr"/>
          <a:lstStyle/>
          <a:p>
            <a:pPr marL="0" indent="0" algn="ctr">
              <a:buNone/>
            </a:pPr>
            <a:r>
              <a:rPr lang="en-US" sz="1800" dirty="0">
                <a:solidFill>
                  <a:srgbClr val="201F1E"/>
                </a:solidFill>
                <a:latin typeface="Segoe UI Semibold" pitchFamily="34" charset="0"/>
                <a:ea typeface="Segoe UI Semibold" pitchFamily="34" charset="-122"/>
                <a:cs typeface="Segoe UI Semibold" pitchFamily="34" charset="-120"/>
              </a:rPr>
              <a:t>Revision 1</a:t>
            </a:r>
            <a:endParaRPr lang="en-US" sz="1800" dirty="0"/>
          </a:p>
        </p:txBody>
      </p:sp>
      <p:sp>
        <p:nvSpPr>
          <p:cNvPr id="14" name="Text 12"/>
          <p:cNvSpPr/>
          <p:nvPr/>
        </p:nvSpPr>
        <p:spPr>
          <a:xfrm>
            <a:off x="548640" y="3703320"/>
            <a:ext cx="2651760" cy="411480"/>
          </a:xfrm>
          <a:prstGeom prst="rect">
            <a:avLst/>
          </a:prstGeom>
          <a:noFill/>
          <a:ln/>
        </p:spPr>
        <p:txBody>
          <a:bodyPr wrap="square" lIns="0" tIns="0" rIns="0" bIns="0" rtlCol="0" anchor="ctr"/>
          <a:lstStyle/>
          <a:p>
            <a:pPr marL="0" indent="0" algn="ctr">
              <a:buNone/>
            </a:pPr>
            <a:r>
              <a:rPr lang="en-US" sz="1400" dirty="0">
                <a:solidFill>
                  <a:srgbClr val="605E5C"/>
                </a:solidFill>
                <a:latin typeface="Segoe UI" pitchFamily="34" charset="0"/>
                <a:ea typeface="Segoe UI" pitchFamily="34" charset="-122"/>
                <a:cs typeface="Segoe UI" pitchFamily="34" charset="-120"/>
              </a:rPr>
              <a:t>superseded</a:t>
            </a:r>
            <a:endParaRPr lang="en-US" sz="1400" dirty="0"/>
          </a:p>
        </p:txBody>
      </p:sp>
      <p:sp>
        <p:nvSpPr>
          <p:cNvPr id="15" name="Shape 13"/>
          <p:cNvSpPr/>
          <p:nvPr/>
        </p:nvSpPr>
        <p:spPr>
          <a:xfrm>
            <a:off x="4434840" y="2578608"/>
            <a:ext cx="548640" cy="548640"/>
          </a:xfrm>
          <a:prstGeom prst="ellipse">
            <a:avLst/>
          </a:prstGeom>
          <a:solidFill>
            <a:srgbClr val="107C10"/>
          </a:solidFill>
          <a:ln w="38100">
            <a:solidFill>
              <a:srgbClr val="FFFFFF"/>
            </a:solidFill>
            <a:prstDash val="solid"/>
          </a:ln>
        </p:spPr>
        <p:txBody>
          <a:bodyPr/>
          <a:lstStyle/>
          <a:p>
            <a:endParaRPr lang="en-US"/>
          </a:p>
        </p:txBody>
      </p:sp>
      <p:sp>
        <p:nvSpPr>
          <p:cNvPr id="16" name="Text 14"/>
          <p:cNvSpPr/>
          <p:nvPr/>
        </p:nvSpPr>
        <p:spPr>
          <a:xfrm>
            <a:off x="3383280" y="1783080"/>
            <a:ext cx="2651760" cy="548640"/>
          </a:xfrm>
          <a:prstGeom prst="rect">
            <a:avLst/>
          </a:prstGeom>
          <a:noFill/>
          <a:ln/>
        </p:spPr>
        <p:txBody>
          <a:bodyPr wrap="square" lIns="0" tIns="0" rIns="0" bIns="0" rtlCol="0" anchor="ctr"/>
          <a:lstStyle/>
          <a:p>
            <a:pPr marL="0" indent="0" algn="ctr">
              <a:buNone/>
            </a:pPr>
            <a:r>
              <a:rPr lang="en-US" sz="1800" dirty="0">
                <a:solidFill>
                  <a:srgbClr val="107C10"/>
                </a:solidFill>
                <a:latin typeface="Consolas" pitchFamily="34" charset="0"/>
                <a:ea typeface="Consolas" pitchFamily="34" charset="-122"/>
                <a:cs typeface="Consolas" pitchFamily="34" charset="-120"/>
              </a:rPr>
              <a:t>upgrade</a:t>
            </a:r>
            <a:endParaRPr lang="en-US" sz="1800" dirty="0"/>
          </a:p>
        </p:txBody>
      </p:sp>
      <p:sp>
        <p:nvSpPr>
          <p:cNvPr id="17" name="Text 15"/>
          <p:cNvSpPr/>
          <p:nvPr/>
        </p:nvSpPr>
        <p:spPr>
          <a:xfrm>
            <a:off x="3383280" y="3291840"/>
            <a:ext cx="2651760" cy="411480"/>
          </a:xfrm>
          <a:prstGeom prst="rect">
            <a:avLst/>
          </a:prstGeom>
          <a:noFill/>
          <a:ln/>
        </p:spPr>
        <p:txBody>
          <a:bodyPr wrap="square" lIns="0" tIns="0" rIns="0" bIns="0" rtlCol="0" anchor="ctr"/>
          <a:lstStyle/>
          <a:p>
            <a:pPr marL="0" indent="0" algn="ctr">
              <a:buNone/>
            </a:pPr>
            <a:r>
              <a:rPr lang="en-US" sz="1800" dirty="0">
                <a:solidFill>
                  <a:srgbClr val="201F1E"/>
                </a:solidFill>
                <a:latin typeface="Segoe UI Semibold" pitchFamily="34" charset="0"/>
                <a:ea typeface="Segoe UI Semibold" pitchFamily="34" charset="-122"/>
                <a:cs typeface="Segoe UI Semibold" pitchFamily="34" charset="-120"/>
              </a:rPr>
              <a:t>Revision 2</a:t>
            </a:r>
            <a:endParaRPr lang="en-US" sz="1800" dirty="0"/>
          </a:p>
        </p:txBody>
      </p:sp>
      <p:sp>
        <p:nvSpPr>
          <p:cNvPr id="18" name="Text 16"/>
          <p:cNvSpPr/>
          <p:nvPr/>
        </p:nvSpPr>
        <p:spPr>
          <a:xfrm>
            <a:off x="3383280" y="3703320"/>
            <a:ext cx="2651760" cy="411480"/>
          </a:xfrm>
          <a:prstGeom prst="rect">
            <a:avLst/>
          </a:prstGeom>
          <a:noFill/>
          <a:ln/>
        </p:spPr>
        <p:txBody>
          <a:bodyPr wrap="square" lIns="0" tIns="0" rIns="0" bIns="0" rtlCol="0" anchor="ctr"/>
          <a:lstStyle/>
          <a:p>
            <a:pPr marL="0" indent="0" algn="ctr">
              <a:buNone/>
            </a:pPr>
            <a:r>
              <a:rPr lang="en-US" sz="1400" dirty="0">
                <a:solidFill>
                  <a:srgbClr val="605E5C"/>
                </a:solidFill>
                <a:latin typeface="Segoe UI" pitchFamily="34" charset="0"/>
                <a:ea typeface="Segoe UI" pitchFamily="34" charset="-122"/>
                <a:cs typeface="Segoe UI" pitchFamily="34" charset="-120"/>
              </a:rPr>
              <a:t>superseded</a:t>
            </a:r>
            <a:endParaRPr lang="en-US" sz="1400" dirty="0"/>
          </a:p>
        </p:txBody>
      </p:sp>
      <p:sp>
        <p:nvSpPr>
          <p:cNvPr id="19" name="Shape 17"/>
          <p:cNvSpPr/>
          <p:nvPr/>
        </p:nvSpPr>
        <p:spPr>
          <a:xfrm>
            <a:off x="7269480" y="2578608"/>
            <a:ext cx="548640" cy="548640"/>
          </a:xfrm>
          <a:prstGeom prst="ellipse">
            <a:avLst/>
          </a:prstGeom>
          <a:solidFill>
            <a:srgbClr val="D83B01"/>
          </a:solidFill>
          <a:ln w="38100">
            <a:solidFill>
              <a:srgbClr val="FFFFFF"/>
            </a:solidFill>
            <a:prstDash val="solid"/>
          </a:ln>
        </p:spPr>
        <p:txBody>
          <a:bodyPr/>
          <a:lstStyle/>
          <a:p>
            <a:endParaRPr lang="en-US"/>
          </a:p>
        </p:txBody>
      </p:sp>
      <p:sp>
        <p:nvSpPr>
          <p:cNvPr id="20" name="Text 18"/>
          <p:cNvSpPr/>
          <p:nvPr/>
        </p:nvSpPr>
        <p:spPr>
          <a:xfrm>
            <a:off x="6217920" y="1783080"/>
            <a:ext cx="2651760" cy="548640"/>
          </a:xfrm>
          <a:prstGeom prst="rect">
            <a:avLst/>
          </a:prstGeom>
          <a:noFill/>
          <a:ln/>
        </p:spPr>
        <p:txBody>
          <a:bodyPr wrap="square" lIns="0" tIns="0" rIns="0" bIns="0" rtlCol="0" anchor="ctr"/>
          <a:lstStyle/>
          <a:p>
            <a:pPr marL="0" indent="0" algn="ctr">
              <a:buNone/>
            </a:pPr>
            <a:r>
              <a:rPr lang="en-US" sz="1800" dirty="0">
                <a:solidFill>
                  <a:srgbClr val="D83B01"/>
                </a:solidFill>
                <a:latin typeface="Consolas" pitchFamily="34" charset="0"/>
                <a:ea typeface="Consolas" pitchFamily="34" charset="-122"/>
                <a:cs typeface="Consolas" pitchFamily="34" charset="-120"/>
              </a:rPr>
              <a:t>upgrade</a:t>
            </a:r>
            <a:endParaRPr lang="en-US" sz="1800" dirty="0"/>
          </a:p>
        </p:txBody>
      </p:sp>
      <p:sp>
        <p:nvSpPr>
          <p:cNvPr id="21" name="Text 19"/>
          <p:cNvSpPr/>
          <p:nvPr/>
        </p:nvSpPr>
        <p:spPr>
          <a:xfrm>
            <a:off x="6217920" y="3291840"/>
            <a:ext cx="2651760" cy="411480"/>
          </a:xfrm>
          <a:prstGeom prst="rect">
            <a:avLst/>
          </a:prstGeom>
          <a:noFill/>
          <a:ln/>
        </p:spPr>
        <p:txBody>
          <a:bodyPr wrap="square" lIns="0" tIns="0" rIns="0" bIns="0" rtlCol="0" anchor="ctr"/>
          <a:lstStyle/>
          <a:p>
            <a:pPr marL="0" indent="0" algn="ctr">
              <a:buNone/>
            </a:pPr>
            <a:r>
              <a:rPr lang="en-US" sz="1800" dirty="0">
                <a:solidFill>
                  <a:srgbClr val="201F1E"/>
                </a:solidFill>
                <a:latin typeface="Segoe UI Semibold" pitchFamily="34" charset="0"/>
                <a:ea typeface="Segoe UI Semibold" pitchFamily="34" charset="-122"/>
                <a:cs typeface="Segoe UI Semibold" pitchFamily="34" charset="-120"/>
              </a:rPr>
              <a:t>Revision 3</a:t>
            </a:r>
            <a:endParaRPr lang="en-US" sz="1800" dirty="0"/>
          </a:p>
        </p:txBody>
      </p:sp>
      <p:sp>
        <p:nvSpPr>
          <p:cNvPr id="22" name="Text 20"/>
          <p:cNvSpPr/>
          <p:nvPr/>
        </p:nvSpPr>
        <p:spPr>
          <a:xfrm>
            <a:off x="6217920" y="3703320"/>
            <a:ext cx="2651760" cy="411480"/>
          </a:xfrm>
          <a:prstGeom prst="rect">
            <a:avLst/>
          </a:prstGeom>
          <a:noFill/>
          <a:ln/>
        </p:spPr>
        <p:txBody>
          <a:bodyPr wrap="square" lIns="0" tIns="0" rIns="0" bIns="0" rtlCol="0" anchor="ctr"/>
          <a:lstStyle/>
          <a:p>
            <a:pPr marL="0" indent="0" algn="ctr">
              <a:buNone/>
            </a:pPr>
            <a:r>
              <a:rPr lang="en-US" sz="1400" dirty="0">
                <a:solidFill>
                  <a:srgbClr val="605E5C"/>
                </a:solidFill>
                <a:latin typeface="Segoe UI" pitchFamily="34" charset="0"/>
                <a:ea typeface="Segoe UI" pitchFamily="34" charset="-122"/>
                <a:cs typeface="Segoe UI" pitchFamily="34" charset="-120"/>
              </a:rPr>
              <a:t>failed</a:t>
            </a:r>
            <a:endParaRPr lang="en-US" sz="1400" dirty="0"/>
          </a:p>
        </p:txBody>
      </p:sp>
      <p:sp>
        <p:nvSpPr>
          <p:cNvPr id="23" name="Shape 21"/>
          <p:cNvSpPr/>
          <p:nvPr/>
        </p:nvSpPr>
        <p:spPr>
          <a:xfrm>
            <a:off x="10104120" y="2578608"/>
            <a:ext cx="548640" cy="548640"/>
          </a:xfrm>
          <a:prstGeom prst="ellipse">
            <a:avLst/>
          </a:prstGeom>
          <a:solidFill>
            <a:srgbClr val="107C10"/>
          </a:solidFill>
          <a:ln w="38100">
            <a:solidFill>
              <a:srgbClr val="FFFFFF"/>
            </a:solidFill>
            <a:prstDash val="solid"/>
          </a:ln>
        </p:spPr>
        <p:txBody>
          <a:bodyPr/>
          <a:lstStyle/>
          <a:p>
            <a:endParaRPr lang="en-US"/>
          </a:p>
        </p:txBody>
      </p:sp>
      <p:sp>
        <p:nvSpPr>
          <p:cNvPr id="24" name="Text 22"/>
          <p:cNvSpPr/>
          <p:nvPr/>
        </p:nvSpPr>
        <p:spPr>
          <a:xfrm>
            <a:off x="9052560" y="1783080"/>
            <a:ext cx="2651760" cy="548640"/>
          </a:xfrm>
          <a:prstGeom prst="rect">
            <a:avLst/>
          </a:prstGeom>
          <a:noFill/>
          <a:ln/>
        </p:spPr>
        <p:txBody>
          <a:bodyPr wrap="square" lIns="0" tIns="0" rIns="0" bIns="0" rtlCol="0" anchor="ctr"/>
          <a:lstStyle/>
          <a:p>
            <a:pPr marL="0" indent="0" algn="ctr">
              <a:buNone/>
            </a:pPr>
            <a:r>
              <a:rPr lang="en-US" sz="1800" dirty="0">
                <a:solidFill>
                  <a:srgbClr val="107C10"/>
                </a:solidFill>
                <a:latin typeface="Consolas" pitchFamily="34" charset="0"/>
                <a:ea typeface="Consolas" pitchFamily="34" charset="-122"/>
                <a:cs typeface="Consolas" pitchFamily="34" charset="-120"/>
              </a:rPr>
              <a:t>rollback web 2</a:t>
            </a:r>
            <a:endParaRPr lang="en-US" sz="1800" dirty="0"/>
          </a:p>
        </p:txBody>
      </p:sp>
      <p:sp>
        <p:nvSpPr>
          <p:cNvPr id="25" name="Text 23"/>
          <p:cNvSpPr/>
          <p:nvPr/>
        </p:nvSpPr>
        <p:spPr>
          <a:xfrm>
            <a:off x="9052560" y="3291840"/>
            <a:ext cx="2651760" cy="411480"/>
          </a:xfrm>
          <a:prstGeom prst="rect">
            <a:avLst/>
          </a:prstGeom>
          <a:noFill/>
          <a:ln/>
        </p:spPr>
        <p:txBody>
          <a:bodyPr wrap="square" lIns="0" tIns="0" rIns="0" bIns="0" rtlCol="0" anchor="ctr"/>
          <a:lstStyle/>
          <a:p>
            <a:pPr marL="0" indent="0" algn="ctr">
              <a:buNone/>
            </a:pPr>
            <a:r>
              <a:rPr lang="en-US" sz="1800" dirty="0">
                <a:solidFill>
                  <a:srgbClr val="201F1E"/>
                </a:solidFill>
                <a:latin typeface="Segoe UI Semibold" pitchFamily="34" charset="0"/>
                <a:ea typeface="Segoe UI Semibold" pitchFamily="34" charset="-122"/>
                <a:cs typeface="Segoe UI Semibold" pitchFamily="34" charset="-120"/>
              </a:rPr>
              <a:t>Revision 4</a:t>
            </a:r>
            <a:endParaRPr lang="en-US" sz="1800" dirty="0"/>
          </a:p>
        </p:txBody>
      </p:sp>
      <p:sp>
        <p:nvSpPr>
          <p:cNvPr id="26" name="Text 24"/>
          <p:cNvSpPr/>
          <p:nvPr/>
        </p:nvSpPr>
        <p:spPr>
          <a:xfrm>
            <a:off x="9052560" y="3703320"/>
            <a:ext cx="2651760" cy="411480"/>
          </a:xfrm>
          <a:prstGeom prst="rect">
            <a:avLst/>
          </a:prstGeom>
          <a:noFill/>
          <a:ln/>
        </p:spPr>
        <p:txBody>
          <a:bodyPr wrap="square" lIns="0" tIns="0" rIns="0" bIns="0" rtlCol="0" anchor="ctr"/>
          <a:lstStyle/>
          <a:p>
            <a:pPr marL="0" indent="0" algn="ctr">
              <a:buNone/>
            </a:pPr>
            <a:r>
              <a:rPr lang="en-US" sz="1400" dirty="0">
                <a:solidFill>
                  <a:srgbClr val="605E5C"/>
                </a:solidFill>
                <a:latin typeface="Segoe UI" pitchFamily="34" charset="0"/>
                <a:ea typeface="Segoe UI" pitchFamily="34" charset="-122"/>
                <a:cs typeface="Segoe UI" pitchFamily="34" charset="-120"/>
              </a:rPr>
              <a:t>deployed (copy of rev 2)</a:t>
            </a:r>
            <a:endParaRPr lang="en-US" sz="1400" dirty="0"/>
          </a:p>
        </p:txBody>
      </p:sp>
      <p:sp>
        <p:nvSpPr>
          <p:cNvPr id="27" name="Shape 25"/>
          <p:cNvSpPr/>
          <p:nvPr/>
        </p:nvSpPr>
        <p:spPr>
          <a:xfrm>
            <a:off x="548640" y="4434840"/>
            <a:ext cx="6949440" cy="1645920"/>
          </a:xfrm>
          <a:prstGeom prst="rect">
            <a:avLst/>
          </a:prstGeom>
          <a:solidFill>
            <a:srgbClr val="1E1E1E"/>
          </a:solidFill>
          <a:ln/>
        </p:spPr>
        <p:txBody>
          <a:bodyPr/>
          <a:lstStyle/>
          <a:p>
            <a:endParaRPr lang="en-US"/>
          </a:p>
        </p:txBody>
      </p:sp>
      <p:sp>
        <p:nvSpPr>
          <p:cNvPr id="28" name="Shape 26"/>
          <p:cNvSpPr/>
          <p:nvPr/>
        </p:nvSpPr>
        <p:spPr>
          <a:xfrm>
            <a:off x="548640" y="4434840"/>
            <a:ext cx="6949440" cy="347472"/>
          </a:xfrm>
          <a:prstGeom prst="rect">
            <a:avLst/>
          </a:prstGeom>
          <a:solidFill>
            <a:srgbClr val="2D2D30"/>
          </a:solidFill>
          <a:ln/>
        </p:spPr>
        <p:txBody>
          <a:bodyPr/>
          <a:lstStyle/>
          <a:p>
            <a:endParaRPr lang="en-US"/>
          </a:p>
        </p:txBody>
      </p:sp>
      <p:sp>
        <p:nvSpPr>
          <p:cNvPr id="29" name="Shape 27"/>
          <p:cNvSpPr/>
          <p:nvPr/>
        </p:nvSpPr>
        <p:spPr>
          <a:xfrm>
            <a:off x="548640" y="4434840"/>
            <a:ext cx="859536" cy="347472"/>
          </a:xfrm>
          <a:prstGeom prst="rect">
            <a:avLst/>
          </a:prstGeom>
          <a:solidFill>
            <a:srgbClr val="1E1E1E"/>
          </a:solidFill>
          <a:ln/>
        </p:spPr>
        <p:txBody>
          <a:bodyPr/>
          <a:lstStyle/>
          <a:p>
            <a:endParaRPr lang="en-US"/>
          </a:p>
        </p:txBody>
      </p:sp>
      <p:sp>
        <p:nvSpPr>
          <p:cNvPr id="30" name="Text 28"/>
          <p:cNvSpPr/>
          <p:nvPr/>
        </p:nvSpPr>
        <p:spPr>
          <a:xfrm>
            <a:off x="685800" y="443484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31" name="Text 29"/>
          <p:cNvSpPr/>
          <p:nvPr/>
        </p:nvSpPr>
        <p:spPr>
          <a:xfrm>
            <a:off x="749808" y="4910328"/>
            <a:ext cx="6583680" cy="1051560"/>
          </a:xfrm>
          <a:prstGeom prst="rect">
            <a:avLst/>
          </a:prstGeom>
          <a:noFill/>
          <a:ln/>
        </p:spPr>
        <p:txBody>
          <a:bodyPr wrap="square" lIns="0" tIns="0" rIns="0" bIns="0" rtlCol="0" anchor="t"/>
          <a:lstStyle/>
          <a:p>
            <a:pPr marL="0" indent="0">
              <a:lnSpc>
                <a:spcPct val="105000"/>
              </a:lnSpc>
              <a:buNone/>
            </a:pPr>
            <a:r>
              <a:rPr lang="en-US" sz="1350" dirty="0">
                <a:solidFill>
                  <a:srgbClr val="DCDCAA"/>
                </a:solidFill>
                <a:latin typeface="Consolas" pitchFamily="34" charset="0"/>
                <a:ea typeface="Consolas" pitchFamily="34" charset="-122"/>
                <a:cs typeface="Consolas" pitchFamily="34" charset="-120"/>
              </a:rPr>
              <a:t>helm</a:t>
            </a:r>
            <a:r>
              <a:rPr lang="en-US" sz="1350" dirty="0">
                <a:solidFill>
                  <a:srgbClr val="D4D4D4"/>
                </a:solidFill>
                <a:latin typeface="Consolas" pitchFamily="34" charset="0"/>
                <a:ea typeface="Consolas" pitchFamily="34" charset="-122"/>
                <a:cs typeface="Consolas" pitchFamily="34" charset="-120"/>
              </a:rPr>
              <a:t> history web         </a:t>
            </a:r>
            <a:r>
              <a:rPr lang="en-US" sz="1350" dirty="0">
                <a:solidFill>
                  <a:srgbClr val="6A9955"/>
                </a:solidFill>
                <a:latin typeface="Consolas" pitchFamily="34" charset="0"/>
                <a:ea typeface="Consolas" pitchFamily="34" charset="-122"/>
                <a:cs typeface="Consolas" pitchFamily="34" charset="-120"/>
              </a:rPr>
              <a:t> # every revision with status</a:t>
            </a:r>
            <a:endParaRPr lang="en-US" sz="1350" dirty="0"/>
          </a:p>
          <a:p>
            <a:pPr marL="0" indent="0">
              <a:lnSpc>
                <a:spcPct val="105000"/>
              </a:lnSpc>
              <a:buNone/>
            </a:pPr>
            <a:r>
              <a:rPr lang="en-US" sz="1350" dirty="0">
                <a:solidFill>
                  <a:srgbClr val="DCDCAA"/>
                </a:solidFill>
                <a:latin typeface="Consolas" pitchFamily="34" charset="0"/>
                <a:ea typeface="Consolas" pitchFamily="34" charset="-122"/>
                <a:cs typeface="Consolas" pitchFamily="34" charset="-120"/>
              </a:rPr>
              <a:t>helm</a:t>
            </a:r>
            <a:r>
              <a:rPr lang="en-US" sz="1350" dirty="0">
                <a:solidFill>
                  <a:srgbClr val="D4D4D4"/>
                </a:solidFill>
                <a:latin typeface="Consolas" pitchFamily="34" charset="0"/>
                <a:ea typeface="Consolas" pitchFamily="34" charset="-122"/>
                <a:cs typeface="Consolas" pitchFamily="34" charset="-120"/>
              </a:rPr>
              <a:t> rollback web 2      </a:t>
            </a:r>
            <a:r>
              <a:rPr lang="en-US" sz="1350" dirty="0">
                <a:solidFill>
                  <a:srgbClr val="6A9955"/>
                </a:solidFill>
                <a:latin typeface="Consolas" pitchFamily="34" charset="0"/>
                <a:ea typeface="Consolas" pitchFamily="34" charset="-122"/>
                <a:cs typeface="Consolas" pitchFamily="34" charset="-120"/>
              </a:rPr>
              <a:t> # new revision built from rev 2</a:t>
            </a:r>
            <a:endParaRPr lang="en-US" sz="1350" dirty="0"/>
          </a:p>
          <a:p>
            <a:pPr marL="0" indent="0">
              <a:lnSpc>
                <a:spcPct val="105000"/>
              </a:lnSpc>
              <a:buNone/>
            </a:pPr>
            <a:r>
              <a:rPr lang="en-US" sz="1350" dirty="0">
                <a:solidFill>
                  <a:srgbClr val="DCDCAA"/>
                </a:solidFill>
                <a:latin typeface="Consolas" pitchFamily="34" charset="0"/>
                <a:ea typeface="Consolas" pitchFamily="34" charset="-122"/>
                <a:cs typeface="Consolas" pitchFamily="34" charset="-120"/>
              </a:rPr>
              <a:t>helm</a:t>
            </a:r>
            <a:r>
              <a:rPr lang="en-US" sz="1350" dirty="0">
                <a:solidFill>
                  <a:srgbClr val="D4D4D4"/>
                </a:solidFill>
                <a:latin typeface="Consolas" pitchFamily="34" charset="0"/>
                <a:ea typeface="Consolas" pitchFamily="34" charset="-122"/>
                <a:cs typeface="Consolas" pitchFamily="34" charset="-120"/>
              </a:rPr>
              <a:t> uninstall web       </a:t>
            </a:r>
            <a:r>
              <a:rPr lang="en-US" sz="1350" dirty="0">
                <a:solidFill>
                  <a:srgbClr val="6A9955"/>
                </a:solidFill>
                <a:latin typeface="Consolas" pitchFamily="34" charset="0"/>
                <a:ea typeface="Consolas" pitchFamily="34" charset="-122"/>
                <a:cs typeface="Consolas" pitchFamily="34" charset="-120"/>
              </a:rPr>
              <a:t> # remove the release</a:t>
            </a:r>
            <a:endParaRPr lang="en-US" sz="1350" dirty="0"/>
          </a:p>
        </p:txBody>
      </p:sp>
      <p:sp>
        <p:nvSpPr>
          <p:cNvPr id="32" name="Shape 30"/>
          <p:cNvSpPr/>
          <p:nvPr/>
        </p:nvSpPr>
        <p:spPr>
          <a:xfrm>
            <a:off x="7772400" y="4434840"/>
            <a:ext cx="3867912" cy="1645920"/>
          </a:xfrm>
          <a:prstGeom prst="rect">
            <a:avLst/>
          </a:prstGeom>
          <a:solidFill>
            <a:srgbClr val="DFF6DD"/>
          </a:solidFill>
          <a:ln/>
        </p:spPr>
        <p:txBody>
          <a:bodyPr/>
          <a:lstStyle/>
          <a:p>
            <a:endParaRPr lang="en-US"/>
          </a:p>
        </p:txBody>
      </p:sp>
      <p:sp>
        <p:nvSpPr>
          <p:cNvPr id="33" name="Shape 31"/>
          <p:cNvSpPr/>
          <p:nvPr/>
        </p:nvSpPr>
        <p:spPr>
          <a:xfrm>
            <a:off x="8001000" y="5006340"/>
            <a:ext cx="502920" cy="502920"/>
          </a:xfrm>
          <a:prstGeom prst="ellipse">
            <a:avLst/>
          </a:prstGeom>
          <a:solidFill>
            <a:srgbClr val="107C10"/>
          </a:solidFill>
          <a:ln/>
        </p:spPr>
        <p:txBody>
          <a:bodyPr/>
          <a:lstStyle/>
          <a:p>
            <a:endParaRPr lang="en-US"/>
          </a:p>
        </p:txBody>
      </p:sp>
      <p:pic>
        <p:nvPicPr>
          <p:cNvPr id="34" name="Image 0" descr="/agent/turn2/workspace/output/_anthropic_assets/icon-arrow-sync-7745594d.png"/>
          <p:cNvPicPr>
            <a:picLocks noChangeAspect="1"/>
          </p:cNvPicPr>
          <p:nvPr/>
        </p:nvPicPr>
        <p:blipFill>
          <a:blip r:embed="rId2"/>
          <a:stretch>
            <a:fillRect/>
          </a:stretch>
        </p:blipFill>
        <p:spPr>
          <a:xfrm>
            <a:off x="8111642" y="5116982"/>
            <a:ext cx="281635" cy="281635"/>
          </a:xfrm>
          <a:prstGeom prst="rect">
            <a:avLst/>
          </a:prstGeom>
        </p:spPr>
      </p:pic>
      <p:sp>
        <p:nvSpPr>
          <p:cNvPr id="35" name="Text 32"/>
          <p:cNvSpPr/>
          <p:nvPr/>
        </p:nvSpPr>
        <p:spPr>
          <a:xfrm>
            <a:off x="8732520" y="4434840"/>
            <a:ext cx="2679192" cy="1645920"/>
          </a:xfrm>
          <a:prstGeom prst="rect">
            <a:avLst/>
          </a:prstGeom>
          <a:noFill/>
          <a:ln/>
        </p:spPr>
        <p:txBody>
          <a:bodyPr wrap="square" lIns="0" tIns="0" rIns="0" bIns="0" rtlCol="0" anchor="ctr"/>
          <a:lstStyle/>
          <a:p>
            <a:pPr marL="0" indent="0">
              <a:buNone/>
            </a:pPr>
            <a:r>
              <a:rPr lang="en-US" sz="1600" dirty="0">
                <a:solidFill>
                  <a:srgbClr val="201F1E"/>
                </a:solidFill>
                <a:latin typeface="Segoe UI" pitchFamily="34" charset="0"/>
                <a:ea typeface="Segoe UI" pitchFamily="34" charset="-122"/>
                <a:cs typeface="Segoe UI" pitchFamily="34" charset="-120"/>
              </a:rPr>
              <a:t>A rollback </a:t>
            </a:r>
            <a:r>
              <a:rPr lang="en-US" sz="1600" b="1" dirty="0">
                <a:solidFill>
                  <a:srgbClr val="201F1E"/>
                </a:solidFill>
                <a:latin typeface="Segoe UI" pitchFamily="34" charset="0"/>
                <a:ea typeface="Segoe UI" pitchFamily="34" charset="-122"/>
                <a:cs typeface="Segoe UI" pitchFamily="34" charset="-120"/>
              </a:rPr>
              <a:t>creates a new revision</a:t>
            </a:r>
            <a:r>
              <a:rPr lang="en-US" sz="1600" dirty="0">
                <a:solidFill>
                  <a:srgbClr val="201F1E"/>
                </a:solidFill>
                <a:latin typeface="Segoe UI" pitchFamily="34" charset="0"/>
                <a:ea typeface="Segoe UI" pitchFamily="34" charset="-122"/>
                <a:cs typeface="Segoe UI" pitchFamily="34" charset="-120"/>
              </a:rPr>
              <a:t> — history only moves forward.</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107C10"/>
                </a:solidFill>
                <a:latin typeface="Segoe UI Semibold" pitchFamily="34" charset="0"/>
                <a:ea typeface="Segoe UI Semibold" pitchFamily="34" charset="-122"/>
                <a:cs typeface="Segoe UI Semibold" pitchFamily="34" charset="-120"/>
              </a:rPr>
              <a:t>PART 2 · PACKAGING APPS WITH HELM</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45096E1E-CD03-40D7-920F-FBF374BC6770}" type="slidenum">
              <a:rPr lang="en-US" sz="1100">
                <a:solidFill>
                  <a:srgbClr val="605E5C"/>
                </a:solidFill>
                <a:latin typeface="Segoe UI" pitchFamily="34" charset="0"/>
                <a:ea typeface="Segoe UI" pitchFamily="34" charset="-122"/>
                <a:cs typeface="Segoe UI" pitchFamily="34" charset="-120"/>
              </a:rPr>
              <a:t>22</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Helm Tips &amp; Gotchas</a:t>
            </a:r>
            <a:endParaRPr lang="en-US" sz="3200" dirty="0"/>
          </a:p>
        </p:txBody>
      </p:sp>
      <p:sp>
        <p:nvSpPr>
          <p:cNvPr id="10" name="Shape 8"/>
          <p:cNvSpPr/>
          <p:nvPr/>
        </p:nvSpPr>
        <p:spPr>
          <a:xfrm>
            <a:off x="548640" y="1737360"/>
            <a:ext cx="3514344" cy="2034540"/>
          </a:xfrm>
          <a:prstGeom prst="rect">
            <a:avLst/>
          </a:prstGeom>
          <a:solidFill>
            <a:srgbClr val="FFFFFF"/>
          </a:solidFill>
          <a:ln/>
        </p:spPr>
        <p:txBody>
          <a:bodyPr/>
          <a:lstStyle/>
          <a:p>
            <a:endParaRPr lang="en-US"/>
          </a:p>
        </p:txBody>
      </p:sp>
      <p:sp>
        <p:nvSpPr>
          <p:cNvPr id="11" name="Shape 9"/>
          <p:cNvSpPr/>
          <p:nvPr/>
        </p:nvSpPr>
        <p:spPr>
          <a:xfrm>
            <a:off x="777240" y="1965960"/>
            <a:ext cx="502920" cy="502920"/>
          </a:xfrm>
          <a:prstGeom prst="ellipse">
            <a:avLst/>
          </a:prstGeom>
          <a:solidFill>
            <a:srgbClr val="107C10"/>
          </a:solidFill>
          <a:ln/>
        </p:spPr>
        <p:txBody>
          <a:bodyPr/>
          <a:lstStyle/>
          <a:p>
            <a:endParaRPr lang="en-US"/>
          </a:p>
        </p:txBody>
      </p:sp>
      <p:pic>
        <p:nvPicPr>
          <p:cNvPr id="12" name="Image 0" descr="/agent/turn2/workspace/output/_anthropic_assets/icon-warning-adbe1e7c.png"/>
          <p:cNvPicPr>
            <a:picLocks noChangeAspect="1"/>
          </p:cNvPicPr>
          <p:nvPr/>
        </p:nvPicPr>
        <p:blipFill>
          <a:blip r:embed="rId2"/>
          <a:stretch>
            <a:fillRect/>
          </a:stretch>
        </p:blipFill>
        <p:spPr>
          <a:xfrm>
            <a:off x="887882" y="2076602"/>
            <a:ext cx="281635" cy="281635"/>
          </a:xfrm>
          <a:prstGeom prst="rect">
            <a:avLst/>
          </a:prstGeom>
        </p:spPr>
      </p:pic>
      <p:sp>
        <p:nvSpPr>
          <p:cNvPr id="13" name="Text 10"/>
          <p:cNvSpPr/>
          <p:nvPr/>
        </p:nvSpPr>
        <p:spPr>
          <a:xfrm>
            <a:off x="777240" y="2606040"/>
            <a:ext cx="3057144" cy="411480"/>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Manual edits get overwritten</a:t>
            </a:r>
            <a:endParaRPr lang="en-US" sz="1700" dirty="0"/>
          </a:p>
        </p:txBody>
      </p:sp>
      <p:sp>
        <p:nvSpPr>
          <p:cNvPr id="14" name="Text 11"/>
          <p:cNvSpPr/>
          <p:nvPr/>
        </p:nvSpPr>
        <p:spPr>
          <a:xfrm>
            <a:off x="777240" y="3063240"/>
            <a:ext cx="3057144" cy="571500"/>
          </a:xfrm>
          <a:prstGeom prst="rect">
            <a:avLst/>
          </a:prstGeom>
          <a:noFill/>
          <a:ln/>
        </p:spPr>
        <p:txBody>
          <a:bodyPr wrap="square" lIns="0" tIns="0" rIns="0" bIns="0" rtlCol="0" anchor="t"/>
          <a:lstStyle/>
          <a:p>
            <a:pPr marL="0" indent="0">
              <a:buNone/>
            </a:pPr>
            <a:r>
              <a:rPr lang="en-US" sz="1400" dirty="0">
                <a:solidFill>
                  <a:srgbClr val="0F6CBD"/>
                </a:solidFill>
                <a:latin typeface="Consolas" pitchFamily="34" charset="0"/>
                <a:ea typeface="Consolas" pitchFamily="34" charset="-122"/>
                <a:cs typeface="Consolas" pitchFamily="34" charset="-120"/>
              </a:rPr>
              <a:t>helm upgrade</a:t>
            </a:r>
            <a:r>
              <a:rPr lang="en-US" sz="1400" dirty="0">
                <a:solidFill>
                  <a:srgbClr val="323130"/>
                </a:solidFill>
                <a:latin typeface="Segoe UI" pitchFamily="34" charset="0"/>
                <a:ea typeface="Segoe UI" pitchFamily="34" charset="-122"/>
                <a:cs typeface="Segoe UI" pitchFamily="34" charset="-120"/>
              </a:rPr>
              <a:t> re-applies what the chart renders — manual </a:t>
            </a:r>
            <a:r>
              <a:rPr lang="en-US" sz="1400" dirty="0">
                <a:solidFill>
                  <a:srgbClr val="0F6CBD"/>
                </a:solidFill>
                <a:latin typeface="Consolas" pitchFamily="34" charset="0"/>
                <a:ea typeface="Consolas" pitchFamily="34" charset="-122"/>
                <a:cs typeface="Consolas" pitchFamily="34" charset="-120"/>
              </a:rPr>
              <a:t>kubectl edit</a:t>
            </a:r>
            <a:r>
              <a:rPr lang="en-US" sz="1400" dirty="0">
                <a:solidFill>
                  <a:srgbClr val="323130"/>
                </a:solidFill>
                <a:latin typeface="Segoe UI" pitchFamily="34" charset="0"/>
                <a:ea typeface="Segoe UI" pitchFamily="34" charset="-122"/>
                <a:cs typeface="Segoe UI" pitchFamily="34" charset="-120"/>
              </a:rPr>
              <a:t> changes are lost.</a:t>
            </a:r>
            <a:endParaRPr lang="en-US" sz="1400" dirty="0"/>
          </a:p>
        </p:txBody>
      </p:sp>
      <p:sp>
        <p:nvSpPr>
          <p:cNvPr id="15" name="Shape 12"/>
          <p:cNvSpPr/>
          <p:nvPr/>
        </p:nvSpPr>
        <p:spPr>
          <a:xfrm>
            <a:off x="4337304" y="1737360"/>
            <a:ext cx="3514344" cy="2034540"/>
          </a:xfrm>
          <a:prstGeom prst="rect">
            <a:avLst/>
          </a:prstGeom>
          <a:solidFill>
            <a:srgbClr val="FFFFFF"/>
          </a:solidFill>
          <a:ln/>
        </p:spPr>
        <p:txBody>
          <a:bodyPr/>
          <a:lstStyle/>
          <a:p>
            <a:endParaRPr lang="en-US"/>
          </a:p>
        </p:txBody>
      </p:sp>
      <p:sp>
        <p:nvSpPr>
          <p:cNvPr id="16" name="Shape 13"/>
          <p:cNvSpPr/>
          <p:nvPr/>
        </p:nvSpPr>
        <p:spPr>
          <a:xfrm>
            <a:off x="4565904" y="1965960"/>
            <a:ext cx="502920" cy="502920"/>
          </a:xfrm>
          <a:prstGeom prst="ellipse">
            <a:avLst/>
          </a:prstGeom>
          <a:solidFill>
            <a:srgbClr val="107C10"/>
          </a:solidFill>
          <a:ln/>
        </p:spPr>
        <p:txBody>
          <a:bodyPr/>
          <a:lstStyle/>
          <a:p>
            <a:endParaRPr lang="en-US"/>
          </a:p>
        </p:txBody>
      </p:sp>
      <p:pic>
        <p:nvPicPr>
          <p:cNvPr id="17" name="Image 1" descr="/agent/turn2/workspace/output/_anthropic_assets/icon-shield-checkmark-8da48fe0.png"/>
          <p:cNvPicPr>
            <a:picLocks noChangeAspect="1"/>
          </p:cNvPicPr>
          <p:nvPr/>
        </p:nvPicPr>
        <p:blipFill>
          <a:blip r:embed="rId3"/>
          <a:stretch>
            <a:fillRect/>
          </a:stretch>
        </p:blipFill>
        <p:spPr>
          <a:xfrm>
            <a:off x="4676546" y="2076602"/>
            <a:ext cx="281635" cy="281635"/>
          </a:xfrm>
          <a:prstGeom prst="rect">
            <a:avLst/>
          </a:prstGeom>
        </p:spPr>
      </p:pic>
      <p:sp>
        <p:nvSpPr>
          <p:cNvPr id="18" name="Text 14"/>
          <p:cNvSpPr/>
          <p:nvPr/>
        </p:nvSpPr>
        <p:spPr>
          <a:xfrm>
            <a:off x="4565904" y="2606040"/>
            <a:ext cx="3057144" cy="411480"/>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Fail safely</a:t>
            </a:r>
            <a:endParaRPr lang="en-US" sz="1700" dirty="0"/>
          </a:p>
        </p:txBody>
      </p:sp>
      <p:sp>
        <p:nvSpPr>
          <p:cNvPr id="19" name="Text 15"/>
          <p:cNvSpPr/>
          <p:nvPr/>
        </p:nvSpPr>
        <p:spPr>
          <a:xfrm>
            <a:off x="4565904" y="3063240"/>
            <a:ext cx="3057144" cy="5715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Use </a:t>
            </a:r>
            <a:r>
              <a:rPr lang="en-US" sz="1400" dirty="0">
                <a:solidFill>
                  <a:srgbClr val="0F6CBD"/>
                </a:solidFill>
                <a:latin typeface="Consolas" pitchFamily="34" charset="0"/>
                <a:ea typeface="Consolas" pitchFamily="34" charset="-122"/>
                <a:cs typeface="Consolas" pitchFamily="34" charset="-120"/>
              </a:rPr>
              <a:t>--atomic</a:t>
            </a:r>
            <a:r>
              <a:rPr lang="en-US" sz="1400" dirty="0">
                <a:solidFill>
                  <a:srgbClr val="323130"/>
                </a:solidFill>
                <a:latin typeface="Segoe UI" pitchFamily="34" charset="0"/>
                <a:ea typeface="Segoe UI" pitchFamily="34" charset="-122"/>
                <a:cs typeface="Segoe UI" pitchFamily="34" charset="-120"/>
              </a:rPr>
              <a:t> </a:t>
            </a:r>
            <a:r>
              <a:rPr lang="en-US" sz="1400">
                <a:solidFill>
                  <a:srgbClr val="323130"/>
                </a:solidFill>
                <a:latin typeface="Segoe UI" pitchFamily="34" charset="0"/>
                <a:ea typeface="Segoe UI" pitchFamily="34" charset="-122"/>
                <a:cs typeface="Segoe UI" pitchFamily="34" charset="-120"/>
              </a:rPr>
              <a:t>(Helm 4: </a:t>
            </a:r>
            <a:r>
              <a:rPr lang="en-US" sz="1400" dirty="0">
                <a:solidFill>
                  <a:srgbClr val="0F6CBD"/>
                </a:solidFill>
                <a:latin typeface="Consolas" pitchFamily="34" charset="0"/>
                <a:ea typeface="Consolas" pitchFamily="34" charset="-122"/>
                <a:cs typeface="Consolas" pitchFamily="34" charset="-120"/>
              </a:rPr>
              <a:t>--</a:t>
            </a:r>
            <a:r>
              <a:rPr lang="en-US" sz="1400">
                <a:solidFill>
                  <a:srgbClr val="0F6CBD"/>
                </a:solidFill>
                <a:latin typeface="Consolas" pitchFamily="34" charset="0"/>
                <a:ea typeface="Consolas" pitchFamily="34" charset="-122"/>
                <a:cs typeface="Consolas" pitchFamily="34" charset="-120"/>
              </a:rPr>
              <a:t>rollback-on-failure</a:t>
            </a:r>
            <a:r>
              <a:rPr lang="en-US" sz="1400">
                <a:solidFill>
                  <a:srgbClr val="323130"/>
                </a:solidFill>
                <a:latin typeface="Segoe UI" pitchFamily="34" charset="0"/>
                <a:ea typeface="Segoe UI" pitchFamily="34" charset="-122"/>
                <a:cs typeface="Segoe UI" pitchFamily="34" charset="-120"/>
              </a:rPr>
              <a:t>)</a:t>
            </a:r>
            <a:r>
              <a:rPr lang="en-US" sz="1400" dirty="0">
                <a:solidFill>
                  <a:srgbClr val="323130"/>
                </a:solidFill>
                <a:latin typeface="Segoe UI" pitchFamily="34" charset="0"/>
                <a:ea typeface="Segoe UI" pitchFamily="34" charset="-122"/>
                <a:cs typeface="Segoe UI" pitchFamily="34" charset="-120"/>
              </a:rPr>
              <a:t> so failed upgrades roll back automatically.</a:t>
            </a:r>
            <a:endParaRPr lang="en-US" sz="1400" dirty="0"/>
          </a:p>
        </p:txBody>
      </p:sp>
      <p:sp>
        <p:nvSpPr>
          <p:cNvPr id="20" name="Shape 16"/>
          <p:cNvSpPr/>
          <p:nvPr/>
        </p:nvSpPr>
        <p:spPr>
          <a:xfrm>
            <a:off x="8125968" y="1737360"/>
            <a:ext cx="3514344" cy="2034540"/>
          </a:xfrm>
          <a:prstGeom prst="rect">
            <a:avLst/>
          </a:prstGeom>
          <a:solidFill>
            <a:srgbClr val="FFFFFF"/>
          </a:solidFill>
          <a:ln/>
        </p:spPr>
        <p:txBody>
          <a:bodyPr/>
          <a:lstStyle/>
          <a:p>
            <a:endParaRPr lang="en-US"/>
          </a:p>
        </p:txBody>
      </p:sp>
      <p:sp>
        <p:nvSpPr>
          <p:cNvPr id="21" name="Shape 17"/>
          <p:cNvSpPr/>
          <p:nvPr/>
        </p:nvSpPr>
        <p:spPr>
          <a:xfrm>
            <a:off x="8354568" y="1965960"/>
            <a:ext cx="502920" cy="502920"/>
          </a:xfrm>
          <a:prstGeom prst="ellipse">
            <a:avLst/>
          </a:prstGeom>
          <a:solidFill>
            <a:srgbClr val="107C10"/>
          </a:solidFill>
          <a:ln/>
        </p:spPr>
        <p:txBody>
          <a:bodyPr/>
          <a:lstStyle/>
          <a:p>
            <a:endParaRPr lang="en-US"/>
          </a:p>
        </p:txBody>
      </p:sp>
      <p:pic>
        <p:nvPicPr>
          <p:cNvPr id="22" name="Image 2" descr="/agent/turn2/workspace/output/_anthropic_assets/icon-arrow-trending-c06427f6.png"/>
          <p:cNvPicPr>
            <a:picLocks noChangeAspect="1"/>
          </p:cNvPicPr>
          <p:nvPr/>
        </p:nvPicPr>
        <p:blipFill>
          <a:blip r:embed="rId4"/>
          <a:stretch>
            <a:fillRect/>
          </a:stretch>
        </p:blipFill>
        <p:spPr>
          <a:xfrm>
            <a:off x="8465210" y="2076602"/>
            <a:ext cx="281635" cy="281635"/>
          </a:xfrm>
          <a:prstGeom prst="rect">
            <a:avLst/>
          </a:prstGeom>
        </p:spPr>
      </p:pic>
      <p:sp>
        <p:nvSpPr>
          <p:cNvPr id="23" name="Text 18"/>
          <p:cNvSpPr/>
          <p:nvPr/>
        </p:nvSpPr>
        <p:spPr>
          <a:xfrm>
            <a:off x="8354568" y="2606040"/>
            <a:ext cx="3057144" cy="411480"/>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Bump the chart version</a:t>
            </a:r>
            <a:endParaRPr lang="en-US" sz="1700" dirty="0"/>
          </a:p>
        </p:txBody>
      </p:sp>
      <p:sp>
        <p:nvSpPr>
          <p:cNvPr id="24" name="Text 19"/>
          <p:cNvSpPr/>
          <p:nvPr/>
        </p:nvSpPr>
        <p:spPr>
          <a:xfrm>
            <a:off x="8354568" y="3063240"/>
            <a:ext cx="3057144" cy="5715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Bump the </a:t>
            </a:r>
            <a:r>
              <a:rPr lang="en-US" sz="1400" b="1" dirty="0">
                <a:solidFill>
                  <a:srgbClr val="323130"/>
                </a:solidFill>
                <a:latin typeface="Segoe UI" pitchFamily="34" charset="0"/>
                <a:ea typeface="Segoe UI" pitchFamily="34" charset="-122"/>
                <a:cs typeface="Segoe UI" pitchFamily="34" charset="-120"/>
              </a:rPr>
              <a:t>chart version</a:t>
            </a:r>
            <a:r>
              <a:rPr lang="en-US" sz="1400" dirty="0">
                <a:solidFill>
                  <a:srgbClr val="323130"/>
                </a:solidFill>
                <a:latin typeface="Segoe UI" pitchFamily="34" charset="0"/>
                <a:ea typeface="Segoe UI" pitchFamily="34" charset="-122"/>
                <a:cs typeface="Segoe UI" pitchFamily="34" charset="-120"/>
              </a:rPr>
              <a:t> on template changes so tooling detects them.</a:t>
            </a:r>
            <a:endParaRPr lang="en-US" sz="1400" dirty="0"/>
          </a:p>
        </p:txBody>
      </p:sp>
      <p:sp>
        <p:nvSpPr>
          <p:cNvPr id="25" name="Shape 20"/>
          <p:cNvSpPr/>
          <p:nvPr/>
        </p:nvSpPr>
        <p:spPr>
          <a:xfrm>
            <a:off x="548640" y="4046220"/>
            <a:ext cx="3514344" cy="2034540"/>
          </a:xfrm>
          <a:prstGeom prst="rect">
            <a:avLst/>
          </a:prstGeom>
          <a:solidFill>
            <a:srgbClr val="FFFFFF"/>
          </a:solidFill>
          <a:ln/>
        </p:spPr>
        <p:txBody>
          <a:bodyPr/>
          <a:lstStyle/>
          <a:p>
            <a:endParaRPr lang="en-US"/>
          </a:p>
        </p:txBody>
      </p:sp>
      <p:sp>
        <p:nvSpPr>
          <p:cNvPr id="26" name="Shape 21"/>
          <p:cNvSpPr/>
          <p:nvPr/>
        </p:nvSpPr>
        <p:spPr>
          <a:xfrm>
            <a:off x="777240" y="4274820"/>
            <a:ext cx="502920" cy="502920"/>
          </a:xfrm>
          <a:prstGeom prst="ellipse">
            <a:avLst/>
          </a:prstGeom>
          <a:solidFill>
            <a:srgbClr val="107C10"/>
          </a:solidFill>
          <a:ln/>
        </p:spPr>
        <p:txBody>
          <a:bodyPr/>
          <a:lstStyle/>
          <a:p>
            <a:endParaRPr lang="en-US"/>
          </a:p>
        </p:txBody>
      </p:sp>
      <p:pic>
        <p:nvPicPr>
          <p:cNvPr id="27" name="Image 3" descr="/agent/turn2/workspace/output/_anthropic_assets/icon-lock-closed-e490b6ce.png"/>
          <p:cNvPicPr>
            <a:picLocks noChangeAspect="1"/>
          </p:cNvPicPr>
          <p:nvPr/>
        </p:nvPicPr>
        <p:blipFill>
          <a:blip r:embed="rId5"/>
          <a:stretch>
            <a:fillRect/>
          </a:stretch>
        </p:blipFill>
        <p:spPr>
          <a:xfrm>
            <a:off x="887882" y="4385462"/>
            <a:ext cx="281635" cy="281635"/>
          </a:xfrm>
          <a:prstGeom prst="rect">
            <a:avLst/>
          </a:prstGeom>
        </p:spPr>
      </p:pic>
      <p:sp>
        <p:nvSpPr>
          <p:cNvPr id="28" name="Text 22"/>
          <p:cNvSpPr/>
          <p:nvPr/>
        </p:nvSpPr>
        <p:spPr>
          <a:xfrm>
            <a:off x="777240" y="4914900"/>
            <a:ext cx="3057144" cy="411480"/>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No secrets in values</a:t>
            </a:r>
            <a:endParaRPr lang="en-US" sz="1700" dirty="0"/>
          </a:p>
        </p:txBody>
      </p:sp>
      <p:sp>
        <p:nvSpPr>
          <p:cNvPr id="29" name="Text 23"/>
          <p:cNvSpPr/>
          <p:nvPr/>
        </p:nvSpPr>
        <p:spPr>
          <a:xfrm>
            <a:off x="777240" y="5372100"/>
            <a:ext cx="3057144" cy="5715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Keep secrets out of </a:t>
            </a:r>
            <a:r>
              <a:rPr lang="en-US" sz="1400" dirty="0">
                <a:solidFill>
                  <a:srgbClr val="0F6CBD"/>
                </a:solidFill>
                <a:latin typeface="Consolas" pitchFamily="34" charset="0"/>
                <a:ea typeface="Consolas" pitchFamily="34" charset="-122"/>
                <a:cs typeface="Consolas" pitchFamily="34" charset="-120"/>
              </a:rPr>
              <a:t>values.yaml</a:t>
            </a:r>
            <a:r>
              <a:rPr lang="en-US" sz="1400" dirty="0">
                <a:solidFill>
                  <a:srgbClr val="323130"/>
                </a:solidFill>
                <a:latin typeface="Segoe UI" pitchFamily="34" charset="0"/>
                <a:ea typeface="Segoe UI" pitchFamily="34" charset="-122"/>
                <a:cs typeface="Segoe UI" pitchFamily="34" charset="-120"/>
              </a:rPr>
              <a:t>; inject them from a secret store.</a:t>
            </a:r>
            <a:endParaRPr lang="en-US" sz="1400" dirty="0"/>
          </a:p>
        </p:txBody>
      </p:sp>
      <p:sp>
        <p:nvSpPr>
          <p:cNvPr id="30" name="Shape 24"/>
          <p:cNvSpPr/>
          <p:nvPr/>
        </p:nvSpPr>
        <p:spPr>
          <a:xfrm>
            <a:off x="4337304" y="4046220"/>
            <a:ext cx="3514344" cy="2034540"/>
          </a:xfrm>
          <a:prstGeom prst="rect">
            <a:avLst/>
          </a:prstGeom>
          <a:solidFill>
            <a:srgbClr val="FFFFFF"/>
          </a:solidFill>
          <a:ln/>
        </p:spPr>
        <p:txBody>
          <a:bodyPr/>
          <a:lstStyle/>
          <a:p>
            <a:endParaRPr lang="en-US"/>
          </a:p>
        </p:txBody>
      </p:sp>
      <p:sp>
        <p:nvSpPr>
          <p:cNvPr id="31" name="Shape 25"/>
          <p:cNvSpPr/>
          <p:nvPr/>
        </p:nvSpPr>
        <p:spPr>
          <a:xfrm>
            <a:off x="4565904" y="4274820"/>
            <a:ext cx="502920" cy="502920"/>
          </a:xfrm>
          <a:prstGeom prst="ellipse">
            <a:avLst/>
          </a:prstGeom>
          <a:solidFill>
            <a:srgbClr val="107C10"/>
          </a:solidFill>
          <a:ln/>
        </p:spPr>
        <p:txBody>
          <a:bodyPr/>
          <a:lstStyle/>
          <a:p>
            <a:endParaRPr lang="en-US"/>
          </a:p>
        </p:txBody>
      </p:sp>
      <p:pic>
        <p:nvPicPr>
          <p:cNvPr id="32" name="Image 4" descr="/agent/turn2/workspace/output/_anthropic_assets/icon-cloud-7294e924.png"/>
          <p:cNvPicPr>
            <a:picLocks noChangeAspect="1"/>
          </p:cNvPicPr>
          <p:nvPr/>
        </p:nvPicPr>
        <p:blipFill>
          <a:blip r:embed="rId6"/>
          <a:stretch>
            <a:fillRect/>
          </a:stretch>
        </p:blipFill>
        <p:spPr>
          <a:xfrm>
            <a:off x="4676546" y="4385462"/>
            <a:ext cx="281635" cy="281635"/>
          </a:xfrm>
          <a:prstGeom prst="rect">
            <a:avLst/>
          </a:prstGeom>
        </p:spPr>
      </p:pic>
      <p:sp>
        <p:nvSpPr>
          <p:cNvPr id="33" name="Text 26"/>
          <p:cNvSpPr/>
          <p:nvPr/>
        </p:nvSpPr>
        <p:spPr>
          <a:xfrm>
            <a:off x="4565904" y="4914900"/>
            <a:ext cx="3057144" cy="411480"/>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Publish to OCI</a:t>
            </a:r>
            <a:endParaRPr lang="en-US" sz="1700" dirty="0"/>
          </a:p>
        </p:txBody>
      </p:sp>
      <p:sp>
        <p:nvSpPr>
          <p:cNvPr id="34" name="Text 27"/>
          <p:cNvSpPr/>
          <p:nvPr/>
        </p:nvSpPr>
        <p:spPr>
          <a:xfrm>
            <a:off x="4565904" y="5372100"/>
            <a:ext cx="3057144" cy="5715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Push charts to </a:t>
            </a:r>
            <a:r>
              <a:rPr lang="en-US" sz="1400" b="1" dirty="0">
                <a:solidFill>
                  <a:srgbClr val="323130"/>
                </a:solidFill>
                <a:latin typeface="Segoe UI" pitchFamily="34" charset="0"/>
                <a:ea typeface="Segoe UI" pitchFamily="34" charset="-122"/>
                <a:cs typeface="Segoe UI" pitchFamily="34" charset="-120"/>
              </a:rPr>
              <a:t>OCI registries</a:t>
            </a:r>
            <a:r>
              <a:rPr lang="en-US" sz="1400" dirty="0">
                <a:solidFill>
                  <a:srgbClr val="323130"/>
                </a:solidFill>
                <a:latin typeface="Segoe UI" pitchFamily="34" charset="0"/>
                <a:ea typeface="Segoe UI" pitchFamily="34" charset="-122"/>
                <a:cs typeface="Segoe UI" pitchFamily="34" charset="-120"/>
              </a:rPr>
              <a:t> such as ACR with </a:t>
            </a:r>
            <a:r>
              <a:rPr lang="en-US" sz="1400" dirty="0">
                <a:solidFill>
                  <a:srgbClr val="0F6CBD"/>
                </a:solidFill>
                <a:latin typeface="Consolas" pitchFamily="34" charset="0"/>
                <a:ea typeface="Consolas" pitchFamily="34" charset="-122"/>
                <a:cs typeface="Consolas" pitchFamily="34" charset="-120"/>
              </a:rPr>
              <a:t>helm push</a:t>
            </a:r>
            <a:r>
              <a:rPr lang="en-US" sz="1400" dirty="0">
                <a:solidFill>
                  <a:srgbClr val="323130"/>
                </a:solidFill>
                <a:latin typeface="Segoe UI" pitchFamily="34" charset="0"/>
                <a:ea typeface="Segoe UI" pitchFamily="34" charset="-122"/>
                <a:cs typeface="Segoe UI" pitchFamily="34" charset="-120"/>
              </a:rPr>
              <a:t>, install with </a:t>
            </a:r>
            <a:r>
              <a:rPr lang="en-US" sz="1400" dirty="0">
                <a:solidFill>
                  <a:srgbClr val="0F6CBD"/>
                </a:solidFill>
                <a:latin typeface="Consolas" pitchFamily="34" charset="0"/>
                <a:ea typeface="Consolas" pitchFamily="34" charset="-122"/>
                <a:cs typeface="Consolas" pitchFamily="34" charset="-120"/>
              </a:rPr>
              <a:t>oci://</a:t>
            </a:r>
            <a:r>
              <a:rPr lang="en-US" sz="1400" dirty="0">
                <a:solidFill>
                  <a:srgbClr val="323130"/>
                </a:solidFill>
                <a:latin typeface="Segoe UI" pitchFamily="34" charset="0"/>
                <a:ea typeface="Segoe UI" pitchFamily="34" charset="-122"/>
                <a:cs typeface="Segoe UI" pitchFamily="34" charset="-120"/>
              </a:rPr>
              <a:t> URLs.</a:t>
            </a:r>
            <a:endParaRPr lang="en-US" sz="1400" dirty="0"/>
          </a:p>
        </p:txBody>
      </p:sp>
      <p:sp>
        <p:nvSpPr>
          <p:cNvPr id="35" name="Shape 28"/>
          <p:cNvSpPr/>
          <p:nvPr/>
        </p:nvSpPr>
        <p:spPr>
          <a:xfrm>
            <a:off x="8125968" y="4046220"/>
            <a:ext cx="3514344" cy="2034540"/>
          </a:xfrm>
          <a:prstGeom prst="rect">
            <a:avLst/>
          </a:prstGeom>
          <a:solidFill>
            <a:srgbClr val="107C10"/>
          </a:solidFill>
          <a:ln/>
        </p:spPr>
        <p:txBody>
          <a:bodyPr/>
          <a:lstStyle/>
          <a:p>
            <a:endParaRPr lang="en-US"/>
          </a:p>
        </p:txBody>
      </p:sp>
      <p:sp>
        <p:nvSpPr>
          <p:cNvPr id="36" name="Text 29"/>
          <p:cNvSpPr/>
          <p:nvPr/>
        </p:nvSpPr>
        <p:spPr>
          <a:xfrm>
            <a:off x="8400288" y="4046220"/>
            <a:ext cx="2965704" cy="2034540"/>
          </a:xfrm>
          <a:prstGeom prst="rect">
            <a:avLst/>
          </a:prstGeom>
          <a:noFill/>
          <a:ln/>
        </p:spPr>
        <p:txBody>
          <a:bodyPr wrap="square" lIns="0" tIns="0" rIns="0" bIns="0" rtlCol="0" anchor="ctr"/>
          <a:lstStyle/>
          <a:p>
            <a:pPr marL="0" indent="0">
              <a:buNone/>
            </a:pPr>
            <a:r>
              <a:rPr lang="en-US" sz="2200" dirty="0">
                <a:solidFill>
                  <a:srgbClr val="FFFFFF"/>
                </a:solidFill>
                <a:latin typeface="Segoe UI Semibold" pitchFamily="34" charset="0"/>
                <a:ea typeface="Segoe UI Semibold" pitchFamily="34" charset="-122"/>
                <a:cs typeface="Segoe UI Semibold" pitchFamily="34" charset="-120"/>
              </a:rPr>
              <a:t>5 habits that keep releases predictable</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bg>
      <p:bgPr>
        <a:solidFill>
          <a:srgbClr val="FFB900"/>
        </a:solidFill>
        <a:effectLst/>
      </p:bgPr>
    </p:bg>
    <p:spTree>
      <p:nvGrpSpPr>
        <p:cNvPr id="1" name=""/>
        <p:cNvGrpSpPr/>
        <p:nvPr/>
      </p:nvGrpSpPr>
      <p:grpSpPr>
        <a:xfrm>
          <a:off x="0" y="0"/>
          <a:ext cx="0" cy="0"/>
          <a:chOff x="0" y="0"/>
          <a:chExt cx="0" cy="0"/>
        </a:xfrm>
      </p:grpSpPr>
      <p:sp>
        <p:nvSpPr>
          <p:cNvPr id="2" name="Text 0"/>
          <p:cNvSpPr/>
          <p:nvPr/>
        </p:nvSpPr>
        <p:spPr>
          <a:xfrm>
            <a:off x="457200" y="274320"/>
            <a:ext cx="5486400" cy="3291840"/>
          </a:xfrm>
          <a:prstGeom prst="rect">
            <a:avLst/>
          </a:prstGeom>
          <a:noFill/>
          <a:ln/>
        </p:spPr>
        <p:txBody>
          <a:bodyPr wrap="square" lIns="0" tIns="0" rIns="0" bIns="0" rtlCol="0"/>
          <a:lstStyle/>
          <a:p>
            <a:pPr marL="0" indent="0">
              <a:buNone/>
            </a:pPr>
            <a:r>
              <a:rPr lang="en-US" sz="22000" dirty="0">
                <a:solidFill>
                  <a:srgbClr val="F0AA00"/>
                </a:solidFill>
                <a:latin typeface="Segoe UI Semibold" pitchFamily="34" charset="0"/>
                <a:ea typeface="Segoe UI Semibold" pitchFamily="34" charset="-122"/>
                <a:cs typeface="Segoe UI Semibold" pitchFamily="34" charset="-120"/>
              </a:rPr>
              <a:t>03</a:t>
            </a:r>
            <a:endParaRPr lang="en-US" sz="22000" dirty="0"/>
          </a:p>
        </p:txBody>
      </p:sp>
      <p:sp>
        <p:nvSpPr>
          <p:cNvPr id="3" name="Shape 1"/>
          <p:cNvSpPr/>
          <p:nvPr/>
        </p:nvSpPr>
        <p:spPr>
          <a:xfrm>
            <a:off x="640080" y="3703320"/>
            <a:ext cx="146304" cy="146304"/>
          </a:xfrm>
          <a:prstGeom prst="rect">
            <a:avLst/>
          </a:prstGeom>
          <a:solidFill>
            <a:srgbClr val="F25022"/>
          </a:solidFill>
          <a:ln/>
        </p:spPr>
        <p:txBody>
          <a:bodyPr/>
          <a:lstStyle/>
          <a:p>
            <a:endParaRPr lang="en-US"/>
          </a:p>
        </p:txBody>
      </p:sp>
      <p:sp>
        <p:nvSpPr>
          <p:cNvPr id="4" name="Shape 2"/>
          <p:cNvSpPr/>
          <p:nvPr/>
        </p:nvSpPr>
        <p:spPr>
          <a:xfrm>
            <a:off x="818571" y="3703320"/>
            <a:ext cx="146304" cy="146304"/>
          </a:xfrm>
          <a:prstGeom prst="rect">
            <a:avLst/>
          </a:prstGeom>
          <a:solidFill>
            <a:srgbClr val="7FBA00"/>
          </a:solidFill>
          <a:ln/>
        </p:spPr>
        <p:txBody>
          <a:bodyPr/>
          <a:lstStyle/>
          <a:p>
            <a:endParaRPr lang="en-US"/>
          </a:p>
        </p:txBody>
      </p:sp>
      <p:sp>
        <p:nvSpPr>
          <p:cNvPr id="5" name="Shape 3"/>
          <p:cNvSpPr/>
          <p:nvPr/>
        </p:nvSpPr>
        <p:spPr>
          <a:xfrm>
            <a:off x="640080" y="3881811"/>
            <a:ext cx="146304" cy="146304"/>
          </a:xfrm>
          <a:prstGeom prst="rect">
            <a:avLst/>
          </a:prstGeom>
          <a:solidFill>
            <a:srgbClr val="00A4EF"/>
          </a:solidFill>
          <a:ln/>
        </p:spPr>
        <p:txBody>
          <a:bodyPr/>
          <a:lstStyle/>
          <a:p>
            <a:endParaRPr lang="en-US"/>
          </a:p>
        </p:txBody>
      </p:sp>
      <p:sp>
        <p:nvSpPr>
          <p:cNvPr id="6" name="Shape 4"/>
          <p:cNvSpPr/>
          <p:nvPr/>
        </p:nvSpPr>
        <p:spPr>
          <a:xfrm>
            <a:off x="818571" y="3881811"/>
            <a:ext cx="146304" cy="146304"/>
          </a:xfrm>
          <a:prstGeom prst="rect">
            <a:avLst/>
          </a:prstGeom>
          <a:solidFill>
            <a:srgbClr val="FFB900"/>
          </a:solidFill>
          <a:ln/>
        </p:spPr>
        <p:txBody>
          <a:bodyPr/>
          <a:lstStyle/>
          <a:p>
            <a:endParaRPr lang="en-US"/>
          </a:p>
        </p:txBody>
      </p:sp>
      <p:sp>
        <p:nvSpPr>
          <p:cNvPr id="7" name="Text 5"/>
          <p:cNvSpPr/>
          <p:nvPr/>
        </p:nvSpPr>
        <p:spPr>
          <a:xfrm>
            <a:off x="1097280" y="3657600"/>
            <a:ext cx="4572000" cy="384048"/>
          </a:xfrm>
          <a:prstGeom prst="rect">
            <a:avLst/>
          </a:prstGeom>
          <a:noFill/>
          <a:ln/>
        </p:spPr>
        <p:txBody>
          <a:bodyPr wrap="square" lIns="0" tIns="0" rIns="0" bIns="0" rtlCol="0" anchor="ctr"/>
          <a:lstStyle/>
          <a:p>
            <a:pPr marL="0" indent="0">
              <a:buNone/>
            </a:pPr>
            <a:r>
              <a:rPr lang="en-US" sz="1600" kern="0" spc="300" dirty="0">
                <a:solidFill>
                  <a:srgbClr val="201F1E"/>
                </a:solidFill>
                <a:latin typeface="Segoe UI Semibold" pitchFamily="34" charset="0"/>
                <a:ea typeface="Segoe UI Semibold" pitchFamily="34" charset="-122"/>
                <a:cs typeface="Segoe UI Semibold" pitchFamily="34" charset="-120"/>
              </a:rPr>
              <a:t>PART 3</a:t>
            </a:r>
            <a:endParaRPr lang="en-US" sz="1600" dirty="0"/>
          </a:p>
        </p:txBody>
      </p:sp>
      <p:sp>
        <p:nvSpPr>
          <p:cNvPr id="8" name="Text 6"/>
          <p:cNvSpPr/>
          <p:nvPr/>
        </p:nvSpPr>
        <p:spPr>
          <a:xfrm>
            <a:off x="640080" y="4114800"/>
            <a:ext cx="6949440" cy="1371600"/>
          </a:xfrm>
          <a:prstGeom prst="rect">
            <a:avLst/>
          </a:prstGeom>
          <a:noFill/>
          <a:ln/>
        </p:spPr>
        <p:txBody>
          <a:bodyPr wrap="square" lIns="0" tIns="0" rIns="0" bIns="0" rtlCol="0" anchor="t"/>
          <a:lstStyle/>
          <a:p>
            <a:pPr marL="0" indent="0">
              <a:lnSpc>
                <a:spcPct val="95000"/>
              </a:lnSpc>
              <a:buNone/>
            </a:pPr>
            <a:r>
              <a:rPr lang="en-US" sz="4800" dirty="0">
                <a:solidFill>
                  <a:srgbClr val="201F1E"/>
                </a:solidFill>
                <a:latin typeface="Segoe UI Semibold" pitchFamily="34" charset="0"/>
                <a:ea typeface="Segoe UI Semibold" pitchFamily="34" charset="-122"/>
                <a:cs typeface="Segoe UI Semibold" pitchFamily="34" charset="-120"/>
              </a:rPr>
              <a:t>Exposing Apps with Gateway API</a:t>
            </a:r>
            <a:endParaRPr lang="en-US" sz="4800"/>
          </a:p>
        </p:txBody>
      </p:sp>
      <p:sp>
        <p:nvSpPr>
          <p:cNvPr id="9" name="Text 7"/>
          <p:cNvSpPr/>
          <p:nvPr/>
        </p:nvSpPr>
        <p:spPr>
          <a:xfrm>
            <a:off x="640080" y="5577840"/>
            <a:ext cx="6766560" cy="731520"/>
          </a:xfrm>
          <a:prstGeom prst="rect">
            <a:avLst/>
          </a:prstGeom>
          <a:noFill/>
          <a:ln/>
        </p:spPr>
        <p:txBody>
          <a:bodyPr wrap="square" lIns="0" tIns="0" rIns="0" bIns="0" rtlCol="0" anchor="t"/>
          <a:lstStyle/>
          <a:p>
            <a:pPr marL="0" indent="0">
              <a:buNone/>
            </a:pPr>
            <a:r>
              <a:rPr lang="en-US" sz="1800" dirty="0">
                <a:solidFill>
                  <a:srgbClr val="201F1E"/>
                </a:solidFill>
                <a:latin typeface="Segoe UI" pitchFamily="34" charset="0"/>
                <a:ea typeface="Segoe UI" pitchFamily="34" charset="-122"/>
                <a:cs typeface="Segoe UI" pitchFamily="34" charset="-120"/>
              </a:rPr>
              <a:t>From Ingress to role-oriented, portable traffic routing</a:t>
            </a:r>
            <a:endParaRPr lang="en-US" sz="1800" dirty="0"/>
          </a:p>
        </p:txBody>
      </p:sp>
      <p:sp>
        <p:nvSpPr>
          <p:cNvPr id="10" name="Shape 8"/>
          <p:cNvSpPr/>
          <p:nvPr/>
        </p:nvSpPr>
        <p:spPr>
          <a:xfrm>
            <a:off x="8138160" y="1463040"/>
            <a:ext cx="1600200" cy="1600200"/>
          </a:xfrm>
          <a:prstGeom prst="rect">
            <a:avLst/>
          </a:prstGeom>
          <a:solidFill>
            <a:srgbClr val="201F1E"/>
          </a:solidFill>
          <a:ln/>
        </p:spPr>
        <p:txBody>
          <a:bodyPr/>
          <a:lstStyle/>
          <a:p>
            <a:endParaRPr lang="en-US"/>
          </a:p>
        </p:txBody>
      </p:sp>
      <p:sp>
        <p:nvSpPr>
          <p:cNvPr id="11" name="Shape 9"/>
          <p:cNvSpPr/>
          <p:nvPr/>
        </p:nvSpPr>
        <p:spPr>
          <a:xfrm>
            <a:off x="9902952" y="1463040"/>
            <a:ext cx="1600200" cy="1600200"/>
          </a:xfrm>
          <a:prstGeom prst="rect">
            <a:avLst/>
          </a:prstGeom>
          <a:solidFill>
            <a:srgbClr val="201F1E">
              <a:alpha val="55000"/>
            </a:srgbClr>
          </a:solidFill>
          <a:ln/>
        </p:spPr>
        <p:txBody>
          <a:bodyPr/>
          <a:lstStyle/>
          <a:p>
            <a:endParaRPr lang="en-US"/>
          </a:p>
        </p:txBody>
      </p:sp>
      <p:sp>
        <p:nvSpPr>
          <p:cNvPr id="12" name="Shape 10"/>
          <p:cNvSpPr/>
          <p:nvPr/>
        </p:nvSpPr>
        <p:spPr>
          <a:xfrm>
            <a:off x="8138160" y="3227832"/>
            <a:ext cx="1600200" cy="1600200"/>
          </a:xfrm>
          <a:prstGeom prst="rect">
            <a:avLst/>
          </a:prstGeom>
          <a:solidFill>
            <a:srgbClr val="201F1E">
              <a:alpha val="35000"/>
            </a:srgbClr>
          </a:solidFill>
          <a:ln/>
        </p:spPr>
        <p:txBody>
          <a:bodyPr/>
          <a:lstStyle/>
          <a:p>
            <a:endParaRPr lang="en-US"/>
          </a:p>
        </p:txBody>
      </p:sp>
      <p:sp>
        <p:nvSpPr>
          <p:cNvPr id="13" name="Shape 11"/>
          <p:cNvSpPr/>
          <p:nvPr/>
        </p:nvSpPr>
        <p:spPr>
          <a:xfrm>
            <a:off x="9902952" y="3227832"/>
            <a:ext cx="1600200" cy="1600200"/>
          </a:xfrm>
          <a:prstGeom prst="rect">
            <a:avLst/>
          </a:prstGeom>
          <a:solidFill>
            <a:srgbClr val="201F1E">
              <a:alpha val="18000"/>
            </a:srgbClr>
          </a:solidFill>
          <a:ln/>
        </p:spPr>
        <p:txBody>
          <a:bodyPr/>
          <a:lstStyle/>
          <a:p>
            <a:endParaRPr lang="en-US"/>
          </a:p>
        </p:txBody>
      </p:sp>
      <p:sp>
        <p:nvSpPr>
          <p:cNvPr id="14" name="Shape 12"/>
          <p:cNvSpPr/>
          <p:nvPr/>
        </p:nvSpPr>
        <p:spPr>
          <a:xfrm>
            <a:off x="10222992" y="3547872"/>
            <a:ext cx="960120" cy="960120"/>
          </a:xfrm>
          <a:prstGeom prst="ellipse">
            <a:avLst/>
          </a:prstGeom>
          <a:solidFill>
            <a:srgbClr val="201F1E"/>
          </a:solidFill>
          <a:ln/>
        </p:spPr>
        <p:txBody>
          <a:bodyPr anchor="t"/>
          <a:lstStyle/>
          <a:p>
            <a:endParaRPr lang="en-US"/>
          </a:p>
        </p:txBody>
      </p:sp>
      <p:pic>
        <p:nvPicPr>
          <p:cNvPr id="15" name="Image 0" descr="/agent/turn2/workspace/output/_anthropic_assets/icon-globe-bd8d4755.png"/>
          <p:cNvPicPr>
            <a:picLocks noChangeAspect="1"/>
          </p:cNvPicPr>
          <p:nvPr/>
        </p:nvPicPr>
        <p:blipFill>
          <a:blip r:embed="rId2"/>
          <a:stretch>
            <a:fillRect/>
          </a:stretch>
        </p:blipFill>
        <p:spPr>
          <a:xfrm>
            <a:off x="10451592" y="3776472"/>
            <a:ext cx="502920" cy="5029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8A6100"/>
                </a:solidFill>
                <a:latin typeface="Segoe UI Semibold" pitchFamily="34" charset="0"/>
                <a:ea typeface="Segoe UI Semibold" pitchFamily="34" charset="-122"/>
                <a:cs typeface="Segoe UI Semibold" pitchFamily="34" charset="-120"/>
              </a:rPr>
              <a:t>PART 3 · EXPOSING APPS WITH GATEWAY API</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0960BA49-8A83-4DBE-BADE-59DEBF21BAC8}" type="slidenum">
              <a:rPr lang="en-US" sz="1100">
                <a:solidFill>
                  <a:srgbClr val="605E5C"/>
                </a:solidFill>
                <a:latin typeface="Segoe UI" pitchFamily="34" charset="0"/>
                <a:ea typeface="Segoe UI" pitchFamily="34" charset="-122"/>
                <a:cs typeface="Segoe UI" pitchFamily="34" charset="-120"/>
              </a:rPr>
              <a:t>24</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From Ingress to Gateway API</a:t>
            </a:r>
            <a:endParaRPr lang="en-US" sz="3200" dirty="0"/>
          </a:p>
        </p:txBody>
      </p:sp>
      <p:sp>
        <p:nvSpPr>
          <p:cNvPr id="10" name="Shape 8"/>
          <p:cNvSpPr/>
          <p:nvPr/>
        </p:nvSpPr>
        <p:spPr>
          <a:xfrm>
            <a:off x="548640" y="1737360"/>
            <a:ext cx="5120640" cy="3246120"/>
          </a:xfrm>
          <a:prstGeom prst="rect">
            <a:avLst/>
          </a:prstGeom>
          <a:solidFill>
            <a:srgbClr val="F3F2F1"/>
          </a:solidFill>
          <a:ln/>
        </p:spPr>
        <p:txBody>
          <a:bodyPr/>
          <a:lstStyle/>
          <a:p>
            <a:endParaRPr lang="en-US"/>
          </a:p>
        </p:txBody>
      </p:sp>
      <p:sp>
        <p:nvSpPr>
          <p:cNvPr id="11" name="Text 9"/>
          <p:cNvSpPr/>
          <p:nvPr/>
        </p:nvSpPr>
        <p:spPr>
          <a:xfrm>
            <a:off x="822960" y="1920240"/>
            <a:ext cx="4572000" cy="457200"/>
          </a:xfrm>
          <a:prstGeom prst="rect">
            <a:avLst/>
          </a:prstGeom>
          <a:noFill/>
          <a:ln/>
        </p:spPr>
        <p:txBody>
          <a:bodyPr wrap="square" lIns="0" tIns="0" rIns="0" bIns="0" rtlCol="0" anchor="ctr"/>
          <a:lstStyle/>
          <a:p>
            <a:pPr marL="0" indent="0">
              <a:buNone/>
            </a:pPr>
            <a:r>
              <a:rPr lang="en-US" sz="2200" dirty="0">
                <a:solidFill>
                  <a:srgbClr val="605E5C"/>
                </a:solidFill>
                <a:latin typeface="Segoe UI Semibold" pitchFamily="34" charset="0"/>
                <a:ea typeface="Segoe UI Semibold" pitchFamily="34" charset="-122"/>
                <a:cs typeface="Segoe UI Semibold" pitchFamily="34" charset="-120"/>
              </a:rPr>
              <a:t>Ingress</a:t>
            </a:r>
            <a:endParaRPr lang="en-US" sz="2200" dirty="0"/>
          </a:p>
        </p:txBody>
      </p:sp>
      <p:sp>
        <p:nvSpPr>
          <p:cNvPr id="12" name="Text 10"/>
          <p:cNvSpPr/>
          <p:nvPr/>
        </p:nvSpPr>
        <p:spPr>
          <a:xfrm>
            <a:off x="822960" y="2514600"/>
            <a:ext cx="4663440" cy="2377440"/>
          </a:xfrm>
          <a:prstGeom prst="rect">
            <a:avLst/>
          </a:prstGeom>
          <a:noFill/>
          <a:ln/>
        </p:spPr>
        <p:txBody>
          <a:bodyPr wrap="square" lIns="0" tIns="0" rIns="0" bIns="0" rtlCol="0"/>
          <a:lstStyle/>
          <a:p>
            <a:pPr marL="254000" indent="-254000">
              <a:spcAft>
                <a:spcPts val="1000"/>
              </a:spcAft>
              <a:buSzPct val="100000"/>
              <a:buChar char="•"/>
            </a:pPr>
            <a:r>
              <a:rPr lang="en-US" sz="1500" dirty="0">
                <a:solidFill>
                  <a:srgbClr val="323130"/>
                </a:solidFill>
                <a:latin typeface="Segoe UI" pitchFamily="34" charset="0"/>
                <a:ea typeface="Segoe UI" pitchFamily="34" charset="-122"/>
                <a:cs typeface="Segoe UI" pitchFamily="34" charset="-120"/>
              </a:rPr>
              <a:t>One resource mixes infra and app concerns</a:t>
            </a:r>
            <a:endParaRPr lang="en-US" sz="1500" dirty="0"/>
          </a:p>
          <a:p>
            <a:pPr marL="254000" indent="-254000">
              <a:spcAft>
                <a:spcPts val="1000"/>
              </a:spcAft>
              <a:buSzPct val="100000"/>
              <a:buChar char="•"/>
            </a:pPr>
            <a:r>
              <a:rPr lang="en-US" sz="1500" dirty="0">
                <a:solidFill>
                  <a:srgbClr val="323130"/>
                </a:solidFill>
                <a:latin typeface="Segoe UI" pitchFamily="34" charset="0"/>
                <a:ea typeface="Segoe UI" pitchFamily="34" charset="-122"/>
                <a:cs typeface="Segoe UI" pitchFamily="34" charset="-120"/>
              </a:rPr>
              <a:t>Features hidden in controller-specific </a:t>
            </a:r>
            <a:r>
              <a:rPr lang="en-US" sz="1500" b="1" dirty="0">
                <a:solidFill>
                  <a:srgbClr val="323130"/>
                </a:solidFill>
                <a:latin typeface="Segoe UI" pitchFamily="34" charset="0"/>
                <a:ea typeface="Segoe UI" pitchFamily="34" charset="-122"/>
                <a:cs typeface="Segoe UI" pitchFamily="34" charset="-120"/>
              </a:rPr>
              <a:t>annotations</a:t>
            </a:r>
            <a:endParaRPr lang="en-US" sz="1500" dirty="0"/>
          </a:p>
          <a:p>
            <a:pPr marL="254000" indent="-254000">
              <a:spcAft>
                <a:spcPts val="1000"/>
              </a:spcAft>
              <a:buSzPct val="100000"/>
              <a:buChar char="•"/>
            </a:pPr>
            <a:r>
              <a:rPr lang="en-US" sz="1500" dirty="0">
                <a:solidFill>
                  <a:srgbClr val="323130"/>
                </a:solidFill>
                <a:latin typeface="Segoe UI" pitchFamily="34" charset="0"/>
                <a:ea typeface="Segoe UI" pitchFamily="34" charset="-122"/>
                <a:cs typeface="Segoe UI" pitchFamily="34" charset="-120"/>
              </a:rPr>
              <a:t>HTTP(S) only; limited traffic splitting and header matching</a:t>
            </a:r>
            <a:endParaRPr lang="en-US" sz="1500" dirty="0"/>
          </a:p>
        </p:txBody>
      </p:sp>
      <p:sp>
        <p:nvSpPr>
          <p:cNvPr id="13" name="Shape 11"/>
          <p:cNvSpPr/>
          <p:nvPr/>
        </p:nvSpPr>
        <p:spPr>
          <a:xfrm>
            <a:off x="6519672" y="1737360"/>
            <a:ext cx="5120640" cy="3246120"/>
          </a:xfrm>
          <a:prstGeom prst="rect">
            <a:avLst/>
          </a:prstGeom>
          <a:solidFill>
            <a:srgbClr val="FFB900"/>
          </a:solidFill>
          <a:ln/>
        </p:spPr>
        <p:txBody>
          <a:bodyPr/>
          <a:lstStyle/>
          <a:p>
            <a:endParaRPr lang="en-US"/>
          </a:p>
        </p:txBody>
      </p:sp>
      <p:sp>
        <p:nvSpPr>
          <p:cNvPr id="14" name="Text 12"/>
          <p:cNvSpPr/>
          <p:nvPr/>
        </p:nvSpPr>
        <p:spPr>
          <a:xfrm>
            <a:off x="6793992" y="1920240"/>
            <a:ext cx="4572000" cy="457200"/>
          </a:xfrm>
          <a:prstGeom prst="rect">
            <a:avLst/>
          </a:prstGeom>
          <a:noFill/>
          <a:ln/>
        </p:spPr>
        <p:txBody>
          <a:bodyPr wrap="square" lIns="0" tIns="0" rIns="0" bIns="0" rtlCol="0" anchor="ctr"/>
          <a:lstStyle/>
          <a:p>
            <a:pPr marL="0" indent="0">
              <a:buNone/>
            </a:pPr>
            <a:r>
              <a:rPr lang="en-US" sz="2200" dirty="0">
                <a:solidFill>
                  <a:srgbClr val="201F1E"/>
                </a:solidFill>
                <a:latin typeface="Segoe UI Semibold" pitchFamily="34" charset="0"/>
                <a:ea typeface="Segoe UI Semibold" pitchFamily="34" charset="-122"/>
                <a:cs typeface="Segoe UI Semibold" pitchFamily="34" charset="-120"/>
              </a:rPr>
              <a:t>Gateway API</a:t>
            </a:r>
            <a:endParaRPr lang="en-US" sz="2200" dirty="0"/>
          </a:p>
        </p:txBody>
      </p:sp>
      <p:sp>
        <p:nvSpPr>
          <p:cNvPr id="15" name="Text 13"/>
          <p:cNvSpPr/>
          <p:nvPr/>
        </p:nvSpPr>
        <p:spPr>
          <a:xfrm>
            <a:off x="6793992" y="2514600"/>
            <a:ext cx="4663440" cy="2377440"/>
          </a:xfrm>
          <a:prstGeom prst="rect">
            <a:avLst/>
          </a:prstGeom>
          <a:noFill/>
          <a:ln/>
        </p:spPr>
        <p:txBody>
          <a:bodyPr wrap="square" lIns="0" tIns="0" rIns="0" bIns="0" rtlCol="0"/>
          <a:lstStyle/>
          <a:p>
            <a:pPr marL="254000" indent="-254000">
              <a:spcAft>
                <a:spcPts val="1000"/>
              </a:spcAft>
              <a:buSzPct val="100000"/>
              <a:buChar char="•"/>
            </a:pPr>
            <a:r>
              <a:rPr lang="en-US" sz="1500" dirty="0">
                <a:solidFill>
                  <a:srgbClr val="201F1E"/>
                </a:solidFill>
                <a:latin typeface="Segoe UI" pitchFamily="34" charset="0"/>
                <a:ea typeface="Segoe UI" pitchFamily="34" charset="-122"/>
                <a:cs typeface="Segoe UI" pitchFamily="34" charset="-120"/>
              </a:rPr>
              <a:t>Separate resources per </a:t>
            </a:r>
            <a:r>
              <a:rPr lang="en-US" sz="1500" b="1" dirty="0">
                <a:solidFill>
                  <a:srgbClr val="201F1E"/>
                </a:solidFill>
                <a:latin typeface="Segoe UI" pitchFamily="34" charset="0"/>
                <a:ea typeface="Segoe UI" pitchFamily="34" charset="-122"/>
                <a:cs typeface="Segoe UI" pitchFamily="34" charset="-120"/>
              </a:rPr>
              <a:t>role</a:t>
            </a:r>
            <a:r>
              <a:rPr lang="en-US" sz="1500" dirty="0">
                <a:solidFill>
                  <a:srgbClr val="201F1E"/>
                </a:solidFill>
                <a:latin typeface="Segoe UI" pitchFamily="34" charset="0"/>
                <a:ea typeface="Segoe UI" pitchFamily="34" charset="-122"/>
                <a:cs typeface="Segoe UI" pitchFamily="34" charset="-120"/>
              </a:rPr>
              <a:t>: GatewayClass, Gateway, Routes</a:t>
            </a:r>
            <a:endParaRPr lang="en-US" sz="1500" dirty="0"/>
          </a:p>
          <a:p>
            <a:pPr marL="254000" indent="-254000">
              <a:spcAft>
                <a:spcPts val="1000"/>
              </a:spcAft>
              <a:buSzPct val="100000"/>
              <a:buChar char="•"/>
            </a:pPr>
            <a:r>
              <a:rPr lang="en-US" sz="1500" dirty="0">
                <a:solidFill>
                  <a:srgbClr val="201F1E"/>
                </a:solidFill>
                <a:latin typeface="Segoe UI" pitchFamily="34" charset="0"/>
                <a:ea typeface="Segoe UI" pitchFamily="34" charset="-122"/>
                <a:cs typeface="Segoe UI" pitchFamily="34" charset="-120"/>
              </a:rPr>
              <a:t>Portable, typed fields for weights, headers, redirects</a:t>
            </a:r>
            <a:endParaRPr lang="en-US" sz="1500" dirty="0"/>
          </a:p>
          <a:p>
            <a:pPr marL="254000" indent="-254000">
              <a:spcAft>
                <a:spcPts val="1000"/>
              </a:spcAft>
              <a:buSzPct val="100000"/>
              <a:buChar char="•"/>
            </a:pPr>
            <a:r>
              <a:rPr lang="en-US" sz="1500" dirty="0">
                <a:solidFill>
                  <a:srgbClr val="201F1E"/>
                </a:solidFill>
                <a:latin typeface="Segoe UI" pitchFamily="34" charset="0"/>
                <a:ea typeface="Segoe UI" pitchFamily="34" charset="-122"/>
                <a:cs typeface="Segoe UI" pitchFamily="34" charset="-120"/>
              </a:rPr>
              <a:t>HTTP, gRPC and more; cross-namespace attachment by design</a:t>
            </a:r>
            <a:endParaRPr lang="en-US" sz="1500" dirty="0"/>
          </a:p>
        </p:txBody>
      </p:sp>
      <p:sp>
        <p:nvSpPr>
          <p:cNvPr id="16" name="Shape 14"/>
          <p:cNvSpPr/>
          <p:nvPr/>
        </p:nvSpPr>
        <p:spPr>
          <a:xfrm>
            <a:off x="5760720" y="3355848"/>
            <a:ext cx="667512" cy="0"/>
          </a:xfrm>
          <a:prstGeom prst="line">
            <a:avLst/>
          </a:prstGeom>
          <a:noFill/>
          <a:ln w="38100">
            <a:solidFill>
              <a:srgbClr val="8A6100"/>
            </a:solidFill>
            <a:prstDash val="solid"/>
            <a:tailEnd type="triangle"/>
          </a:ln>
        </p:spPr>
        <p:txBody>
          <a:bodyPr/>
          <a:lstStyle/>
          <a:p>
            <a:endParaRPr lang="en-US"/>
          </a:p>
        </p:txBody>
      </p:sp>
      <p:sp>
        <p:nvSpPr>
          <p:cNvPr id="17" name="Shape 15"/>
          <p:cNvSpPr/>
          <p:nvPr/>
        </p:nvSpPr>
        <p:spPr>
          <a:xfrm>
            <a:off x="548640" y="5212080"/>
            <a:ext cx="11091672" cy="914400"/>
          </a:xfrm>
          <a:prstGeom prst="rect">
            <a:avLst/>
          </a:prstGeom>
          <a:solidFill>
            <a:srgbClr val="FFF4CE"/>
          </a:solidFill>
          <a:ln/>
        </p:spPr>
        <p:txBody>
          <a:bodyPr anchor="t"/>
          <a:lstStyle/>
          <a:p>
            <a:endParaRPr lang="en-US"/>
          </a:p>
        </p:txBody>
      </p:sp>
      <p:sp>
        <p:nvSpPr>
          <p:cNvPr id="18" name="Shape 16"/>
          <p:cNvSpPr/>
          <p:nvPr/>
        </p:nvSpPr>
        <p:spPr>
          <a:xfrm>
            <a:off x="777240" y="5417820"/>
            <a:ext cx="502920" cy="502920"/>
          </a:xfrm>
          <a:prstGeom prst="ellipse">
            <a:avLst/>
          </a:prstGeom>
          <a:solidFill>
            <a:srgbClr val="FFB900"/>
          </a:solidFill>
          <a:ln/>
        </p:spPr>
        <p:txBody>
          <a:bodyPr/>
          <a:lstStyle/>
          <a:p>
            <a:endParaRPr lang="en-US"/>
          </a:p>
        </p:txBody>
      </p:sp>
      <p:pic>
        <p:nvPicPr>
          <p:cNvPr id="19" name="Image 0" descr="/agent/turn2/workspace/output/_anthropic_assets/icon-warning-adbe1e7c.png"/>
          <p:cNvPicPr>
            <a:picLocks noChangeAspect="1"/>
          </p:cNvPicPr>
          <p:nvPr/>
        </p:nvPicPr>
        <p:blipFill>
          <a:blip r:embed="rId2"/>
          <a:stretch>
            <a:fillRect/>
          </a:stretch>
        </p:blipFill>
        <p:spPr>
          <a:xfrm>
            <a:off x="887882" y="5528462"/>
            <a:ext cx="281635" cy="281635"/>
          </a:xfrm>
          <a:prstGeom prst="rect">
            <a:avLst/>
          </a:prstGeom>
        </p:spPr>
      </p:pic>
      <p:sp>
        <p:nvSpPr>
          <p:cNvPr id="20" name="Text 17"/>
          <p:cNvSpPr/>
          <p:nvPr/>
        </p:nvSpPr>
        <p:spPr>
          <a:xfrm>
            <a:off x="1508760" y="5212080"/>
            <a:ext cx="9902952" cy="914400"/>
          </a:xfrm>
          <a:prstGeom prst="rect">
            <a:avLst/>
          </a:prstGeom>
          <a:noFill/>
          <a:ln/>
        </p:spPr>
        <p:txBody>
          <a:bodyPr wrap="square" lIns="0" tIns="0" rIns="0" bIns="0" rtlCol="0" anchor="ctr"/>
          <a:lstStyle/>
          <a:p>
            <a:pPr marL="0" indent="0">
              <a:buNone/>
            </a:pPr>
            <a:r>
              <a:rPr lang="en-US" sz="1400" b="1" dirty="0">
                <a:solidFill>
                  <a:srgbClr val="201F1E"/>
                </a:solidFill>
                <a:latin typeface="Segoe UI" pitchFamily="34" charset="0"/>
                <a:ea typeface="Segoe UI" pitchFamily="34" charset="-122"/>
                <a:cs typeface="Segoe UI" pitchFamily="34" charset="-120"/>
              </a:rPr>
              <a:t>Why now:</a:t>
            </a:r>
            <a:r>
              <a:rPr lang="en-US" sz="1400" dirty="0">
                <a:solidFill>
                  <a:srgbClr val="201F1E"/>
                </a:solidFill>
                <a:latin typeface="Segoe UI" pitchFamily="34" charset="0"/>
                <a:ea typeface="Segoe UI" pitchFamily="34" charset="-122"/>
                <a:cs typeface="Segoe UI" pitchFamily="34" charset="-120"/>
              </a:rPr>
              <a:t> Ingress NGINX maintenance ended in March 2026. The AKS application routing add-on's managed NGINX receives only critical security patches through November 2026, and its Gateway API class </a:t>
            </a:r>
            <a:r>
              <a:rPr lang="en-US" sz="1400" dirty="0">
                <a:solidFill>
                  <a:srgbClr val="0F6CBD"/>
                </a:solidFill>
                <a:latin typeface="Consolas" pitchFamily="34" charset="0"/>
                <a:ea typeface="Consolas" pitchFamily="34" charset="-122"/>
                <a:cs typeface="Consolas" pitchFamily="34" charset="-120"/>
              </a:rPr>
              <a:t>approuting-istio</a:t>
            </a:r>
            <a:r>
              <a:rPr lang="en-US" sz="1400" dirty="0">
                <a:solidFill>
                  <a:srgbClr val="201F1E"/>
                </a:solidFill>
                <a:latin typeface="Segoe UI" pitchFamily="34" charset="0"/>
                <a:ea typeface="Segoe UI" pitchFamily="34" charset="-122"/>
                <a:cs typeface="Segoe UI" pitchFamily="34" charset="-120"/>
              </a:rPr>
              <a:t> is generally available.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FFB900"/>
                </a:solidFill>
                <a:latin typeface="Segoe UI Semibold" pitchFamily="34" charset="0"/>
                <a:ea typeface="Segoe UI Semibold" pitchFamily="34" charset="-122"/>
                <a:cs typeface="Segoe UI Semibold" pitchFamily="34" charset="-120"/>
              </a:rPr>
              <a:t>PART 3 · EXPOSING APPS WITH GATEWAY API</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FFCAFE2E-A608-40FD-818B-81DC434091FD}" type="slidenum">
              <a:rPr lang="en-US" sz="1100">
                <a:solidFill>
                  <a:srgbClr val="A9B8C8"/>
                </a:solidFill>
                <a:latin typeface="Segoe UI" pitchFamily="34" charset="0"/>
                <a:ea typeface="Segoe UI" pitchFamily="34" charset="-122"/>
                <a:cs typeface="Segoe UI" pitchFamily="34" charset="-120"/>
              </a:rPr>
              <a:t>25</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Three Resources, Three Roles</a:t>
            </a:r>
            <a:endParaRPr lang="en-US" sz="3200" dirty="0"/>
          </a:p>
        </p:txBody>
      </p:sp>
      <p:sp>
        <p:nvSpPr>
          <p:cNvPr id="10" name="Shape 8"/>
          <p:cNvSpPr/>
          <p:nvPr/>
        </p:nvSpPr>
        <p:spPr>
          <a:xfrm>
            <a:off x="548640" y="1737360"/>
            <a:ext cx="11091672" cy="1280160"/>
          </a:xfrm>
          <a:prstGeom prst="rect">
            <a:avLst/>
          </a:prstGeom>
          <a:solidFill>
            <a:srgbClr val="16304A"/>
          </a:solidFill>
          <a:ln/>
        </p:spPr>
        <p:txBody>
          <a:bodyPr/>
          <a:lstStyle/>
          <a:p>
            <a:endParaRPr lang="en-US"/>
          </a:p>
        </p:txBody>
      </p:sp>
      <p:sp>
        <p:nvSpPr>
          <p:cNvPr id="11" name="Shape 9"/>
          <p:cNvSpPr/>
          <p:nvPr/>
        </p:nvSpPr>
        <p:spPr>
          <a:xfrm>
            <a:off x="548640" y="1737360"/>
            <a:ext cx="3017520" cy="1280160"/>
          </a:xfrm>
          <a:prstGeom prst="rect">
            <a:avLst/>
          </a:prstGeom>
          <a:solidFill>
            <a:srgbClr val="C98F00"/>
          </a:solidFill>
          <a:ln/>
        </p:spPr>
        <p:txBody>
          <a:bodyPr/>
          <a:lstStyle/>
          <a:p>
            <a:endParaRPr lang="en-US"/>
          </a:p>
        </p:txBody>
      </p:sp>
      <p:sp>
        <p:nvSpPr>
          <p:cNvPr id="12" name="Shape 10"/>
          <p:cNvSpPr/>
          <p:nvPr/>
        </p:nvSpPr>
        <p:spPr>
          <a:xfrm>
            <a:off x="777240" y="2084832"/>
            <a:ext cx="585216" cy="585216"/>
          </a:xfrm>
          <a:prstGeom prst="ellipse">
            <a:avLst/>
          </a:prstGeom>
          <a:solidFill>
            <a:srgbClr val="201F1E"/>
          </a:solidFill>
          <a:ln/>
        </p:spPr>
        <p:txBody>
          <a:bodyPr/>
          <a:lstStyle/>
          <a:p>
            <a:endParaRPr lang="en-US"/>
          </a:p>
        </p:txBody>
      </p:sp>
      <p:pic>
        <p:nvPicPr>
          <p:cNvPr id="13" name="Image 0" descr="/agent/turn2/workspace/output/_anthropic_assets/icon-settings-29333648.png"/>
          <p:cNvPicPr>
            <a:picLocks noChangeAspect="1"/>
          </p:cNvPicPr>
          <p:nvPr/>
        </p:nvPicPr>
        <p:blipFill>
          <a:blip r:embed="rId2"/>
          <a:stretch>
            <a:fillRect/>
          </a:stretch>
        </p:blipFill>
        <p:spPr>
          <a:xfrm>
            <a:off x="905988" y="2213580"/>
            <a:ext cx="327721" cy="327721"/>
          </a:xfrm>
          <a:prstGeom prst="rect">
            <a:avLst/>
          </a:prstGeom>
        </p:spPr>
      </p:pic>
      <p:sp>
        <p:nvSpPr>
          <p:cNvPr id="14" name="Text 11"/>
          <p:cNvSpPr/>
          <p:nvPr/>
        </p:nvSpPr>
        <p:spPr>
          <a:xfrm>
            <a:off x="1508760" y="1737360"/>
            <a:ext cx="1965960" cy="1280160"/>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Infrastructure provider</a:t>
            </a:r>
            <a:endParaRPr lang="en-US" sz="1600" dirty="0"/>
          </a:p>
        </p:txBody>
      </p:sp>
      <p:sp>
        <p:nvSpPr>
          <p:cNvPr id="15" name="Text 12"/>
          <p:cNvSpPr/>
          <p:nvPr/>
        </p:nvSpPr>
        <p:spPr>
          <a:xfrm>
            <a:off x="3840480" y="1737360"/>
            <a:ext cx="2377440" cy="1280160"/>
          </a:xfrm>
          <a:prstGeom prst="rect">
            <a:avLst/>
          </a:prstGeom>
          <a:noFill/>
          <a:ln/>
        </p:spPr>
        <p:txBody>
          <a:bodyPr wrap="square" lIns="0" tIns="0" rIns="0" bIns="0" rtlCol="0" anchor="ctr"/>
          <a:lstStyle/>
          <a:p>
            <a:pPr marL="0" indent="0">
              <a:buNone/>
            </a:pPr>
            <a:r>
              <a:rPr lang="en-US" sz="2200" dirty="0">
                <a:solidFill>
                  <a:srgbClr val="FFB900"/>
                </a:solidFill>
                <a:latin typeface="Consolas" pitchFamily="34" charset="0"/>
                <a:ea typeface="Consolas" pitchFamily="34" charset="-122"/>
                <a:cs typeface="Consolas" pitchFamily="34" charset="-120"/>
              </a:rPr>
              <a:t>GatewayClass</a:t>
            </a:r>
            <a:endParaRPr lang="en-US" sz="2200" dirty="0"/>
          </a:p>
        </p:txBody>
      </p:sp>
      <p:sp>
        <p:nvSpPr>
          <p:cNvPr id="16" name="Text 13"/>
          <p:cNvSpPr/>
          <p:nvPr/>
        </p:nvSpPr>
        <p:spPr>
          <a:xfrm>
            <a:off x="6309360" y="1737360"/>
            <a:ext cx="5120640" cy="1280160"/>
          </a:xfrm>
          <a:prstGeom prst="rect">
            <a:avLst/>
          </a:prstGeom>
          <a:noFill/>
          <a:ln/>
        </p:spPr>
        <p:txBody>
          <a:bodyPr wrap="square" lIns="0" tIns="0" rIns="0" bIns="0" rtlCol="0" anchor="ctr"/>
          <a:lstStyle/>
          <a:p>
            <a:pPr marL="0" indent="0">
              <a:buNone/>
            </a:pPr>
            <a:r>
              <a:rPr lang="en-US" sz="1500" dirty="0">
                <a:solidFill>
                  <a:srgbClr val="D0D8E2"/>
                </a:solidFill>
                <a:latin typeface="Segoe UI" pitchFamily="34" charset="0"/>
                <a:ea typeface="Segoe UI" pitchFamily="34" charset="-122"/>
                <a:cs typeface="Segoe UI" pitchFamily="34" charset="-120"/>
              </a:rPr>
              <a:t>Which controller implements gateways (for example </a:t>
            </a:r>
            <a:r>
              <a:rPr lang="en-US" sz="1500" dirty="0">
                <a:solidFill>
                  <a:srgbClr val="9CDCFE"/>
                </a:solidFill>
                <a:latin typeface="Consolas" pitchFamily="34" charset="0"/>
                <a:ea typeface="Consolas" pitchFamily="34" charset="-122"/>
                <a:cs typeface="Consolas" pitchFamily="34" charset="-120"/>
              </a:rPr>
              <a:t>approuting-istio</a:t>
            </a:r>
            <a:r>
              <a:rPr lang="en-US" sz="1500" dirty="0">
                <a:solidFill>
                  <a:srgbClr val="D0D8E2"/>
                </a:solidFill>
                <a:latin typeface="Segoe UI" pitchFamily="34" charset="0"/>
                <a:ea typeface="Segoe UI" pitchFamily="34" charset="-122"/>
                <a:cs typeface="Segoe UI" pitchFamily="34" charset="-120"/>
              </a:rPr>
              <a:t> on AKS).</a:t>
            </a:r>
            <a:endParaRPr lang="en-US" sz="1500" dirty="0"/>
          </a:p>
        </p:txBody>
      </p:sp>
      <p:sp>
        <p:nvSpPr>
          <p:cNvPr id="17" name="Shape 14"/>
          <p:cNvSpPr/>
          <p:nvPr/>
        </p:nvSpPr>
        <p:spPr>
          <a:xfrm>
            <a:off x="548640" y="3200400"/>
            <a:ext cx="11091672" cy="1280160"/>
          </a:xfrm>
          <a:prstGeom prst="rect">
            <a:avLst/>
          </a:prstGeom>
          <a:solidFill>
            <a:srgbClr val="16304A"/>
          </a:solidFill>
          <a:ln/>
        </p:spPr>
        <p:txBody>
          <a:bodyPr/>
          <a:lstStyle/>
          <a:p>
            <a:endParaRPr lang="en-US"/>
          </a:p>
        </p:txBody>
      </p:sp>
      <p:sp>
        <p:nvSpPr>
          <p:cNvPr id="18" name="Shape 15"/>
          <p:cNvSpPr/>
          <p:nvPr/>
        </p:nvSpPr>
        <p:spPr>
          <a:xfrm>
            <a:off x="548640" y="3200400"/>
            <a:ext cx="3017520" cy="1280160"/>
          </a:xfrm>
          <a:prstGeom prst="rect">
            <a:avLst/>
          </a:prstGeom>
          <a:solidFill>
            <a:srgbClr val="F0AA00"/>
          </a:solidFill>
          <a:ln/>
        </p:spPr>
        <p:txBody>
          <a:bodyPr/>
          <a:lstStyle/>
          <a:p>
            <a:endParaRPr lang="en-US"/>
          </a:p>
        </p:txBody>
      </p:sp>
      <p:sp>
        <p:nvSpPr>
          <p:cNvPr id="19" name="Shape 16"/>
          <p:cNvSpPr/>
          <p:nvPr/>
        </p:nvSpPr>
        <p:spPr>
          <a:xfrm>
            <a:off x="777240" y="3547872"/>
            <a:ext cx="585216" cy="585216"/>
          </a:xfrm>
          <a:prstGeom prst="ellipse">
            <a:avLst/>
          </a:prstGeom>
          <a:solidFill>
            <a:srgbClr val="201F1E"/>
          </a:solidFill>
          <a:ln/>
        </p:spPr>
        <p:txBody>
          <a:bodyPr/>
          <a:lstStyle/>
          <a:p>
            <a:endParaRPr lang="en-US"/>
          </a:p>
        </p:txBody>
      </p:sp>
      <p:pic>
        <p:nvPicPr>
          <p:cNvPr id="20" name="Image 1" descr="/agent/turn2/workspace/output/_anthropic_assets/icon-server-e8a10e40.png"/>
          <p:cNvPicPr>
            <a:picLocks noChangeAspect="1"/>
          </p:cNvPicPr>
          <p:nvPr/>
        </p:nvPicPr>
        <p:blipFill>
          <a:blip r:embed="rId3"/>
          <a:stretch>
            <a:fillRect/>
          </a:stretch>
        </p:blipFill>
        <p:spPr>
          <a:xfrm>
            <a:off x="905988" y="3676620"/>
            <a:ext cx="327721" cy="327721"/>
          </a:xfrm>
          <a:prstGeom prst="rect">
            <a:avLst/>
          </a:prstGeom>
        </p:spPr>
      </p:pic>
      <p:sp>
        <p:nvSpPr>
          <p:cNvPr id="21" name="Text 17"/>
          <p:cNvSpPr/>
          <p:nvPr/>
        </p:nvSpPr>
        <p:spPr>
          <a:xfrm>
            <a:off x="1508760" y="3200400"/>
            <a:ext cx="1965960" cy="1280160"/>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Cluster operator</a:t>
            </a:r>
            <a:endParaRPr lang="en-US" sz="1600" dirty="0"/>
          </a:p>
        </p:txBody>
      </p:sp>
      <p:sp>
        <p:nvSpPr>
          <p:cNvPr id="22" name="Text 18"/>
          <p:cNvSpPr/>
          <p:nvPr/>
        </p:nvSpPr>
        <p:spPr>
          <a:xfrm>
            <a:off x="3840480" y="3200400"/>
            <a:ext cx="2377440" cy="1280160"/>
          </a:xfrm>
          <a:prstGeom prst="rect">
            <a:avLst/>
          </a:prstGeom>
          <a:noFill/>
          <a:ln/>
        </p:spPr>
        <p:txBody>
          <a:bodyPr wrap="square" lIns="0" tIns="0" rIns="0" bIns="0" rtlCol="0" anchor="ctr"/>
          <a:lstStyle/>
          <a:p>
            <a:pPr marL="0" indent="0">
              <a:buNone/>
            </a:pPr>
            <a:r>
              <a:rPr lang="en-US" sz="2200" dirty="0">
                <a:solidFill>
                  <a:srgbClr val="FFB900"/>
                </a:solidFill>
                <a:latin typeface="Consolas" pitchFamily="34" charset="0"/>
                <a:ea typeface="Consolas" pitchFamily="34" charset="-122"/>
                <a:cs typeface="Consolas" pitchFamily="34" charset="-120"/>
              </a:rPr>
              <a:t>Gateway</a:t>
            </a:r>
            <a:endParaRPr lang="en-US" sz="2200" dirty="0"/>
          </a:p>
        </p:txBody>
      </p:sp>
      <p:sp>
        <p:nvSpPr>
          <p:cNvPr id="23" name="Text 19"/>
          <p:cNvSpPr/>
          <p:nvPr/>
        </p:nvSpPr>
        <p:spPr>
          <a:xfrm>
            <a:off x="6309360" y="3200400"/>
            <a:ext cx="5120640" cy="1280160"/>
          </a:xfrm>
          <a:prstGeom prst="rect">
            <a:avLst/>
          </a:prstGeom>
          <a:noFill/>
          <a:ln/>
        </p:spPr>
        <p:txBody>
          <a:bodyPr wrap="square" lIns="0" tIns="0" rIns="0" bIns="0" rtlCol="0" anchor="ctr"/>
          <a:lstStyle/>
          <a:p>
            <a:pPr marL="0" indent="0">
              <a:buNone/>
            </a:pPr>
            <a:r>
              <a:rPr lang="en-US" sz="1500" dirty="0">
                <a:solidFill>
                  <a:srgbClr val="D0D8E2"/>
                </a:solidFill>
                <a:latin typeface="Segoe UI" pitchFamily="34" charset="0"/>
                <a:ea typeface="Segoe UI" pitchFamily="34" charset="-122"/>
                <a:cs typeface="Segoe UI" pitchFamily="34" charset="-120"/>
              </a:rPr>
              <a:t>Listeners: ports, protocols, hostnames, TLS certificates; which namespaces may attach.</a:t>
            </a:r>
            <a:endParaRPr lang="en-US" sz="1500" dirty="0"/>
          </a:p>
        </p:txBody>
      </p:sp>
      <p:sp>
        <p:nvSpPr>
          <p:cNvPr id="24" name="Shape 20"/>
          <p:cNvSpPr/>
          <p:nvPr/>
        </p:nvSpPr>
        <p:spPr>
          <a:xfrm>
            <a:off x="548640" y="4663440"/>
            <a:ext cx="11091672" cy="1280160"/>
          </a:xfrm>
          <a:prstGeom prst="rect">
            <a:avLst/>
          </a:prstGeom>
          <a:solidFill>
            <a:srgbClr val="16304A"/>
          </a:solidFill>
          <a:ln/>
        </p:spPr>
        <p:txBody>
          <a:bodyPr/>
          <a:lstStyle/>
          <a:p>
            <a:endParaRPr lang="en-US"/>
          </a:p>
        </p:txBody>
      </p:sp>
      <p:sp>
        <p:nvSpPr>
          <p:cNvPr id="25" name="Shape 21"/>
          <p:cNvSpPr/>
          <p:nvPr/>
        </p:nvSpPr>
        <p:spPr>
          <a:xfrm>
            <a:off x="548640" y="4663440"/>
            <a:ext cx="3017520" cy="1280160"/>
          </a:xfrm>
          <a:prstGeom prst="rect">
            <a:avLst/>
          </a:prstGeom>
          <a:solidFill>
            <a:srgbClr val="FFB900"/>
          </a:solidFill>
          <a:ln/>
        </p:spPr>
        <p:txBody>
          <a:bodyPr/>
          <a:lstStyle/>
          <a:p>
            <a:endParaRPr lang="en-US"/>
          </a:p>
        </p:txBody>
      </p:sp>
      <p:sp>
        <p:nvSpPr>
          <p:cNvPr id="26" name="Shape 22"/>
          <p:cNvSpPr/>
          <p:nvPr/>
        </p:nvSpPr>
        <p:spPr>
          <a:xfrm>
            <a:off x="777240" y="5010912"/>
            <a:ext cx="585216" cy="585216"/>
          </a:xfrm>
          <a:prstGeom prst="ellipse">
            <a:avLst/>
          </a:prstGeom>
          <a:solidFill>
            <a:srgbClr val="201F1E"/>
          </a:solidFill>
          <a:ln/>
        </p:spPr>
        <p:txBody>
          <a:bodyPr/>
          <a:lstStyle/>
          <a:p>
            <a:endParaRPr lang="en-US"/>
          </a:p>
        </p:txBody>
      </p:sp>
      <p:pic>
        <p:nvPicPr>
          <p:cNvPr id="27" name="Image 2" descr="/agent/turn2/workspace/output/_anthropic_assets/icon-code-2c7ac4d5.png"/>
          <p:cNvPicPr>
            <a:picLocks noChangeAspect="1"/>
          </p:cNvPicPr>
          <p:nvPr/>
        </p:nvPicPr>
        <p:blipFill>
          <a:blip r:embed="rId4"/>
          <a:stretch>
            <a:fillRect/>
          </a:stretch>
        </p:blipFill>
        <p:spPr>
          <a:xfrm>
            <a:off x="905988" y="5139660"/>
            <a:ext cx="327721" cy="327721"/>
          </a:xfrm>
          <a:prstGeom prst="rect">
            <a:avLst/>
          </a:prstGeom>
        </p:spPr>
      </p:pic>
      <p:sp>
        <p:nvSpPr>
          <p:cNvPr id="28" name="Text 23"/>
          <p:cNvSpPr/>
          <p:nvPr/>
        </p:nvSpPr>
        <p:spPr>
          <a:xfrm>
            <a:off x="1508760" y="4663440"/>
            <a:ext cx="1965960" cy="1280160"/>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App developer</a:t>
            </a:r>
            <a:endParaRPr lang="en-US" sz="1600" dirty="0"/>
          </a:p>
        </p:txBody>
      </p:sp>
      <p:sp>
        <p:nvSpPr>
          <p:cNvPr id="29" name="Text 24"/>
          <p:cNvSpPr/>
          <p:nvPr/>
        </p:nvSpPr>
        <p:spPr>
          <a:xfrm>
            <a:off x="3840480" y="4663440"/>
            <a:ext cx="2377440" cy="1280160"/>
          </a:xfrm>
          <a:prstGeom prst="rect">
            <a:avLst/>
          </a:prstGeom>
          <a:noFill/>
          <a:ln/>
        </p:spPr>
        <p:txBody>
          <a:bodyPr wrap="square" lIns="0" tIns="0" rIns="0" bIns="0" rtlCol="0" anchor="ctr"/>
          <a:lstStyle/>
          <a:p>
            <a:pPr marL="0" indent="0">
              <a:buNone/>
            </a:pPr>
            <a:r>
              <a:rPr lang="en-US" sz="2200" dirty="0">
                <a:solidFill>
                  <a:srgbClr val="FFB900"/>
                </a:solidFill>
                <a:latin typeface="Consolas" pitchFamily="34" charset="0"/>
                <a:ea typeface="Consolas" pitchFamily="34" charset="-122"/>
                <a:cs typeface="Consolas" pitchFamily="34" charset="-120"/>
              </a:rPr>
              <a:t>HTTPRoute</a:t>
            </a:r>
            <a:endParaRPr lang="en-US" sz="2200" dirty="0"/>
          </a:p>
        </p:txBody>
      </p:sp>
      <p:sp>
        <p:nvSpPr>
          <p:cNvPr id="30" name="Text 25"/>
          <p:cNvSpPr/>
          <p:nvPr/>
        </p:nvSpPr>
        <p:spPr>
          <a:xfrm>
            <a:off x="6309360" y="4663440"/>
            <a:ext cx="5120640" cy="1280160"/>
          </a:xfrm>
          <a:prstGeom prst="rect">
            <a:avLst/>
          </a:prstGeom>
          <a:noFill/>
          <a:ln/>
        </p:spPr>
        <p:txBody>
          <a:bodyPr wrap="square" lIns="0" tIns="0" rIns="0" bIns="0" rtlCol="0" anchor="ctr"/>
          <a:lstStyle/>
          <a:p>
            <a:pPr marL="0" indent="0">
              <a:buNone/>
            </a:pPr>
            <a:r>
              <a:rPr lang="en-US" sz="1500" dirty="0">
                <a:solidFill>
                  <a:srgbClr val="D0D8E2"/>
                </a:solidFill>
                <a:latin typeface="Segoe UI" pitchFamily="34" charset="0"/>
                <a:ea typeface="Segoe UI" pitchFamily="34" charset="-122"/>
                <a:cs typeface="Segoe UI" pitchFamily="34" charset="-120"/>
              </a:rPr>
              <a:t>Matches paths and headers and sends traffic to Services — owned in the app's namespace.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3">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8A6100"/>
                </a:solidFill>
                <a:latin typeface="Segoe UI Semibold" pitchFamily="34" charset="0"/>
                <a:ea typeface="Segoe UI Semibold" pitchFamily="34" charset="-122"/>
                <a:cs typeface="Segoe UI Semibold" pitchFamily="34" charset="-120"/>
              </a:rPr>
              <a:t>PART 3 · EXPOSING APPS WITH GATEWAY API</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7A0B803E-A146-4F9B-9099-73E2AE76B79F}" type="slidenum">
              <a:rPr lang="en-US" sz="1100">
                <a:solidFill>
                  <a:srgbClr val="605E5C"/>
                </a:solidFill>
                <a:latin typeface="Segoe UI" pitchFamily="34" charset="0"/>
                <a:ea typeface="Segoe UI" pitchFamily="34" charset="-122"/>
                <a:cs typeface="Segoe UI" pitchFamily="34" charset="-120"/>
              </a:rPr>
              <a:t>26</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Gateway and HTTPRoute in Practice</a:t>
            </a:r>
            <a:endParaRPr lang="en-US" sz="3200" dirty="0"/>
          </a:p>
        </p:txBody>
      </p:sp>
      <p:sp>
        <p:nvSpPr>
          <p:cNvPr id="10" name="Shape 8"/>
          <p:cNvSpPr/>
          <p:nvPr/>
        </p:nvSpPr>
        <p:spPr>
          <a:xfrm>
            <a:off x="548640" y="1737360"/>
            <a:ext cx="5440680" cy="4343400"/>
          </a:xfrm>
          <a:prstGeom prst="rect">
            <a:avLst/>
          </a:prstGeom>
          <a:solidFill>
            <a:srgbClr val="1E1E1E"/>
          </a:solidFill>
          <a:ln/>
        </p:spPr>
        <p:txBody>
          <a:bodyPr/>
          <a:lstStyle/>
          <a:p>
            <a:endParaRPr lang="en-US"/>
          </a:p>
        </p:txBody>
      </p:sp>
      <p:sp>
        <p:nvSpPr>
          <p:cNvPr id="11" name="Shape 9"/>
          <p:cNvSpPr/>
          <p:nvPr/>
        </p:nvSpPr>
        <p:spPr>
          <a:xfrm>
            <a:off x="548640" y="1737360"/>
            <a:ext cx="5440680" cy="347472"/>
          </a:xfrm>
          <a:prstGeom prst="rect">
            <a:avLst/>
          </a:prstGeom>
          <a:solidFill>
            <a:srgbClr val="2D2D30"/>
          </a:solidFill>
          <a:ln/>
        </p:spPr>
        <p:txBody>
          <a:bodyPr/>
          <a:lstStyle/>
          <a:p>
            <a:endParaRPr lang="en-US"/>
          </a:p>
        </p:txBody>
      </p:sp>
      <p:sp>
        <p:nvSpPr>
          <p:cNvPr id="12" name="Shape 10"/>
          <p:cNvSpPr/>
          <p:nvPr/>
        </p:nvSpPr>
        <p:spPr>
          <a:xfrm>
            <a:off x="548640" y="1737360"/>
            <a:ext cx="1481328" cy="347472"/>
          </a:xfrm>
          <a:prstGeom prst="rect">
            <a:avLst/>
          </a:prstGeom>
          <a:solidFill>
            <a:srgbClr val="1E1E1E"/>
          </a:solidFill>
          <a:ln/>
        </p:spPr>
        <p:txBody>
          <a:bodyPr/>
          <a:lstStyle/>
          <a:p>
            <a:endParaRPr lang="en-US"/>
          </a:p>
        </p:txBody>
      </p:sp>
      <p:sp>
        <p:nvSpPr>
          <p:cNvPr id="13" name="Text 11"/>
          <p:cNvSpPr/>
          <p:nvPr/>
        </p:nvSpPr>
        <p:spPr>
          <a:xfrm>
            <a:off x="685800" y="1737360"/>
            <a:ext cx="1298448"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gateway.yaml</a:t>
            </a:r>
            <a:endParaRPr lang="en-US" sz="1100" dirty="0"/>
          </a:p>
        </p:txBody>
      </p:sp>
      <p:sp>
        <p:nvSpPr>
          <p:cNvPr id="14" name="Text 12"/>
          <p:cNvSpPr/>
          <p:nvPr/>
        </p:nvSpPr>
        <p:spPr>
          <a:xfrm>
            <a:off x="749808" y="2212848"/>
            <a:ext cx="5074920" cy="3749040"/>
          </a:xfrm>
          <a:prstGeom prst="rect">
            <a:avLst/>
          </a:prstGeom>
          <a:noFill/>
          <a:ln/>
        </p:spPr>
        <p:txBody>
          <a:bodyPr wrap="square" lIns="0" tIns="0" rIns="0" bIns="0" rtlCol="0" anchor="t"/>
          <a:lstStyle/>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apiVersion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gateway.networking.k8s.io/v1</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kind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Gateway</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metadata</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web-gw</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namespace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infra</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gatewayClassName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approuting-istio</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listeners</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http</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protocol</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HTTP</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port</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80</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allowedRoutes</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namespaces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from: All }</a:t>
            </a:r>
            <a:endParaRPr lang="en-US" sz="1250" dirty="0"/>
          </a:p>
        </p:txBody>
      </p:sp>
      <p:sp>
        <p:nvSpPr>
          <p:cNvPr id="15" name="Shape 13"/>
          <p:cNvSpPr/>
          <p:nvPr/>
        </p:nvSpPr>
        <p:spPr>
          <a:xfrm>
            <a:off x="6199632" y="1737360"/>
            <a:ext cx="5440680" cy="4343400"/>
          </a:xfrm>
          <a:prstGeom prst="rect">
            <a:avLst/>
          </a:prstGeom>
          <a:solidFill>
            <a:srgbClr val="1E1E1E"/>
          </a:solidFill>
          <a:ln/>
        </p:spPr>
        <p:txBody>
          <a:bodyPr/>
          <a:lstStyle/>
          <a:p>
            <a:endParaRPr lang="en-US"/>
          </a:p>
        </p:txBody>
      </p:sp>
      <p:sp>
        <p:nvSpPr>
          <p:cNvPr id="16" name="Shape 14"/>
          <p:cNvSpPr/>
          <p:nvPr/>
        </p:nvSpPr>
        <p:spPr>
          <a:xfrm>
            <a:off x="6199632" y="1737360"/>
            <a:ext cx="5440680" cy="347472"/>
          </a:xfrm>
          <a:prstGeom prst="rect">
            <a:avLst/>
          </a:prstGeom>
          <a:solidFill>
            <a:srgbClr val="2D2D30"/>
          </a:solidFill>
          <a:ln/>
        </p:spPr>
        <p:txBody>
          <a:bodyPr/>
          <a:lstStyle/>
          <a:p>
            <a:endParaRPr lang="en-US"/>
          </a:p>
        </p:txBody>
      </p:sp>
      <p:sp>
        <p:nvSpPr>
          <p:cNvPr id="17" name="Shape 15"/>
          <p:cNvSpPr/>
          <p:nvPr/>
        </p:nvSpPr>
        <p:spPr>
          <a:xfrm>
            <a:off x="6199632" y="1737360"/>
            <a:ext cx="1636776" cy="347472"/>
          </a:xfrm>
          <a:prstGeom prst="rect">
            <a:avLst/>
          </a:prstGeom>
          <a:solidFill>
            <a:srgbClr val="1E1E1E"/>
          </a:solidFill>
          <a:ln/>
        </p:spPr>
        <p:txBody>
          <a:bodyPr/>
          <a:lstStyle/>
          <a:p>
            <a:endParaRPr lang="en-US"/>
          </a:p>
        </p:txBody>
      </p:sp>
      <p:sp>
        <p:nvSpPr>
          <p:cNvPr id="18" name="Text 16"/>
          <p:cNvSpPr/>
          <p:nvPr/>
        </p:nvSpPr>
        <p:spPr>
          <a:xfrm>
            <a:off x="6336792" y="1737360"/>
            <a:ext cx="145389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httproute.yaml</a:t>
            </a:r>
            <a:endParaRPr lang="en-US" sz="1100" dirty="0"/>
          </a:p>
        </p:txBody>
      </p:sp>
      <p:sp>
        <p:nvSpPr>
          <p:cNvPr id="19" name="Text 17"/>
          <p:cNvSpPr/>
          <p:nvPr/>
        </p:nvSpPr>
        <p:spPr>
          <a:xfrm>
            <a:off x="6400800" y="2212848"/>
            <a:ext cx="5074920" cy="3749040"/>
          </a:xfrm>
          <a:prstGeom prst="rect">
            <a:avLst/>
          </a:prstGeom>
          <a:noFill/>
          <a:ln/>
        </p:spPr>
        <p:txBody>
          <a:bodyPr wrap="square" lIns="0" tIns="0" rIns="0" bIns="0" rtlCol="0" anchor="t"/>
          <a:lstStyle/>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apiVersion</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gateway.networking.k8s.io/v1</a:t>
            </a:r>
            <a:endParaRPr lang="en-US" sz="1200" dirty="0"/>
          </a:p>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kind</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HTTPRoute</a:t>
            </a:r>
            <a:endParaRPr lang="en-US" sz="1200" dirty="0"/>
          </a:p>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metadata</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name</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store</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namespace</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shop</a:t>
            </a:r>
            <a:endParaRPr lang="en-US" sz="1200" dirty="0"/>
          </a:p>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spec</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parentRefs</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 </a:t>
            </a:r>
            <a:r>
              <a:rPr lang="en-US" sz="1200" dirty="0">
                <a:solidFill>
                  <a:srgbClr val="9CDCFE"/>
                </a:solidFill>
                <a:latin typeface="Consolas" pitchFamily="34" charset="0"/>
                <a:ea typeface="Consolas" pitchFamily="34" charset="-122"/>
                <a:cs typeface="Consolas" pitchFamily="34" charset="-120"/>
              </a:rPr>
              <a:t>name</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web-gw</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namespace</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infra</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hostnames</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["store.contoso.com"]</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rules</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 </a:t>
            </a:r>
            <a:r>
              <a:rPr lang="en-US" sz="1200" dirty="0">
                <a:solidFill>
                  <a:srgbClr val="9CDCFE"/>
                </a:solidFill>
                <a:latin typeface="Consolas" pitchFamily="34" charset="0"/>
                <a:ea typeface="Consolas" pitchFamily="34" charset="-122"/>
                <a:cs typeface="Consolas" pitchFamily="34" charset="-120"/>
              </a:rPr>
              <a:t>matches</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 path: { type: PathPrefix, value: /api } }]</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backendRefs</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 name: store-api, port: 8080 }]</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8A6100"/>
                </a:solidFill>
                <a:latin typeface="Segoe UI Semibold" pitchFamily="34" charset="0"/>
                <a:ea typeface="Segoe UI Semibold" pitchFamily="34" charset="-122"/>
                <a:cs typeface="Segoe UI Semibold" pitchFamily="34" charset="-120"/>
              </a:rPr>
              <a:t>PART 3 · EXPOSING APPS WITH GATEWAY API</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A583B0B6-4AE5-4937-B326-C3AB24EE808A}" type="slidenum">
              <a:rPr lang="en-US" sz="1100">
                <a:solidFill>
                  <a:srgbClr val="605E5C"/>
                </a:solidFill>
                <a:latin typeface="Segoe UI" pitchFamily="34" charset="0"/>
                <a:ea typeface="Segoe UI" pitchFamily="34" charset="-122"/>
                <a:cs typeface="Segoe UI" pitchFamily="34" charset="-120"/>
              </a:rPr>
              <a:t>27</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Reading Gateway and Route Status</a:t>
            </a:r>
            <a:endParaRPr lang="en-US" sz="3200" dirty="0"/>
          </a:p>
        </p:txBody>
      </p:sp>
      <p:sp>
        <p:nvSpPr>
          <p:cNvPr id="10" name="Shape 8"/>
          <p:cNvSpPr/>
          <p:nvPr/>
        </p:nvSpPr>
        <p:spPr>
          <a:xfrm>
            <a:off x="548640" y="1737360"/>
            <a:ext cx="6035040" cy="1645920"/>
          </a:xfrm>
          <a:prstGeom prst="rect">
            <a:avLst/>
          </a:prstGeom>
          <a:solidFill>
            <a:srgbClr val="1E1E1E"/>
          </a:solidFill>
          <a:ln/>
        </p:spPr>
        <p:txBody>
          <a:bodyPr/>
          <a:lstStyle/>
          <a:p>
            <a:endParaRPr lang="en-US"/>
          </a:p>
        </p:txBody>
      </p:sp>
      <p:sp>
        <p:nvSpPr>
          <p:cNvPr id="11" name="Shape 9"/>
          <p:cNvSpPr/>
          <p:nvPr/>
        </p:nvSpPr>
        <p:spPr>
          <a:xfrm>
            <a:off x="548640" y="1737360"/>
            <a:ext cx="6035040" cy="347472"/>
          </a:xfrm>
          <a:prstGeom prst="rect">
            <a:avLst/>
          </a:prstGeom>
          <a:solidFill>
            <a:srgbClr val="2D2D30"/>
          </a:solidFill>
          <a:ln/>
        </p:spPr>
        <p:txBody>
          <a:bodyPr anchor="t"/>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14" name="Text 12"/>
          <p:cNvSpPr/>
          <p:nvPr/>
        </p:nvSpPr>
        <p:spPr>
          <a:xfrm>
            <a:off x="749808" y="2212848"/>
            <a:ext cx="5669280" cy="1051560"/>
          </a:xfrm>
          <a:prstGeom prst="rect">
            <a:avLst/>
          </a:prstGeom>
          <a:noFill/>
          <a:ln/>
        </p:spPr>
        <p:txBody>
          <a:bodyPr wrap="square" lIns="0" tIns="0" rIns="0" bIns="0" rtlCol="0" anchor="t"/>
          <a:lstStyle/>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get gateway -A</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describe gateway web-gw -n infra</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get httproute store -n shop -o yaml</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6035040" cy="2426208"/>
        </p:xfrm>
        <a:graphic>
          <a:graphicData uri="http://schemas.openxmlformats.org/drawingml/2006/table">
            <a:tbl>
              <a:tblPr/>
              <a:tblGrid>
                <a:gridCol w="14630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75488">
                <a:tc>
                  <a:txBody>
                    <a:bodyPr/>
                    <a:lstStyle/>
                    <a:p>
                      <a:pPr marL="0" indent="0">
                        <a:buNone/>
                      </a:pPr>
                      <a:r>
                        <a:rPr lang="en-US" sz="1300" b="1" dirty="0">
                          <a:solidFill>
                            <a:srgbClr val="201F1E"/>
                          </a:solidFill>
                          <a:latin typeface="Segoe UI Semibold" pitchFamily="34" charset="0"/>
                          <a:ea typeface="Segoe UI Semibold" pitchFamily="34" charset="-122"/>
                          <a:cs typeface="Segoe UI Semibold" pitchFamily="34" charset="-120"/>
                        </a:rPr>
                        <a:t>Resource</a:t>
                      </a:r>
                      <a:endParaRPr lang="en-US" sz="13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B900"/>
                    </a:solidFill>
                  </a:tcPr>
                </a:tc>
                <a:tc>
                  <a:txBody>
                    <a:bodyPr/>
                    <a:lstStyle/>
                    <a:p>
                      <a:pPr marL="0" indent="0">
                        <a:buNone/>
                      </a:pPr>
                      <a:r>
                        <a:rPr lang="en-US" sz="1300" b="1" dirty="0">
                          <a:solidFill>
                            <a:srgbClr val="201F1E"/>
                          </a:solidFill>
                          <a:latin typeface="Segoe UI Semibold" pitchFamily="34" charset="0"/>
                          <a:ea typeface="Segoe UI Semibold" pitchFamily="34" charset="-122"/>
                          <a:cs typeface="Segoe UI Semibold" pitchFamily="34" charset="-120"/>
                        </a:rPr>
                        <a:t>Condition</a:t>
                      </a:r>
                      <a:endParaRPr lang="en-US" sz="13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B900"/>
                    </a:solidFill>
                  </a:tcPr>
                </a:tc>
                <a:tc>
                  <a:txBody>
                    <a:bodyPr/>
                    <a:lstStyle/>
                    <a:p>
                      <a:pPr marL="0" indent="0">
                        <a:buNone/>
                      </a:pPr>
                      <a:r>
                        <a:rPr lang="en-US" sz="1300" b="1" dirty="0">
                          <a:solidFill>
                            <a:srgbClr val="201F1E"/>
                          </a:solidFill>
                          <a:latin typeface="Segoe UI Semibold" pitchFamily="34" charset="0"/>
                          <a:ea typeface="Segoe UI Semibold" pitchFamily="34" charset="-122"/>
                          <a:cs typeface="Segoe UI Semibold" pitchFamily="34" charset="-120"/>
                        </a:rPr>
                        <a:t>Meaning when True</a:t>
                      </a:r>
                      <a:endParaRPr lang="en-US" sz="13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B900"/>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rgbClr val="323130"/>
                          </a:solidFill>
                          <a:latin typeface="Segoe UI" pitchFamily="34" charset="0"/>
                          <a:ea typeface="Segoe UI" pitchFamily="34" charset="-122"/>
                          <a:cs typeface="Segoe UI" pitchFamily="34" charset="-120"/>
                        </a:rPr>
                        <a:t>Gateway</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300" dirty="0">
                          <a:solidFill>
                            <a:srgbClr val="0F6CBD"/>
                          </a:solidFill>
                          <a:latin typeface="Consolas" pitchFamily="34" charset="0"/>
                          <a:ea typeface="Consolas" pitchFamily="34" charset="-122"/>
                          <a:cs typeface="Consolas" pitchFamily="34" charset="-120"/>
                        </a:rPr>
                        <a:t>Accepted</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300" dirty="0">
                          <a:solidFill>
                            <a:srgbClr val="323130"/>
                          </a:solidFill>
                          <a:latin typeface="Segoe UI" pitchFamily="34" charset="0"/>
                          <a:ea typeface="Segoe UI" pitchFamily="34" charset="-122"/>
                          <a:cs typeface="Segoe UI" pitchFamily="34" charset="-120"/>
                        </a:rPr>
                        <a:t>Controller accepted the config</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dirty="0">
                          <a:solidFill>
                            <a:srgbClr val="323130"/>
                          </a:solidFill>
                          <a:latin typeface="Segoe UI" pitchFamily="34" charset="0"/>
                          <a:ea typeface="Segoe UI" pitchFamily="34" charset="-122"/>
                          <a:cs typeface="Segoe UI" pitchFamily="34" charset="-120"/>
                        </a:rPr>
                        <a:t>Gateway</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300" dirty="0">
                          <a:solidFill>
                            <a:srgbClr val="0F6CBD"/>
                          </a:solidFill>
                          <a:latin typeface="Consolas" pitchFamily="34" charset="0"/>
                          <a:ea typeface="Consolas" pitchFamily="34" charset="-122"/>
                          <a:cs typeface="Consolas" pitchFamily="34" charset="-120"/>
                        </a:rPr>
                        <a:t>Programmed</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300" dirty="0">
                          <a:solidFill>
                            <a:srgbClr val="323130"/>
                          </a:solidFill>
                          <a:latin typeface="Segoe UI" pitchFamily="34" charset="0"/>
                          <a:ea typeface="Segoe UI" pitchFamily="34" charset="-122"/>
                          <a:cs typeface="Segoe UI" pitchFamily="34" charset="-120"/>
                        </a:rPr>
                        <a:t>Data plane ready; address assigned</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extLst>
                  <a:ext uri="{0D108BD9-81ED-4DB2-BD59-A6C34878D82A}">
                    <a16:rowId xmlns:a16="http://schemas.microsoft.com/office/drawing/2014/main" val="10002"/>
                  </a:ext>
                </a:extLst>
              </a:tr>
              <a:tr h="475488">
                <a:tc>
                  <a:txBody>
                    <a:bodyPr/>
                    <a:lstStyle/>
                    <a:p>
                      <a:pPr marL="0" indent="0">
                        <a:buNone/>
                      </a:pPr>
                      <a:r>
                        <a:rPr lang="en-US" sz="1300" dirty="0">
                          <a:solidFill>
                            <a:srgbClr val="323130"/>
                          </a:solidFill>
                          <a:latin typeface="Segoe UI" pitchFamily="34" charset="0"/>
                          <a:ea typeface="Segoe UI" pitchFamily="34" charset="-122"/>
                          <a:cs typeface="Segoe UI" pitchFamily="34" charset="-120"/>
                        </a:rPr>
                        <a:t>HTTPRoute</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300" dirty="0">
                          <a:solidFill>
                            <a:srgbClr val="0F6CBD"/>
                          </a:solidFill>
                          <a:latin typeface="Consolas" pitchFamily="34" charset="0"/>
                          <a:ea typeface="Consolas" pitchFamily="34" charset="-122"/>
                          <a:cs typeface="Consolas" pitchFamily="34" charset="-120"/>
                        </a:rPr>
                        <a:t>Accepted</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300" dirty="0">
                          <a:solidFill>
                            <a:srgbClr val="323130"/>
                          </a:solidFill>
                          <a:latin typeface="Segoe UI" pitchFamily="34" charset="0"/>
                          <a:ea typeface="Segoe UI" pitchFamily="34" charset="-122"/>
                          <a:cs typeface="Segoe UI" pitchFamily="34" charset="-120"/>
                        </a:rPr>
                        <a:t>Route attached to its parent Gateway</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dirty="0">
                          <a:solidFill>
                            <a:srgbClr val="323130"/>
                          </a:solidFill>
                          <a:latin typeface="Segoe UI" pitchFamily="34" charset="0"/>
                          <a:ea typeface="Segoe UI" pitchFamily="34" charset="-122"/>
                          <a:cs typeface="Segoe UI" pitchFamily="34" charset="-120"/>
                        </a:rPr>
                        <a:t>HTTPRoute</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300" dirty="0">
                          <a:solidFill>
                            <a:srgbClr val="0F6CBD"/>
                          </a:solidFill>
                          <a:latin typeface="Consolas" pitchFamily="34" charset="0"/>
                          <a:ea typeface="Consolas" pitchFamily="34" charset="-122"/>
                          <a:cs typeface="Consolas" pitchFamily="34" charset="-120"/>
                        </a:rPr>
                        <a:t>ResolvedRefs</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300" dirty="0">
                          <a:solidFill>
                            <a:srgbClr val="323130"/>
                          </a:solidFill>
                          <a:latin typeface="Segoe UI" pitchFamily="34" charset="0"/>
                          <a:ea typeface="Segoe UI" pitchFamily="34" charset="-122"/>
                          <a:cs typeface="Segoe UI" pitchFamily="34" charset="-120"/>
                        </a:rPr>
                        <a:t>All backend Services were found</a:t>
                      </a:r>
                      <a:endParaRPr lang="en-US" sz="13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extLst>
                  <a:ext uri="{0D108BD9-81ED-4DB2-BD59-A6C34878D82A}">
                    <a16:rowId xmlns:a16="http://schemas.microsoft.com/office/drawing/2014/main" val="10004"/>
                  </a:ext>
                </a:extLst>
              </a:tr>
            </a:tbl>
          </a:graphicData>
        </a:graphic>
      </p:graphicFrame>
      <p:sp>
        <p:nvSpPr>
          <p:cNvPr id="16" name="Shape 13"/>
          <p:cNvSpPr/>
          <p:nvPr/>
        </p:nvSpPr>
        <p:spPr>
          <a:xfrm>
            <a:off x="6858000" y="1737360"/>
            <a:ext cx="4782312" cy="1325880"/>
          </a:xfrm>
          <a:prstGeom prst="rect">
            <a:avLst/>
          </a:prstGeom>
          <a:solidFill>
            <a:srgbClr val="FFF4CE"/>
          </a:solidFill>
          <a:ln/>
        </p:spPr>
        <p:txBody>
          <a:bodyPr/>
          <a:lstStyle/>
          <a:p>
            <a:endParaRPr lang="en-US"/>
          </a:p>
        </p:txBody>
      </p:sp>
      <p:sp>
        <p:nvSpPr>
          <p:cNvPr id="17" name="Shape 14"/>
          <p:cNvSpPr/>
          <p:nvPr/>
        </p:nvSpPr>
        <p:spPr>
          <a:xfrm>
            <a:off x="7086600" y="1965960"/>
            <a:ext cx="502920" cy="502920"/>
          </a:xfrm>
          <a:prstGeom prst="ellipse">
            <a:avLst/>
          </a:prstGeom>
          <a:solidFill>
            <a:srgbClr val="201F1E"/>
          </a:solidFill>
          <a:ln/>
        </p:spPr>
        <p:txBody>
          <a:bodyPr anchor="t"/>
          <a:lstStyle/>
          <a:p>
            <a:endParaRPr lang="en-US"/>
          </a:p>
        </p:txBody>
      </p:sp>
      <p:pic>
        <p:nvPicPr>
          <p:cNvPr id="18" name="Image 0" descr="/agent/turn2/workspace/output/_anthropic_assets/icon-search-5b67a595.png"/>
          <p:cNvPicPr>
            <a:picLocks noChangeAspect="1"/>
          </p:cNvPicPr>
          <p:nvPr/>
        </p:nvPicPr>
        <p:blipFill>
          <a:blip r:embed="rId2"/>
          <a:stretch>
            <a:fillRect/>
          </a:stretch>
        </p:blipFill>
        <p:spPr>
          <a:xfrm>
            <a:off x="7197242" y="2076602"/>
            <a:ext cx="281635" cy="281635"/>
          </a:xfrm>
          <a:prstGeom prst="rect">
            <a:avLst/>
          </a:prstGeom>
        </p:spPr>
      </p:pic>
      <p:sp>
        <p:nvSpPr>
          <p:cNvPr id="19" name="Text 15"/>
          <p:cNvSpPr/>
          <p:nvPr/>
        </p:nvSpPr>
        <p:spPr>
          <a:xfrm>
            <a:off x="7818120" y="1920240"/>
            <a:ext cx="363931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Route not attached?</a:t>
            </a:r>
            <a:endParaRPr lang="en-US" sz="1600" dirty="0"/>
          </a:p>
        </p:txBody>
      </p:sp>
      <p:sp>
        <p:nvSpPr>
          <p:cNvPr id="20" name="Text 16"/>
          <p:cNvSpPr/>
          <p:nvPr/>
        </p:nvSpPr>
        <p:spPr>
          <a:xfrm>
            <a:off x="7818120" y="2331720"/>
            <a:ext cx="3639312" cy="5943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Check </a:t>
            </a:r>
            <a:r>
              <a:rPr lang="en-US" sz="1400" dirty="0">
                <a:solidFill>
                  <a:srgbClr val="0F6CBD"/>
                </a:solidFill>
                <a:latin typeface="Consolas" pitchFamily="34" charset="0"/>
                <a:ea typeface="Consolas" pitchFamily="34" charset="-122"/>
                <a:cs typeface="Consolas" pitchFamily="34" charset="-120"/>
              </a:rPr>
              <a:t>parentRefs</a:t>
            </a:r>
            <a:r>
              <a:rPr lang="en-US" sz="1400" dirty="0">
                <a:solidFill>
                  <a:srgbClr val="323130"/>
                </a:solidFill>
                <a:latin typeface="Segoe UI" pitchFamily="34" charset="0"/>
                <a:ea typeface="Segoe UI" pitchFamily="34" charset="-122"/>
                <a:cs typeface="Segoe UI" pitchFamily="34" charset="-120"/>
              </a:rPr>
              <a:t> and the Gateway's </a:t>
            </a:r>
            <a:r>
              <a:rPr lang="en-US" sz="1400" dirty="0">
                <a:solidFill>
                  <a:srgbClr val="0F6CBD"/>
                </a:solidFill>
                <a:latin typeface="Consolas" pitchFamily="34" charset="0"/>
                <a:ea typeface="Consolas" pitchFamily="34" charset="-122"/>
                <a:cs typeface="Consolas" pitchFamily="34" charset="-120"/>
              </a:rPr>
              <a:t>allowedRoutes</a:t>
            </a:r>
            <a:r>
              <a:rPr lang="en-US" sz="1400" dirty="0">
                <a:solidFill>
                  <a:srgbClr val="323130"/>
                </a:solidFill>
                <a:latin typeface="Segoe UI" pitchFamily="34" charset="0"/>
                <a:ea typeface="Segoe UI" pitchFamily="34" charset="-122"/>
                <a:cs typeface="Segoe UI" pitchFamily="34" charset="-120"/>
              </a:rPr>
              <a:t> namespace rules.</a:t>
            </a:r>
            <a:endParaRPr lang="en-US" sz="1400" dirty="0"/>
          </a:p>
        </p:txBody>
      </p:sp>
      <p:sp>
        <p:nvSpPr>
          <p:cNvPr id="21" name="Shape 17"/>
          <p:cNvSpPr/>
          <p:nvPr/>
        </p:nvSpPr>
        <p:spPr>
          <a:xfrm>
            <a:off x="6858000" y="3246120"/>
            <a:ext cx="4782312" cy="1325880"/>
          </a:xfrm>
          <a:prstGeom prst="rect">
            <a:avLst/>
          </a:prstGeom>
          <a:solidFill>
            <a:srgbClr val="FFF4CE"/>
          </a:solidFill>
          <a:ln/>
        </p:spPr>
        <p:txBody>
          <a:bodyPr/>
          <a:lstStyle/>
          <a:p>
            <a:endParaRPr lang="en-US"/>
          </a:p>
        </p:txBody>
      </p:sp>
      <p:sp>
        <p:nvSpPr>
          <p:cNvPr id="22" name="Shape 18"/>
          <p:cNvSpPr/>
          <p:nvPr/>
        </p:nvSpPr>
        <p:spPr>
          <a:xfrm>
            <a:off x="7086600" y="3474720"/>
            <a:ext cx="502920" cy="502920"/>
          </a:xfrm>
          <a:prstGeom prst="ellipse">
            <a:avLst/>
          </a:prstGeom>
          <a:solidFill>
            <a:srgbClr val="201F1E"/>
          </a:solidFill>
          <a:ln/>
        </p:spPr>
        <p:txBody>
          <a:bodyPr/>
          <a:lstStyle/>
          <a:p>
            <a:endParaRPr lang="en-US"/>
          </a:p>
        </p:txBody>
      </p:sp>
      <p:pic>
        <p:nvPicPr>
          <p:cNvPr id="23" name="Image 1" descr="/agent/turn2/workspace/output/_anthropic_assets/icon-warning-adbe1e7c.png"/>
          <p:cNvPicPr>
            <a:picLocks noChangeAspect="1"/>
          </p:cNvPicPr>
          <p:nvPr/>
        </p:nvPicPr>
        <p:blipFill>
          <a:blip r:embed="rId3"/>
          <a:stretch>
            <a:fillRect/>
          </a:stretch>
        </p:blipFill>
        <p:spPr>
          <a:xfrm>
            <a:off x="7197242" y="3585362"/>
            <a:ext cx="281635" cy="281635"/>
          </a:xfrm>
          <a:prstGeom prst="rect">
            <a:avLst/>
          </a:prstGeom>
        </p:spPr>
      </p:pic>
      <p:sp>
        <p:nvSpPr>
          <p:cNvPr id="24" name="Text 19"/>
          <p:cNvSpPr/>
          <p:nvPr/>
        </p:nvSpPr>
        <p:spPr>
          <a:xfrm>
            <a:off x="7818120" y="3429000"/>
            <a:ext cx="363931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No address?</a:t>
            </a:r>
            <a:endParaRPr lang="en-US" sz="1600" dirty="0"/>
          </a:p>
        </p:txBody>
      </p:sp>
      <p:sp>
        <p:nvSpPr>
          <p:cNvPr id="25" name="Text 20"/>
          <p:cNvSpPr/>
          <p:nvPr/>
        </p:nvSpPr>
        <p:spPr>
          <a:xfrm>
            <a:off x="7818120" y="3840480"/>
            <a:ext cx="3639312" cy="594360"/>
          </a:xfrm>
          <a:prstGeom prst="rect">
            <a:avLst/>
          </a:prstGeom>
          <a:noFill/>
          <a:ln/>
        </p:spPr>
        <p:txBody>
          <a:bodyPr wrap="square" lIns="0" tIns="0" rIns="0" bIns="0" rtlCol="0"/>
          <a:lstStyle/>
          <a:p>
            <a:pPr marL="0" indent="0">
              <a:buNone/>
            </a:pPr>
            <a:r>
              <a:rPr lang="en-US" sz="1400" dirty="0">
                <a:solidFill>
                  <a:srgbClr val="323130"/>
                </a:solidFill>
                <a:latin typeface="Segoe UI" pitchFamily="34" charset="0"/>
                <a:ea typeface="Segoe UI" pitchFamily="34" charset="-122"/>
                <a:cs typeface="Segoe UI" pitchFamily="34" charset="-120"/>
              </a:rPr>
              <a:t>Gateway not </a:t>
            </a:r>
            <a:r>
              <a:rPr lang="en-US" sz="1400" dirty="0">
                <a:solidFill>
                  <a:srgbClr val="0F6CBD"/>
                </a:solidFill>
                <a:latin typeface="Consolas" pitchFamily="34" charset="0"/>
                <a:ea typeface="Consolas" pitchFamily="34" charset="-122"/>
                <a:cs typeface="Consolas" pitchFamily="34" charset="-120"/>
              </a:rPr>
              <a:t>Programmed</a:t>
            </a:r>
            <a:r>
              <a:rPr lang="en-US" sz="1400" dirty="0">
                <a:solidFill>
                  <a:srgbClr val="323130"/>
                </a:solidFill>
                <a:latin typeface="Segoe UI" pitchFamily="34" charset="0"/>
                <a:ea typeface="Segoe UI" pitchFamily="34" charset="-122"/>
                <a:cs typeface="Segoe UI" pitchFamily="34" charset="-120"/>
              </a:rPr>
              <a:t> yet — inspect controller events.</a:t>
            </a:r>
            <a:endParaRPr lang="en-US" sz="1400" dirty="0"/>
          </a:p>
        </p:txBody>
      </p:sp>
      <p:sp>
        <p:nvSpPr>
          <p:cNvPr id="26" name="Shape 21"/>
          <p:cNvSpPr/>
          <p:nvPr/>
        </p:nvSpPr>
        <p:spPr>
          <a:xfrm>
            <a:off x="6858000" y="4754880"/>
            <a:ext cx="4782312" cy="1325880"/>
          </a:xfrm>
          <a:prstGeom prst="rect">
            <a:avLst/>
          </a:prstGeom>
          <a:solidFill>
            <a:srgbClr val="FFF4CE"/>
          </a:solidFill>
          <a:ln/>
        </p:spPr>
        <p:txBody>
          <a:bodyPr/>
          <a:lstStyle/>
          <a:p>
            <a:endParaRPr lang="en-US"/>
          </a:p>
        </p:txBody>
      </p:sp>
      <p:sp>
        <p:nvSpPr>
          <p:cNvPr id="27" name="Shape 22"/>
          <p:cNvSpPr/>
          <p:nvPr/>
        </p:nvSpPr>
        <p:spPr>
          <a:xfrm>
            <a:off x="7086600" y="4983480"/>
            <a:ext cx="502920" cy="502920"/>
          </a:xfrm>
          <a:prstGeom prst="ellipse">
            <a:avLst/>
          </a:prstGeom>
          <a:solidFill>
            <a:srgbClr val="201F1E"/>
          </a:solidFill>
          <a:ln/>
        </p:spPr>
        <p:txBody>
          <a:bodyPr/>
          <a:lstStyle/>
          <a:p>
            <a:endParaRPr lang="en-US"/>
          </a:p>
        </p:txBody>
      </p:sp>
      <p:pic>
        <p:nvPicPr>
          <p:cNvPr id="28" name="Image 2" descr="/agent/turn2/workspace/output/_anthropic_assets/icon-server-e8a10e40.png"/>
          <p:cNvPicPr>
            <a:picLocks noChangeAspect="1"/>
          </p:cNvPicPr>
          <p:nvPr/>
        </p:nvPicPr>
        <p:blipFill>
          <a:blip r:embed="rId4"/>
          <a:stretch>
            <a:fillRect/>
          </a:stretch>
        </p:blipFill>
        <p:spPr>
          <a:xfrm>
            <a:off x="7197242" y="5094122"/>
            <a:ext cx="281635" cy="281635"/>
          </a:xfrm>
          <a:prstGeom prst="rect">
            <a:avLst/>
          </a:prstGeom>
        </p:spPr>
      </p:pic>
      <p:sp>
        <p:nvSpPr>
          <p:cNvPr id="29" name="Text 23"/>
          <p:cNvSpPr/>
          <p:nvPr/>
        </p:nvSpPr>
        <p:spPr>
          <a:xfrm>
            <a:off x="7818120" y="4937760"/>
            <a:ext cx="363931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503 from backend?</a:t>
            </a:r>
            <a:endParaRPr lang="en-US" sz="1600" dirty="0"/>
          </a:p>
        </p:txBody>
      </p:sp>
      <p:sp>
        <p:nvSpPr>
          <p:cNvPr id="30" name="Text 24"/>
          <p:cNvSpPr/>
          <p:nvPr/>
        </p:nvSpPr>
        <p:spPr>
          <a:xfrm>
            <a:off x="7818120" y="5349240"/>
            <a:ext cx="3639312" cy="594360"/>
          </a:xfrm>
          <a:prstGeom prst="rect">
            <a:avLst/>
          </a:prstGeom>
          <a:noFill/>
          <a:ln/>
        </p:spPr>
        <p:txBody>
          <a:bodyPr wrap="square" lIns="0" tIns="0" rIns="0" bIns="0" rtlCol="0"/>
          <a:lstStyle/>
          <a:p>
            <a:pPr marL="0" indent="0">
              <a:buNone/>
            </a:pPr>
            <a:r>
              <a:rPr lang="en-US" sz="1400" dirty="0">
                <a:solidFill>
                  <a:srgbClr val="0F6CBD"/>
                </a:solidFill>
                <a:latin typeface="Consolas" pitchFamily="34" charset="0"/>
                <a:ea typeface="Consolas" pitchFamily="34" charset="-122"/>
                <a:cs typeface="Consolas" pitchFamily="34" charset="-120"/>
              </a:rPr>
              <a:t>ResolvedRefs</a:t>
            </a:r>
            <a:r>
              <a:rPr lang="en-US" sz="1400" dirty="0">
                <a:solidFill>
                  <a:srgbClr val="323130"/>
                </a:solidFill>
                <a:latin typeface="Segoe UI" pitchFamily="34" charset="0"/>
                <a:ea typeface="Segoe UI" pitchFamily="34" charset="-122"/>
                <a:cs typeface="Segoe UI" pitchFamily="34" charset="-120"/>
              </a:rPr>
              <a:t> False: wrong Service name or port.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5">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nchor="t"/>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FFB900"/>
                </a:solidFill>
                <a:latin typeface="Segoe UI Semibold" pitchFamily="34" charset="0"/>
                <a:ea typeface="Segoe UI Semibold" pitchFamily="34" charset="-122"/>
                <a:cs typeface="Segoe UI Semibold" pitchFamily="34" charset="-120"/>
              </a:rPr>
              <a:t>PART 3 · EXPOSING APPS WITH GATEWAY API</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F09C76C2-F593-4435-BAF9-39A702672890}" type="slidenum">
              <a:rPr lang="en-US" sz="1100">
                <a:solidFill>
                  <a:srgbClr val="A9B8C8"/>
                </a:solidFill>
                <a:latin typeface="Segoe UI" pitchFamily="34" charset="0"/>
                <a:ea typeface="Segoe UI" pitchFamily="34" charset="-122"/>
                <a:cs typeface="Segoe UI" pitchFamily="34" charset="-120"/>
              </a:rPr>
              <a:t>28</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Testing Without DNS</a:t>
            </a:r>
            <a:endParaRPr lang="en-US" sz="3200" dirty="0"/>
          </a:p>
        </p:txBody>
      </p:sp>
      <p:sp>
        <p:nvSpPr>
          <p:cNvPr id="10" name="Shape 8"/>
          <p:cNvSpPr/>
          <p:nvPr/>
        </p:nvSpPr>
        <p:spPr>
          <a:xfrm>
            <a:off x="548640" y="1737360"/>
            <a:ext cx="11091672" cy="3017520"/>
          </a:xfrm>
          <a:prstGeom prst="rect">
            <a:avLst/>
          </a:prstGeom>
          <a:solidFill>
            <a:srgbClr val="1E1E1E"/>
          </a:solidFill>
          <a:ln/>
        </p:spPr>
        <p:txBody>
          <a:bodyPr/>
          <a:lstStyle/>
          <a:p>
            <a:endParaRPr lang="en-US"/>
          </a:p>
        </p:txBody>
      </p:sp>
      <p:sp>
        <p:nvSpPr>
          <p:cNvPr id="11" name="Shape 9"/>
          <p:cNvSpPr/>
          <p:nvPr/>
        </p:nvSpPr>
        <p:spPr>
          <a:xfrm>
            <a:off x="548640" y="1737360"/>
            <a:ext cx="11091672" cy="347472"/>
          </a:xfrm>
          <a:prstGeom prst="rect">
            <a:avLst/>
          </a:prstGeom>
          <a:solidFill>
            <a:srgbClr val="2D2D30"/>
          </a:solidFill>
          <a:ln/>
        </p:spPr>
        <p:txBody>
          <a:bodyPr/>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14" name="Text 12"/>
          <p:cNvSpPr/>
          <p:nvPr/>
        </p:nvSpPr>
        <p:spPr>
          <a:xfrm>
            <a:off x="749808" y="2212848"/>
            <a:ext cx="10725912" cy="2423160"/>
          </a:xfrm>
          <a:prstGeom prst="rect">
            <a:avLst/>
          </a:prstGeom>
          <a:noFill/>
          <a:ln/>
        </p:spPr>
        <p:txBody>
          <a:bodyPr wrap="square" lIns="0" tIns="0" rIns="0" bIns="0" rtlCol="0" anchor="t"/>
          <a:lstStyle/>
          <a:p>
            <a:pPr marL="0" indent="0">
              <a:lnSpc>
                <a:spcPct val="105000"/>
              </a:lnSpc>
              <a:buNone/>
            </a:pPr>
            <a:r>
              <a:rPr lang="en-US" sz="1400" dirty="0">
                <a:solidFill>
                  <a:srgbClr val="6A9955"/>
                </a:solidFill>
                <a:latin typeface="Consolas" pitchFamily="34" charset="0"/>
                <a:ea typeface="Consolas" pitchFamily="34" charset="-122"/>
                <a:cs typeface="Consolas" pitchFamily="34" charset="-120"/>
              </a:rPr>
              <a:t># 1. Get the Gateway address</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IP=$(kubectl</a:t>
            </a:r>
            <a:r>
              <a:rPr lang="en-US" sz="1400" dirty="0">
                <a:solidFill>
                  <a:srgbClr val="D4D4D4"/>
                </a:solidFill>
                <a:latin typeface="Consolas" pitchFamily="34" charset="0"/>
                <a:ea typeface="Consolas" pitchFamily="34" charset="-122"/>
                <a:cs typeface="Consolas" pitchFamily="34" charset="-120"/>
              </a:rPr>
              <a:t> get gateway web-gw -n infra -o jsonpath='{.status.addresses[0].value}')</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marL="0" indent="0">
              <a:lnSpc>
                <a:spcPct val="105000"/>
              </a:lnSpc>
              <a:buNone/>
            </a:pPr>
            <a:r>
              <a:rPr lang="en-US" sz="1400" dirty="0">
                <a:solidFill>
                  <a:srgbClr val="6A9955"/>
                </a:solidFill>
                <a:latin typeface="Consolas" pitchFamily="34" charset="0"/>
                <a:ea typeface="Consolas" pitchFamily="34" charset="-122"/>
                <a:cs typeface="Consolas" pitchFamily="34" charset="-120"/>
              </a:rPr>
              <a:t># 2. Send the Host header the route expects</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curl</a:t>
            </a:r>
            <a:r>
              <a:rPr lang="en-US" sz="1400" dirty="0">
                <a:solidFill>
                  <a:srgbClr val="D4D4D4"/>
                </a:solidFill>
                <a:latin typeface="Consolas" pitchFamily="34" charset="0"/>
                <a:ea typeface="Consolas" pitchFamily="34" charset="-122"/>
                <a:cs typeface="Consolas" pitchFamily="34" charset="-120"/>
              </a:rPr>
              <a:t> -H "Host: store.contoso.com" http://$IP/api/health</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marL="0" indent="0">
              <a:lnSpc>
                <a:spcPct val="105000"/>
              </a:lnSpc>
              <a:buNone/>
            </a:pPr>
            <a:r>
              <a:rPr lang="en-US" sz="1400" dirty="0">
                <a:solidFill>
                  <a:srgbClr val="6A9955"/>
                </a:solidFill>
                <a:latin typeface="Consolas" pitchFamily="34" charset="0"/>
                <a:ea typeface="Consolas" pitchFamily="34" charset="-122"/>
                <a:cs typeface="Consolas" pitchFamily="34" charset="-120"/>
              </a:rPr>
              <a:t># 3. Or pin the name to the IP for this request only</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curl</a:t>
            </a:r>
            <a:r>
              <a:rPr lang="en-US" sz="1400" dirty="0">
                <a:solidFill>
                  <a:srgbClr val="D4D4D4"/>
                </a:solidFill>
                <a:latin typeface="Consolas" pitchFamily="34" charset="0"/>
                <a:ea typeface="Consolas" pitchFamily="34" charset="-122"/>
                <a:cs typeface="Consolas" pitchFamily="34" charset="-120"/>
              </a:rPr>
              <a:t> --resolve store.contoso.com:80:$IP http://store.contoso.com/api/health</a:t>
            </a:r>
            <a:endParaRPr lang="en-US" sz="1400" dirty="0"/>
          </a:p>
        </p:txBody>
      </p:sp>
      <p:sp>
        <p:nvSpPr>
          <p:cNvPr id="15" name="Shape 13"/>
          <p:cNvSpPr/>
          <p:nvPr/>
        </p:nvSpPr>
        <p:spPr>
          <a:xfrm>
            <a:off x="548640" y="4983480"/>
            <a:ext cx="3514344" cy="1143000"/>
          </a:xfrm>
          <a:prstGeom prst="rect">
            <a:avLst/>
          </a:prstGeom>
          <a:solidFill>
            <a:srgbClr val="16304A"/>
          </a:solidFill>
          <a:ln/>
        </p:spPr>
        <p:txBody>
          <a:bodyPr/>
          <a:lstStyle/>
          <a:p>
            <a:endParaRPr lang="en-US"/>
          </a:p>
        </p:txBody>
      </p:sp>
      <p:sp>
        <p:nvSpPr>
          <p:cNvPr id="16" name="Shape 14"/>
          <p:cNvSpPr/>
          <p:nvPr/>
        </p:nvSpPr>
        <p:spPr>
          <a:xfrm>
            <a:off x="777240" y="5212080"/>
            <a:ext cx="457200" cy="457200"/>
          </a:xfrm>
          <a:prstGeom prst="ellipse">
            <a:avLst/>
          </a:prstGeom>
          <a:solidFill>
            <a:srgbClr val="8A6100"/>
          </a:solidFill>
          <a:ln/>
        </p:spPr>
        <p:txBody>
          <a:bodyPr/>
          <a:lstStyle/>
          <a:p>
            <a:endParaRPr lang="en-US"/>
          </a:p>
        </p:txBody>
      </p:sp>
      <p:pic>
        <p:nvPicPr>
          <p:cNvPr id="17" name="Image 0" descr="/agent/turn2/workspace/output/_anthropic_assets/icon-globe-bd8d4755.png"/>
          <p:cNvPicPr>
            <a:picLocks noChangeAspect="1"/>
          </p:cNvPicPr>
          <p:nvPr/>
        </p:nvPicPr>
        <p:blipFill>
          <a:blip r:embed="rId2"/>
          <a:stretch>
            <a:fillRect/>
          </a:stretch>
        </p:blipFill>
        <p:spPr>
          <a:xfrm>
            <a:off x="877824" y="5312664"/>
            <a:ext cx="256032" cy="256032"/>
          </a:xfrm>
          <a:prstGeom prst="rect">
            <a:avLst/>
          </a:prstGeom>
        </p:spPr>
      </p:pic>
      <p:sp>
        <p:nvSpPr>
          <p:cNvPr id="18" name="Text 15"/>
          <p:cNvSpPr/>
          <p:nvPr/>
        </p:nvSpPr>
        <p:spPr>
          <a:xfrm>
            <a:off x="1463040" y="5166360"/>
            <a:ext cx="2417064" cy="384048"/>
          </a:xfrm>
          <a:prstGeom prst="rect">
            <a:avLst/>
          </a:prstGeom>
          <a:noFill/>
          <a:ln/>
        </p:spPr>
        <p:txBody>
          <a:bodyPr wrap="square" lIns="0" tIns="0" rIns="0" bIns="0" rtlCol="0" anchor="ctr"/>
          <a:lstStyle/>
          <a:p>
            <a:pPr marL="0" indent="0">
              <a:buNone/>
            </a:pPr>
            <a:r>
              <a:rPr lang="en-US" sz="1500" dirty="0">
                <a:solidFill>
                  <a:srgbClr val="FFFFFF"/>
                </a:solidFill>
                <a:latin typeface="Segoe UI Semibold" pitchFamily="34" charset="0"/>
                <a:ea typeface="Segoe UI Semibold" pitchFamily="34" charset="-122"/>
                <a:cs typeface="Segoe UI Semibold" pitchFamily="34" charset="-120"/>
              </a:rPr>
              <a:t>Host header</a:t>
            </a:r>
            <a:endParaRPr lang="en-US" sz="1500" dirty="0"/>
          </a:p>
        </p:txBody>
      </p:sp>
      <p:sp>
        <p:nvSpPr>
          <p:cNvPr id="19" name="Text 16"/>
          <p:cNvSpPr/>
          <p:nvPr/>
        </p:nvSpPr>
        <p:spPr>
          <a:xfrm>
            <a:off x="1463040" y="5577840"/>
            <a:ext cx="2417064" cy="411480"/>
          </a:xfrm>
          <a:prstGeom prst="rect">
            <a:avLst/>
          </a:prstGeom>
          <a:noFill/>
          <a:ln/>
        </p:spPr>
        <p:txBody>
          <a:bodyPr wrap="square" lIns="0" tIns="0" rIns="0" bIns="0" rtlCol="0" anchor="t"/>
          <a:lstStyle/>
          <a:p>
            <a:pPr marL="0" indent="0">
              <a:buNone/>
            </a:pPr>
            <a:r>
              <a:rPr lang="en-US" sz="1300" dirty="0">
                <a:solidFill>
                  <a:srgbClr val="D0D8E2"/>
                </a:solidFill>
                <a:latin typeface="Segoe UI" pitchFamily="34" charset="0"/>
                <a:ea typeface="Segoe UI" pitchFamily="34" charset="-122"/>
                <a:cs typeface="Segoe UI" pitchFamily="34" charset="-120"/>
              </a:rPr>
              <a:t>Routes match on hostname — send the one the route expects.</a:t>
            </a:r>
            <a:endParaRPr lang="en-US" sz="1300" dirty="0"/>
          </a:p>
        </p:txBody>
      </p:sp>
      <p:sp>
        <p:nvSpPr>
          <p:cNvPr id="20" name="Shape 17"/>
          <p:cNvSpPr/>
          <p:nvPr/>
        </p:nvSpPr>
        <p:spPr>
          <a:xfrm>
            <a:off x="4337304" y="4983480"/>
            <a:ext cx="3514344" cy="1143000"/>
          </a:xfrm>
          <a:prstGeom prst="rect">
            <a:avLst/>
          </a:prstGeom>
          <a:solidFill>
            <a:srgbClr val="16304A"/>
          </a:solidFill>
          <a:ln/>
        </p:spPr>
        <p:txBody>
          <a:bodyPr/>
          <a:lstStyle/>
          <a:p>
            <a:endParaRPr lang="en-US"/>
          </a:p>
        </p:txBody>
      </p:sp>
      <p:sp>
        <p:nvSpPr>
          <p:cNvPr id="21" name="Shape 18"/>
          <p:cNvSpPr/>
          <p:nvPr/>
        </p:nvSpPr>
        <p:spPr>
          <a:xfrm>
            <a:off x="4565904" y="5212080"/>
            <a:ext cx="457200" cy="457200"/>
          </a:xfrm>
          <a:prstGeom prst="ellipse">
            <a:avLst/>
          </a:prstGeom>
          <a:solidFill>
            <a:srgbClr val="8A6100"/>
          </a:solidFill>
          <a:ln/>
        </p:spPr>
        <p:txBody>
          <a:bodyPr/>
          <a:lstStyle/>
          <a:p>
            <a:endParaRPr lang="en-US"/>
          </a:p>
        </p:txBody>
      </p:sp>
      <p:pic>
        <p:nvPicPr>
          <p:cNvPr id="22" name="Image 1" descr="/agent/turn2/workspace/output/_anthropic_assets/icon-lock-closed-e490b6ce.png"/>
          <p:cNvPicPr>
            <a:picLocks noChangeAspect="1"/>
          </p:cNvPicPr>
          <p:nvPr/>
        </p:nvPicPr>
        <p:blipFill>
          <a:blip r:embed="rId3"/>
          <a:stretch>
            <a:fillRect/>
          </a:stretch>
        </p:blipFill>
        <p:spPr>
          <a:xfrm>
            <a:off x="4666488" y="5312664"/>
            <a:ext cx="256032" cy="256032"/>
          </a:xfrm>
          <a:prstGeom prst="rect">
            <a:avLst/>
          </a:prstGeom>
        </p:spPr>
      </p:pic>
      <p:sp>
        <p:nvSpPr>
          <p:cNvPr id="23" name="Text 19"/>
          <p:cNvSpPr/>
          <p:nvPr/>
        </p:nvSpPr>
        <p:spPr>
          <a:xfrm>
            <a:off x="5251704" y="5166360"/>
            <a:ext cx="2417064" cy="384048"/>
          </a:xfrm>
          <a:prstGeom prst="rect">
            <a:avLst/>
          </a:prstGeom>
          <a:noFill/>
          <a:ln/>
        </p:spPr>
        <p:txBody>
          <a:bodyPr wrap="square" lIns="0" tIns="0" rIns="0" bIns="0" rtlCol="0" anchor="ctr"/>
          <a:lstStyle/>
          <a:p>
            <a:pPr marL="0" indent="0">
              <a:buNone/>
            </a:pPr>
            <a:r>
              <a:rPr lang="en-US" sz="1500" dirty="0">
                <a:solidFill>
                  <a:srgbClr val="FFFFFF"/>
                </a:solidFill>
                <a:latin typeface="Segoe UI Semibold" pitchFamily="34" charset="0"/>
                <a:ea typeface="Segoe UI Semibold" pitchFamily="34" charset="-122"/>
                <a:cs typeface="Segoe UI Semibold" pitchFamily="34" charset="-120"/>
              </a:rPr>
              <a:t>--resolve</a:t>
            </a:r>
            <a:endParaRPr lang="en-US" sz="1500" dirty="0"/>
          </a:p>
        </p:txBody>
      </p:sp>
      <p:sp>
        <p:nvSpPr>
          <p:cNvPr id="24" name="Text 20"/>
          <p:cNvSpPr/>
          <p:nvPr/>
        </p:nvSpPr>
        <p:spPr>
          <a:xfrm>
            <a:off x="5251704" y="5577840"/>
            <a:ext cx="2417064" cy="411480"/>
          </a:xfrm>
          <a:prstGeom prst="rect">
            <a:avLst/>
          </a:prstGeom>
          <a:noFill/>
          <a:ln/>
        </p:spPr>
        <p:txBody>
          <a:bodyPr wrap="square" lIns="0" tIns="0" rIns="0" bIns="0" rtlCol="0" anchor="t"/>
          <a:lstStyle/>
          <a:p>
            <a:pPr marL="0" indent="0">
              <a:buNone/>
            </a:pPr>
            <a:r>
              <a:rPr lang="en-US" sz="1300">
                <a:solidFill>
                  <a:srgbClr val="D0D8E2"/>
                </a:solidFill>
                <a:latin typeface="Segoe UI" pitchFamily="34" charset="0"/>
                <a:ea typeface="Segoe UI" pitchFamily="34" charset="-122"/>
                <a:cs typeface="Segoe UI" pitchFamily="34" charset="-120"/>
              </a:rPr>
              <a:t>Pins the name to the IP; keeps </a:t>
            </a:r>
            <a:r>
              <a:rPr lang="en-US" sz="1300" dirty="0">
                <a:solidFill>
                  <a:srgbClr val="D0D8E2"/>
                </a:solidFill>
                <a:latin typeface="Segoe UI" pitchFamily="34" charset="0"/>
                <a:ea typeface="Segoe UI" pitchFamily="34" charset="-122"/>
                <a:cs typeface="Segoe UI" pitchFamily="34" charset="-120"/>
              </a:rPr>
              <a:t>TLS SNI correct </a:t>
            </a:r>
            <a:r>
              <a:rPr lang="en-US" sz="1300">
                <a:solidFill>
                  <a:srgbClr val="D0D8E2"/>
                </a:solidFill>
                <a:latin typeface="Segoe UI" pitchFamily="34" charset="0"/>
                <a:ea typeface="Segoe UI" pitchFamily="34" charset="-122"/>
                <a:cs typeface="Segoe UI" pitchFamily="34" charset="-120"/>
              </a:rPr>
              <a:t>for </a:t>
            </a:r>
            <a:r>
              <a:rPr lang="en-US" sz="1300" dirty="0">
                <a:solidFill>
                  <a:srgbClr val="D0D8E2"/>
                </a:solidFill>
                <a:latin typeface="Segoe UI" pitchFamily="34" charset="0"/>
                <a:ea typeface="Segoe UI" pitchFamily="34" charset="-122"/>
                <a:cs typeface="Segoe UI" pitchFamily="34" charset="-120"/>
              </a:rPr>
              <a:t>HTTPS.</a:t>
            </a:r>
            <a:endParaRPr lang="en-US" sz="1300" dirty="0"/>
          </a:p>
        </p:txBody>
      </p:sp>
      <p:sp>
        <p:nvSpPr>
          <p:cNvPr id="25" name="Shape 21"/>
          <p:cNvSpPr/>
          <p:nvPr/>
        </p:nvSpPr>
        <p:spPr>
          <a:xfrm>
            <a:off x="8125968" y="4983480"/>
            <a:ext cx="3514344" cy="1143000"/>
          </a:xfrm>
          <a:prstGeom prst="rect">
            <a:avLst/>
          </a:prstGeom>
          <a:solidFill>
            <a:srgbClr val="16304A"/>
          </a:solidFill>
          <a:ln/>
        </p:spPr>
        <p:txBody>
          <a:bodyPr/>
          <a:lstStyle/>
          <a:p>
            <a:endParaRPr lang="en-US"/>
          </a:p>
        </p:txBody>
      </p:sp>
      <p:sp>
        <p:nvSpPr>
          <p:cNvPr id="26" name="Shape 22"/>
          <p:cNvSpPr/>
          <p:nvPr/>
        </p:nvSpPr>
        <p:spPr>
          <a:xfrm>
            <a:off x="8354568" y="5212080"/>
            <a:ext cx="457200" cy="457200"/>
          </a:xfrm>
          <a:prstGeom prst="ellipse">
            <a:avLst/>
          </a:prstGeom>
          <a:solidFill>
            <a:srgbClr val="8A6100"/>
          </a:solidFill>
          <a:ln/>
        </p:spPr>
        <p:txBody>
          <a:bodyPr/>
          <a:lstStyle/>
          <a:p>
            <a:endParaRPr lang="en-US"/>
          </a:p>
        </p:txBody>
      </p:sp>
      <p:pic>
        <p:nvPicPr>
          <p:cNvPr id="27" name="Image 2" descr="/agent/turn2/workspace/output/_anthropic_assets/icon-checkmark-circle-fc6554a2.png"/>
          <p:cNvPicPr>
            <a:picLocks noChangeAspect="1"/>
          </p:cNvPicPr>
          <p:nvPr/>
        </p:nvPicPr>
        <p:blipFill>
          <a:blip r:embed="rId4"/>
          <a:stretch>
            <a:fillRect/>
          </a:stretch>
        </p:blipFill>
        <p:spPr>
          <a:xfrm>
            <a:off x="8455152" y="5312664"/>
            <a:ext cx="256032" cy="256032"/>
          </a:xfrm>
          <a:prstGeom prst="rect">
            <a:avLst/>
          </a:prstGeom>
        </p:spPr>
      </p:pic>
      <p:sp>
        <p:nvSpPr>
          <p:cNvPr id="28" name="Text 23"/>
          <p:cNvSpPr/>
          <p:nvPr/>
        </p:nvSpPr>
        <p:spPr>
          <a:xfrm>
            <a:off x="9040368" y="5166360"/>
            <a:ext cx="2417064" cy="384048"/>
          </a:xfrm>
          <a:prstGeom prst="rect">
            <a:avLst/>
          </a:prstGeom>
          <a:noFill/>
          <a:ln/>
        </p:spPr>
        <p:txBody>
          <a:bodyPr wrap="square" lIns="0" tIns="0" rIns="0" bIns="0" rtlCol="0" anchor="ctr"/>
          <a:lstStyle/>
          <a:p>
            <a:pPr marL="0" indent="0">
              <a:buNone/>
            </a:pPr>
            <a:r>
              <a:rPr lang="en-US" sz="1500" dirty="0">
                <a:solidFill>
                  <a:srgbClr val="FFFFFF"/>
                </a:solidFill>
                <a:latin typeface="Segoe UI Semibold" pitchFamily="34" charset="0"/>
                <a:ea typeface="Segoe UI Semibold" pitchFamily="34" charset="-122"/>
                <a:cs typeface="Segoe UI Semibold" pitchFamily="34" charset="-120"/>
              </a:rPr>
              <a:t>No DNS changes</a:t>
            </a:r>
            <a:endParaRPr lang="en-US" sz="1500" dirty="0"/>
          </a:p>
        </p:txBody>
      </p:sp>
      <p:sp>
        <p:nvSpPr>
          <p:cNvPr id="29" name="Text 24"/>
          <p:cNvSpPr/>
          <p:nvPr/>
        </p:nvSpPr>
        <p:spPr>
          <a:xfrm>
            <a:off x="9040368" y="5577840"/>
            <a:ext cx="2417064" cy="411480"/>
          </a:xfrm>
          <a:prstGeom prst="rect">
            <a:avLst/>
          </a:prstGeom>
          <a:noFill/>
          <a:ln/>
        </p:spPr>
        <p:txBody>
          <a:bodyPr wrap="square" lIns="0" tIns="0" rIns="0" bIns="0" rtlCol="0" anchor="t"/>
          <a:lstStyle/>
          <a:p>
            <a:pPr marL="0" indent="0">
              <a:buNone/>
            </a:pPr>
            <a:r>
              <a:rPr lang="en-US" sz="1300" dirty="0">
                <a:solidFill>
                  <a:srgbClr val="D0D8E2"/>
                </a:solidFill>
                <a:latin typeface="Segoe UI" pitchFamily="34" charset="0"/>
                <a:ea typeface="Segoe UI" pitchFamily="34" charset="-122"/>
                <a:cs typeface="Segoe UI" pitchFamily="34" charset="-120"/>
              </a:rPr>
              <a:t>Validate routing before you cut public DNS over.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6">
    <p:bg>
      <p:bgPr>
        <a:solidFill>
          <a:srgbClr val="D83B01"/>
        </a:solidFill>
        <a:effectLst/>
      </p:bgPr>
    </p:bg>
    <p:spTree>
      <p:nvGrpSpPr>
        <p:cNvPr id="1" name=""/>
        <p:cNvGrpSpPr/>
        <p:nvPr/>
      </p:nvGrpSpPr>
      <p:grpSpPr>
        <a:xfrm>
          <a:off x="0" y="0"/>
          <a:ext cx="0" cy="0"/>
          <a:chOff x="0" y="0"/>
          <a:chExt cx="0" cy="0"/>
        </a:xfrm>
      </p:grpSpPr>
      <p:sp>
        <p:nvSpPr>
          <p:cNvPr id="2" name="Text 0"/>
          <p:cNvSpPr/>
          <p:nvPr/>
        </p:nvSpPr>
        <p:spPr>
          <a:xfrm>
            <a:off x="457200" y="274320"/>
            <a:ext cx="5486400" cy="3291840"/>
          </a:xfrm>
          <a:prstGeom prst="rect">
            <a:avLst/>
          </a:prstGeom>
          <a:noFill/>
          <a:ln/>
        </p:spPr>
        <p:txBody>
          <a:bodyPr wrap="square" lIns="0" tIns="0" rIns="0" bIns="0" rtlCol="0"/>
          <a:lstStyle/>
          <a:p>
            <a:pPr marL="0" indent="0">
              <a:buNone/>
            </a:pPr>
            <a:r>
              <a:rPr lang="en-US" sz="22000" dirty="0">
                <a:solidFill>
                  <a:srgbClr val="E0582A"/>
                </a:solidFill>
                <a:latin typeface="Segoe UI Semibold" pitchFamily="34" charset="0"/>
                <a:ea typeface="Segoe UI Semibold" pitchFamily="34" charset="-122"/>
                <a:cs typeface="Segoe UI Semibold" pitchFamily="34" charset="-120"/>
              </a:rPr>
              <a:t>04</a:t>
            </a:r>
            <a:endParaRPr lang="en-US" sz="22000" dirty="0"/>
          </a:p>
        </p:txBody>
      </p:sp>
      <p:sp>
        <p:nvSpPr>
          <p:cNvPr id="3" name="Shape 1"/>
          <p:cNvSpPr/>
          <p:nvPr/>
        </p:nvSpPr>
        <p:spPr>
          <a:xfrm>
            <a:off x="640080" y="3703320"/>
            <a:ext cx="146304" cy="146304"/>
          </a:xfrm>
          <a:prstGeom prst="rect">
            <a:avLst/>
          </a:prstGeom>
          <a:solidFill>
            <a:srgbClr val="F25022"/>
          </a:solidFill>
          <a:ln/>
        </p:spPr>
        <p:txBody>
          <a:bodyPr/>
          <a:lstStyle/>
          <a:p>
            <a:endParaRPr lang="en-US"/>
          </a:p>
        </p:txBody>
      </p:sp>
      <p:sp>
        <p:nvSpPr>
          <p:cNvPr id="4" name="Shape 2"/>
          <p:cNvSpPr/>
          <p:nvPr/>
        </p:nvSpPr>
        <p:spPr>
          <a:xfrm>
            <a:off x="818571" y="3703320"/>
            <a:ext cx="146304" cy="146304"/>
          </a:xfrm>
          <a:prstGeom prst="rect">
            <a:avLst/>
          </a:prstGeom>
          <a:solidFill>
            <a:srgbClr val="7FBA00"/>
          </a:solidFill>
          <a:ln/>
        </p:spPr>
        <p:txBody>
          <a:bodyPr/>
          <a:lstStyle/>
          <a:p>
            <a:endParaRPr lang="en-US"/>
          </a:p>
        </p:txBody>
      </p:sp>
      <p:sp>
        <p:nvSpPr>
          <p:cNvPr id="5" name="Shape 3"/>
          <p:cNvSpPr/>
          <p:nvPr/>
        </p:nvSpPr>
        <p:spPr>
          <a:xfrm>
            <a:off x="640080" y="3881811"/>
            <a:ext cx="146304" cy="146304"/>
          </a:xfrm>
          <a:prstGeom prst="rect">
            <a:avLst/>
          </a:prstGeom>
          <a:solidFill>
            <a:srgbClr val="00A4EF"/>
          </a:solidFill>
          <a:ln/>
        </p:spPr>
        <p:txBody>
          <a:bodyPr/>
          <a:lstStyle/>
          <a:p>
            <a:endParaRPr lang="en-US"/>
          </a:p>
        </p:txBody>
      </p:sp>
      <p:sp>
        <p:nvSpPr>
          <p:cNvPr id="6" name="Shape 4"/>
          <p:cNvSpPr/>
          <p:nvPr/>
        </p:nvSpPr>
        <p:spPr>
          <a:xfrm>
            <a:off x="818571" y="3881811"/>
            <a:ext cx="146304" cy="146304"/>
          </a:xfrm>
          <a:prstGeom prst="rect">
            <a:avLst/>
          </a:prstGeom>
          <a:solidFill>
            <a:srgbClr val="FFB900"/>
          </a:solidFill>
          <a:ln/>
        </p:spPr>
        <p:txBody>
          <a:bodyPr/>
          <a:lstStyle/>
          <a:p>
            <a:endParaRPr lang="en-US"/>
          </a:p>
        </p:txBody>
      </p:sp>
      <p:sp>
        <p:nvSpPr>
          <p:cNvPr id="7" name="Text 5"/>
          <p:cNvSpPr/>
          <p:nvPr/>
        </p:nvSpPr>
        <p:spPr>
          <a:xfrm>
            <a:off x="1097280" y="3657600"/>
            <a:ext cx="4572000" cy="384048"/>
          </a:xfrm>
          <a:prstGeom prst="rect">
            <a:avLst/>
          </a:prstGeom>
          <a:noFill/>
          <a:ln/>
        </p:spPr>
        <p:txBody>
          <a:bodyPr wrap="square" lIns="0" tIns="0" rIns="0" bIns="0" rtlCol="0" anchor="ctr"/>
          <a:lstStyle/>
          <a:p>
            <a:pPr marL="0" indent="0">
              <a:buNone/>
            </a:pPr>
            <a:r>
              <a:rPr lang="en-US" sz="1600" kern="0" spc="300" dirty="0">
                <a:solidFill>
                  <a:srgbClr val="FFFFFF"/>
                </a:solidFill>
                <a:latin typeface="Segoe UI Semibold" pitchFamily="34" charset="0"/>
                <a:ea typeface="Segoe UI Semibold" pitchFamily="34" charset="-122"/>
                <a:cs typeface="Segoe UI Semibold" pitchFamily="34" charset="-120"/>
              </a:rPr>
              <a:t>PART 4</a:t>
            </a:r>
            <a:endParaRPr lang="en-US" sz="1600" dirty="0"/>
          </a:p>
        </p:txBody>
      </p:sp>
      <p:sp>
        <p:nvSpPr>
          <p:cNvPr id="8" name="Text 6"/>
          <p:cNvSpPr/>
          <p:nvPr/>
        </p:nvSpPr>
        <p:spPr>
          <a:xfrm>
            <a:off x="640080" y="4114800"/>
            <a:ext cx="6949440" cy="1371600"/>
          </a:xfrm>
          <a:prstGeom prst="rect">
            <a:avLst/>
          </a:prstGeom>
          <a:noFill/>
          <a:ln/>
        </p:spPr>
        <p:txBody>
          <a:bodyPr wrap="square" lIns="0" tIns="0" rIns="0" bIns="0" rtlCol="0" anchor="t"/>
          <a:lstStyle/>
          <a:p>
            <a:pPr marL="0" indent="0">
              <a:lnSpc>
                <a:spcPct val="95000"/>
              </a:lnSpc>
              <a:buNone/>
            </a:pPr>
            <a:r>
              <a:rPr lang="en-US" sz="4800" dirty="0">
                <a:solidFill>
                  <a:srgbClr val="FFFFFF"/>
                </a:solidFill>
                <a:latin typeface="Segoe UI Semibold" pitchFamily="34" charset="0"/>
                <a:ea typeface="Segoe UI Semibold" pitchFamily="34" charset="-122"/>
                <a:cs typeface="Segoe UI Semibold" pitchFamily="34" charset="-120"/>
              </a:rPr>
              <a:t>Building Resiliency into Workloads</a:t>
            </a:r>
            <a:endParaRPr lang="en-US" sz="4800"/>
          </a:p>
        </p:txBody>
      </p:sp>
      <p:sp>
        <p:nvSpPr>
          <p:cNvPr id="9" name="Text 7"/>
          <p:cNvSpPr/>
          <p:nvPr/>
        </p:nvSpPr>
        <p:spPr>
          <a:xfrm>
            <a:off x="640080" y="5577840"/>
            <a:ext cx="6766560" cy="731520"/>
          </a:xfrm>
          <a:prstGeom prst="rect">
            <a:avLst/>
          </a:prstGeom>
          <a:noFill/>
          <a:ln/>
        </p:spPr>
        <p:txBody>
          <a:bodyPr wrap="square" lIns="0" tIns="0" rIns="0" bIns="0" rtlCol="0" anchor="t"/>
          <a:lstStyle/>
          <a:p>
            <a:pPr marL="0" indent="0">
              <a:buNone/>
            </a:pPr>
            <a:r>
              <a:rPr lang="en-US" sz="1800" dirty="0">
                <a:solidFill>
                  <a:srgbClr val="FFFFFF"/>
                </a:solidFill>
                <a:latin typeface="Segoe UI" pitchFamily="34" charset="0"/>
                <a:ea typeface="Segoe UI" pitchFamily="34" charset="-122"/>
                <a:cs typeface="Segoe UI" pitchFamily="34" charset="-120"/>
              </a:rPr>
              <a:t>Probes, placement, disruption budgets and graceful shutdown</a:t>
            </a:r>
            <a:endParaRPr lang="en-US" sz="1800" dirty="0"/>
          </a:p>
        </p:txBody>
      </p:sp>
      <p:sp>
        <p:nvSpPr>
          <p:cNvPr id="10" name="Shape 8"/>
          <p:cNvSpPr/>
          <p:nvPr/>
        </p:nvSpPr>
        <p:spPr>
          <a:xfrm>
            <a:off x="8138160" y="1463040"/>
            <a:ext cx="1600200" cy="1600200"/>
          </a:xfrm>
          <a:prstGeom prst="rect">
            <a:avLst/>
          </a:prstGeom>
          <a:solidFill>
            <a:srgbClr val="FFFFFF"/>
          </a:solidFill>
          <a:ln/>
        </p:spPr>
        <p:txBody>
          <a:bodyPr/>
          <a:lstStyle/>
          <a:p>
            <a:endParaRPr lang="en-US"/>
          </a:p>
        </p:txBody>
      </p:sp>
      <p:sp>
        <p:nvSpPr>
          <p:cNvPr id="11" name="Shape 9"/>
          <p:cNvSpPr/>
          <p:nvPr/>
        </p:nvSpPr>
        <p:spPr>
          <a:xfrm>
            <a:off x="9902952" y="1463040"/>
            <a:ext cx="1600200" cy="1600200"/>
          </a:xfrm>
          <a:prstGeom prst="rect">
            <a:avLst/>
          </a:prstGeom>
          <a:solidFill>
            <a:srgbClr val="FFFFFF">
              <a:alpha val="55000"/>
            </a:srgbClr>
          </a:solidFill>
          <a:ln/>
        </p:spPr>
        <p:txBody>
          <a:bodyPr/>
          <a:lstStyle/>
          <a:p>
            <a:endParaRPr lang="en-US"/>
          </a:p>
        </p:txBody>
      </p:sp>
      <p:sp>
        <p:nvSpPr>
          <p:cNvPr id="12" name="Shape 10"/>
          <p:cNvSpPr/>
          <p:nvPr/>
        </p:nvSpPr>
        <p:spPr>
          <a:xfrm>
            <a:off x="8138160" y="3227832"/>
            <a:ext cx="1600200" cy="1600200"/>
          </a:xfrm>
          <a:prstGeom prst="rect">
            <a:avLst/>
          </a:prstGeom>
          <a:solidFill>
            <a:srgbClr val="FFFFFF">
              <a:alpha val="35000"/>
            </a:srgbClr>
          </a:solidFill>
          <a:ln/>
        </p:spPr>
        <p:txBody>
          <a:bodyPr/>
          <a:lstStyle/>
          <a:p>
            <a:endParaRPr lang="en-US"/>
          </a:p>
        </p:txBody>
      </p:sp>
      <p:sp>
        <p:nvSpPr>
          <p:cNvPr id="13" name="Shape 11"/>
          <p:cNvSpPr/>
          <p:nvPr/>
        </p:nvSpPr>
        <p:spPr>
          <a:xfrm>
            <a:off x="9902952" y="3227832"/>
            <a:ext cx="1600200" cy="1600200"/>
          </a:xfrm>
          <a:prstGeom prst="rect">
            <a:avLst/>
          </a:prstGeom>
          <a:solidFill>
            <a:srgbClr val="FFFFFF">
              <a:alpha val="18000"/>
            </a:srgbClr>
          </a:solidFill>
          <a:ln/>
        </p:spPr>
        <p:txBody>
          <a:bodyPr/>
          <a:lstStyle/>
          <a:p>
            <a:endParaRPr lang="en-US"/>
          </a:p>
        </p:txBody>
      </p:sp>
      <p:pic>
        <p:nvPicPr>
          <p:cNvPr id="14" name="Image 0" descr="/agent/turn2/workspace/output/_anthropic_assets/icon-heart-pulse-0e389db0.png"/>
          <p:cNvPicPr>
            <a:picLocks noChangeAspect="1"/>
          </p:cNvPicPr>
          <p:nvPr/>
        </p:nvPicPr>
        <p:blipFill>
          <a:blip r:embed="rId2"/>
          <a:stretch>
            <a:fillRect/>
          </a:stretch>
        </p:blipFill>
        <p:spPr>
          <a:xfrm>
            <a:off x="10314432" y="3639312"/>
            <a:ext cx="777240" cy="7772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43501"/>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BA2A11B4-B395-4DF0-B24C-3FC94D89DE69}" type="slidenum">
              <a:rPr lang="en-US" sz="1100">
                <a:solidFill>
                  <a:srgbClr val="605E5C"/>
                </a:solidFill>
                <a:latin typeface="Segoe UI" pitchFamily="34" charset="0"/>
                <a:ea typeface="Segoe UI" pitchFamily="34" charset="-122"/>
                <a:cs typeface="Segoe UI" pitchFamily="34" charset="-120"/>
              </a:rPr>
              <a:t>30</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What Resiliency Means in Kubernetes</a:t>
            </a:r>
            <a:endParaRPr lang="en-US" sz="3200" dirty="0"/>
          </a:p>
        </p:txBody>
      </p:sp>
      <p:sp>
        <p:nvSpPr>
          <p:cNvPr id="10" name="Shape 8"/>
          <p:cNvSpPr/>
          <p:nvPr/>
        </p:nvSpPr>
        <p:spPr>
          <a:xfrm>
            <a:off x="548640" y="1737360"/>
            <a:ext cx="4206240" cy="4343400"/>
          </a:xfrm>
          <a:prstGeom prst="rect">
            <a:avLst/>
          </a:prstGeom>
          <a:solidFill>
            <a:srgbClr val="D83B01"/>
          </a:solidFill>
          <a:ln/>
        </p:spPr>
        <p:txBody>
          <a:bodyPr/>
          <a:lstStyle/>
          <a:p>
            <a:endParaRPr lang="en-US"/>
          </a:p>
        </p:txBody>
      </p:sp>
      <p:sp>
        <p:nvSpPr>
          <p:cNvPr id="11" name="Text 9"/>
          <p:cNvSpPr/>
          <p:nvPr/>
        </p:nvSpPr>
        <p:spPr>
          <a:xfrm>
            <a:off x="868680" y="2011680"/>
            <a:ext cx="3566160" cy="2011680"/>
          </a:xfrm>
          <a:prstGeom prst="rect">
            <a:avLst/>
          </a:prstGeom>
          <a:noFill/>
          <a:ln/>
        </p:spPr>
        <p:txBody>
          <a:bodyPr wrap="square" lIns="0" tIns="0" rIns="0" bIns="0" rtlCol="0"/>
          <a:lstStyle/>
          <a:p>
            <a:pPr marL="0" indent="0">
              <a:buNone/>
            </a:pPr>
            <a:r>
              <a:rPr lang="en-US" sz="2600" dirty="0">
                <a:solidFill>
                  <a:srgbClr val="FFFFFF"/>
                </a:solidFill>
                <a:latin typeface="Segoe UI Semibold" pitchFamily="34" charset="0"/>
                <a:ea typeface="Segoe UI Semibold" pitchFamily="34" charset="-122"/>
                <a:cs typeface="Segoe UI Semibold" pitchFamily="34" charset="-120"/>
              </a:rPr>
              <a:t>Keep serving users while things fail and change.</a:t>
            </a:r>
            <a:endParaRPr lang="en-US" sz="2600" dirty="0"/>
          </a:p>
        </p:txBody>
      </p:sp>
      <p:sp>
        <p:nvSpPr>
          <p:cNvPr id="12" name="Text 10"/>
          <p:cNvSpPr/>
          <p:nvPr/>
        </p:nvSpPr>
        <p:spPr>
          <a:xfrm>
            <a:off x="868680" y="4114800"/>
            <a:ext cx="3566160" cy="1737360"/>
          </a:xfrm>
          <a:prstGeom prst="rect">
            <a:avLst/>
          </a:prstGeom>
          <a:noFill/>
          <a:ln/>
        </p:spPr>
        <p:txBody>
          <a:bodyPr wrap="square" lIns="0" tIns="0" rIns="0" bIns="0" rtlCol="0"/>
          <a:lstStyle/>
          <a:p>
            <a:pPr marL="0" indent="0">
              <a:buNone/>
            </a:pPr>
            <a:r>
              <a:rPr lang="en-US" sz="1500" dirty="0">
                <a:solidFill>
                  <a:srgbClr val="FFFFFF"/>
                </a:solidFill>
                <a:latin typeface="Segoe UI" pitchFamily="34" charset="0"/>
                <a:ea typeface="Segoe UI" pitchFamily="34" charset="-122"/>
                <a:cs typeface="Segoe UI" pitchFamily="34" charset="-120"/>
              </a:rPr>
              <a:t>Failures are normal: nodes drain, pods crash, deploys roll out. Resilient workloads make those events invisible.</a:t>
            </a:r>
            <a:endParaRPr lang="en-US" sz="1500" dirty="0"/>
          </a:p>
        </p:txBody>
      </p:sp>
      <p:sp>
        <p:nvSpPr>
          <p:cNvPr id="13" name="Shape 11"/>
          <p:cNvSpPr/>
          <p:nvPr/>
        </p:nvSpPr>
        <p:spPr>
          <a:xfrm>
            <a:off x="5029200" y="1737360"/>
            <a:ext cx="3168396" cy="2034540"/>
          </a:xfrm>
          <a:prstGeom prst="rect">
            <a:avLst/>
          </a:prstGeom>
          <a:solidFill>
            <a:srgbClr val="F3F2F1"/>
          </a:solidFill>
          <a:ln/>
        </p:spPr>
        <p:txBody>
          <a:bodyPr/>
          <a:lstStyle/>
          <a:p>
            <a:endParaRPr lang="en-US"/>
          </a:p>
        </p:txBody>
      </p:sp>
      <p:sp>
        <p:nvSpPr>
          <p:cNvPr id="14" name="Shape 12"/>
          <p:cNvSpPr/>
          <p:nvPr/>
        </p:nvSpPr>
        <p:spPr>
          <a:xfrm>
            <a:off x="5257800" y="1965960"/>
            <a:ext cx="502920" cy="502920"/>
          </a:xfrm>
          <a:prstGeom prst="ellipse">
            <a:avLst/>
          </a:prstGeom>
          <a:solidFill>
            <a:srgbClr val="D83B01"/>
          </a:solidFill>
          <a:ln/>
        </p:spPr>
        <p:txBody>
          <a:bodyPr anchor="t"/>
          <a:lstStyle/>
          <a:p>
            <a:endParaRPr lang="en-US"/>
          </a:p>
        </p:txBody>
      </p:sp>
      <p:pic>
        <p:nvPicPr>
          <p:cNvPr id="15" name="Image 0" descr="/agent/turn2/workspace/output/_anthropic_assets/icon-heart-pulse-0e389db0.png"/>
          <p:cNvPicPr>
            <a:picLocks noChangeAspect="1"/>
          </p:cNvPicPr>
          <p:nvPr/>
        </p:nvPicPr>
        <p:blipFill>
          <a:blip r:embed="rId2"/>
          <a:stretch>
            <a:fillRect/>
          </a:stretch>
        </p:blipFill>
        <p:spPr>
          <a:xfrm>
            <a:off x="5368442" y="2076602"/>
            <a:ext cx="281635" cy="281635"/>
          </a:xfrm>
          <a:prstGeom prst="rect">
            <a:avLst/>
          </a:prstGeom>
        </p:spPr>
      </p:pic>
      <p:sp>
        <p:nvSpPr>
          <p:cNvPr id="16" name="Text 13"/>
          <p:cNvSpPr/>
          <p:nvPr/>
        </p:nvSpPr>
        <p:spPr>
          <a:xfrm>
            <a:off x="5257800" y="2606040"/>
            <a:ext cx="2711196" cy="411480"/>
          </a:xfrm>
          <a:prstGeom prst="rect">
            <a:avLst/>
          </a:prstGeom>
          <a:noFill/>
          <a:ln/>
        </p:spPr>
        <p:txBody>
          <a:bodyPr wrap="square" lIns="0" tIns="0" rIns="0" bIns="0" rtlCol="0" anchor="ctr"/>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Detect</a:t>
            </a:r>
            <a:endParaRPr lang="en-US" sz="1800" dirty="0"/>
          </a:p>
        </p:txBody>
      </p:sp>
      <p:sp>
        <p:nvSpPr>
          <p:cNvPr id="17" name="Text 14"/>
          <p:cNvSpPr/>
          <p:nvPr/>
        </p:nvSpPr>
        <p:spPr>
          <a:xfrm>
            <a:off x="5257800" y="3063240"/>
            <a:ext cx="2711196" cy="5715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Probes tell Kubernetes when a container is started, alive and ready for traffic.</a:t>
            </a:r>
            <a:endParaRPr lang="en-US" sz="1400" dirty="0"/>
          </a:p>
        </p:txBody>
      </p:sp>
      <p:sp>
        <p:nvSpPr>
          <p:cNvPr id="18" name="Shape 15"/>
          <p:cNvSpPr/>
          <p:nvPr/>
        </p:nvSpPr>
        <p:spPr>
          <a:xfrm>
            <a:off x="8471916" y="1737360"/>
            <a:ext cx="3168396" cy="2034540"/>
          </a:xfrm>
          <a:prstGeom prst="rect">
            <a:avLst/>
          </a:prstGeom>
          <a:solidFill>
            <a:srgbClr val="F3F2F1"/>
          </a:solidFill>
          <a:ln/>
        </p:spPr>
        <p:txBody>
          <a:bodyPr/>
          <a:lstStyle/>
          <a:p>
            <a:endParaRPr lang="en-US"/>
          </a:p>
        </p:txBody>
      </p:sp>
      <p:sp>
        <p:nvSpPr>
          <p:cNvPr id="19" name="Shape 16"/>
          <p:cNvSpPr/>
          <p:nvPr/>
        </p:nvSpPr>
        <p:spPr>
          <a:xfrm>
            <a:off x="8700516" y="1965960"/>
            <a:ext cx="502920" cy="502920"/>
          </a:xfrm>
          <a:prstGeom prst="ellipse">
            <a:avLst/>
          </a:prstGeom>
          <a:solidFill>
            <a:srgbClr val="D83B01"/>
          </a:solidFill>
          <a:ln/>
        </p:spPr>
        <p:txBody>
          <a:bodyPr anchor="t"/>
          <a:lstStyle/>
          <a:p>
            <a:endParaRPr lang="en-US"/>
          </a:p>
        </p:txBody>
      </p:sp>
      <p:pic>
        <p:nvPicPr>
          <p:cNvPr id="20" name="Image 1" descr="/agent/turn2/workspace/output/_anthropic_assets/icon-layer-549dba7a.png"/>
          <p:cNvPicPr>
            <a:picLocks noChangeAspect="1"/>
          </p:cNvPicPr>
          <p:nvPr/>
        </p:nvPicPr>
        <p:blipFill>
          <a:blip r:embed="rId3"/>
          <a:stretch>
            <a:fillRect/>
          </a:stretch>
        </p:blipFill>
        <p:spPr>
          <a:xfrm>
            <a:off x="8811158" y="2076602"/>
            <a:ext cx="281635" cy="281635"/>
          </a:xfrm>
          <a:prstGeom prst="rect">
            <a:avLst/>
          </a:prstGeom>
        </p:spPr>
      </p:pic>
      <p:sp>
        <p:nvSpPr>
          <p:cNvPr id="21" name="Text 17"/>
          <p:cNvSpPr/>
          <p:nvPr/>
        </p:nvSpPr>
        <p:spPr>
          <a:xfrm>
            <a:off x="8700516" y="2606040"/>
            <a:ext cx="2711196" cy="411480"/>
          </a:xfrm>
          <a:prstGeom prst="rect">
            <a:avLst/>
          </a:prstGeom>
          <a:noFill/>
          <a:ln/>
        </p:spPr>
        <p:txBody>
          <a:bodyPr wrap="square" lIns="0" tIns="0" rIns="0" bIns="0" rtlCol="0" anchor="ctr"/>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Spread</a:t>
            </a:r>
            <a:endParaRPr lang="en-US" sz="1800" dirty="0"/>
          </a:p>
        </p:txBody>
      </p:sp>
      <p:sp>
        <p:nvSpPr>
          <p:cNvPr id="22" name="Text 18"/>
          <p:cNvSpPr/>
          <p:nvPr/>
        </p:nvSpPr>
        <p:spPr>
          <a:xfrm>
            <a:off x="8700516" y="3063240"/>
            <a:ext cx="2711196" cy="5715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Multiple replicas across nodes and zones remove single points of failure.</a:t>
            </a:r>
            <a:endParaRPr lang="en-US" sz="1400" dirty="0"/>
          </a:p>
        </p:txBody>
      </p:sp>
      <p:sp>
        <p:nvSpPr>
          <p:cNvPr id="23" name="Shape 19"/>
          <p:cNvSpPr/>
          <p:nvPr/>
        </p:nvSpPr>
        <p:spPr>
          <a:xfrm>
            <a:off x="5029200" y="4046220"/>
            <a:ext cx="3168396" cy="2034540"/>
          </a:xfrm>
          <a:prstGeom prst="rect">
            <a:avLst/>
          </a:prstGeom>
          <a:solidFill>
            <a:srgbClr val="F3F2F1"/>
          </a:solidFill>
          <a:ln/>
        </p:spPr>
        <p:txBody>
          <a:bodyPr/>
          <a:lstStyle/>
          <a:p>
            <a:endParaRPr lang="en-US"/>
          </a:p>
        </p:txBody>
      </p:sp>
      <p:sp>
        <p:nvSpPr>
          <p:cNvPr id="24" name="Shape 20"/>
          <p:cNvSpPr/>
          <p:nvPr/>
        </p:nvSpPr>
        <p:spPr>
          <a:xfrm>
            <a:off x="5257800" y="4274820"/>
            <a:ext cx="502920" cy="502920"/>
          </a:xfrm>
          <a:prstGeom prst="ellipse">
            <a:avLst/>
          </a:prstGeom>
          <a:solidFill>
            <a:srgbClr val="D83B01"/>
          </a:solidFill>
          <a:ln/>
        </p:spPr>
        <p:txBody>
          <a:bodyPr anchor="t"/>
          <a:lstStyle/>
          <a:p>
            <a:endParaRPr lang="en-US"/>
          </a:p>
        </p:txBody>
      </p:sp>
      <p:pic>
        <p:nvPicPr>
          <p:cNvPr id="25" name="Image 2" descr="/agent/turn2/workspace/output/_anthropic_assets/icon-shield-checkmark-8da48fe0.png"/>
          <p:cNvPicPr>
            <a:picLocks noChangeAspect="1"/>
          </p:cNvPicPr>
          <p:nvPr/>
        </p:nvPicPr>
        <p:blipFill>
          <a:blip r:embed="rId4"/>
          <a:stretch>
            <a:fillRect/>
          </a:stretch>
        </p:blipFill>
        <p:spPr>
          <a:xfrm>
            <a:off x="5368442" y="4385462"/>
            <a:ext cx="281635" cy="281635"/>
          </a:xfrm>
          <a:prstGeom prst="rect">
            <a:avLst/>
          </a:prstGeom>
        </p:spPr>
      </p:pic>
      <p:sp>
        <p:nvSpPr>
          <p:cNvPr id="26" name="Text 21"/>
          <p:cNvSpPr/>
          <p:nvPr/>
        </p:nvSpPr>
        <p:spPr>
          <a:xfrm>
            <a:off x="5257800" y="4914900"/>
            <a:ext cx="2711196" cy="411480"/>
          </a:xfrm>
          <a:prstGeom prst="rect">
            <a:avLst/>
          </a:prstGeom>
          <a:noFill/>
          <a:ln/>
        </p:spPr>
        <p:txBody>
          <a:bodyPr wrap="square" lIns="0" tIns="0" rIns="0" bIns="0" rtlCol="0" anchor="ctr"/>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Protect</a:t>
            </a:r>
            <a:endParaRPr lang="en-US" sz="1800" dirty="0"/>
          </a:p>
        </p:txBody>
      </p:sp>
      <p:sp>
        <p:nvSpPr>
          <p:cNvPr id="27" name="Text 22"/>
          <p:cNvSpPr/>
          <p:nvPr/>
        </p:nvSpPr>
        <p:spPr>
          <a:xfrm>
            <a:off x="5257800" y="5372100"/>
            <a:ext cx="2711196" cy="5715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PodDisruptionBudgets and rolling-update limits keep capacity during change.</a:t>
            </a:r>
            <a:endParaRPr lang="en-US" sz="1400" dirty="0"/>
          </a:p>
        </p:txBody>
      </p:sp>
      <p:sp>
        <p:nvSpPr>
          <p:cNvPr id="28" name="Shape 23"/>
          <p:cNvSpPr/>
          <p:nvPr/>
        </p:nvSpPr>
        <p:spPr>
          <a:xfrm>
            <a:off x="8471916" y="4046220"/>
            <a:ext cx="3168396" cy="2034540"/>
          </a:xfrm>
          <a:prstGeom prst="rect">
            <a:avLst/>
          </a:prstGeom>
          <a:solidFill>
            <a:srgbClr val="F3F2F1"/>
          </a:solidFill>
          <a:ln/>
        </p:spPr>
        <p:txBody>
          <a:bodyPr/>
          <a:lstStyle/>
          <a:p>
            <a:endParaRPr lang="en-US"/>
          </a:p>
        </p:txBody>
      </p:sp>
      <p:sp>
        <p:nvSpPr>
          <p:cNvPr id="29" name="Shape 24"/>
          <p:cNvSpPr/>
          <p:nvPr/>
        </p:nvSpPr>
        <p:spPr>
          <a:xfrm>
            <a:off x="8700516" y="4274820"/>
            <a:ext cx="502920" cy="502920"/>
          </a:xfrm>
          <a:prstGeom prst="ellipse">
            <a:avLst/>
          </a:prstGeom>
          <a:solidFill>
            <a:srgbClr val="D83B01"/>
          </a:solidFill>
          <a:ln/>
        </p:spPr>
        <p:txBody>
          <a:bodyPr anchor="t"/>
          <a:lstStyle/>
          <a:p>
            <a:endParaRPr lang="en-US"/>
          </a:p>
        </p:txBody>
      </p:sp>
      <p:pic>
        <p:nvPicPr>
          <p:cNvPr id="30" name="Image 3" descr="/agent/turn2/workspace/output/_anthropic_assets/icon-timer-5033fbda.png"/>
          <p:cNvPicPr>
            <a:picLocks noChangeAspect="1"/>
          </p:cNvPicPr>
          <p:nvPr/>
        </p:nvPicPr>
        <p:blipFill>
          <a:blip r:embed="rId5"/>
          <a:stretch>
            <a:fillRect/>
          </a:stretch>
        </p:blipFill>
        <p:spPr>
          <a:xfrm>
            <a:off x="8811158" y="4385462"/>
            <a:ext cx="281635" cy="281635"/>
          </a:xfrm>
          <a:prstGeom prst="rect">
            <a:avLst/>
          </a:prstGeom>
        </p:spPr>
      </p:pic>
      <p:sp>
        <p:nvSpPr>
          <p:cNvPr id="31" name="Text 25"/>
          <p:cNvSpPr/>
          <p:nvPr/>
        </p:nvSpPr>
        <p:spPr>
          <a:xfrm>
            <a:off x="8700516" y="4914900"/>
            <a:ext cx="2711196" cy="411480"/>
          </a:xfrm>
          <a:prstGeom prst="rect">
            <a:avLst/>
          </a:prstGeom>
          <a:noFill/>
          <a:ln/>
        </p:spPr>
        <p:txBody>
          <a:bodyPr wrap="square" lIns="0" tIns="0" rIns="0" bIns="0" rtlCol="0" anchor="ctr"/>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Drain gracefully</a:t>
            </a:r>
            <a:endParaRPr lang="en-US" sz="1800" dirty="0"/>
          </a:p>
        </p:txBody>
      </p:sp>
      <p:sp>
        <p:nvSpPr>
          <p:cNvPr id="32" name="Text 26"/>
          <p:cNvSpPr/>
          <p:nvPr/>
        </p:nvSpPr>
        <p:spPr>
          <a:xfrm>
            <a:off x="8700516" y="5372100"/>
            <a:ext cx="2711196" cy="5715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Handle SIGTERM and finish in-flight requests before exiting.</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43501"/>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9CA8800B-45BD-4562-911C-30622BCAE04D}" type="slidenum">
              <a:rPr lang="en-US" sz="1100">
                <a:solidFill>
                  <a:srgbClr val="605E5C"/>
                </a:solidFill>
                <a:latin typeface="Segoe UI" pitchFamily="34" charset="0"/>
                <a:ea typeface="Segoe UI" pitchFamily="34" charset="-122"/>
                <a:cs typeface="Segoe UI" pitchFamily="34" charset="-120"/>
              </a:rPr>
              <a:t>31</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Three Probes, Three Questions</a:t>
            </a:r>
            <a:endParaRPr lang="en-US" sz="3200" dirty="0"/>
          </a:p>
        </p:txBody>
      </p:sp>
      <p:sp>
        <p:nvSpPr>
          <p:cNvPr id="10" name="Shape 8"/>
          <p:cNvSpPr/>
          <p:nvPr/>
        </p:nvSpPr>
        <p:spPr>
          <a:xfrm>
            <a:off x="548640" y="1737360"/>
            <a:ext cx="3538728" cy="4343400"/>
          </a:xfrm>
          <a:prstGeom prst="rect">
            <a:avLst/>
          </a:prstGeom>
          <a:solidFill>
            <a:srgbClr val="FFFFFF"/>
          </a:solidFill>
          <a:ln/>
        </p:spPr>
        <p:txBody>
          <a:bodyPr/>
          <a:lstStyle/>
          <a:p>
            <a:endParaRPr lang="en-US"/>
          </a:p>
        </p:txBody>
      </p:sp>
      <p:sp>
        <p:nvSpPr>
          <p:cNvPr id="11" name="Shape 9"/>
          <p:cNvSpPr/>
          <p:nvPr/>
        </p:nvSpPr>
        <p:spPr>
          <a:xfrm>
            <a:off x="548640" y="1737360"/>
            <a:ext cx="3538728" cy="1143000"/>
          </a:xfrm>
          <a:prstGeom prst="rect">
            <a:avLst/>
          </a:prstGeom>
          <a:solidFill>
            <a:srgbClr val="EA7A50"/>
          </a:solidFill>
          <a:ln/>
        </p:spPr>
        <p:txBody>
          <a:bodyPr/>
          <a:lstStyle/>
          <a:p>
            <a:endParaRPr lang="en-US"/>
          </a:p>
        </p:txBody>
      </p:sp>
      <p:sp>
        <p:nvSpPr>
          <p:cNvPr id="12" name="Shape 10"/>
          <p:cNvSpPr/>
          <p:nvPr/>
        </p:nvSpPr>
        <p:spPr>
          <a:xfrm>
            <a:off x="777240" y="2011680"/>
            <a:ext cx="594360" cy="594360"/>
          </a:xfrm>
          <a:prstGeom prst="ellipse">
            <a:avLst/>
          </a:prstGeom>
          <a:solidFill>
            <a:srgbClr val="8A2500"/>
          </a:solidFill>
          <a:ln/>
        </p:spPr>
        <p:txBody>
          <a:bodyPr/>
          <a:lstStyle/>
          <a:p>
            <a:endParaRPr lang="en-US"/>
          </a:p>
        </p:txBody>
      </p:sp>
      <p:pic>
        <p:nvPicPr>
          <p:cNvPr id="13" name="Image 0" descr="/agent/turn2/workspace/output/_anthropic_assets/icon-timer-5033fbda.png"/>
          <p:cNvPicPr>
            <a:picLocks noChangeAspect="1"/>
          </p:cNvPicPr>
          <p:nvPr/>
        </p:nvPicPr>
        <p:blipFill>
          <a:blip r:embed="rId2"/>
          <a:stretch>
            <a:fillRect/>
          </a:stretch>
        </p:blipFill>
        <p:spPr>
          <a:xfrm>
            <a:off x="907999" y="2142439"/>
            <a:ext cx="332842" cy="332842"/>
          </a:xfrm>
          <a:prstGeom prst="rect">
            <a:avLst/>
          </a:prstGeom>
        </p:spPr>
      </p:pic>
      <p:sp>
        <p:nvSpPr>
          <p:cNvPr id="14" name="Text 11"/>
          <p:cNvSpPr/>
          <p:nvPr/>
        </p:nvSpPr>
        <p:spPr>
          <a:xfrm>
            <a:off x="1508760" y="1737360"/>
            <a:ext cx="2468880" cy="1143000"/>
          </a:xfrm>
          <a:prstGeom prst="rect">
            <a:avLst/>
          </a:prstGeom>
          <a:noFill/>
          <a:ln/>
        </p:spPr>
        <p:txBody>
          <a:bodyPr wrap="square" lIns="0" tIns="0" rIns="0" bIns="0" rtlCol="0" anchor="ctr"/>
          <a:lstStyle/>
          <a:p>
            <a:pPr marL="0" indent="0">
              <a:buNone/>
            </a:pPr>
            <a:r>
              <a:rPr lang="en-US" sz="1900" dirty="0">
                <a:solidFill>
                  <a:srgbClr val="FFFFFF"/>
                </a:solidFill>
                <a:latin typeface="Consolas" pitchFamily="34" charset="0"/>
                <a:ea typeface="Consolas" pitchFamily="34" charset="-122"/>
                <a:cs typeface="Consolas" pitchFamily="34" charset="-120"/>
              </a:rPr>
              <a:t>startupProbe</a:t>
            </a:r>
            <a:endParaRPr lang="en-US" sz="1900" dirty="0"/>
          </a:p>
        </p:txBody>
      </p:sp>
      <p:sp>
        <p:nvSpPr>
          <p:cNvPr id="15" name="Text 12"/>
          <p:cNvSpPr/>
          <p:nvPr/>
        </p:nvSpPr>
        <p:spPr>
          <a:xfrm>
            <a:off x="822960" y="3063240"/>
            <a:ext cx="3017520" cy="731520"/>
          </a:xfrm>
          <a:prstGeom prst="rect">
            <a:avLst/>
          </a:prstGeom>
          <a:noFill/>
          <a:ln/>
        </p:spPr>
        <p:txBody>
          <a:bodyPr wrap="square" lIns="0" tIns="0" rIns="0" bIns="0" rtlCol="0" anchor="t"/>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Has the app finished starting?</a:t>
            </a:r>
            <a:endParaRPr lang="en-US" sz="1800" dirty="0"/>
          </a:p>
        </p:txBody>
      </p:sp>
      <p:sp>
        <p:nvSpPr>
          <p:cNvPr id="16" name="Text 13"/>
          <p:cNvSpPr/>
          <p:nvPr/>
        </p:nvSpPr>
        <p:spPr>
          <a:xfrm>
            <a:off x="822960" y="3840480"/>
            <a:ext cx="3017520" cy="109728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Holds off the other probes until it passes — protects slow starters.</a:t>
            </a:r>
            <a:endParaRPr lang="en-US" sz="1400" dirty="0"/>
          </a:p>
        </p:txBody>
      </p:sp>
      <p:sp>
        <p:nvSpPr>
          <p:cNvPr id="17" name="Text 14"/>
          <p:cNvSpPr/>
          <p:nvPr/>
        </p:nvSpPr>
        <p:spPr>
          <a:xfrm>
            <a:off x="822960" y="5166360"/>
            <a:ext cx="3017520" cy="685800"/>
          </a:xfrm>
          <a:prstGeom prst="rect">
            <a:avLst/>
          </a:prstGeom>
          <a:solidFill>
            <a:srgbClr val="FDE7DE"/>
          </a:solidFill>
          <a:ln/>
        </p:spPr>
        <p:txBody>
          <a:bodyPr wrap="square" lIns="76200" tIns="76200" rIns="76200" bIns="76200" rtlCol="0" anchor="ctr"/>
          <a:lstStyle/>
          <a:p>
            <a:pPr marL="0" indent="0">
              <a:buNone/>
            </a:pPr>
            <a:r>
              <a:rPr lang="en-US" sz="1300" dirty="0">
                <a:solidFill>
                  <a:srgbClr val="8A2500"/>
                </a:solidFill>
                <a:latin typeface="Segoe UI Semibold" pitchFamily="34" charset="0"/>
                <a:ea typeface="Segoe UI Semibold" pitchFamily="34" charset="-122"/>
                <a:cs typeface="Segoe UI Semibold" pitchFamily="34" charset="-120"/>
              </a:rPr>
              <a:t>On failure: container restarted</a:t>
            </a:r>
            <a:endParaRPr lang="en-US" sz="1300" dirty="0"/>
          </a:p>
        </p:txBody>
      </p:sp>
      <p:sp>
        <p:nvSpPr>
          <p:cNvPr id="18" name="Shape 15"/>
          <p:cNvSpPr/>
          <p:nvPr/>
        </p:nvSpPr>
        <p:spPr>
          <a:xfrm>
            <a:off x="4325112" y="1737360"/>
            <a:ext cx="3538728" cy="4343400"/>
          </a:xfrm>
          <a:prstGeom prst="rect">
            <a:avLst/>
          </a:prstGeom>
          <a:solidFill>
            <a:srgbClr val="FFFFFF"/>
          </a:solidFill>
          <a:ln/>
        </p:spPr>
        <p:txBody>
          <a:bodyPr/>
          <a:lstStyle/>
          <a:p>
            <a:endParaRPr lang="en-US"/>
          </a:p>
        </p:txBody>
      </p:sp>
      <p:sp>
        <p:nvSpPr>
          <p:cNvPr id="19" name="Shape 16"/>
          <p:cNvSpPr/>
          <p:nvPr/>
        </p:nvSpPr>
        <p:spPr>
          <a:xfrm>
            <a:off x="4325112" y="1737360"/>
            <a:ext cx="3538728" cy="1143000"/>
          </a:xfrm>
          <a:prstGeom prst="rect">
            <a:avLst/>
          </a:prstGeom>
          <a:solidFill>
            <a:srgbClr val="E0582A"/>
          </a:solidFill>
          <a:ln/>
        </p:spPr>
        <p:txBody>
          <a:bodyPr/>
          <a:lstStyle/>
          <a:p>
            <a:endParaRPr lang="en-US"/>
          </a:p>
        </p:txBody>
      </p:sp>
      <p:sp>
        <p:nvSpPr>
          <p:cNvPr id="20" name="Shape 17"/>
          <p:cNvSpPr/>
          <p:nvPr/>
        </p:nvSpPr>
        <p:spPr>
          <a:xfrm>
            <a:off x="4553712" y="2011680"/>
            <a:ext cx="594360" cy="594360"/>
          </a:xfrm>
          <a:prstGeom prst="ellipse">
            <a:avLst/>
          </a:prstGeom>
          <a:solidFill>
            <a:srgbClr val="8A2500"/>
          </a:solidFill>
          <a:ln/>
        </p:spPr>
        <p:txBody>
          <a:bodyPr/>
          <a:lstStyle/>
          <a:p>
            <a:endParaRPr lang="en-US"/>
          </a:p>
        </p:txBody>
      </p:sp>
      <p:pic>
        <p:nvPicPr>
          <p:cNvPr id="21" name="Image 1" descr="/agent/turn2/workspace/output/_anthropic_assets/icon-heart-pulse-0e389db0.png"/>
          <p:cNvPicPr>
            <a:picLocks noChangeAspect="1"/>
          </p:cNvPicPr>
          <p:nvPr/>
        </p:nvPicPr>
        <p:blipFill>
          <a:blip r:embed="rId3"/>
          <a:stretch>
            <a:fillRect/>
          </a:stretch>
        </p:blipFill>
        <p:spPr>
          <a:xfrm>
            <a:off x="4684471" y="2142439"/>
            <a:ext cx="332842" cy="332842"/>
          </a:xfrm>
          <a:prstGeom prst="rect">
            <a:avLst/>
          </a:prstGeom>
        </p:spPr>
      </p:pic>
      <p:sp>
        <p:nvSpPr>
          <p:cNvPr id="22" name="Text 18"/>
          <p:cNvSpPr/>
          <p:nvPr/>
        </p:nvSpPr>
        <p:spPr>
          <a:xfrm>
            <a:off x="5285232" y="1737360"/>
            <a:ext cx="2468880" cy="1143000"/>
          </a:xfrm>
          <a:prstGeom prst="rect">
            <a:avLst/>
          </a:prstGeom>
          <a:noFill/>
          <a:ln/>
        </p:spPr>
        <p:txBody>
          <a:bodyPr wrap="square" lIns="0" tIns="0" rIns="0" bIns="0" rtlCol="0" anchor="ctr"/>
          <a:lstStyle/>
          <a:p>
            <a:pPr marL="0" indent="0">
              <a:buNone/>
            </a:pPr>
            <a:r>
              <a:rPr lang="en-US" sz="1900" dirty="0">
                <a:solidFill>
                  <a:srgbClr val="FFFFFF"/>
                </a:solidFill>
                <a:latin typeface="Consolas" pitchFamily="34" charset="0"/>
                <a:ea typeface="Consolas" pitchFamily="34" charset="-122"/>
                <a:cs typeface="Consolas" pitchFamily="34" charset="-120"/>
              </a:rPr>
              <a:t>livenessProbe</a:t>
            </a:r>
            <a:endParaRPr lang="en-US" sz="1900" dirty="0"/>
          </a:p>
        </p:txBody>
      </p:sp>
      <p:sp>
        <p:nvSpPr>
          <p:cNvPr id="23" name="Text 19"/>
          <p:cNvSpPr/>
          <p:nvPr/>
        </p:nvSpPr>
        <p:spPr>
          <a:xfrm>
            <a:off x="4599432" y="3063240"/>
            <a:ext cx="3017520" cy="731520"/>
          </a:xfrm>
          <a:prstGeom prst="rect">
            <a:avLst/>
          </a:prstGeom>
          <a:noFill/>
          <a:ln/>
        </p:spPr>
        <p:txBody>
          <a:bodyPr wrap="square" lIns="0" tIns="0" rIns="0" bIns="0" rtlCol="0" anchor="t"/>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Is the process still healthy?</a:t>
            </a:r>
            <a:endParaRPr lang="en-US" sz="1800" dirty="0"/>
          </a:p>
        </p:txBody>
      </p:sp>
      <p:sp>
        <p:nvSpPr>
          <p:cNvPr id="24" name="Text 20"/>
          <p:cNvSpPr/>
          <p:nvPr/>
        </p:nvSpPr>
        <p:spPr>
          <a:xfrm>
            <a:off x="4599432" y="3840480"/>
            <a:ext cx="3017520" cy="109728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Detects deadlocks and hung processes that won't recover on their own.</a:t>
            </a:r>
            <a:endParaRPr lang="en-US" sz="1400" dirty="0"/>
          </a:p>
        </p:txBody>
      </p:sp>
      <p:sp>
        <p:nvSpPr>
          <p:cNvPr id="25" name="Text 21"/>
          <p:cNvSpPr/>
          <p:nvPr/>
        </p:nvSpPr>
        <p:spPr>
          <a:xfrm>
            <a:off x="4599432" y="5166360"/>
            <a:ext cx="3017520" cy="685800"/>
          </a:xfrm>
          <a:prstGeom prst="rect">
            <a:avLst/>
          </a:prstGeom>
          <a:solidFill>
            <a:srgbClr val="FDE7DE"/>
          </a:solidFill>
          <a:ln/>
        </p:spPr>
        <p:txBody>
          <a:bodyPr wrap="square" lIns="76200" tIns="76200" rIns="76200" bIns="76200" rtlCol="0" anchor="ctr"/>
          <a:lstStyle/>
          <a:p>
            <a:pPr marL="0" indent="0">
              <a:buNone/>
            </a:pPr>
            <a:r>
              <a:rPr lang="en-US" sz="1300" dirty="0">
                <a:solidFill>
                  <a:srgbClr val="8A2500"/>
                </a:solidFill>
                <a:latin typeface="Segoe UI Semibold" pitchFamily="34" charset="0"/>
                <a:ea typeface="Segoe UI Semibold" pitchFamily="34" charset="-122"/>
                <a:cs typeface="Segoe UI Semibold" pitchFamily="34" charset="-120"/>
              </a:rPr>
              <a:t>On failure: container restarted</a:t>
            </a:r>
            <a:endParaRPr lang="en-US" sz="1300" dirty="0"/>
          </a:p>
        </p:txBody>
      </p:sp>
      <p:sp>
        <p:nvSpPr>
          <p:cNvPr id="26" name="Shape 22"/>
          <p:cNvSpPr/>
          <p:nvPr/>
        </p:nvSpPr>
        <p:spPr>
          <a:xfrm>
            <a:off x="8101584" y="1737360"/>
            <a:ext cx="3538728" cy="4343400"/>
          </a:xfrm>
          <a:prstGeom prst="rect">
            <a:avLst/>
          </a:prstGeom>
          <a:solidFill>
            <a:srgbClr val="FFFFFF"/>
          </a:solidFill>
          <a:ln/>
        </p:spPr>
        <p:txBody>
          <a:bodyPr/>
          <a:lstStyle/>
          <a:p>
            <a:endParaRPr lang="en-US"/>
          </a:p>
        </p:txBody>
      </p:sp>
      <p:sp>
        <p:nvSpPr>
          <p:cNvPr id="27" name="Shape 23"/>
          <p:cNvSpPr/>
          <p:nvPr/>
        </p:nvSpPr>
        <p:spPr>
          <a:xfrm>
            <a:off x="8101584" y="1737360"/>
            <a:ext cx="3538728" cy="1143000"/>
          </a:xfrm>
          <a:prstGeom prst="rect">
            <a:avLst/>
          </a:prstGeom>
          <a:solidFill>
            <a:srgbClr val="D83B01"/>
          </a:solidFill>
          <a:ln/>
        </p:spPr>
        <p:txBody>
          <a:bodyPr/>
          <a:lstStyle/>
          <a:p>
            <a:endParaRPr lang="en-US"/>
          </a:p>
        </p:txBody>
      </p:sp>
      <p:sp>
        <p:nvSpPr>
          <p:cNvPr id="28" name="Shape 24"/>
          <p:cNvSpPr/>
          <p:nvPr/>
        </p:nvSpPr>
        <p:spPr>
          <a:xfrm>
            <a:off x="8330184" y="2011680"/>
            <a:ext cx="594360" cy="594360"/>
          </a:xfrm>
          <a:prstGeom prst="ellipse">
            <a:avLst/>
          </a:prstGeom>
          <a:solidFill>
            <a:srgbClr val="8A2500"/>
          </a:solidFill>
          <a:ln/>
        </p:spPr>
        <p:txBody>
          <a:bodyPr/>
          <a:lstStyle/>
          <a:p>
            <a:endParaRPr lang="en-US"/>
          </a:p>
        </p:txBody>
      </p:sp>
      <p:pic>
        <p:nvPicPr>
          <p:cNvPr id="29" name="Image 2" descr="/agent/turn2/workspace/output/_anthropic_assets/icon-checkmark-circle-fc6554a2.png"/>
          <p:cNvPicPr>
            <a:picLocks noChangeAspect="1"/>
          </p:cNvPicPr>
          <p:nvPr/>
        </p:nvPicPr>
        <p:blipFill>
          <a:blip r:embed="rId4"/>
          <a:stretch>
            <a:fillRect/>
          </a:stretch>
        </p:blipFill>
        <p:spPr>
          <a:xfrm>
            <a:off x="8460943" y="2142439"/>
            <a:ext cx="332842" cy="332842"/>
          </a:xfrm>
          <a:prstGeom prst="rect">
            <a:avLst/>
          </a:prstGeom>
        </p:spPr>
      </p:pic>
      <p:sp>
        <p:nvSpPr>
          <p:cNvPr id="30" name="Text 25"/>
          <p:cNvSpPr/>
          <p:nvPr/>
        </p:nvSpPr>
        <p:spPr>
          <a:xfrm>
            <a:off x="9061704" y="1737360"/>
            <a:ext cx="2468880" cy="1143000"/>
          </a:xfrm>
          <a:prstGeom prst="rect">
            <a:avLst/>
          </a:prstGeom>
          <a:noFill/>
          <a:ln/>
        </p:spPr>
        <p:txBody>
          <a:bodyPr wrap="square" lIns="0" tIns="0" rIns="0" bIns="0" rtlCol="0" anchor="ctr"/>
          <a:lstStyle/>
          <a:p>
            <a:pPr marL="0" indent="0">
              <a:buNone/>
            </a:pPr>
            <a:r>
              <a:rPr lang="en-US" sz="1900" dirty="0">
                <a:solidFill>
                  <a:srgbClr val="FFFFFF"/>
                </a:solidFill>
                <a:latin typeface="Consolas" pitchFamily="34" charset="0"/>
                <a:ea typeface="Consolas" pitchFamily="34" charset="-122"/>
                <a:cs typeface="Consolas" pitchFamily="34" charset="-120"/>
              </a:rPr>
              <a:t>readinessProbe</a:t>
            </a:r>
            <a:endParaRPr lang="en-US" sz="1900" dirty="0"/>
          </a:p>
        </p:txBody>
      </p:sp>
      <p:sp>
        <p:nvSpPr>
          <p:cNvPr id="31" name="Text 26"/>
          <p:cNvSpPr/>
          <p:nvPr/>
        </p:nvSpPr>
        <p:spPr>
          <a:xfrm>
            <a:off x="8375904" y="3063240"/>
            <a:ext cx="3017520" cy="731520"/>
          </a:xfrm>
          <a:prstGeom prst="rect">
            <a:avLst/>
          </a:prstGeom>
          <a:noFill/>
          <a:ln/>
        </p:spPr>
        <p:txBody>
          <a:bodyPr wrap="square" lIns="0" tIns="0" rIns="0" bIns="0" rtlCol="0" anchor="t"/>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Can it take traffic right now?</a:t>
            </a:r>
            <a:endParaRPr lang="en-US" sz="1800" dirty="0"/>
          </a:p>
        </p:txBody>
      </p:sp>
      <p:sp>
        <p:nvSpPr>
          <p:cNvPr id="32" name="Text 27"/>
          <p:cNvSpPr/>
          <p:nvPr/>
        </p:nvSpPr>
        <p:spPr>
          <a:xfrm>
            <a:off x="8375904" y="3840480"/>
            <a:ext cx="3017520" cy="109728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Gates traffic during warm-up, overload or </a:t>
            </a:r>
            <a:r>
              <a:rPr lang="en-US" sz="1400">
                <a:solidFill>
                  <a:srgbClr val="323130"/>
                </a:solidFill>
                <a:latin typeface="Segoe UI" pitchFamily="34" charset="0"/>
                <a:ea typeface="Segoe UI" pitchFamily="34" charset="-122"/>
                <a:cs typeface="Segoe UI" pitchFamily="34" charset="-120"/>
              </a:rPr>
              <a:t>graceful drain</a:t>
            </a:r>
            <a:r>
              <a:rPr lang="en-US" sz="1400" dirty="0">
                <a:solidFill>
                  <a:srgbClr val="323130"/>
                </a:solidFill>
                <a:latin typeface="Segoe UI" pitchFamily="34" charset="0"/>
                <a:ea typeface="Segoe UI" pitchFamily="34" charset="-122"/>
                <a:cs typeface="Segoe UI" pitchFamily="34" charset="-120"/>
              </a:rPr>
              <a:t>.</a:t>
            </a:r>
            <a:endParaRPr lang="en-US" sz="1400" dirty="0"/>
          </a:p>
        </p:txBody>
      </p:sp>
      <p:sp>
        <p:nvSpPr>
          <p:cNvPr id="33" name="Text 28"/>
          <p:cNvSpPr/>
          <p:nvPr/>
        </p:nvSpPr>
        <p:spPr>
          <a:xfrm>
            <a:off x="8375904" y="5166360"/>
            <a:ext cx="3017520" cy="685800"/>
          </a:xfrm>
          <a:prstGeom prst="rect">
            <a:avLst/>
          </a:prstGeom>
          <a:solidFill>
            <a:srgbClr val="FDE7DE"/>
          </a:solidFill>
          <a:ln/>
        </p:spPr>
        <p:txBody>
          <a:bodyPr wrap="square" lIns="76200" tIns="76200" rIns="76200" bIns="76200" rtlCol="0" anchor="ctr"/>
          <a:lstStyle/>
          <a:p>
            <a:pPr marL="0" indent="0">
              <a:buNone/>
            </a:pPr>
            <a:r>
              <a:rPr lang="en-US" sz="1300" dirty="0">
                <a:solidFill>
                  <a:srgbClr val="8A2500"/>
                </a:solidFill>
                <a:latin typeface="Segoe UI Semibold" pitchFamily="34" charset="0"/>
                <a:ea typeface="Segoe UI Semibold" pitchFamily="34" charset="-122"/>
                <a:cs typeface="Segoe UI Semibold" pitchFamily="34" charset="-120"/>
              </a:rPr>
              <a:t>On failure: removed from </a:t>
            </a:r>
            <a:r>
              <a:rPr lang="en-US" sz="1300">
                <a:solidFill>
                  <a:srgbClr val="8A2500"/>
                </a:solidFill>
                <a:latin typeface="Segoe UI Semibold" pitchFamily="34" charset="0"/>
                <a:ea typeface="Segoe UI Semibold" pitchFamily="34" charset="-122"/>
                <a:cs typeface="Segoe UI Semibold" pitchFamily="34" charset="-120"/>
              </a:rPr>
              <a:t>EndpointSlices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43501"/>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754AA8F4-48CF-4B6E-8BB7-4886970D355F}" type="slidenum">
              <a:rPr lang="en-US" sz="1100">
                <a:solidFill>
                  <a:srgbClr val="605E5C"/>
                </a:solidFill>
                <a:latin typeface="Segoe UI" pitchFamily="34" charset="0"/>
                <a:ea typeface="Segoe UI" pitchFamily="34" charset="-122"/>
                <a:cs typeface="Segoe UI" pitchFamily="34" charset="-120"/>
              </a:rPr>
              <a:t>32</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Readiness: Traffic Gating</a:t>
            </a:r>
            <a:endParaRPr lang="en-US" sz="3200" dirty="0"/>
          </a:p>
        </p:txBody>
      </p:sp>
      <p:sp>
        <p:nvSpPr>
          <p:cNvPr id="10" name="Shape 8"/>
          <p:cNvSpPr/>
          <p:nvPr/>
        </p:nvSpPr>
        <p:spPr>
          <a:xfrm>
            <a:off x="548640" y="1691640"/>
            <a:ext cx="6400800" cy="4389120"/>
          </a:xfrm>
          <a:prstGeom prst="rect">
            <a:avLst/>
          </a:prstGeom>
          <a:solidFill>
            <a:srgbClr val="FFFFFF"/>
          </a:solidFill>
          <a:ln/>
        </p:spPr>
        <p:txBody>
          <a:bodyPr/>
          <a:lstStyle/>
          <a:p>
            <a:endParaRPr lang="en-US"/>
          </a:p>
        </p:txBody>
      </p:sp>
      <p:sp>
        <p:nvSpPr>
          <p:cNvPr id="11" name="Text 9"/>
          <p:cNvSpPr/>
          <p:nvPr/>
        </p:nvSpPr>
        <p:spPr>
          <a:xfrm>
            <a:off x="2148840" y="1965960"/>
            <a:ext cx="3200400" cy="685800"/>
          </a:xfrm>
          <a:prstGeom prst="rect">
            <a:avLst/>
          </a:prstGeom>
          <a:solidFill>
            <a:srgbClr val="0B1F33"/>
          </a:solidFill>
          <a:ln/>
        </p:spPr>
        <p:txBody>
          <a:bodyPr wrap="square" lIns="76200" tIns="76200" rIns="76200" bIns="7620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Service (ClusterIP)</a:t>
            </a:r>
            <a:endParaRPr lang="en-US" sz="1600" dirty="0"/>
          </a:p>
        </p:txBody>
      </p:sp>
      <p:sp>
        <p:nvSpPr>
          <p:cNvPr id="12" name="Shape 10"/>
          <p:cNvSpPr/>
          <p:nvPr/>
        </p:nvSpPr>
        <p:spPr>
          <a:xfrm flipH="1">
            <a:off x="1691640" y="2697480"/>
            <a:ext cx="2057400" cy="960120"/>
          </a:xfrm>
          <a:prstGeom prst="line">
            <a:avLst/>
          </a:prstGeom>
          <a:noFill/>
          <a:ln w="25400">
            <a:solidFill>
              <a:srgbClr val="0078D4"/>
            </a:solidFill>
            <a:prstDash val="solid"/>
            <a:tailEnd type="triangle"/>
          </a:ln>
        </p:spPr>
        <p:txBody>
          <a:bodyPr/>
          <a:lstStyle/>
          <a:p>
            <a:endParaRPr lang="en-US"/>
          </a:p>
        </p:txBody>
      </p:sp>
      <p:sp>
        <p:nvSpPr>
          <p:cNvPr id="13" name="Text 11"/>
          <p:cNvSpPr/>
          <p:nvPr/>
        </p:nvSpPr>
        <p:spPr>
          <a:xfrm>
            <a:off x="868680" y="3703320"/>
            <a:ext cx="1645920" cy="777240"/>
          </a:xfrm>
          <a:prstGeom prst="rect">
            <a:avLst/>
          </a:prstGeom>
          <a:solidFill>
            <a:srgbClr val="0078D4"/>
          </a:solidFill>
          <a:ln/>
        </p:spPr>
        <p:txBody>
          <a:bodyPr wrap="square" lIns="76200" tIns="76200" rIns="76200" bIns="7620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pod-a  ✓</a:t>
            </a:r>
            <a:endParaRPr lang="en-US" sz="1600" dirty="0"/>
          </a:p>
        </p:txBody>
      </p:sp>
      <p:sp>
        <p:nvSpPr>
          <p:cNvPr id="14" name="Text 12"/>
          <p:cNvSpPr/>
          <p:nvPr/>
        </p:nvSpPr>
        <p:spPr>
          <a:xfrm>
            <a:off x="777240" y="4572000"/>
            <a:ext cx="1828800" cy="320040"/>
          </a:xfrm>
          <a:prstGeom prst="rect">
            <a:avLst/>
          </a:prstGeom>
          <a:noFill/>
          <a:ln/>
        </p:spPr>
        <p:txBody>
          <a:bodyPr wrap="square" lIns="0" tIns="0" rIns="0" bIns="0" rtlCol="0" anchor="ctr"/>
          <a:lstStyle/>
          <a:p>
            <a:pPr marL="0" indent="0" algn="ctr">
              <a:buNone/>
            </a:pPr>
            <a:r>
              <a:rPr lang="en-US" sz="1200" dirty="0">
                <a:solidFill>
                  <a:srgbClr val="605E5C"/>
                </a:solidFill>
                <a:latin typeface="Consolas" pitchFamily="34" charset="0"/>
                <a:ea typeface="Consolas" pitchFamily="34" charset="-122"/>
                <a:cs typeface="Consolas" pitchFamily="34" charset="-120"/>
              </a:rPr>
              <a:t>READY 1/1</a:t>
            </a:r>
            <a:endParaRPr lang="en-US" sz="1200" dirty="0"/>
          </a:p>
        </p:txBody>
      </p:sp>
      <p:sp>
        <p:nvSpPr>
          <p:cNvPr id="15" name="Shape 13"/>
          <p:cNvSpPr/>
          <p:nvPr/>
        </p:nvSpPr>
        <p:spPr>
          <a:xfrm flipH="1">
            <a:off x="3703320" y="2697480"/>
            <a:ext cx="45720" cy="960120"/>
          </a:xfrm>
          <a:prstGeom prst="line">
            <a:avLst/>
          </a:prstGeom>
          <a:noFill/>
          <a:ln w="25400">
            <a:solidFill>
              <a:srgbClr val="0078D4"/>
            </a:solidFill>
            <a:prstDash val="solid"/>
            <a:tailEnd type="triangle"/>
          </a:ln>
        </p:spPr>
        <p:txBody>
          <a:bodyPr/>
          <a:lstStyle/>
          <a:p>
            <a:endParaRPr lang="en-US"/>
          </a:p>
        </p:txBody>
      </p:sp>
      <p:sp>
        <p:nvSpPr>
          <p:cNvPr id="16" name="Text 14"/>
          <p:cNvSpPr/>
          <p:nvPr/>
        </p:nvSpPr>
        <p:spPr>
          <a:xfrm>
            <a:off x="2880360" y="3703320"/>
            <a:ext cx="1645920" cy="777240"/>
          </a:xfrm>
          <a:prstGeom prst="rect">
            <a:avLst/>
          </a:prstGeom>
          <a:solidFill>
            <a:srgbClr val="0078D4"/>
          </a:solidFill>
          <a:ln/>
        </p:spPr>
        <p:txBody>
          <a:bodyPr wrap="square" lIns="76200" tIns="76200" rIns="76200" bIns="76200" rtlCol="0" anchor="ctr"/>
          <a:lstStyle/>
          <a:p>
            <a:pPr marL="0" indent="0" algn="ctr">
              <a:buNone/>
            </a:pPr>
            <a:r>
              <a:rPr lang="en-US" sz="1600" dirty="0">
                <a:solidFill>
                  <a:srgbClr val="FFFFFF"/>
                </a:solidFill>
                <a:latin typeface="Segoe UI Semibold" pitchFamily="34" charset="0"/>
                <a:ea typeface="Segoe UI Semibold" pitchFamily="34" charset="-122"/>
                <a:cs typeface="Segoe UI Semibold" pitchFamily="34" charset="-120"/>
              </a:rPr>
              <a:t>pod-b  ✓</a:t>
            </a:r>
            <a:endParaRPr lang="en-US" sz="1600" dirty="0"/>
          </a:p>
        </p:txBody>
      </p:sp>
      <p:sp>
        <p:nvSpPr>
          <p:cNvPr id="17" name="Text 15"/>
          <p:cNvSpPr/>
          <p:nvPr/>
        </p:nvSpPr>
        <p:spPr>
          <a:xfrm>
            <a:off x="2788920" y="4572000"/>
            <a:ext cx="1828800" cy="320040"/>
          </a:xfrm>
          <a:prstGeom prst="rect">
            <a:avLst/>
          </a:prstGeom>
          <a:noFill/>
          <a:ln/>
        </p:spPr>
        <p:txBody>
          <a:bodyPr wrap="square" lIns="0" tIns="0" rIns="0" bIns="0" rtlCol="0" anchor="ctr"/>
          <a:lstStyle/>
          <a:p>
            <a:pPr marL="0" indent="0" algn="ctr">
              <a:buNone/>
            </a:pPr>
            <a:r>
              <a:rPr lang="en-US" sz="1200" dirty="0">
                <a:solidFill>
                  <a:srgbClr val="605E5C"/>
                </a:solidFill>
                <a:latin typeface="Consolas" pitchFamily="34" charset="0"/>
                <a:ea typeface="Consolas" pitchFamily="34" charset="-122"/>
                <a:cs typeface="Consolas" pitchFamily="34" charset="-120"/>
              </a:rPr>
              <a:t>READY 1/1</a:t>
            </a:r>
            <a:endParaRPr lang="en-US" sz="1200" dirty="0"/>
          </a:p>
        </p:txBody>
      </p:sp>
      <p:sp>
        <p:nvSpPr>
          <p:cNvPr id="18" name="Text 16"/>
          <p:cNvSpPr/>
          <p:nvPr/>
        </p:nvSpPr>
        <p:spPr>
          <a:xfrm>
            <a:off x="4892040" y="3703320"/>
            <a:ext cx="1645920" cy="777240"/>
          </a:xfrm>
          <a:prstGeom prst="rect">
            <a:avLst/>
          </a:prstGeom>
          <a:solidFill>
            <a:srgbClr val="FFFFFF"/>
          </a:solidFill>
          <a:ln w="15875">
            <a:solidFill>
              <a:srgbClr val="D83B01"/>
            </a:solidFill>
          </a:ln>
        </p:spPr>
        <p:txBody>
          <a:bodyPr wrap="square" lIns="76200" tIns="76200" rIns="76200" bIns="76200" rtlCol="0" anchor="ctr"/>
          <a:lstStyle/>
          <a:p>
            <a:pPr marL="0" indent="0" algn="ctr">
              <a:buNone/>
            </a:pPr>
            <a:r>
              <a:rPr lang="en-US" sz="1600" dirty="0">
                <a:solidFill>
                  <a:srgbClr val="D83B01"/>
                </a:solidFill>
                <a:latin typeface="Segoe UI Semibold" pitchFamily="34" charset="0"/>
                <a:ea typeface="Segoe UI Semibold" pitchFamily="34" charset="-122"/>
                <a:cs typeface="Segoe UI Semibold" pitchFamily="34" charset="-120"/>
              </a:rPr>
              <a:t>pod-c  ✕</a:t>
            </a:r>
            <a:endParaRPr lang="en-US" sz="1600" dirty="0"/>
          </a:p>
        </p:txBody>
      </p:sp>
      <p:sp>
        <p:nvSpPr>
          <p:cNvPr id="19" name="Text 17"/>
          <p:cNvSpPr/>
          <p:nvPr/>
        </p:nvSpPr>
        <p:spPr>
          <a:xfrm>
            <a:off x="4800600" y="4572000"/>
            <a:ext cx="1828800" cy="320040"/>
          </a:xfrm>
          <a:prstGeom prst="rect">
            <a:avLst/>
          </a:prstGeom>
          <a:noFill/>
          <a:ln/>
        </p:spPr>
        <p:txBody>
          <a:bodyPr wrap="square" lIns="0" tIns="0" rIns="0" bIns="0" rtlCol="0" anchor="ctr"/>
          <a:lstStyle/>
          <a:p>
            <a:pPr marL="0" indent="0" algn="ctr">
              <a:buNone/>
            </a:pPr>
            <a:r>
              <a:rPr lang="en-US" sz="1200" dirty="0">
                <a:solidFill>
                  <a:srgbClr val="D83B01"/>
                </a:solidFill>
                <a:latin typeface="Consolas" pitchFamily="34" charset="0"/>
                <a:ea typeface="Consolas" pitchFamily="34" charset="-122"/>
                <a:cs typeface="Consolas" pitchFamily="34" charset="-120"/>
              </a:rPr>
              <a:t>Running, READY 0/1</a:t>
            </a:r>
            <a:endParaRPr lang="en-US" sz="1200" dirty="0"/>
          </a:p>
        </p:txBody>
      </p:sp>
      <p:sp>
        <p:nvSpPr>
          <p:cNvPr id="20" name="Text 18"/>
          <p:cNvSpPr/>
          <p:nvPr/>
        </p:nvSpPr>
        <p:spPr>
          <a:xfrm>
            <a:off x="868680" y="5120640"/>
            <a:ext cx="5852160" cy="548640"/>
          </a:xfrm>
          <a:prstGeom prst="rect">
            <a:avLst/>
          </a:prstGeom>
          <a:noFill/>
          <a:ln/>
        </p:spPr>
        <p:txBody>
          <a:bodyPr wrap="square" lIns="0" tIns="0" rIns="0" bIns="0" rtlCol="0" anchor="ctr"/>
          <a:lstStyle/>
          <a:p>
            <a:pPr marL="0" indent="0">
              <a:buNone/>
            </a:pPr>
            <a:r>
              <a:rPr lang="en-US" sz="1400" i="1" dirty="0">
                <a:solidFill>
                  <a:srgbClr val="D83B01"/>
                </a:solidFill>
                <a:latin typeface="Segoe UI" pitchFamily="34" charset="0"/>
                <a:ea typeface="Segoe UI" pitchFamily="34" charset="-122"/>
                <a:cs typeface="Segoe UI" pitchFamily="34" charset="-120"/>
              </a:rPr>
              <a:t>pod-c: readiness failing → removed from EndpointSlice</a:t>
            </a:r>
            <a:endParaRPr lang="en-US" sz="1400" dirty="0"/>
          </a:p>
        </p:txBody>
      </p:sp>
      <p:sp>
        <p:nvSpPr>
          <p:cNvPr id="21" name="Text 19"/>
          <p:cNvSpPr/>
          <p:nvPr/>
        </p:nvSpPr>
        <p:spPr>
          <a:xfrm>
            <a:off x="7315200" y="1828800"/>
            <a:ext cx="4325112" cy="4114800"/>
          </a:xfrm>
          <a:prstGeom prst="rect">
            <a:avLst/>
          </a:prstGeom>
          <a:noFill/>
          <a:ln/>
        </p:spPr>
        <p:txBody>
          <a:bodyPr wrap="square" lIns="0" tIns="0" rIns="0" bIns="0" rtlCol="0"/>
          <a:lstStyle/>
          <a:p>
            <a:pPr marL="254000" indent="-254000">
              <a:spcAft>
                <a:spcPts val="1800"/>
              </a:spcAft>
              <a:buSzPct val="100000"/>
              <a:buChar char="•"/>
            </a:pPr>
            <a:r>
              <a:rPr lang="en-US" sz="1800" dirty="0">
                <a:solidFill>
                  <a:srgbClr val="323130"/>
                </a:solidFill>
                <a:latin typeface="Segoe UI" pitchFamily="34" charset="0"/>
                <a:ea typeface="Segoe UI" pitchFamily="34" charset="-122"/>
                <a:cs typeface="Segoe UI" pitchFamily="34" charset="-120"/>
              </a:rPr>
              <a:t>Pod stays </a:t>
            </a:r>
            <a:r>
              <a:rPr lang="en-US" sz="1800" b="1" dirty="0">
                <a:solidFill>
                  <a:srgbClr val="323130"/>
                </a:solidFill>
                <a:latin typeface="Segoe UI" pitchFamily="34" charset="0"/>
                <a:ea typeface="Segoe UI" pitchFamily="34" charset="-122"/>
                <a:cs typeface="Segoe UI" pitchFamily="34" charset="-120"/>
              </a:rPr>
              <a:t>Running</a:t>
            </a:r>
            <a:r>
              <a:rPr lang="en-US" sz="1800" dirty="0">
                <a:solidFill>
                  <a:srgbClr val="323130"/>
                </a:solidFill>
                <a:latin typeface="Segoe UI" pitchFamily="34" charset="0"/>
                <a:ea typeface="Segoe UI" pitchFamily="34" charset="-122"/>
                <a:cs typeface="Segoe UI" pitchFamily="34" charset="-120"/>
              </a:rPr>
              <a:t> but shows </a:t>
            </a:r>
            <a:r>
              <a:rPr lang="en-US" sz="1800" dirty="0">
                <a:solidFill>
                  <a:srgbClr val="0F6CBD"/>
                </a:solidFill>
                <a:latin typeface="Consolas" pitchFamily="34" charset="0"/>
                <a:ea typeface="Consolas" pitchFamily="34" charset="-122"/>
                <a:cs typeface="Consolas" pitchFamily="34" charset="-120"/>
              </a:rPr>
              <a:t>0/1</a:t>
            </a:r>
            <a:r>
              <a:rPr lang="en-US" sz="1800" dirty="0">
                <a:solidFill>
                  <a:srgbClr val="323130"/>
                </a:solidFill>
                <a:latin typeface="Segoe UI" pitchFamily="34" charset="0"/>
                <a:ea typeface="Segoe UI" pitchFamily="34" charset="-122"/>
                <a:cs typeface="Segoe UI" pitchFamily="34" charset="-120"/>
              </a:rPr>
              <a:t> READY</a:t>
            </a:r>
            <a:endParaRPr lang="en-US" sz="1800" dirty="0"/>
          </a:p>
          <a:p>
            <a:pPr marL="254000" indent="-254000">
              <a:spcAft>
                <a:spcPts val="1800"/>
              </a:spcAft>
              <a:buSzPct val="100000"/>
              <a:buChar char="•"/>
            </a:pPr>
            <a:r>
              <a:rPr lang="en-US" sz="1800" dirty="0">
                <a:solidFill>
                  <a:srgbClr val="323130"/>
                </a:solidFill>
                <a:latin typeface="Segoe UI" pitchFamily="34" charset="0"/>
                <a:ea typeface="Segoe UI" pitchFamily="34" charset="-122"/>
                <a:cs typeface="Segoe UI" pitchFamily="34" charset="-120"/>
              </a:rPr>
              <a:t>The Service stops routing to it until the probe passes again</a:t>
            </a:r>
            <a:endParaRPr lang="en-US" sz="1800" dirty="0"/>
          </a:p>
          <a:p>
            <a:pPr marL="254000" indent="-254000">
              <a:spcAft>
                <a:spcPts val="1800"/>
              </a:spcAft>
              <a:buSzPct val="100000"/>
              <a:buChar char="•"/>
            </a:pPr>
            <a:r>
              <a:rPr lang="en-US" sz="1800" dirty="0">
                <a:solidFill>
                  <a:srgbClr val="323130"/>
                </a:solidFill>
                <a:latin typeface="Segoe UI" pitchFamily="34" charset="0"/>
                <a:ea typeface="Segoe UI" pitchFamily="34" charset="-122"/>
                <a:cs typeface="Segoe UI" pitchFamily="34" charset="-120"/>
              </a:rPr>
              <a:t>Use it for warm-up, </a:t>
            </a:r>
            <a:r>
              <a:rPr lang="en-US" sz="1800">
                <a:solidFill>
                  <a:srgbClr val="323130"/>
                </a:solidFill>
                <a:latin typeface="Segoe UI" pitchFamily="34" charset="0"/>
                <a:ea typeface="Segoe UI" pitchFamily="34" charset="-122"/>
                <a:cs typeface="Segoe UI" pitchFamily="34" charset="-120"/>
              </a:rPr>
              <a:t>overload</a:t>
            </a:r>
            <a:r>
              <a:rPr lang="en-US" sz="1800" dirty="0">
                <a:solidFill>
                  <a:srgbClr val="323130"/>
                </a:solidFill>
                <a:latin typeface="Segoe UI" pitchFamily="34" charset="0"/>
                <a:ea typeface="Segoe UI" pitchFamily="34" charset="-122"/>
                <a:cs typeface="Segoe UI" pitchFamily="34" charset="-120"/>
              </a:rPr>
              <a:t>, or graceful drain</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0">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FF8C5A"/>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D3BD7484-75C5-4940-A875-7D3476A04F0B}" type="slidenum">
              <a:rPr lang="en-US" sz="1100">
                <a:solidFill>
                  <a:srgbClr val="A9B8C8"/>
                </a:solidFill>
                <a:latin typeface="Segoe UI" pitchFamily="34" charset="0"/>
                <a:ea typeface="Segoe UI" pitchFamily="34" charset="-122"/>
                <a:cs typeface="Segoe UI" pitchFamily="34" charset="-120"/>
              </a:rPr>
              <a:t>33</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Configuring Probes</a:t>
            </a:r>
            <a:endParaRPr lang="en-US" sz="3200" dirty="0"/>
          </a:p>
        </p:txBody>
      </p:sp>
      <p:sp>
        <p:nvSpPr>
          <p:cNvPr id="10" name="Shape 8"/>
          <p:cNvSpPr/>
          <p:nvPr/>
        </p:nvSpPr>
        <p:spPr>
          <a:xfrm>
            <a:off x="548640" y="1737360"/>
            <a:ext cx="5852160" cy="4343400"/>
          </a:xfrm>
          <a:prstGeom prst="rect">
            <a:avLst/>
          </a:prstGeom>
          <a:solidFill>
            <a:srgbClr val="1E1E1E"/>
          </a:solidFill>
          <a:ln/>
        </p:spPr>
        <p:txBody>
          <a:bodyPr/>
          <a:lstStyle/>
          <a:p>
            <a:endParaRPr lang="en-US"/>
          </a:p>
        </p:txBody>
      </p:sp>
      <p:sp>
        <p:nvSpPr>
          <p:cNvPr id="11" name="Shape 9"/>
          <p:cNvSpPr/>
          <p:nvPr/>
        </p:nvSpPr>
        <p:spPr>
          <a:xfrm>
            <a:off x="548640" y="1737360"/>
            <a:ext cx="5852160" cy="347472"/>
          </a:xfrm>
          <a:prstGeom prst="rect">
            <a:avLst/>
          </a:prstGeom>
          <a:solidFill>
            <a:srgbClr val="2D2D30"/>
          </a:solidFill>
          <a:ln/>
        </p:spPr>
        <p:txBody>
          <a:bodyPr/>
          <a:lstStyle/>
          <a:p>
            <a:endParaRPr lang="en-US"/>
          </a:p>
        </p:txBody>
      </p:sp>
      <p:sp>
        <p:nvSpPr>
          <p:cNvPr id="12" name="Shape 10"/>
          <p:cNvSpPr/>
          <p:nvPr/>
        </p:nvSpPr>
        <p:spPr>
          <a:xfrm>
            <a:off x="548640" y="1737360"/>
            <a:ext cx="1714500" cy="347472"/>
          </a:xfrm>
          <a:prstGeom prst="rect">
            <a:avLst/>
          </a:prstGeom>
          <a:solidFill>
            <a:srgbClr val="1E1E1E"/>
          </a:solidFill>
          <a:ln/>
        </p:spPr>
        <p:txBody>
          <a:bodyPr/>
          <a:lstStyle/>
          <a:p>
            <a:endParaRPr lang="en-US"/>
          </a:p>
        </p:txBody>
      </p:sp>
      <p:sp>
        <p:nvSpPr>
          <p:cNvPr id="13" name="Text 11"/>
          <p:cNvSpPr/>
          <p:nvPr/>
        </p:nvSpPr>
        <p:spPr>
          <a:xfrm>
            <a:off x="685800" y="1737360"/>
            <a:ext cx="1531620"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deployment.yaml</a:t>
            </a:r>
            <a:endParaRPr lang="en-US" sz="1100" dirty="0"/>
          </a:p>
        </p:txBody>
      </p:sp>
      <p:sp>
        <p:nvSpPr>
          <p:cNvPr id="14" name="Text 12"/>
          <p:cNvSpPr/>
          <p:nvPr/>
        </p:nvSpPr>
        <p:spPr>
          <a:xfrm>
            <a:off x="749808" y="2212848"/>
            <a:ext cx="5486400" cy="3749040"/>
          </a:xfrm>
          <a:prstGeom prst="rect">
            <a:avLst/>
          </a:prstGeom>
          <a:noFill/>
          <a:ln/>
        </p:spPr>
        <p:txBody>
          <a:bodyPr wrap="square" lIns="0" tIns="0" rIns="0" bIns="0" rtlCol="0" anchor="t"/>
          <a:lstStyle/>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containers</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api</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startupProbe</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httpGet</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path: /healthz, port: 8080 }</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periodSeconds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5</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failureThreshold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30    </a:t>
            </a:r>
            <a:r>
              <a:rPr lang="en-US" sz="1250" dirty="0">
                <a:solidFill>
                  <a:srgbClr val="6A9955"/>
                </a:solidFill>
                <a:latin typeface="Consolas" pitchFamily="34" charset="0"/>
                <a:ea typeface="Consolas" pitchFamily="34" charset="-122"/>
                <a:cs typeface="Consolas" pitchFamily="34" charset="-120"/>
              </a:rPr>
              <a:t> # up to 150 s to start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livenessProbe</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httpGet</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path: /healthz, port: 8080 }</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periodSeconds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10</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failureThreshold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3</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readinessProbe</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httpGet</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path: /ready, port: 8080 }</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periodSeconds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5</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timeoutSeconds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2</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75120" y="1737360"/>
          <a:ext cx="4965192" cy="4114800"/>
        </p:xfrm>
        <a:graphic>
          <a:graphicData uri="http://schemas.openxmlformats.org/drawingml/2006/table">
            <a:tbl>
              <a:tblPr/>
              <a:tblGrid>
                <a:gridCol w="2148840">
                  <a:extLst>
                    <a:ext uri="{9D8B030D-6E8A-4147-A177-3AD203B41FA5}">
                      <a16:colId xmlns:a16="http://schemas.microsoft.com/office/drawing/2014/main" val="20000"/>
                    </a:ext>
                  </a:extLst>
                </a:gridCol>
                <a:gridCol w="2816352">
                  <a:extLst>
                    <a:ext uri="{9D8B030D-6E8A-4147-A177-3AD203B41FA5}">
                      <a16:colId xmlns:a16="http://schemas.microsoft.com/office/drawing/2014/main" val="20001"/>
                    </a:ext>
                  </a:extLst>
                </a:gridCol>
              </a:tblGrid>
              <a:tr h="685800">
                <a:tc>
                  <a:txBody>
                    <a:bodyPr/>
                    <a:lstStyle/>
                    <a:p>
                      <a:pPr marL="0" indent="0">
                        <a:buNone/>
                      </a:pPr>
                      <a:r>
                        <a:rPr lang="en-US" sz="1300" b="1" dirty="0">
                          <a:solidFill>
                            <a:srgbClr val="FFFFFF"/>
                          </a:solidFill>
                          <a:latin typeface="Segoe UI Semibold" pitchFamily="34" charset="0"/>
                          <a:ea typeface="Segoe UI Semibold" pitchFamily="34" charset="-122"/>
                          <a:cs typeface="Segoe UI Semibold" pitchFamily="34" charset="-120"/>
                        </a:rPr>
                        <a:t>Field</a:t>
                      </a:r>
                      <a:endParaRPr lang="en-US" sz="1300" dirty="0">
                        <a:latin typeface="Segoe UI Semibold" charset="0"/>
                        <a:ea typeface="Segoe UI Semibold" charset="0"/>
                        <a:cs typeface="Segoe UI Semibold"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D83B01"/>
                    </a:solidFill>
                  </a:tcPr>
                </a:tc>
                <a:tc>
                  <a:txBody>
                    <a:bodyPr/>
                    <a:lstStyle/>
                    <a:p>
                      <a:pPr marL="0" indent="0">
                        <a:buNone/>
                      </a:pPr>
                      <a:r>
                        <a:rPr lang="en-US" sz="1300" b="1" dirty="0">
                          <a:solidFill>
                            <a:srgbClr val="FFFFFF"/>
                          </a:solidFill>
                          <a:latin typeface="Segoe UI Semibold" pitchFamily="34" charset="0"/>
                          <a:ea typeface="Segoe UI Semibold" pitchFamily="34" charset="-122"/>
                          <a:cs typeface="Segoe UI Semibold" pitchFamily="34" charset="-120"/>
                        </a:rPr>
                        <a:t>Purpose</a:t>
                      </a:r>
                      <a:endParaRPr lang="en-US" sz="1300" dirty="0">
                        <a:latin typeface="Segoe UI Semibold" charset="0"/>
                        <a:ea typeface="Segoe UI Semibold" charset="0"/>
                        <a:cs typeface="Segoe UI Semibold"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D83B01"/>
                    </a:solidFill>
                  </a:tcPr>
                </a:tc>
                <a:extLst>
                  <a:ext uri="{0D108BD9-81ED-4DB2-BD59-A6C34878D82A}">
                    <a16:rowId xmlns:a16="http://schemas.microsoft.com/office/drawing/2014/main" val="10000"/>
                  </a:ext>
                </a:extLst>
              </a:tr>
              <a:tr h="685800">
                <a:tc>
                  <a:txBody>
                    <a:bodyPr/>
                    <a:lstStyle/>
                    <a:p>
                      <a:pPr marL="0" indent="0">
                        <a:buNone/>
                      </a:pPr>
                      <a:r>
                        <a:rPr lang="en-US" sz="1300" dirty="0">
                          <a:solidFill>
                            <a:srgbClr val="9CDCFE"/>
                          </a:solidFill>
                          <a:latin typeface="Consolas" pitchFamily="34" charset="0"/>
                          <a:ea typeface="Consolas" pitchFamily="34" charset="-122"/>
                          <a:cs typeface="Consolas" pitchFamily="34" charset="-120"/>
                        </a:rPr>
                        <a:t>periodSeconds</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300" dirty="0">
                          <a:solidFill>
                            <a:srgbClr val="FFFFFF"/>
                          </a:solidFill>
                          <a:latin typeface="Segoe UI" pitchFamily="34" charset="0"/>
                          <a:ea typeface="Segoe UI" pitchFamily="34" charset="-122"/>
                          <a:cs typeface="Segoe UI" pitchFamily="34" charset="-120"/>
                        </a:rPr>
                        <a:t>How often to probe</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extLst>
                  <a:ext uri="{0D108BD9-81ED-4DB2-BD59-A6C34878D82A}">
                    <a16:rowId xmlns:a16="http://schemas.microsoft.com/office/drawing/2014/main" val="10001"/>
                  </a:ext>
                </a:extLst>
              </a:tr>
              <a:tr h="685800">
                <a:tc>
                  <a:txBody>
                    <a:bodyPr/>
                    <a:lstStyle/>
                    <a:p>
                      <a:pPr marL="0" indent="0">
                        <a:buNone/>
                      </a:pPr>
                      <a:r>
                        <a:rPr lang="en-US" sz="1300" dirty="0">
                          <a:solidFill>
                            <a:srgbClr val="9CDCFE"/>
                          </a:solidFill>
                          <a:latin typeface="Consolas" pitchFamily="34" charset="0"/>
                          <a:ea typeface="Consolas" pitchFamily="34" charset="-122"/>
                          <a:cs typeface="Consolas" pitchFamily="34" charset="-120"/>
                        </a:rPr>
                        <a:t>timeoutSeconds</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300" dirty="0">
                          <a:solidFill>
                            <a:srgbClr val="FFFFFF"/>
                          </a:solidFill>
                          <a:latin typeface="Segoe UI" pitchFamily="34" charset="0"/>
                          <a:ea typeface="Segoe UI" pitchFamily="34" charset="-122"/>
                          <a:cs typeface="Segoe UI" pitchFamily="34" charset="-120"/>
                        </a:rPr>
                        <a:t>How long one probe may take</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extLst>
                  <a:ext uri="{0D108BD9-81ED-4DB2-BD59-A6C34878D82A}">
                    <a16:rowId xmlns:a16="http://schemas.microsoft.com/office/drawing/2014/main" val="10002"/>
                  </a:ext>
                </a:extLst>
              </a:tr>
              <a:tr h="685800">
                <a:tc>
                  <a:txBody>
                    <a:bodyPr/>
                    <a:lstStyle/>
                    <a:p>
                      <a:pPr marL="0" indent="0">
                        <a:buNone/>
                      </a:pPr>
                      <a:r>
                        <a:rPr lang="en-US" sz="1300" dirty="0">
                          <a:solidFill>
                            <a:srgbClr val="9CDCFE"/>
                          </a:solidFill>
                          <a:latin typeface="Consolas" pitchFamily="34" charset="0"/>
                          <a:ea typeface="Consolas" pitchFamily="34" charset="-122"/>
                          <a:cs typeface="Consolas" pitchFamily="34" charset="-120"/>
                        </a:rPr>
                        <a:t>failureThreshold</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300" dirty="0">
                          <a:solidFill>
                            <a:srgbClr val="FFFFFF"/>
                          </a:solidFill>
                          <a:latin typeface="Segoe UI" pitchFamily="34" charset="0"/>
                          <a:ea typeface="Segoe UI" pitchFamily="34" charset="-122"/>
                          <a:cs typeface="Segoe UI" pitchFamily="34" charset="-120"/>
                        </a:rPr>
                        <a:t>Consecutive failures before acting</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extLst>
                  <a:ext uri="{0D108BD9-81ED-4DB2-BD59-A6C34878D82A}">
                    <a16:rowId xmlns:a16="http://schemas.microsoft.com/office/drawing/2014/main" val="10003"/>
                  </a:ext>
                </a:extLst>
              </a:tr>
              <a:tr h="685800">
                <a:tc>
                  <a:txBody>
                    <a:bodyPr/>
                    <a:lstStyle/>
                    <a:p>
                      <a:pPr marL="0" indent="0">
                        <a:buNone/>
                      </a:pPr>
                      <a:r>
                        <a:rPr lang="en-US" sz="1300" dirty="0">
                          <a:solidFill>
                            <a:srgbClr val="9CDCFE"/>
                          </a:solidFill>
                          <a:latin typeface="Consolas" pitchFamily="34" charset="0"/>
                          <a:ea typeface="Consolas" pitchFamily="34" charset="-122"/>
                          <a:cs typeface="Consolas" pitchFamily="34" charset="-120"/>
                        </a:rPr>
                        <a:t>successThreshold</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300" dirty="0">
                          <a:solidFill>
                            <a:srgbClr val="FFFFFF"/>
                          </a:solidFill>
                          <a:latin typeface="Segoe UI" pitchFamily="34" charset="0"/>
                          <a:ea typeface="Segoe UI" pitchFamily="34" charset="-122"/>
                          <a:cs typeface="Segoe UI" pitchFamily="34" charset="-120"/>
                        </a:rPr>
                        <a:t>Successes needed to recover (readiness)</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extLst>
                  <a:ext uri="{0D108BD9-81ED-4DB2-BD59-A6C34878D82A}">
                    <a16:rowId xmlns:a16="http://schemas.microsoft.com/office/drawing/2014/main" val="10004"/>
                  </a:ext>
                </a:extLst>
              </a:tr>
              <a:tr h="685800">
                <a:tc>
                  <a:txBody>
                    <a:bodyPr/>
                    <a:lstStyle/>
                    <a:p>
                      <a:pPr marL="0" indent="0">
                        <a:buNone/>
                      </a:pPr>
                      <a:r>
                        <a:rPr lang="en-US" sz="1300" dirty="0">
                          <a:solidFill>
                            <a:srgbClr val="9CDCFE"/>
                          </a:solidFill>
                          <a:latin typeface="Consolas" pitchFamily="34" charset="0"/>
                          <a:ea typeface="Consolas" pitchFamily="34" charset="-122"/>
                          <a:cs typeface="Consolas" pitchFamily="34" charset="-120"/>
                        </a:rPr>
                        <a:t>initialDelaySeconds</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300" dirty="0">
                          <a:solidFill>
                            <a:srgbClr val="FFFFFF"/>
                          </a:solidFill>
                          <a:latin typeface="Segoe UI" pitchFamily="34" charset="0"/>
                          <a:ea typeface="Segoe UI" pitchFamily="34" charset="-122"/>
                          <a:cs typeface="Segoe UI" pitchFamily="34" charset="-120"/>
                        </a:rPr>
                        <a:t>Wait before first probe — prefer a startupProbe</a:t>
                      </a:r>
                      <a:endParaRPr lang="en-US" sz="13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43501"/>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5CA1C4B9-30D2-49FB-9FBE-10D8A4339038}" type="slidenum">
              <a:rPr lang="en-US" sz="1100">
                <a:solidFill>
                  <a:srgbClr val="605E5C"/>
                </a:solidFill>
                <a:latin typeface="Segoe UI" pitchFamily="34" charset="0"/>
                <a:ea typeface="Segoe UI" pitchFamily="34" charset="-122"/>
                <a:cs typeface="Segoe UI" pitchFamily="34" charset="-120"/>
              </a:rPr>
              <a:t>34</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Probe Anti-Patterns</a:t>
            </a:r>
            <a:endParaRPr lang="en-US" sz="3200" dirty="0"/>
          </a:p>
        </p:txBody>
      </p:sp>
      <p:sp>
        <p:nvSpPr>
          <p:cNvPr id="10" name="Shape 8"/>
          <p:cNvSpPr/>
          <p:nvPr/>
        </p:nvSpPr>
        <p:spPr>
          <a:xfrm>
            <a:off x="548640" y="1737360"/>
            <a:ext cx="3514344" cy="2034540"/>
          </a:xfrm>
          <a:prstGeom prst="rect">
            <a:avLst/>
          </a:prstGeom>
          <a:solidFill>
            <a:srgbClr val="F3F2F1"/>
          </a:solidFill>
          <a:ln/>
        </p:spPr>
        <p:txBody>
          <a:bodyPr/>
          <a:lstStyle/>
          <a:p>
            <a:endParaRPr lang="en-US"/>
          </a:p>
        </p:txBody>
      </p:sp>
      <p:sp>
        <p:nvSpPr>
          <p:cNvPr id="11" name="Shape 9"/>
          <p:cNvSpPr/>
          <p:nvPr/>
        </p:nvSpPr>
        <p:spPr>
          <a:xfrm>
            <a:off x="777240" y="1965960"/>
            <a:ext cx="457200" cy="457200"/>
          </a:xfrm>
          <a:prstGeom prst="ellipse">
            <a:avLst/>
          </a:prstGeom>
          <a:solidFill>
            <a:srgbClr val="D83B01"/>
          </a:solidFill>
          <a:ln/>
        </p:spPr>
        <p:txBody>
          <a:bodyPr/>
          <a:lstStyle/>
          <a:p>
            <a:endParaRPr lang="en-US"/>
          </a:p>
        </p:txBody>
      </p:sp>
      <p:pic>
        <p:nvPicPr>
          <p:cNvPr id="12" name="Image 0" descr="/agent/turn2/workspace/output/_anthropic_assets/icon-warning-adbe1e7c.png"/>
          <p:cNvPicPr>
            <a:picLocks noChangeAspect="1"/>
          </p:cNvPicPr>
          <p:nvPr/>
        </p:nvPicPr>
        <p:blipFill>
          <a:blip r:embed="rId2"/>
          <a:stretch>
            <a:fillRect/>
          </a:stretch>
        </p:blipFill>
        <p:spPr>
          <a:xfrm>
            <a:off x="877824" y="2066544"/>
            <a:ext cx="256032" cy="256032"/>
          </a:xfrm>
          <a:prstGeom prst="rect">
            <a:avLst/>
          </a:prstGeom>
        </p:spPr>
      </p:pic>
      <p:sp>
        <p:nvSpPr>
          <p:cNvPr id="13" name="Text 10"/>
          <p:cNvSpPr/>
          <p:nvPr/>
        </p:nvSpPr>
        <p:spPr>
          <a:xfrm>
            <a:off x="777240" y="2560320"/>
            <a:ext cx="3057144" cy="411480"/>
          </a:xfrm>
          <a:prstGeom prst="rect">
            <a:avLst/>
          </a:prstGeom>
          <a:noFill/>
          <a:ln/>
        </p:spPr>
        <p:txBody>
          <a:bodyPr wrap="square" lIns="0" tIns="0" rIns="0" bIns="0" rtlCol="0" anchor="ctr"/>
          <a:lstStyle/>
          <a:p>
            <a:pPr marL="0" indent="0">
              <a:buNone/>
            </a:pPr>
            <a:r>
              <a:rPr lang="en-US" sz="1600">
                <a:solidFill>
                  <a:srgbClr val="201F1E"/>
                </a:solidFill>
                <a:latin typeface="Segoe UI Semibold" pitchFamily="34" charset="0"/>
                <a:ea typeface="Segoe UI Semibold" pitchFamily="34" charset="-122"/>
                <a:cs typeface="Segoe UI Semibold" pitchFamily="34" charset="-120"/>
              </a:rPr>
              <a:t>Probes check </a:t>
            </a:r>
            <a:r>
              <a:rPr lang="en-US" sz="1600" dirty="0">
                <a:solidFill>
                  <a:srgbClr val="201F1E"/>
                </a:solidFill>
                <a:latin typeface="Segoe UI Semibold" pitchFamily="34" charset="0"/>
                <a:ea typeface="Segoe UI Semibold" pitchFamily="34" charset="-122"/>
                <a:cs typeface="Segoe UI Semibold" pitchFamily="34" charset="-120"/>
              </a:rPr>
              <a:t>dependencies</a:t>
            </a:r>
            <a:endParaRPr lang="en-US" sz="1600" dirty="0"/>
          </a:p>
        </p:txBody>
      </p:sp>
      <p:sp>
        <p:nvSpPr>
          <p:cNvPr id="14" name="Text 11"/>
          <p:cNvSpPr/>
          <p:nvPr/>
        </p:nvSpPr>
        <p:spPr>
          <a:xfrm>
            <a:off x="777240" y="3017520"/>
            <a:ext cx="3057144" cy="61722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A database outage restarts </a:t>
            </a:r>
            <a:r>
              <a:rPr lang="en-US" sz="1350">
                <a:solidFill>
                  <a:srgbClr val="323130"/>
                </a:solidFill>
                <a:latin typeface="Segoe UI" pitchFamily="34" charset="0"/>
                <a:ea typeface="Segoe UI" pitchFamily="34" charset="-122"/>
                <a:cs typeface="Segoe UI" pitchFamily="34" charset="-120"/>
              </a:rPr>
              <a:t>(liveness) or unroutes (readiness) </a:t>
            </a:r>
            <a:r>
              <a:rPr lang="en-US" sz="1350" dirty="0">
                <a:solidFill>
                  <a:srgbClr val="323130"/>
                </a:solidFill>
                <a:latin typeface="Segoe UI" pitchFamily="34" charset="0"/>
                <a:ea typeface="Segoe UI" pitchFamily="34" charset="-122"/>
                <a:cs typeface="Segoe UI" pitchFamily="34" charset="-120"/>
              </a:rPr>
              <a:t>every pod </a:t>
            </a:r>
            <a:r>
              <a:rPr lang="en-US" sz="1350">
                <a:solidFill>
                  <a:srgbClr val="323130"/>
                </a:solidFill>
                <a:latin typeface="Segoe UI" pitchFamily="34" charset="0"/>
                <a:ea typeface="Segoe UI" pitchFamily="34" charset="-122"/>
                <a:cs typeface="Segoe UI" pitchFamily="34" charset="-120"/>
              </a:rPr>
              <a:t>at once</a:t>
            </a:r>
            <a:r>
              <a:rPr lang="en-US" sz="1350" dirty="0">
                <a:solidFill>
                  <a:srgbClr val="323130"/>
                </a:solidFill>
                <a:latin typeface="Segoe UI" pitchFamily="34" charset="0"/>
                <a:ea typeface="Segoe UI" pitchFamily="34" charset="-122"/>
                <a:cs typeface="Segoe UI" pitchFamily="34" charset="-120"/>
              </a:rPr>
              <a:t>. Keep </a:t>
            </a:r>
            <a:r>
              <a:rPr lang="en-US" sz="1350">
                <a:solidFill>
                  <a:srgbClr val="323130"/>
                </a:solidFill>
                <a:latin typeface="Segoe UI" pitchFamily="34" charset="0"/>
                <a:ea typeface="Segoe UI" pitchFamily="34" charset="-122"/>
                <a:cs typeface="Segoe UI" pitchFamily="34" charset="-120"/>
              </a:rPr>
              <a:t>probes</a:t>
            </a:r>
            <a:r>
              <a:rPr lang="en-US" sz="1350" dirty="0">
                <a:solidFill>
                  <a:srgbClr val="323130"/>
                </a:solidFill>
                <a:latin typeface="Segoe UI" pitchFamily="34" charset="0"/>
                <a:ea typeface="Segoe UI" pitchFamily="34" charset="-122"/>
                <a:cs typeface="Segoe UI" pitchFamily="34" charset="-120"/>
              </a:rPr>
              <a:t> local.</a:t>
            </a:r>
            <a:endParaRPr lang="en-US" sz="1350" dirty="0"/>
          </a:p>
        </p:txBody>
      </p:sp>
      <p:sp>
        <p:nvSpPr>
          <p:cNvPr id="15" name="Shape 12"/>
          <p:cNvSpPr/>
          <p:nvPr/>
        </p:nvSpPr>
        <p:spPr>
          <a:xfrm>
            <a:off x="4337304" y="1737360"/>
            <a:ext cx="3514344" cy="2034540"/>
          </a:xfrm>
          <a:prstGeom prst="rect">
            <a:avLst/>
          </a:prstGeom>
          <a:solidFill>
            <a:srgbClr val="F3F2F1"/>
          </a:solidFill>
          <a:ln/>
        </p:spPr>
        <p:txBody>
          <a:bodyPr/>
          <a:lstStyle/>
          <a:p>
            <a:endParaRPr lang="en-US"/>
          </a:p>
        </p:txBody>
      </p:sp>
      <p:sp>
        <p:nvSpPr>
          <p:cNvPr id="16" name="Shape 13"/>
          <p:cNvSpPr/>
          <p:nvPr/>
        </p:nvSpPr>
        <p:spPr>
          <a:xfrm>
            <a:off x="4565904" y="1965960"/>
            <a:ext cx="457200" cy="457200"/>
          </a:xfrm>
          <a:prstGeom prst="ellipse">
            <a:avLst/>
          </a:prstGeom>
          <a:solidFill>
            <a:srgbClr val="D83B01"/>
          </a:solidFill>
          <a:ln/>
        </p:spPr>
        <p:txBody>
          <a:bodyPr/>
          <a:lstStyle/>
          <a:p>
            <a:endParaRPr lang="en-US"/>
          </a:p>
        </p:txBody>
      </p:sp>
      <p:pic>
        <p:nvPicPr>
          <p:cNvPr id="17" name="Image 1" descr="/agent/turn2/workspace/output/_anthropic_assets/icon-arrow-sync-7745594d.png"/>
          <p:cNvPicPr>
            <a:picLocks noChangeAspect="1"/>
          </p:cNvPicPr>
          <p:nvPr/>
        </p:nvPicPr>
        <p:blipFill>
          <a:blip r:embed="rId3"/>
          <a:stretch>
            <a:fillRect/>
          </a:stretch>
        </p:blipFill>
        <p:spPr>
          <a:xfrm>
            <a:off x="4666488" y="2066544"/>
            <a:ext cx="256032" cy="256032"/>
          </a:xfrm>
          <a:prstGeom prst="rect">
            <a:avLst/>
          </a:prstGeom>
        </p:spPr>
      </p:pic>
      <p:sp>
        <p:nvSpPr>
          <p:cNvPr id="18" name="Text 14"/>
          <p:cNvSpPr/>
          <p:nvPr/>
        </p:nvSpPr>
        <p:spPr>
          <a:xfrm>
            <a:off x="4565904" y="2560320"/>
            <a:ext cx="3057144" cy="411480"/>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Identical liveness and readiness</a:t>
            </a:r>
            <a:endParaRPr lang="en-US" sz="1600" dirty="0"/>
          </a:p>
        </p:txBody>
      </p:sp>
      <p:sp>
        <p:nvSpPr>
          <p:cNvPr id="19" name="Text 15"/>
          <p:cNvSpPr/>
          <p:nvPr/>
        </p:nvSpPr>
        <p:spPr>
          <a:xfrm>
            <a:off x="4565904" y="3017520"/>
            <a:ext cx="3057144" cy="61722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Overload trips liveness and triggers restarts exactly when you need capacity.</a:t>
            </a:r>
            <a:endParaRPr lang="en-US" sz="1350" dirty="0"/>
          </a:p>
        </p:txBody>
      </p:sp>
      <p:sp>
        <p:nvSpPr>
          <p:cNvPr id="20" name="Shape 16"/>
          <p:cNvSpPr/>
          <p:nvPr/>
        </p:nvSpPr>
        <p:spPr>
          <a:xfrm>
            <a:off x="8125968" y="1737360"/>
            <a:ext cx="3514344" cy="2034540"/>
          </a:xfrm>
          <a:prstGeom prst="rect">
            <a:avLst/>
          </a:prstGeom>
          <a:solidFill>
            <a:srgbClr val="F3F2F1"/>
          </a:solidFill>
          <a:ln/>
        </p:spPr>
        <p:txBody>
          <a:bodyPr/>
          <a:lstStyle/>
          <a:p>
            <a:endParaRPr lang="en-US"/>
          </a:p>
        </p:txBody>
      </p:sp>
      <p:sp>
        <p:nvSpPr>
          <p:cNvPr id="21" name="Shape 17"/>
          <p:cNvSpPr/>
          <p:nvPr/>
        </p:nvSpPr>
        <p:spPr>
          <a:xfrm>
            <a:off x="8354568" y="1965960"/>
            <a:ext cx="457200" cy="457200"/>
          </a:xfrm>
          <a:prstGeom prst="ellipse">
            <a:avLst/>
          </a:prstGeom>
          <a:solidFill>
            <a:srgbClr val="D83B01"/>
          </a:solidFill>
          <a:ln/>
        </p:spPr>
        <p:txBody>
          <a:bodyPr/>
          <a:lstStyle/>
          <a:p>
            <a:endParaRPr lang="en-US"/>
          </a:p>
        </p:txBody>
      </p:sp>
      <p:pic>
        <p:nvPicPr>
          <p:cNvPr id="22" name="Image 2" descr="/agent/turn2/workspace/output/_anthropic_assets/icon-timer-5033fbda.png"/>
          <p:cNvPicPr>
            <a:picLocks noChangeAspect="1"/>
          </p:cNvPicPr>
          <p:nvPr/>
        </p:nvPicPr>
        <p:blipFill>
          <a:blip r:embed="rId4"/>
          <a:stretch>
            <a:fillRect/>
          </a:stretch>
        </p:blipFill>
        <p:spPr>
          <a:xfrm>
            <a:off x="8455152" y="2066544"/>
            <a:ext cx="256032" cy="256032"/>
          </a:xfrm>
          <a:prstGeom prst="rect">
            <a:avLst/>
          </a:prstGeom>
        </p:spPr>
      </p:pic>
      <p:sp>
        <p:nvSpPr>
          <p:cNvPr id="23" name="Text 18"/>
          <p:cNvSpPr/>
          <p:nvPr/>
        </p:nvSpPr>
        <p:spPr>
          <a:xfrm>
            <a:off x="8354568" y="2560320"/>
            <a:ext cx="3057144" cy="411480"/>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No startup probe for slow apps</a:t>
            </a:r>
            <a:endParaRPr lang="en-US" sz="1600" dirty="0"/>
          </a:p>
        </p:txBody>
      </p:sp>
      <p:sp>
        <p:nvSpPr>
          <p:cNvPr id="24" name="Text 19"/>
          <p:cNvSpPr/>
          <p:nvPr/>
        </p:nvSpPr>
        <p:spPr>
          <a:xfrm>
            <a:off x="8354568" y="3017520"/>
            <a:ext cx="3057144" cy="61722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Liveness kills the container before it finishes booting — a crash loop.</a:t>
            </a:r>
            <a:endParaRPr lang="en-US" sz="1350" dirty="0"/>
          </a:p>
        </p:txBody>
      </p:sp>
      <p:sp>
        <p:nvSpPr>
          <p:cNvPr id="25" name="Shape 20"/>
          <p:cNvSpPr/>
          <p:nvPr/>
        </p:nvSpPr>
        <p:spPr>
          <a:xfrm>
            <a:off x="548640" y="4046220"/>
            <a:ext cx="3514344" cy="2034540"/>
          </a:xfrm>
          <a:prstGeom prst="rect">
            <a:avLst/>
          </a:prstGeom>
          <a:solidFill>
            <a:srgbClr val="F3F2F1"/>
          </a:solidFill>
          <a:ln/>
        </p:spPr>
        <p:txBody>
          <a:bodyPr/>
          <a:lstStyle/>
          <a:p>
            <a:endParaRPr lang="en-US"/>
          </a:p>
        </p:txBody>
      </p:sp>
      <p:sp>
        <p:nvSpPr>
          <p:cNvPr id="26" name="Shape 21"/>
          <p:cNvSpPr/>
          <p:nvPr/>
        </p:nvSpPr>
        <p:spPr>
          <a:xfrm>
            <a:off x="777240" y="4274820"/>
            <a:ext cx="457200" cy="457200"/>
          </a:xfrm>
          <a:prstGeom prst="ellipse">
            <a:avLst/>
          </a:prstGeom>
          <a:solidFill>
            <a:srgbClr val="D83B01"/>
          </a:solidFill>
          <a:ln/>
        </p:spPr>
        <p:txBody>
          <a:bodyPr/>
          <a:lstStyle/>
          <a:p>
            <a:endParaRPr lang="en-US"/>
          </a:p>
        </p:txBody>
      </p:sp>
      <p:pic>
        <p:nvPicPr>
          <p:cNvPr id="27" name="Image 3" descr="/agent/turn2/workspace/output/_anthropic_assets/icon-database-d108fcbe.png"/>
          <p:cNvPicPr>
            <a:picLocks noChangeAspect="1"/>
          </p:cNvPicPr>
          <p:nvPr/>
        </p:nvPicPr>
        <p:blipFill>
          <a:blip r:embed="rId5"/>
          <a:stretch>
            <a:fillRect/>
          </a:stretch>
        </p:blipFill>
        <p:spPr>
          <a:xfrm>
            <a:off x="877824" y="4375404"/>
            <a:ext cx="256032" cy="256032"/>
          </a:xfrm>
          <a:prstGeom prst="rect">
            <a:avLst/>
          </a:prstGeom>
        </p:spPr>
      </p:pic>
      <p:sp>
        <p:nvSpPr>
          <p:cNvPr id="28" name="Text 22"/>
          <p:cNvSpPr/>
          <p:nvPr/>
        </p:nvSpPr>
        <p:spPr>
          <a:xfrm>
            <a:off x="777240" y="4869180"/>
            <a:ext cx="3057144" cy="411480"/>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Expensive probe handlers</a:t>
            </a:r>
            <a:endParaRPr lang="en-US" sz="1600" dirty="0"/>
          </a:p>
        </p:txBody>
      </p:sp>
      <p:sp>
        <p:nvSpPr>
          <p:cNvPr id="29" name="Text 23"/>
          <p:cNvSpPr/>
          <p:nvPr/>
        </p:nvSpPr>
        <p:spPr>
          <a:xfrm>
            <a:off x="777240" y="5326380"/>
            <a:ext cx="3057144" cy="61722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Heavy checks every few seconds add load and time out under pressure.</a:t>
            </a:r>
            <a:endParaRPr lang="en-US" sz="1350" dirty="0"/>
          </a:p>
        </p:txBody>
      </p:sp>
      <p:sp>
        <p:nvSpPr>
          <p:cNvPr id="30" name="Shape 24"/>
          <p:cNvSpPr/>
          <p:nvPr/>
        </p:nvSpPr>
        <p:spPr>
          <a:xfrm>
            <a:off x="4337304" y="4046220"/>
            <a:ext cx="3514344" cy="2034540"/>
          </a:xfrm>
          <a:prstGeom prst="rect">
            <a:avLst/>
          </a:prstGeom>
          <a:solidFill>
            <a:srgbClr val="F3F2F1"/>
          </a:solidFill>
          <a:ln/>
        </p:spPr>
        <p:txBody>
          <a:bodyPr/>
          <a:lstStyle/>
          <a:p>
            <a:endParaRPr lang="en-US"/>
          </a:p>
        </p:txBody>
      </p:sp>
      <p:sp>
        <p:nvSpPr>
          <p:cNvPr id="31" name="Shape 25"/>
          <p:cNvSpPr/>
          <p:nvPr/>
        </p:nvSpPr>
        <p:spPr>
          <a:xfrm>
            <a:off x="4565904" y="4274820"/>
            <a:ext cx="457200" cy="457200"/>
          </a:xfrm>
          <a:prstGeom prst="ellipse">
            <a:avLst/>
          </a:prstGeom>
          <a:solidFill>
            <a:srgbClr val="D83B01"/>
          </a:solidFill>
          <a:ln/>
        </p:spPr>
        <p:txBody>
          <a:bodyPr/>
          <a:lstStyle/>
          <a:p>
            <a:endParaRPr lang="en-US"/>
          </a:p>
        </p:txBody>
      </p:sp>
      <p:pic>
        <p:nvPicPr>
          <p:cNvPr id="32" name="Image 4" descr="/agent/turn2/workspace/output/_anthropic_assets/icon-settings-29333648.png"/>
          <p:cNvPicPr>
            <a:picLocks noChangeAspect="1"/>
          </p:cNvPicPr>
          <p:nvPr/>
        </p:nvPicPr>
        <p:blipFill>
          <a:blip r:embed="rId6"/>
          <a:stretch>
            <a:fillRect/>
          </a:stretch>
        </p:blipFill>
        <p:spPr>
          <a:xfrm>
            <a:off x="4666488" y="4375404"/>
            <a:ext cx="256032" cy="256032"/>
          </a:xfrm>
          <a:prstGeom prst="rect">
            <a:avLst/>
          </a:prstGeom>
        </p:spPr>
      </p:pic>
      <p:sp>
        <p:nvSpPr>
          <p:cNvPr id="33" name="Text 26"/>
          <p:cNvSpPr/>
          <p:nvPr/>
        </p:nvSpPr>
        <p:spPr>
          <a:xfrm>
            <a:off x="4565904" y="4869180"/>
            <a:ext cx="3057144" cy="411480"/>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Timeouts too tight</a:t>
            </a:r>
            <a:endParaRPr lang="en-US" sz="1600" dirty="0"/>
          </a:p>
        </p:txBody>
      </p:sp>
      <p:sp>
        <p:nvSpPr>
          <p:cNvPr id="34" name="Text 27"/>
          <p:cNvSpPr/>
          <p:nvPr/>
        </p:nvSpPr>
        <p:spPr>
          <a:xfrm>
            <a:off x="4565904" y="5326380"/>
            <a:ext cx="3057144" cy="61722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A one-second timeout on a busy pod produces false failures.</a:t>
            </a:r>
            <a:endParaRPr lang="en-US" sz="1350" dirty="0"/>
          </a:p>
        </p:txBody>
      </p:sp>
      <p:sp>
        <p:nvSpPr>
          <p:cNvPr id="35" name="Shape 28"/>
          <p:cNvSpPr/>
          <p:nvPr/>
        </p:nvSpPr>
        <p:spPr>
          <a:xfrm>
            <a:off x="8125968" y="4046220"/>
            <a:ext cx="3514344" cy="2034540"/>
          </a:xfrm>
          <a:prstGeom prst="rect">
            <a:avLst/>
          </a:prstGeom>
          <a:solidFill>
            <a:srgbClr val="F3F2F1"/>
          </a:solidFill>
          <a:ln/>
        </p:spPr>
        <p:txBody>
          <a:bodyPr/>
          <a:lstStyle/>
          <a:p>
            <a:endParaRPr lang="en-US"/>
          </a:p>
        </p:txBody>
      </p:sp>
      <p:sp>
        <p:nvSpPr>
          <p:cNvPr id="36" name="Shape 29"/>
          <p:cNvSpPr/>
          <p:nvPr/>
        </p:nvSpPr>
        <p:spPr>
          <a:xfrm>
            <a:off x="8354568" y="4274820"/>
            <a:ext cx="457200" cy="457200"/>
          </a:xfrm>
          <a:prstGeom prst="ellipse">
            <a:avLst/>
          </a:prstGeom>
          <a:solidFill>
            <a:srgbClr val="D83B01"/>
          </a:solidFill>
          <a:ln/>
        </p:spPr>
        <p:txBody>
          <a:bodyPr/>
          <a:lstStyle/>
          <a:p>
            <a:endParaRPr lang="en-US"/>
          </a:p>
        </p:txBody>
      </p:sp>
      <p:pic>
        <p:nvPicPr>
          <p:cNvPr id="37" name="Image 5" descr="/agent/turn2/workspace/output/_anthropic_assets/icon-eye-65b8945b.png"/>
          <p:cNvPicPr>
            <a:picLocks noChangeAspect="1"/>
          </p:cNvPicPr>
          <p:nvPr/>
        </p:nvPicPr>
        <p:blipFill>
          <a:blip r:embed="rId7"/>
          <a:stretch>
            <a:fillRect/>
          </a:stretch>
        </p:blipFill>
        <p:spPr>
          <a:xfrm>
            <a:off x="8455152" y="4375404"/>
            <a:ext cx="256032" cy="256032"/>
          </a:xfrm>
          <a:prstGeom prst="rect">
            <a:avLst/>
          </a:prstGeom>
        </p:spPr>
      </p:pic>
      <p:sp>
        <p:nvSpPr>
          <p:cNvPr id="38" name="Text 30"/>
          <p:cNvSpPr/>
          <p:nvPr/>
        </p:nvSpPr>
        <p:spPr>
          <a:xfrm>
            <a:off x="8354568" y="4869180"/>
            <a:ext cx="3057144" cy="411480"/>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Readiness ignored</a:t>
            </a:r>
            <a:endParaRPr lang="en-US" sz="1600" dirty="0"/>
          </a:p>
        </p:txBody>
      </p:sp>
      <p:sp>
        <p:nvSpPr>
          <p:cNvPr id="39" name="Text 31"/>
          <p:cNvSpPr/>
          <p:nvPr/>
        </p:nvSpPr>
        <p:spPr>
          <a:xfrm>
            <a:off x="8354568" y="5326380"/>
            <a:ext cx="3057144" cy="61722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Without it, traffic reaches pods that are still warming caches or connections.</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2">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43501"/>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F77AE071-D074-4B56-83F4-2C27747A112B}" type="slidenum">
              <a:rPr lang="en-US" sz="1100">
                <a:solidFill>
                  <a:srgbClr val="605E5C"/>
                </a:solidFill>
                <a:latin typeface="Segoe UI" pitchFamily="34" charset="0"/>
                <a:ea typeface="Segoe UI" pitchFamily="34" charset="-122"/>
                <a:cs typeface="Segoe UI" pitchFamily="34" charset="-120"/>
              </a:rPr>
              <a:t>35</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Observing Probe </a:t>
            </a:r>
            <a:r>
              <a:rPr lang="en-US" sz="3200">
                <a:solidFill>
                  <a:srgbClr val="201F1E"/>
                </a:solidFill>
                <a:latin typeface="Segoe UI Semibold" pitchFamily="34" charset="0"/>
                <a:ea typeface="Segoe UI Semibold" pitchFamily="34" charset="-122"/>
                <a:cs typeface="Segoe UI Semibold" pitchFamily="34" charset="-120"/>
              </a:rPr>
              <a:t>Behavior</a:t>
            </a:r>
            <a:endParaRPr lang="en-US" sz="3200" dirty="0"/>
          </a:p>
        </p:txBody>
      </p:sp>
      <p:sp>
        <p:nvSpPr>
          <p:cNvPr id="10" name="Shape 8"/>
          <p:cNvSpPr/>
          <p:nvPr/>
        </p:nvSpPr>
        <p:spPr>
          <a:xfrm>
            <a:off x="548640" y="1737360"/>
            <a:ext cx="11091672" cy="2377440"/>
          </a:xfrm>
          <a:prstGeom prst="rect">
            <a:avLst/>
          </a:prstGeom>
          <a:solidFill>
            <a:srgbClr val="1E1E1E"/>
          </a:solidFill>
          <a:ln/>
        </p:spPr>
        <p:txBody>
          <a:bodyPr/>
          <a:lstStyle/>
          <a:p>
            <a:endParaRPr lang="en-US"/>
          </a:p>
        </p:txBody>
      </p:sp>
      <p:sp>
        <p:nvSpPr>
          <p:cNvPr id="11" name="Shape 9"/>
          <p:cNvSpPr/>
          <p:nvPr/>
        </p:nvSpPr>
        <p:spPr>
          <a:xfrm>
            <a:off x="548640" y="1737360"/>
            <a:ext cx="11091672" cy="347472"/>
          </a:xfrm>
          <a:prstGeom prst="rect">
            <a:avLst/>
          </a:prstGeom>
          <a:solidFill>
            <a:srgbClr val="2D2D30"/>
          </a:solidFill>
          <a:ln/>
        </p:spPr>
        <p:txBody>
          <a:bodyPr/>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14" name="Text 12"/>
          <p:cNvSpPr/>
          <p:nvPr/>
        </p:nvSpPr>
        <p:spPr>
          <a:xfrm>
            <a:off x="749808" y="2212848"/>
            <a:ext cx="10725912" cy="1783080"/>
          </a:xfrm>
          <a:prstGeom prst="rect">
            <a:avLst/>
          </a:prstGeom>
          <a:noFill/>
          <a:ln/>
        </p:spPr>
        <p:txBody>
          <a:bodyPr wrap="square" lIns="0" tIns="0" rIns="0" bIns="0" rtlCol="0" anchor="t"/>
          <a:lstStyle/>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get pods -w                      </a:t>
            </a:r>
            <a:r>
              <a:rPr lang="en-US" sz="1400" dirty="0">
                <a:solidFill>
                  <a:srgbClr val="6A9955"/>
                </a:solidFill>
                <a:latin typeface="Consolas" pitchFamily="34" charset="0"/>
                <a:ea typeface="Consolas" pitchFamily="34" charset="-122"/>
                <a:cs typeface="Consolas" pitchFamily="34" charset="-120"/>
              </a:rPr>
              <a:t> # READY and RESTARTS columns</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describe pod api-7d9f  </a:t>
            </a:r>
            <a:r>
              <a:rPr lang="en-US" sz="1400" dirty="0">
                <a:solidFill>
                  <a:srgbClr val="6A9955"/>
                </a:solidFill>
                <a:latin typeface="Consolas" pitchFamily="34" charset="0"/>
                <a:ea typeface="Consolas" pitchFamily="34" charset="-122"/>
                <a:cs typeface="Consolas" pitchFamily="34" charset="-120"/>
              </a:rPr>
              <a:t> # Events: 'Readiness probe failed'</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get events --field-selector reason=Unhealthy</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get endpointslices -l kubernetes.io/service-name=api</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logs api-7d9f --previous          </a:t>
            </a:r>
            <a:r>
              <a:rPr lang="en-US" sz="1400" dirty="0">
                <a:solidFill>
                  <a:srgbClr val="6A9955"/>
                </a:solidFill>
                <a:latin typeface="Consolas" pitchFamily="34" charset="0"/>
                <a:ea typeface="Consolas" pitchFamily="34" charset="-122"/>
                <a:cs typeface="Consolas" pitchFamily="34" charset="-120"/>
              </a:rPr>
              <a:t> # why did it restart?</a:t>
            </a:r>
            <a:endParaRPr lang="en-US" sz="1400" dirty="0"/>
          </a:p>
        </p:txBody>
      </p:sp>
      <p:sp>
        <p:nvSpPr>
          <p:cNvPr id="15" name="Shape 13"/>
          <p:cNvSpPr/>
          <p:nvPr/>
        </p:nvSpPr>
        <p:spPr>
          <a:xfrm>
            <a:off x="548640" y="4389120"/>
            <a:ext cx="3538728" cy="1691640"/>
          </a:xfrm>
          <a:prstGeom prst="rect">
            <a:avLst/>
          </a:prstGeom>
          <a:solidFill>
            <a:srgbClr val="FFFFFF"/>
          </a:solidFill>
          <a:ln/>
        </p:spPr>
        <p:txBody>
          <a:bodyPr/>
          <a:lstStyle/>
          <a:p>
            <a:endParaRPr lang="en-US"/>
          </a:p>
        </p:txBody>
      </p:sp>
      <p:sp>
        <p:nvSpPr>
          <p:cNvPr id="16" name="Text 14"/>
          <p:cNvSpPr/>
          <p:nvPr/>
        </p:nvSpPr>
        <p:spPr>
          <a:xfrm>
            <a:off x="822960" y="4526280"/>
            <a:ext cx="3017520" cy="457200"/>
          </a:xfrm>
          <a:prstGeom prst="rect">
            <a:avLst/>
          </a:prstGeom>
          <a:noFill/>
          <a:ln/>
        </p:spPr>
        <p:txBody>
          <a:bodyPr wrap="square" lIns="0" tIns="0" rIns="0" bIns="0" rtlCol="0" anchor="ctr"/>
          <a:lstStyle/>
          <a:p>
            <a:pPr marL="0" indent="0">
              <a:buNone/>
            </a:pPr>
            <a:r>
              <a:rPr lang="en-US" sz="1700" dirty="0">
                <a:solidFill>
                  <a:srgbClr val="D83B01"/>
                </a:solidFill>
                <a:latin typeface="Segoe UI Semibold" pitchFamily="34" charset="0"/>
                <a:ea typeface="Segoe UI Semibold" pitchFamily="34" charset="-122"/>
                <a:cs typeface="Segoe UI Semibold" pitchFamily="34" charset="-120"/>
              </a:rPr>
              <a:t>RESTARTS climbing</a:t>
            </a:r>
            <a:endParaRPr lang="en-US" sz="1700" dirty="0"/>
          </a:p>
        </p:txBody>
      </p:sp>
      <p:sp>
        <p:nvSpPr>
          <p:cNvPr id="17" name="Text 15"/>
          <p:cNvSpPr/>
          <p:nvPr/>
        </p:nvSpPr>
        <p:spPr>
          <a:xfrm>
            <a:off x="822960" y="5029200"/>
            <a:ext cx="3017520" cy="914400"/>
          </a:xfrm>
          <a:prstGeom prst="rect">
            <a:avLst/>
          </a:prstGeom>
          <a:noFill/>
          <a:ln/>
        </p:spPr>
        <p:txBody>
          <a:bodyPr wrap="square" lIns="0" tIns="0" rIns="0" bIns="0" rtlCol="0"/>
          <a:lstStyle/>
          <a:p>
            <a:pPr marL="0" indent="0">
              <a:buNone/>
            </a:pPr>
            <a:r>
              <a:rPr lang="en-US" sz="1400" dirty="0">
                <a:solidFill>
                  <a:srgbClr val="323130"/>
                </a:solidFill>
                <a:latin typeface="Segoe UI" pitchFamily="34" charset="0"/>
                <a:ea typeface="Segoe UI" pitchFamily="34" charset="-122"/>
                <a:cs typeface="Segoe UI" pitchFamily="34" charset="-120"/>
              </a:rPr>
              <a:t>Liveness or startup probe failing — check thresholds and the start time.</a:t>
            </a:r>
            <a:endParaRPr lang="en-US" sz="1400" dirty="0"/>
          </a:p>
        </p:txBody>
      </p:sp>
      <p:sp>
        <p:nvSpPr>
          <p:cNvPr id="18" name="Shape 16"/>
          <p:cNvSpPr/>
          <p:nvPr/>
        </p:nvSpPr>
        <p:spPr>
          <a:xfrm>
            <a:off x="4325112" y="4389120"/>
            <a:ext cx="3538728" cy="1691640"/>
          </a:xfrm>
          <a:prstGeom prst="rect">
            <a:avLst/>
          </a:prstGeom>
          <a:solidFill>
            <a:srgbClr val="FFFFFF"/>
          </a:solidFill>
          <a:ln/>
        </p:spPr>
        <p:txBody>
          <a:bodyPr/>
          <a:lstStyle/>
          <a:p>
            <a:endParaRPr lang="en-US"/>
          </a:p>
        </p:txBody>
      </p:sp>
      <p:sp>
        <p:nvSpPr>
          <p:cNvPr id="19" name="Text 17"/>
          <p:cNvSpPr/>
          <p:nvPr/>
        </p:nvSpPr>
        <p:spPr>
          <a:xfrm>
            <a:off x="4599432" y="4526280"/>
            <a:ext cx="3017520" cy="457200"/>
          </a:xfrm>
          <a:prstGeom prst="rect">
            <a:avLst/>
          </a:prstGeom>
          <a:noFill/>
          <a:ln/>
        </p:spPr>
        <p:txBody>
          <a:bodyPr wrap="square" lIns="0" tIns="0" rIns="0" bIns="0" rtlCol="0" anchor="ctr"/>
          <a:lstStyle/>
          <a:p>
            <a:pPr marL="0" indent="0">
              <a:buNone/>
            </a:pPr>
            <a:r>
              <a:rPr lang="en-US" sz="1700" dirty="0">
                <a:solidFill>
                  <a:srgbClr val="D83B01"/>
                </a:solidFill>
                <a:latin typeface="Segoe UI Semibold" pitchFamily="34" charset="0"/>
                <a:ea typeface="Segoe UI Semibold" pitchFamily="34" charset="-122"/>
                <a:cs typeface="Segoe UI Semibold" pitchFamily="34" charset="-120"/>
              </a:rPr>
              <a:t>READY 0/1, no restarts</a:t>
            </a:r>
            <a:endParaRPr lang="en-US" sz="1700" dirty="0"/>
          </a:p>
        </p:txBody>
      </p:sp>
      <p:sp>
        <p:nvSpPr>
          <p:cNvPr id="20" name="Text 18"/>
          <p:cNvSpPr/>
          <p:nvPr/>
        </p:nvSpPr>
        <p:spPr>
          <a:xfrm>
            <a:off x="4599432" y="5029200"/>
            <a:ext cx="3017520" cy="91440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Readiness failing — the pod is excluded from traffic, not killed.</a:t>
            </a:r>
            <a:endParaRPr lang="en-US" sz="1400" dirty="0"/>
          </a:p>
        </p:txBody>
      </p:sp>
      <p:sp>
        <p:nvSpPr>
          <p:cNvPr id="21" name="Shape 19"/>
          <p:cNvSpPr/>
          <p:nvPr/>
        </p:nvSpPr>
        <p:spPr>
          <a:xfrm>
            <a:off x="8101584" y="4389120"/>
            <a:ext cx="3538728" cy="1691640"/>
          </a:xfrm>
          <a:prstGeom prst="rect">
            <a:avLst/>
          </a:prstGeom>
          <a:solidFill>
            <a:srgbClr val="FFFFFF"/>
          </a:solidFill>
          <a:ln/>
        </p:spPr>
        <p:txBody>
          <a:bodyPr/>
          <a:lstStyle/>
          <a:p>
            <a:endParaRPr lang="en-US"/>
          </a:p>
        </p:txBody>
      </p:sp>
      <p:sp>
        <p:nvSpPr>
          <p:cNvPr id="22" name="Text 20"/>
          <p:cNvSpPr/>
          <p:nvPr/>
        </p:nvSpPr>
        <p:spPr>
          <a:xfrm>
            <a:off x="8375904" y="4526280"/>
            <a:ext cx="3017520" cy="457200"/>
          </a:xfrm>
          <a:prstGeom prst="rect">
            <a:avLst/>
          </a:prstGeom>
          <a:noFill/>
          <a:ln/>
        </p:spPr>
        <p:txBody>
          <a:bodyPr wrap="square" lIns="0" tIns="0" rIns="0" bIns="0" rtlCol="0" anchor="ctr"/>
          <a:lstStyle/>
          <a:p>
            <a:pPr marL="0" indent="0">
              <a:buNone/>
            </a:pPr>
            <a:r>
              <a:rPr lang="en-US" sz="1700" dirty="0">
                <a:solidFill>
                  <a:srgbClr val="D83B01"/>
                </a:solidFill>
                <a:latin typeface="Segoe UI Semibold" pitchFamily="34" charset="0"/>
                <a:ea typeface="Segoe UI Semibold" pitchFamily="34" charset="-122"/>
                <a:cs typeface="Segoe UI Semibold" pitchFamily="34" charset="-120"/>
              </a:rPr>
              <a:t>Endpoints empty</a:t>
            </a:r>
            <a:endParaRPr lang="en-US" sz="1700" dirty="0"/>
          </a:p>
        </p:txBody>
      </p:sp>
      <p:sp>
        <p:nvSpPr>
          <p:cNvPr id="23" name="Text 21"/>
          <p:cNvSpPr/>
          <p:nvPr/>
        </p:nvSpPr>
        <p:spPr>
          <a:xfrm>
            <a:off x="8375904" y="5029200"/>
            <a:ext cx="3017520" cy="914400"/>
          </a:xfrm>
          <a:prstGeom prst="rect">
            <a:avLst/>
          </a:prstGeom>
          <a:noFill/>
          <a:ln/>
        </p:spPr>
        <p:txBody>
          <a:bodyPr wrap="square" lIns="0" tIns="0" rIns="0" bIns="0" rtlCol="0"/>
          <a:lstStyle/>
          <a:p>
            <a:pPr marL="0" indent="0">
              <a:buNone/>
            </a:pPr>
            <a:r>
              <a:rPr lang="en-US" sz="1400" dirty="0">
                <a:solidFill>
                  <a:srgbClr val="323130"/>
                </a:solidFill>
                <a:latin typeface="Segoe UI" pitchFamily="34" charset="0"/>
                <a:ea typeface="Segoe UI" pitchFamily="34" charset="-122"/>
                <a:cs typeface="Segoe UI" pitchFamily="34" charset="-120"/>
              </a:rPr>
              <a:t>No pod is ready; the Service has nowhere to send requests.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43501"/>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A91D79D6-B212-4203-88DA-8B670FF9DCA2}" type="slidenum">
              <a:rPr lang="en-US" sz="1100">
                <a:solidFill>
                  <a:srgbClr val="605E5C"/>
                </a:solidFill>
                <a:latin typeface="Segoe UI" pitchFamily="34" charset="0"/>
                <a:ea typeface="Segoe UI" pitchFamily="34" charset="-122"/>
                <a:cs typeface="Segoe UI" pitchFamily="34" charset="-120"/>
              </a:rPr>
              <a:t>36</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Replicas and Placement</a:t>
            </a:r>
            <a:endParaRPr lang="en-US" sz="3200" dirty="0"/>
          </a:p>
        </p:txBody>
      </p:sp>
      <p:sp>
        <p:nvSpPr>
          <p:cNvPr id="10" name="Shape 8"/>
          <p:cNvSpPr/>
          <p:nvPr/>
        </p:nvSpPr>
        <p:spPr>
          <a:xfrm>
            <a:off x="548640" y="1737360"/>
            <a:ext cx="1874520" cy="2926080"/>
          </a:xfrm>
          <a:prstGeom prst="rect">
            <a:avLst/>
          </a:prstGeom>
          <a:solidFill>
            <a:srgbClr val="FDE7DE"/>
          </a:solidFill>
          <a:ln/>
        </p:spPr>
        <p:txBody>
          <a:bodyPr anchor="t"/>
          <a:lstStyle/>
          <a:p>
            <a:endParaRPr lang="en-US"/>
          </a:p>
        </p:txBody>
      </p:sp>
      <p:sp>
        <p:nvSpPr>
          <p:cNvPr id="11" name="Text 9"/>
          <p:cNvSpPr/>
          <p:nvPr/>
        </p:nvSpPr>
        <p:spPr>
          <a:xfrm>
            <a:off x="548640" y="1783080"/>
            <a:ext cx="1874520" cy="411480"/>
          </a:xfrm>
          <a:prstGeom prst="rect">
            <a:avLst/>
          </a:prstGeom>
          <a:noFill/>
          <a:ln/>
        </p:spPr>
        <p:txBody>
          <a:bodyPr wrap="square" lIns="0" tIns="0" rIns="0" bIns="0" rtlCol="0" anchor="ctr"/>
          <a:lstStyle/>
          <a:p>
            <a:pPr marL="0" indent="0" algn="ctr">
              <a:buNone/>
            </a:pPr>
            <a:r>
              <a:rPr lang="en-US" sz="1400" dirty="0">
                <a:solidFill>
                  <a:srgbClr val="8A2500"/>
                </a:solidFill>
                <a:latin typeface="Segoe UI Semibold" pitchFamily="34" charset="0"/>
                <a:ea typeface="Segoe UI Semibold" pitchFamily="34" charset="-122"/>
                <a:cs typeface="Segoe UI Semibold" pitchFamily="34" charset="-120"/>
              </a:rPr>
              <a:t>Zone 1</a:t>
            </a:r>
            <a:endParaRPr lang="en-US" sz="1400" dirty="0"/>
          </a:p>
        </p:txBody>
      </p:sp>
      <p:sp>
        <p:nvSpPr>
          <p:cNvPr id="12" name="Text 10"/>
          <p:cNvSpPr/>
          <p:nvPr/>
        </p:nvSpPr>
        <p:spPr>
          <a:xfrm>
            <a:off x="777240" y="2286000"/>
            <a:ext cx="1417320" cy="411480"/>
          </a:xfrm>
          <a:prstGeom prst="rect">
            <a:avLst/>
          </a:prstGeom>
          <a:solidFill>
            <a:srgbClr val="0B1F33"/>
          </a:solidFill>
          <a:ln/>
        </p:spPr>
        <p:txBody>
          <a:bodyPr wrap="square" lIns="76200" tIns="76200" rIns="76200" bIns="76200" rtlCol="0" anchor="ctr"/>
          <a:lstStyle/>
          <a:p>
            <a:pPr marL="0" indent="0" algn="ctr">
              <a:buNone/>
            </a:pPr>
            <a:r>
              <a:rPr lang="en-US" sz="1200" dirty="0">
                <a:solidFill>
                  <a:srgbClr val="FFFFFF"/>
                </a:solidFill>
                <a:latin typeface="Segoe UI Semibold" pitchFamily="34" charset="0"/>
                <a:ea typeface="Segoe UI Semibold" pitchFamily="34" charset="-122"/>
                <a:cs typeface="Segoe UI Semibold" pitchFamily="34" charset="-120"/>
              </a:rPr>
              <a:t>node</a:t>
            </a:r>
            <a:endParaRPr lang="en-US" sz="1200" dirty="0"/>
          </a:p>
        </p:txBody>
      </p:sp>
      <p:sp>
        <p:nvSpPr>
          <p:cNvPr id="13" name="Text 11"/>
          <p:cNvSpPr/>
          <p:nvPr/>
        </p:nvSpPr>
        <p:spPr>
          <a:xfrm>
            <a:off x="777240" y="2880360"/>
            <a:ext cx="1417320" cy="640080"/>
          </a:xfrm>
          <a:prstGeom prst="rect">
            <a:avLst/>
          </a:prstGeom>
          <a:solidFill>
            <a:srgbClr val="D83B01"/>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api pod</a:t>
            </a:r>
            <a:endParaRPr lang="en-US" sz="1400" dirty="0"/>
          </a:p>
        </p:txBody>
      </p:sp>
      <p:sp>
        <p:nvSpPr>
          <p:cNvPr id="14" name="Text 12"/>
          <p:cNvSpPr/>
          <p:nvPr/>
        </p:nvSpPr>
        <p:spPr>
          <a:xfrm>
            <a:off x="777240" y="3703320"/>
            <a:ext cx="1417320" cy="640080"/>
          </a:xfrm>
          <a:prstGeom prst="rect">
            <a:avLst/>
          </a:prstGeom>
          <a:solidFill>
            <a:srgbClr val="D83B01"/>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api pod</a:t>
            </a:r>
            <a:endParaRPr lang="en-US" sz="1400" dirty="0"/>
          </a:p>
        </p:txBody>
      </p:sp>
      <p:sp>
        <p:nvSpPr>
          <p:cNvPr id="15" name="Shape 13"/>
          <p:cNvSpPr/>
          <p:nvPr/>
        </p:nvSpPr>
        <p:spPr>
          <a:xfrm>
            <a:off x="2606040" y="1737360"/>
            <a:ext cx="1874520" cy="2926080"/>
          </a:xfrm>
          <a:prstGeom prst="rect">
            <a:avLst/>
          </a:prstGeom>
          <a:solidFill>
            <a:srgbClr val="FDE7DE"/>
          </a:solidFill>
          <a:ln/>
        </p:spPr>
        <p:txBody>
          <a:bodyPr anchor="t"/>
          <a:lstStyle/>
          <a:p>
            <a:endParaRPr lang="en-US"/>
          </a:p>
        </p:txBody>
      </p:sp>
      <p:sp>
        <p:nvSpPr>
          <p:cNvPr id="16" name="Text 14"/>
          <p:cNvSpPr/>
          <p:nvPr/>
        </p:nvSpPr>
        <p:spPr>
          <a:xfrm>
            <a:off x="2606040" y="1783080"/>
            <a:ext cx="1874520" cy="411480"/>
          </a:xfrm>
          <a:prstGeom prst="rect">
            <a:avLst/>
          </a:prstGeom>
          <a:noFill/>
          <a:ln/>
        </p:spPr>
        <p:txBody>
          <a:bodyPr wrap="square" lIns="0" tIns="0" rIns="0" bIns="0" rtlCol="0" anchor="ctr"/>
          <a:lstStyle/>
          <a:p>
            <a:pPr marL="0" indent="0" algn="ctr">
              <a:buNone/>
            </a:pPr>
            <a:r>
              <a:rPr lang="en-US" sz="1400" dirty="0">
                <a:solidFill>
                  <a:srgbClr val="8A2500"/>
                </a:solidFill>
                <a:latin typeface="Segoe UI Semibold" pitchFamily="34" charset="0"/>
                <a:ea typeface="Segoe UI Semibold" pitchFamily="34" charset="-122"/>
                <a:cs typeface="Segoe UI Semibold" pitchFamily="34" charset="-120"/>
              </a:rPr>
              <a:t>Zone 2</a:t>
            </a:r>
            <a:endParaRPr lang="en-US" sz="1400" dirty="0"/>
          </a:p>
        </p:txBody>
      </p:sp>
      <p:sp>
        <p:nvSpPr>
          <p:cNvPr id="17" name="Text 15"/>
          <p:cNvSpPr/>
          <p:nvPr/>
        </p:nvSpPr>
        <p:spPr>
          <a:xfrm>
            <a:off x="2834640" y="2286000"/>
            <a:ext cx="1417320" cy="411480"/>
          </a:xfrm>
          <a:prstGeom prst="rect">
            <a:avLst/>
          </a:prstGeom>
          <a:solidFill>
            <a:srgbClr val="0B1F33"/>
          </a:solidFill>
          <a:ln/>
        </p:spPr>
        <p:txBody>
          <a:bodyPr wrap="square" lIns="76200" tIns="76200" rIns="76200" bIns="76200" rtlCol="0" anchor="ctr"/>
          <a:lstStyle/>
          <a:p>
            <a:pPr marL="0" indent="0" algn="ctr">
              <a:buNone/>
            </a:pPr>
            <a:r>
              <a:rPr lang="en-US" sz="1200" dirty="0">
                <a:solidFill>
                  <a:srgbClr val="FFFFFF"/>
                </a:solidFill>
                <a:latin typeface="Segoe UI Semibold" pitchFamily="34" charset="0"/>
                <a:ea typeface="Segoe UI Semibold" pitchFamily="34" charset="-122"/>
                <a:cs typeface="Segoe UI Semibold" pitchFamily="34" charset="-120"/>
              </a:rPr>
              <a:t>node</a:t>
            </a:r>
            <a:endParaRPr lang="en-US" sz="1200" dirty="0"/>
          </a:p>
        </p:txBody>
      </p:sp>
      <p:sp>
        <p:nvSpPr>
          <p:cNvPr id="18" name="Text 16"/>
          <p:cNvSpPr/>
          <p:nvPr/>
        </p:nvSpPr>
        <p:spPr>
          <a:xfrm>
            <a:off x="2834640" y="2880360"/>
            <a:ext cx="1417320" cy="640080"/>
          </a:xfrm>
          <a:prstGeom prst="rect">
            <a:avLst/>
          </a:prstGeom>
          <a:solidFill>
            <a:srgbClr val="D83B01"/>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api pod</a:t>
            </a:r>
            <a:endParaRPr lang="en-US" sz="1400" dirty="0"/>
          </a:p>
        </p:txBody>
      </p:sp>
      <p:sp>
        <p:nvSpPr>
          <p:cNvPr id="19" name="Text 17"/>
          <p:cNvSpPr/>
          <p:nvPr/>
        </p:nvSpPr>
        <p:spPr>
          <a:xfrm>
            <a:off x="2834640" y="3703320"/>
            <a:ext cx="1417320" cy="640080"/>
          </a:xfrm>
          <a:prstGeom prst="rect">
            <a:avLst/>
          </a:prstGeom>
          <a:solidFill>
            <a:srgbClr val="D83B01"/>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api pod</a:t>
            </a:r>
            <a:endParaRPr lang="en-US" sz="1400" dirty="0"/>
          </a:p>
        </p:txBody>
      </p:sp>
      <p:sp>
        <p:nvSpPr>
          <p:cNvPr id="20" name="Shape 18"/>
          <p:cNvSpPr/>
          <p:nvPr/>
        </p:nvSpPr>
        <p:spPr>
          <a:xfrm>
            <a:off x="4663440" y="1737360"/>
            <a:ext cx="1874520" cy="2926080"/>
          </a:xfrm>
          <a:prstGeom prst="rect">
            <a:avLst/>
          </a:prstGeom>
          <a:solidFill>
            <a:srgbClr val="FDE7DE"/>
          </a:solidFill>
          <a:ln/>
        </p:spPr>
        <p:txBody>
          <a:bodyPr/>
          <a:lstStyle/>
          <a:p>
            <a:endParaRPr lang="en-US"/>
          </a:p>
        </p:txBody>
      </p:sp>
      <p:sp>
        <p:nvSpPr>
          <p:cNvPr id="21" name="Text 19"/>
          <p:cNvSpPr/>
          <p:nvPr/>
        </p:nvSpPr>
        <p:spPr>
          <a:xfrm>
            <a:off x="4663440" y="1783080"/>
            <a:ext cx="1874520" cy="411480"/>
          </a:xfrm>
          <a:prstGeom prst="rect">
            <a:avLst/>
          </a:prstGeom>
          <a:noFill/>
          <a:ln/>
        </p:spPr>
        <p:txBody>
          <a:bodyPr wrap="square" lIns="0" tIns="0" rIns="0" bIns="0" rtlCol="0" anchor="ctr"/>
          <a:lstStyle/>
          <a:p>
            <a:pPr marL="0" indent="0" algn="ctr">
              <a:buNone/>
            </a:pPr>
            <a:r>
              <a:rPr lang="en-US" sz="1400" dirty="0">
                <a:solidFill>
                  <a:srgbClr val="8A2500"/>
                </a:solidFill>
                <a:latin typeface="Segoe UI Semibold" pitchFamily="34" charset="0"/>
                <a:ea typeface="Segoe UI Semibold" pitchFamily="34" charset="-122"/>
                <a:cs typeface="Segoe UI Semibold" pitchFamily="34" charset="-120"/>
              </a:rPr>
              <a:t>Zone 3</a:t>
            </a:r>
            <a:endParaRPr lang="en-US" sz="1400" dirty="0"/>
          </a:p>
        </p:txBody>
      </p:sp>
      <p:sp>
        <p:nvSpPr>
          <p:cNvPr id="22" name="Text 20"/>
          <p:cNvSpPr/>
          <p:nvPr/>
        </p:nvSpPr>
        <p:spPr>
          <a:xfrm>
            <a:off x="4892040" y="2286000"/>
            <a:ext cx="1417320" cy="411480"/>
          </a:xfrm>
          <a:prstGeom prst="rect">
            <a:avLst/>
          </a:prstGeom>
          <a:solidFill>
            <a:srgbClr val="0B1F33"/>
          </a:solidFill>
          <a:ln/>
        </p:spPr>
        <p:txBody>
          <a:bodyPr wrap="square" lIns="76200" tIns="76200" rIns="76200" bIns="76200" rtlCol="0" anchor="ctr"/>
          <a:lstStyle/>
          <a:p>
            <a:pPr marL="0" indent="0" algn="ctr">
              <a:buNone/>
            </a:pPr>
            <a:r>
              <a:rPr lang="en-US" sz="1200" dirty="0">
                <a:solidFill>
                  <a:srgbClr val="FFFFFF"/>
                </a:solidFill>
                <a:latin typeface="Segoe UI Semibold" pitchFamily="34" charset="0"/>
                <a:ea typeface="Segoe UI Semibold" pitchFamily="34" charset="-122"/>
                <a:cs typeface="Segoe UI Semibold" pitchFamily="34" charset="-120"/>
              </a:rPr>
              <a:t>node</a:t>
            </a:r>
            <a:endParaRPr lang="en-US" sz="1200" dirty="0"/>
          </a:p>
        </p:txBody>
      </p:sp>
      <p:sp>
        <p:nvSpPr>
          <p:cNvPr id="23" name="Text 21"/>
          <p:cNvSpPr/>
          <p:nvPr/>
        </p:nvSpPr>
        <p:spPr>
          <a:xfrm>
            <a:off x="4892040" y="2880360"/>
            <a:ext cx="1417320" cy="640080"/>
          </a:xfrm>
          <a:prstGeom prst="rect">
            <a:avLst/>
          </a:prstGeom>
          <a:solidFill>
            <a:srgbClr val="D83B01"/>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api pod</a:t>
            </a:r>
            <a:endParaRPr lang="en-US" sz="1400" dirty="0"/>
          </a:p>
        </p:txBody>
      </p:sp>
      <p:sp>
        <p:nvSpPr>
          <p:cNvPr id="24" name="Text 22"/>
          <p:cNvSpPr/>
          <p:nvPr/>
        </p:nvSpPr>
        <p:spPr>
          <a:xfrm>
            <a:off x="4892040" y="3703320"/>
            <a:ext cx="1417320" cy="640080"/>
          </a:xfrm>
          <a:prstGeom prst="rect">
            <a:avLst/>
          </a:prstGeom>
          <a:solidFill>
            <a:srgbClr val="FFFFFF"/>
          </a:solidFill>
          <a:ln w="15875">
            <a:solidFill>
              <a:srgbClr val="C9C6C4"/>
            </a:solidFill>
          </a:ln>
        </p:spPr>
        <p:txBody>
          <a:bodyPr wrap="square" lIns="76200" tIns="76200" rIns="76200" bIns="76200" rtlCol="0" anchor="ctr"/>
          <a:lstStyle/>
          <a:p>
            <a:pPr marL="0" indent="0" algn="ctr">
              <a:buNone/>
            </a:pPr>
            <a:r>
              <a:rPr lang="en-US" sz="1400" dirty="0">
                <a:solidFill>
                  <a:srgbClr val="605E5C"/>
                </a:solidFill>
                <a:latin typeface="Segoe UI Semibold" pitchFamily="34" charset="0"/>
                <a:ea typeface="Segoe UI Semibold" pitchFamily="34" charset="-122"/>
                <a:cs typeface="Segoe UI Semibold" pitchFamily="34" charset="-120"/>
              </a:rPr>
              <a:t>api pod</a:t>
            </a:r>
            <a:endParaRPr lang="en-US" sz="1400" dirty="0"/>
          </a:p>
        </p:txBody>
      </p:sp>
      <p:sp>
        <p:nvSpPr>
          <p:cNvPr id="25" name="Shape 23"/>
          <p:cNvSpPr/>
          <p:nvPr/>
        </p:nvSpPr>
        <p:spPr>
          <a:xfrm>
            <a:off x="548640" y="4892040"/>
            <a:ext cx="6035040" cy="1188720"/>
          </a:xfrm>
          <a:prstGeom prst="rect">
            <a:avLst/>
          </a:prstGeom>
          <a:solidFill>
            <a:srgbClr val="FDE7DE"/>
          </a:solidFill>
          <a:ln/>
        </p:spPr>
        <p:txBody>
          <a:bodyPr/>
          <a:lstStyle/>
          <a:p>
            <a:endParaRPr lang="en-US"/>
          </a:p>
        </p:txBody>
      </p:sp>
      <p:sp>
        <p:nvSpPr>
          <p:cNvPr id="26" name="Text 24"/>
          <p:cNvSpPr/>
          <p:nvPr/>
        </p:nvSpPr>
        <p:spPr>
          <a:xfrm>
            <a:off x="822960" y="4892040"/>
            <a:ext cx="5532120" cy="1188720"/>
          </a:xfrm>
          <a:prstGeom prst="rect">
            <a:avLst/>
          </a:prstGeom>
          <a:noFill/>
          <a:ln/>
        </p:spPr>
        <p:txBody>
          <a:bodyPr wrap="square" lIns="0" tIns="0" rIns="0" bIns="0" rtlCol="0" anchor="ctr"/>
          <a:lstStyle/>
          <a:p>
            <a:pPr marL="0" indent="0">
              <a:buNone/>
            </a:pPr>
            <a:r>
              <a:rPr lang="en-US" sz="1500" b="1">
                <a:solidFill>
                  <a:srgbClr val="201F1E"/>
                </a:solidFill>
                <a:latin typeface="Segoe UI" pitchFamily="34" charset="0"/>
                <a:ea typeface="Segoe UI" pitchFamily="34" charset="-122"/>
                <a:cs typeface="Segoe UI" pitchFamily="34" charset="-120"/>
              </a:rPr>
              <a:t>Multiple </a:t>
            </a:r>
            <a:r>
              <a:rPr lang="en-US" sz="1500" b="1" dirty="0">
                <a:solidFill>
                  <a:srgbClr val="201F1E"/>
                </a:solidFill>
                <a:latin typeface="Segoe UI" pitchFamily="34" charset="0"/>
                <a:ea typeface="Segoe UI" pitchFamily="34" charset="-122"/>
                <a:cs typeface="Segoe UI" pitchFamily="34" charset="-120"/>
              </a:rPr>
              <a:t>replicas</a:t>
            </a:r>
            <a:r>
              <a:rPr lang="en-US" sz="1500" dirty="0">
                <a:solidFill>
                  <a:srgbClr val="201F1E"/>
                </a:solidFill>
                <a:latin typeface="Segoe UI" pitchFamily="34" charset="0"/>
                <a:ea typeface="Segoe UI" pitchFamily="34" charset="-122"/>
                <a:cs typeface="Segoe UI" pitchFamily="34" charset="-120"/>
              </a:rPr>
              <a:t>, spread </a:t>
            </a:r>
            <a:r>
              <a:rPr lang="en-US" sz="1500">
                <a:solidFill>
                  <a:srgbClr val="201F1E"/>
                </a:solidFill>
                <a:latin typeface="Segoe UI" pitchFamily="34" charset="0"/>
                <a:ea typeface="Segoe UI" pitchFamily="34" charset="-122"/>
                <a:cs typeface="Segoe UI" pitchFamily="34" charset="-120"/>
              </a:rPr>
              <a:t>evenly </a:t>
            </a:r>
            <a:r>
              <a:rPr lang="en-US" sz="1500" dirty="0">
                <a:solidFill>
                  <a:srgbClr val="201F1E"/>
                </a:solidFill>
                <a:latin typeface="Segoe UI" pitchFamily="34" charset="0"/>
                <a:ea typeface="Segoe UI" pitchFamily="34" charset="-122"/>
                <a:cs typeface="Segoe UI" pitchFamily="34" charset="-120"/>
              </a:rPr>
              <a:t>across availability zones, so </a:t>
            </a:r>
            <a:r>
              <a:rPr lang="en-US" sz="1500">
                <a:solidFill>
                  <a:srgbClr val="201F1E"/>
                </a:solidFill>
                <a:latin typeface="Segoe UI" pitchFamily="34" charset="0"/>
                <a:ea typeface="Segoe UI" pitchFamily="34" charset="-122"/>
                <a:cs typeface="Segoe UI" pitchFamily="34" charset="-120"/>
              </a:rPr>
              <a:t>losing </a:t>
            </a:r>
            <a:r>
              <a:rPr lang="en-US" sz="1500" dirty="0">
                <a:solidFill>
                  <a:srgbClr val="201F1E"/>
                </a:solidFill>
                <a:latin typeface="Segoe UI" pitchFamily="34" charset="0"/>
                <a:ea typeface="Segoe UI" pitchFamily="34" charset="-122"/>
                <a:cs typeface="Segoe UI" pitchFamily="34" charset="-120"/>
              </a:rPr>
              <a:t>one </a:t>
            </a:r>
            <a:r>
              <a:rPr lang="en-US" sz="1500">
                <a:solidFill>
                  <a:srgbClr val="201F1E"/>
                </a:solidFill>
                <a:latin typeface="Segoe UI" pitchFamily="34" charset="0"/>
                <a:ea typeface="Segoe UI" pitchFamily="34" charset="-122"/>
                <a:cs typeface="Segoe UI" pitchFamily="34" charset="-120"/>
              </a:rPr>
              <a:t>zone</a:t>
            </a:r>
            <a:r>
              <a:rPr lang="en-US" sz="1500" dirty="0">
                <a:solidFill>
                  <a:srgbClr val="201F1E"/>
                </a:solidFill>
                <a:latin typeface="Segoe UI" pitchFamily="34" charset="0"/>
                <a:ea typeface="Segoe UI" pitchFamily="34" charset="-122"/>
                <a:cs typeface="Segoe UI" pitchFamily="34" charset="-120"/>
              </a:rPr>
              <a:t> never takes the service down.</a:t>
            </a:r>
            <a:endParaRPr lang="en-US" sz="1500" dirty="0"/>
          </a:p>
        </p:txBody>
      </p:sp>
      <p:sp>
        <p:nvSpPr>
          <p:cNvPr id="27" name="Shape 25"/>
          <p:cNvSpPr/>
          <p:nvPr/>
        </p:nvSpPr>
        <p:spPr>
          <a:xfrm>
            <a:off x="6858000" y="1737360"/>
            <a:ext cx="4782312" cy="4343400"/>
          </a:xfrm>
          <a:prstGeom prst="rect">
            <a:avLst/>
          </a:prstGeom>
          <a:solidFill>
            <a:srgbClr val="1E1E1E"/>
          </a:solidFill>
          <a:ln/>
        </p:spPr>
        <p:txBody>
          <a:bodyPr/>
          <a:lstStyle/>
          <a:p>
            <a:endParaRPr lang="en-US"/>
          </a:p>
        </p:txBody>
      </p:sp>
      <p:sp>
        <p:nvSpPr>
          <p:cNvPr id="28" name="Shape 26"/>
          <p:cNvSpPr/>
          <p:nvPr/>
        </p:nvSpPr>
        <p:spPr>
          <a:xfrm>
            <a:off x="6858000" y="1737360"/>
            <a:ext cx="4782312" cy="347472"/>
          </a:xfrm>
          <a:prstGeom prst="rect">
            <a:avLst/>
          </a:prstGeom>
          <a:solidFill>
            <a:srgbClr val="2D2D30"/>
          </a:solidFill>
          <a:ln/>
        </p:spPr>
        <p:txBody>
          <a:bodyPr/>
          <a:lstStyle/>
          <a:p>
            <a:endParaRPr lang="en-US"/>
          </a:p>
        </p:txBody>
      </p:sp>
      <p:sp>
        <p:nvSpPr>
          <p:cNvPr id="29" name="Shape 27"/>
          <p:cNvSpPr/>
          <p:nvPr/>
        </p:nvSpPr>
        <p:spPr>
          <a:xfrm>
            <a:off x="6858000" y="1737360"/>
            <a:ext cx="1714500" cy="347472"/>
          </a:xfrm>
          <a:prstGeom prst="rect">
            <a:avLst/>
          </a:prstGeom>
          <a:solidFill>
            <a:srgbClr val="1E1E1E"/>
          </a:solidFill>
          <a:ln/>
        </p:spPr>
        <p:txBody>
          <a:bodyPr/>
          <a:lstStyle/>
          <a:p>
            <a:endParaRPr lang="en-US"/>
          </a:p>
        </p:txBody>
      </p:sp>
      <p:sp>
        <p:nvSpPr>
          <p:cNvPr id="30" name="Text 28"/>
          <p:cNvSpPr/>
          <p:nvPr/>
        </p:nvSpPr>
        <p:spPr>
          <a:xfrm>
            <a:off x="6995160" y="1737360"/>
            <a:ext cx="1531620"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deployment.yaml</a:t>
            </a:r>
            <a:endParaRPr lang="en-US" sz="1100" dirty="0"/>
          </a:p>
        </p:txBody>
      </p:sp>
      <p:sp>
        <p:nvSpPr>
          <p:cNvPr id="31" name="Text 29"/>
          <p:cNvSpPr/>
          <p:nvPr/>
        </p:nvSpPr>
        <p:spPr>
          <a:xfrm>
            <a:off x="7059168" y="2212848"/>
            <a:ext cx="4416552" cy="3749040"/>
          </a:xfrm>
          <a:prstGeom prst="rect">
            <a:avLst/>
          </a:prstGeom>
          <a:noFill/>
          <a:ln/>
        </p:spPr>
        <p:txBody>
          <a:bodyPr wrap="square" lIns="0" tIns="0" rIns="0" bIns="0" rtlCol="0" anchor="t"/>
          <a:lstStyle/>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spec</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replicas</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a:t>
            </a:r>
            <a:r>
              <a:rPr lang="en-US" sz="1200">
                <a:solidFill>
                  <a:srgbClr val="CE9178"/>
                </a:solidFill>
                <a:latin typeface="Consolas" pitchFamily="34" charset="0"/>
                <a:ea typeface="Consolas" pitchFamily="34" charset="-122"/>
                <a:cs typeface="Consolas" pitchFamily="34" charset="-120"/>
              </a:rPr>
              <a:t>6</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template</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spec</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topologySpreadConstraints</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 </a:t>
            </a:r>
            <a:r>
              <a:rPr lang="en-US" sz="1200" dirty="0">
                <a:solidFill>
                  <a:srgbClr val="9CDCFE"/>
                </a:solidFill>
                <a:latin typeface="Consolas" pitchFamily="34" charset="0"/>
                <a:ea typeface="Consolas" pitchFamily="34" charset="-122"/>
                <a:cs typeface="Consolas" pitchFamily="34" charset="-120"/>
              </a:rPr>
              <a:t>maxSkew</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1</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topologyKey</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topology.kubernetes.io/zone</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whenUnsatisfiable</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ScheduleAnyway</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labelSelector</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matchLabels</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 app: api }</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FF8C5A"/>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3DAE84B5-3F99-498B-A602-1CD5EBBAD51F}" type="slidenum">
              <a:rPr lang="en-US" sz="1100">
                <a:solidFill>
                  <a:srgbClr val="A9B8C8"/>
                </a:solidFill>
                <a:latin typeface="Segoe UI" pitchFamily="34" charset="0"/>
                <a:ea typeface="Segoe UI" pitchFamily="34" charset="-122"/>
                <a:cs typeface="Segoe UI" pitchFamily="34" charset="-120"/>
              </a:rPr>
              <a:t>37</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Disruption Budgets and Rolling Updates</a:t>
            </a:r>
            <a:endParaRPr lang="en-US" sz="3200" dirty="0"/>
          </a:p>
        </p:txBody>
      </p:sp>
      <p:sp>
        <p:nvSpPr>
          <p:cNvPr id="10" name="Shape 8"/>
          <p:cNvSpPr/>
          <p:nvPr/>
        </p:nvSpPr>
        <p:spPr>
          <a:xfrm>
            <a:off x="548640" y="1737360"/>
            <a:ext cx="5440680" cy="2926080"/>
          </a:xfrm>
          <a:prstGeom prst="rect">
            <a:avLst/>
          </a:prstGeom>
          <a:solidFill>
            <a:srgbClr val="1E1E1E"/>
          </a:solidFill>
          <a:ln/>
        </p:spPr>
        <p:txBody>
          <a:bodyPr/>
          <a:lstStyle/>
          <a:p>
            <a:endParaRPr lang="en-US"/>
          </a:p>
        </p:txBody>
      </p:sp>
      <p:sp>
        <p:nvSpPr>
          <p:cNvPr id="11" name="Shape 9"/>
          <p:cNvSpPr/>
          <p:nvPr/>
        </p:nvSpPr>
        <p:spPr>
          <a:xfrm>
            <a:off x="548640" y="1737360"/>
            <a:ext cx="5440680" cy="347472"/>
          </a:xfrm>
          <a:prstGeom prst="rect">
            <a:avLst/>
          </a:prstGeom>
          <a:solidFill>
            <a:srgbClr val="2D2D30"/>
          </a:solidFill>
          <a:ln/>
        </p:spPr>
        <p:txBody>
          <a:bodyPr/>
          <a:lstStyle/>
          <a:p>
            <a:endParaRPr lang="en-US"/>
          </a:p>
        </p:txBody>
      </p:sp>
      <p:sp>
        <p:nvSpPr>
          <p:cNvPr id="12" name="Shape 10"/>
          <p:cNvSpPr/>
          <p:nvPr/>
        </p:nvSpPr>
        <p:spPr>
          <a:xfrm>
            <a:off x="548640" y="1737360"/>
            <a:ext cx="1170432" cy="347472"/>
          </a:xfrm>
          <a:prstGeom prst="rect">
            <a:avLst/>
          </a:prstGeom>
          <a:solidFill>
            <a:srgbClr val="1E1E1E"/>
          </a:solidFill>
          <a:ln/>
        </p:spPr>
        <p:txBody>
          <a:bodyPr/>
          <a:lstStyle/>
          <a:p>
            <a:endParaRPr lang="en-US"/>
          </a:p>
        </p:txBody>
      </p:sp>
      <p:sp>
        <p:nvSpPr>
          <p:cNvPr id="13" name="Text 11"/>
          <p:cNvSpPr/>
          <p:nvPr/>
        </p:nvSpPr>
        <p:spPr>
          <a:xfrm>
            <a:off x="685800" y="1737360"/>
            <a:ext cx="987552"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pdb.yaml</a:t>
            </a:r>
            <a:endParaRPr lang="en-US" sz="1100" dirty="0"/>
          </a:p>
        </p:txBody>
      </p:sp>
      <p:sp>
        <p:nvSpPr>
          <p:cNvPr id="14" name="Text 12"/>
          <p:cNvSpPr/>
          <p:nvPr/>
        </p:nvSpPr>
        <p:spPr>
          <a:xfrm>
            <a:off x="749808" y="2212848"/>
            <a:ext cx="5074920" cy="2331720"/>
          </a:xfrm>
          <a:prstGeom prst="rect">
            <a:avLst/>
          </a:prstGeom>
          <a:noFill/>
          <a:ln/>
        </p:spPr>
        <p:txBody>
          <a:bodyPr wrap="square" lIns="0" tIns="0" rIns="0" bIns="0" rtlCol="0"/>
          <a:lstStyle/>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apiVersion</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policy/v1</a:t>
            </a:r>
            <a:endParaRPr lang="en-US" sz="1300" dirty="0"/>
          </a:p>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kind</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PodDisruptionBudget</a:t>
            </a:r>
            <a:endParaRPr lang="en-US" sz="1300" dirty="0"/>
          </a:p>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metadata</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name</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api-pdb</a:t>
            </a:r>
            <a:endParaRPr lang="en-US" sz="1300" dirty="0"/>
          </a:p>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spec</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minAvailable</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2         </a:t>
            </a:r>
            <a:r>
              <a:rPr lang="en-US" sz="1300" dirty="0">
                <a:solidFill>
                  <a:srgbClr val="6A9955"/>
                </a:solidFill>
                <a:latin typeface="Consolas" pitchFamily="34" charset="0"/>
                <a:ea typeface="Consolas" pitchFamily="34" charset="-122"/>
                <a:cs typeface="Consolas" pitchFamily="34" charset="-120"/>
              </a:rPr>
              <a:t> # or maxUnavailable: 1</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selector</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matchLabels</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 app: api }</a:t>
            </a:r>
            <a:endParaRPr lang="en-US" sz="1300" dirty="0"/>
          </a:p>
        </p:txBody>
      </p:sp>
      <p:sp>
        <p:nvSpPr>
          <p:cNvPr id="15" name="Shape 13"/>
          <p:cNvSpPr/>
          <p:nvPr/>
        </p:nvSpPr>
        <p:spPr>
          <a:xfrm>
            <a:off x="6199632" y="1737360"/>
            <a:ext cx="5440680" cy="2926080"/>
          </a:xfrm>
          <a:prstGeom prst="rect">
            <a:avLst/>
          </a:prstGeom>
          <a:solidFill>
            <a:srgbClr val="1E1E1E"/>
          </a:solidFill>
          <a:ln/>
        </p:spPr>
        <p:txBody>
          <a:bodyPr/>
          <a:lstStyle/>
          <a:p>
            <a:endParaRPr lang="en-US"/>
          </a:p>
        </p:txBody>
      </p:sp>
      <p:sp>
        <p:nvSpPr>
          <p:cNvPr id="16" name="Shape 14"/>
          <p:cNvSpPr/>
          <p:nvPr/>
        </p:nvSpPr>
        <p:spPr>
          <a:xfrm>
            <a:off x="6199632" y="1737360"/>
            <a:ext cx="5440680" cy="347472"/>
          </a:xfrm>
          <a:prstGeom prst="rect">
            <a:avLst/>
          </a:prstGeom>
          <a:solidFill>
            <a:srgbClr val="2D2D30"/>
          </a:solidFill>
          <a:ln/>
        </p:spPr>
        <p:txBody>
          <a:bodyPr/>
          <a:lstStyle/>
          <a:p>
            <a:endParaRPr lang="en-US"/>
          </a:p>
        </p:txBody>
      </p:sp>
      <p:sp>
        <p:nvSpPr>
          <p:cNvPr id="17" name="Shape 15"/>
          <p:cNvSpPr/>
          <p:nvPr/>
        </p:nvSpPr>
        <p:spPr>
          <a:xfrm>
            <a:off x="6199632" y="1737360"/>
            <a:ext cx="1714500" cy="347472"/>
          </a:xfrm>
          <a:prstGeom prst="rect">
            <a:avLst/>
          </a:prstGeom>
          <a:solidFill>
            <a:srgbClr val="1E1E1E"/>
          </a:solidFill>
          <a:ln/>
        </p:spPr>
        <p:txBody>
          <a:bodyPr/>
          <a:lstStyle/>
          <a:p>
            <a:endParaRPr lang="en-US"/>
          </a:p>
        </p:txBody>
      </p:sp>
      <p:sp>
        <p:nvSpPr>
          <p:cNvPr id="18" name="Text 16"/>
          <p:cNvSpPr/>
          <p:nvPr/>
        </p:nvSpPr>
        <p:spPr>
          <a:xfrm>
            <a:off x="6336792" y="1737360"/>
            <a:ext cx="1531620"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deployment.yaml</a:t>
            </a:r>
            <a:endParaRPr lang="en-US" sz="1100" dirty="0"/>
          </a:p>
        </p:txBody>
      </p:sp>
      <p:sp>
        <p:nvSpPr>
          <p:cNvPr id="19" name="Text 17"/>
          <p:cNvSpPr/>
          <p:nvPr/>
        </p:nvSpPr>
        <p:spPr>
          <a:xfrm>
            <a:off x="6400800" y="2212848"/>
            <a:ext cx="5074920" cy="2331720"/>
          </a:xfrm>
          <a:prstGeom prst="rect">
            <a:avLst/>
          </a:prstGeom>
          <a:noFill/>
          <a:ln/>
        </p:spPr>
        <p:txBody>
          <a:bodyPr wrap="square" lIns="0" tIns="0" rIns="0" bIns="0" rtlCol="0"/>
          <a:lstStyle/>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spec</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strategy</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type</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RollingUpdate</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rollingUpdate</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maxSurge</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1         </a:t>
            </a:r>
            <a:r>
              <a:rPr lang="en-US" sz="1300" dirty="0">
                <a:solidFill>
                  <a:srgbClr val="6A9955"/>
                </a:solidFill>
                <a:latin typeface="Consolas" pitchFamily="34" charset="0"/>
                <a:ea typeface="Consolas" pitchFamily="34" charset="-122"/>
                <a:cs typeface="Consolas" pitchFamily="34" charset="-120"/>
              </a:rPr>
              <a:t> # extra pod during rollout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maxUnavailable</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0   </a:t>
            </a:r>
            <a:r>
              <a:rPr lang="en-US" sz="1300" dirty="0">
                <a:solidFill>
                  <a:srgbClr val="6A9955"/>
                </a:solidFill>
                <a:latin typeface="Consolas" pitchFamily="34" charset="0"/>
                <a:ea typeface="Consolas" pitchFamily="34" charset="-122"/>
                <a:cs typeface="Consolas" pitchFamily="34" charset="-120"/>
              </a:rPr>
              <a:t> # never drop below desired</a:t>
            </a:r>
            <a:endParaRPr lang="en-US" sz="1300" dirty="0"/>
          </a:p>
        </p:txBody>
      </p:sp>
      <p:sp>
        <p:nvSpPr>
          <p:cNvPr id="20" name="Shape 18"/>
          <p:cNvSpPr/>
          <p:nvPr/>
        </p:nvSpPr>
        <p:spPr>
          <a:xfrm>
            <a:off x="548640" y="4892040"/>
            <a:ext cx="5440680" cy="1188720"/>
          </a:xfrm>
          <a:prstGeom prst="rect">
            <a:avLst/>
          </a:prstGeom>
          <a:solidFill>
            <a:srgbClr val="16304A"/>
          </a:solidFill>
          <a:ln/>
        </p:spPr>
        <p:txBody>
          <a:bodyPr/>
          <a:lstStyle/>
          <a:p>
            <a:endParaRPr lang="en-US"/>
          </a:p>
        </p:txBody>
      </p:sp>
      <p:sp>
        <p:nvSpPr>
          <p:cNvPr id="21" name="Shape 19"/>
          <p:cNvSpPr/>
          <p:nvPr/>
        </p:nvSpPr>
        <p:spPr>
          <a:xfrm>
            <a:off x="777240" y="5120640"/>
            <a:ext cx="457200" cy="457200"/>
          </a:xfrm>
          <a:prstGeom prst="ellipse">
            <a:avLst/>
          </a:prstGeom>
          <a:solidFill>
            <a:srgbClr val="D83B01"/>
          </a:solidFill>
          <a:ln/>
        </p:spPr>
        <p:txBody>
          <a:bodyPr/>
          <a:lstStyle/>
          <a:p>
            <a:endParaRPr lang="en-US"/>
          </a:p>
        </p:txBody>
      </p:sp>
      <p:pic>
        <p:nvPicPr>
          <p:cNvPr id="22" name="Image 0" descr="/agent/turn2/workspace/output/_anthropic_assets/icon-shield-checkmark-8da48fe0.png"/>
          <p:cNvPicPr>
            <a:picLocks noChangeAspect="1"/>
          </p:cNvPicPr>
          <p:nvPr/>
        </p:nvPicPr>
        <p:blipFill>
          <a:blip r:embed="rId2"/>
          <a:stretch>
            <a:fillRect/>
          </a:stretch>
        </p:blipFill>
        <p:spPr>
          <a:xfrm>
            <a:off x="877824" y="5221224"/>
            <a:ext cx="256032" cy="256032"/>
          </a:xfrm>
          <a:prstGeom prst="rect">
            <a:avLst/>
          </a:prstGeom>
        </p:spPr>
      </p:pic>
      <p:sp>
        <p:nvSpPr>
          <p:cNvPr id="23" name="Text 20"/>
          <p:cNvSpPr/>
          <p:nvPr/>
        </p:nvSpPr>
        <p:spPr>
          <a:xfrm>
            <a:off x="1463040" y="5074920"/>
            <a:ext cx="4343400" cy="384048"/>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PDB: voluntary disruptions</a:t>
            </a:r>
            <a:endParaRPr lang="en-US" sz="1600" dirty="0"/>
          </a:p>
        </p:txBody>
      </p:sp>
      <p:sp>
        <p:nvSpPr>
          <p:cNvPr id="24" name="Text 21"/>
          <p:cNvSpPr/>
          <p:nvPr/>
        </p:nvSpPr>
        <p:spPr>
          <a:xfrm>
            <a:off x="1463040" y="5486400"/>
            <a:ext cx="4343400" cy="457200"/>
          </a:xfrm>
          <a:prstGeom prst="rect">
            <a:avLst/>
          </a:prstGeom>
          <a:noFill/>
          <a:ln/>
        </p:spPr>
        <p:txBody>
          <a:bodyPr wrap="square" lIns="0" tIns="0" rIns="0" bIns="0" rtlCol="0"/>
          <a:lstStyle/>
          <a:p>
            <a:pPr marL="0" indent="0">
              <a:buNone/>
            </a:pPr>
            <a:r>
              <a:rPr lang="en-US" sz="1350" dirty="0">
                <a:solidFill>
                  <a:srgbClr val="D0D8E2"/>
                </a:solidFill>
                <a:latin typeface="Segoe UI" pitchFamily="34" charset="0"/>
                <a:ea typeface="Segoe UI" pitchFamily="34" charset="-122"/>
                <a:cs typeface="Segoe UI" pitchFamily="34" charset="-120"/>
              </a:rPr>
              <a:t>Node drains and upgrades wait rather than evict below the budget.</a:t>
            </a:r>
            <a:endParaRPr lang="en-US" sz="1350" dirty="0"/>
          </a:p>
        </p:txBody>
      </p:sp>
      <p:sp>
        <p:nvSpPr>
          <p:cNvPr id="25" name="Shape 22"/>
          <p:cNvSpPr/>
          <p:nvPr/>
        </p:nvSpPr>
        <p:spPr>
          <a:xfrm>
            <a:off x="6199632" y="4892040"/>
            <a:ext cx="5440680" cy="1188720"/>
          </a:xfrm>
          <a:prstGeom prst="rect">
            <a:avLst/>
          </a:prstGeom>
          <a:solidFill>
            <a:srgbClr val="16304A"/>
          </a:solidFill>
          <a:ln/>
        </p:spPr>
        <p:txBody>
          <a:bodyPr/>
          <a:lstStyle/>
          <a:p>
            <a:endParaRPr lang="en-US"/>
          </a:p>
        </p:txBody>
      </p:sp>
      <p:sp>
        <p:nvSpPr>
          <p:cNvPr id="26" name="Shape 23"/>
          <p:cNvSpPr/>
          <p:nvPr/>
        </p:nvSpPr>
        <p:spPr>
          <a:xfrm>
            <a:off x="6428232" y="5120640"/>
            <a:ext cx="457200" cy="457200"/>
          </a:xfrm>
          <a:prstGeom prst="ellipse">
            <a:avLst/>
          </a:prstGeom>
          <a:solidFill>
            <a:srgbClr val="D83B01"/>
          </a:solidFill>
          <a:ln/>
        </p:spPr>
        <p:txBody>
          <a:bodyPr/>
          <a:lstStyle/>
          <a:p>
            <a:endParaRPr lang="en-US"/>
          </a:p>
        </p:txBody>
      </p:sp>
      <p:pic>
        <p:nvPicPr>
          <p:cNvPr id="27" name="Image 1" descr="/agent/turn2/workspace/output/_anthropic_assets/icon-arrow-sync-7745594d.png"/>
          <p:cNvPicPr>
            <a:picLocks noChangeAspect="1"/>
          </p:cNvPicPr>
          <p:nvPr/>
        </p:nvPicPr>
        <p:blipFill>
          <a:blip r:embed="rId3"/>
          <a:stretch>
            <a:fillRect/>
          </a:stretch>
        </p:blipFill>
        <p:spPr>
          <a:xfrm>
            <a:off x="6528816" y="5221224"/>
            <a:ext cx="256032" cy="256032"/>
          </a:xfrm>
          <a:prstGeom prst="rect">
            <a:avLst/>
          </a:prstGeom>
        </p:spPr>
      </p:pic>
      <p:sp>
        <p:nvSpPr>
          <p:cNvPr id="28" name="Text 24"/>
          <p:cNvSpPr/>
          <p:nvPr/>
        </p:nvSpPr>
        <p:spPr>
          <a:xfrm>
            <a:off x="7114032" y="5074920"/>
            <a:ext cx="4343400" cy="384048"/>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Rollout: your own changes</a:t>
            </a:r>
            <a:endParaRPr lang="en-US" sz="1600" dirty="0"/>
          </a:p>
        </p:txBody>
      </p:sp>
      <p:sp>
        <p:nvSpPr>
          <p:cNvPr id="29" name="Text 25"/>
          <p:cNvSpPr/>
          <p:nvPr/>
        </p:nvSpPr>
        <p:spPr>
          <a:xfrm>
            <a:off x="7114032" y="5486400"/>
            <a:ext cx="4343400" cy="457200"/>
          </a:xfrm>
          <a:prstGeom prst="rect">
            <a:avLst/>
          </a:prstGeom>
          <a:noFill/>
          <a:ln/>
        </p:spPr>
        <p:txBody>
          <a:bodyPr wrap="square" lIns="0" tIns="0" rIns="0" bIns="0" rtlCol="0"/>
          <a:lstStyle/>
          <a:p>
            <a:pPr marL="0" indent="0">
              <a:buNone/>
            </a:pPr>
            <a:r>
              <a:rPr lang="en-US" sz="1350" dirty="0">
                <a:solidFill>
                  <a:srgbClr val="9CDCFE"/>
                </a:solidFill>
                <a:latin typeface="Consolas" pitchFamily="34" charset="0"/>
                <a:ea typeface="Consolas" pitchFamily="34" charset="-122"/>
                <a:cs typeface="Consolas" pitchFamily="34" charset="-120"/>
              </a:rPr>
              <a:t>maxSurge</a:t>
            </a:r>
            <a:r>
              <a:rPr lang="en-US" sz="1350" dirty="0">
                <a:solidFill>
                  <a:srgbClr val="D0D8E2"/>
                </a:solidFill>
                <a:latin typeface="Segoe UI" pitchFamily="34" charset="0"/>
                <a:ea typeface="Segoe UI" pitchFamily="34" charset="-122"/>
                <a:cs typeface="Segoe UI" pitchFamily="34" charset="-120"/>
              </a:rPr>
              <a:t> and </a:t>
            </a:r>
            <a:r>
              <a:rPr lang="en-US" sz="1350" dirty="0">
                <a:solidFill>
                  <a:srgbClr val="9CDCFE"/>
                </a:solidFill>
                <a:latin typeface="Consolas" pitchFamily="34" charset="0"/>
                <a:ea typeface="Consolas" pitchFamily="34" charset="-122"/>
                <a:cs typeface="Consolas" pitchFamily="34" charset="-120"/>
              </a:rPr>
              <a:t>maxUnavailable</a:t>
            </a:r>
            <a:r>
              <a:rPr lang="en-US" sz="1350" dirty="0">
                <a:solidFill>
                  <a:srgbClr val="D0D8E2"/>
                </a:solidFill>
                <a:latin typeface="Segoe UI" pitchFamily="34" charset="0"/>
                <a:ea typeface="Segoe UI" pitchFamily="34" charset="-122"/>
                <a:cs typeface="Segoe UI" pitchFamily="34" charset="-120"/>
              </a:rPr>
              <a:t> control capacity while new pods roll in.</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5">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43501"/>
                </a:solidFill>
                <a:latin typeface="Segoe UI Semibold" pitchFamily="34" charset="0"/>
                <a:ea typeface="Segoe UI Semibold" pitchFamily="34" charset="-122"/>
                <a:cs typeface="Segoe UI Semibold" pitchFamily="34" charset="-120"/>
              </a:rPr>
              <a:t>PART 4 · BUILDING RESILIENCY</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E1DB6EE7-C5ED-468F-8A88-FF1270D4A357}" type="slidenum">
              <a:rPr lang="en-US" sz="1100">
                <a:solidFill>
                  <a:srgbClr val="605E5C"/>
                </a:solidFill>
                <a:latin typeface="Segoe UI" pitchFamily="34" charset="0"/>
                <a:ea typeface="Segoe UI" pitchFamily="34" charset="-122"/>
                <a:cs typeface="Segoe UI" pitchFamily="34" charset="-120"/>
              </a:rPr>
              <a:t>38</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Graceful Shutdown</a:t>
            </a:r>
            <a:endParaRPr lang="en-US" sz="3200" dirty="0"/>
          </a:p>
        </p:txBody>
      </p:sp>
      <p:sp>
        <p:nvSpPr>
          <p:cNvPr id="10" name="Text 8"/>
          <p:cNvSpPr/>
          <p:nvPr/>
        </p:nvSpPr>
        <p:spPr>
          <a:xfrm>
            <a:off x="548640" y="1828800"/>
            <a:ext cx="2011680" cy="960120"/>
          </a:xfrm>
          <a:prstGeom prst="rect">
            <a:avLst/>
          </a:prstGeom>
          <a:solidFill>
            <a:srgbClr val="D83B01"/>
          </a:solidFill>
          <a:ln/>
        </p:spPr>
        <p:txBody>
          <a:bodyPr wrap="square" lIns="76200" tIns="76200" rIns="76200" bIns="7620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Pod marked Terminating</a:t>
            </a:r>
            <a:endParaRPr lang="en-US" sz="1500" dirty="0"/>
          </a:p>
        </p:txBody>
      </p:sp>
      <p:sp>
        <p:nvSpPr>
          <p:cNvPr id="11" name="Text 9"/>
          <p:cNvSpPr/>
          <p:nvPr/>
        </p:nvSpPr>
        <p:spPr>
          <a:xfrm>
            <a:off x="548640" y="2926080"/>
            <a:ext cx="2011680" cy="1097280"/>
          </a:xfrm>
          <a:prstGeom prst="rect">
            <a:avLst/>
          </a:prstGeom>
          <a:noFill/>
          <a:ln/>
        </p:spPr>
        <p:txBody>
          <a:bodyPr wrap="square" lIns="0" tIns="0" rIns="0" bIns="0" rtlCol="0"/>
          <a:lstStyle/>
          <a:p>
            <a:pPr marL="0" indent="0">
              <a:buNone/>
            </a:pPr>
            <a:r>
              <a:rPr lang="en-US" sz="1350" dirty="0">
                <a:solidFill>
                  <a:srgbClr val="323130"/>
                </a:solidFill>
                <a:latin typeface="Segoe UI" pitchFamily="34" charset="0"/>
                <a:ea typeface="Segoe UI" pitchFamily="34" charset="-122"/>
                <a:cs typeface="Segoe UI" pitchFamily="34" charset="-120"/>
              </a:rPr>
              <a:t>Removal from endpoints starts</a:t>
            </a:r>
            <a:endParaRPr lang="en-US" sz="1350" dirty="0"/>
          </a:p>
        </p:txBody>
      </p:sp>
      <p:sp>
        <p:nvSpPr>
          <p:cNvPr id="12" name="Shape 10"/>
          <p:cNvSpPr/>
          <p:nvPr/>
        </p:nvSpPr>
        <p:spPr>
          <a:xfrm>
            <a:off x="2578608" y="2304288"/>
            <a:ext cx="210312" cy="0"/>
          </a:xfrm>
          <a:prstGeom prst="line">
            <a:avLst/>
          </a:prstGeom>
          <a:noFill/>
          <a:ln w="25400">
            <a:solidFill>
              <a:srgbClr val="D83B01"/>
            </a:solidFill>
            <a:prstDash val="solid"/>
            <a:tailEnd type="triangle"/>
          </a:ln>
        </p:spPr>
        <p:txBody>
          <a:bodyPr/>
          <a:lstStyle/>
          <a:p>
            <a:endParaRPr lang="en-US"/>
          </a:p>
        </p:txBody>
      </p:sp>
      <p:sp>
        <p:nvSpPr>
          <p:cNvPr id="13" name="Text 11"/>
          <p:cNvSpPr/>
          <p:nvPr/>
        </p:nvSpPr>
        <p:spPr>
          <a:xfrm>
            <a:off x="2807208" y="1828800"/>
            <a:ext cx="2011680" cy="960120"/>
          </a:xfrm>
          <a:prstGeom prst="rect">
            <a:avLst/>
          </a:prstGeom>
          <a:solidFill>
            <a:srgbClr val="D83B01"/>
          </a:solidFill>
          <a:ln/>
        </p:spPr>
        <p:txBody>
          <a:bodyPr wrap="square" lIns="76200" tIns="76200" rIns="76200" bIns="7620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preStop hook runs</a:t>
            </a:r>
            <a:endParaRPr lang="en-US" sz="1500" dirty="0"/>
          </a:p>
        </p:txBody>
      </p:sp>
      <p:sp>
        <p:nvSpPr>
          <p:cNvPr id="14" name="Text 12"/>
          <p:cNvSpPr/>
          <p:nvPr/>
        </p:nvSpPr>
        <p:spPr>
          <a:xfrm>
            <a:off x="2807208" y="2926080"/>
            <a:ext cx="2011680" cy="109728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e.g. sleep 5–10 s while routing updates</a:t>
            </a:r>
            <a:endParaRPr lang="en-US" sz="1350" dirty="0"/>
          </a:p>
        </p:txBody>
      </p:sp>
      <p:sp>
        <p:nvSpPr>
          <p:cNvPr id="15" name="Shape 13"/>
          <p:cNvSpPr/>
          <p:nvPr/>
        </p:nvSpPr>
        <p:spPr>
          <a:xfrm>
            <a:off x="4837176" y="2304288"/>
            <a:ext cx="210312" cy="0"/>
          </a:xfrm>
          <a:prstGeom prst="line">
            <a:avLst/>
          </a:prstGeom>
          <a:noFill/>
          <a:ln w="25400">
            <a:solidFill>
              <a:srgbClr val="D83B01"/>
            </a:solidFill>
            <a:prstDash val="solid"/>
            <a:tailEnd type="triangle"/>
          </a:ln>
        </p:spPr>
        <p:txBody>
          <a:bodyPr/>
          <a:lstStyle/>
          <a:p>
            <a:endParaRPr lang="en-US"/>
          </a:p>
        </p:txBody>
      </p:sp>
      <p:sp>
        <p:nvSpPr>
          <p:cNvPr id="16" name="Text 14"/>
          <p:cNvSpPr/>
          <p:nvPr/>
        </p:nvSpPr>
        <p:spPr>
          <a:xfrm>
            <a:off x="5065776" y="1828800"/>
            <a:ext cx="2011680" cy="960120"/>
          </a:xfrm>
          <a:prstGeom prst="rect">
            <a:avLst/>
          </a:prstGeom>
          <a:solidFill>
            <a:srgbClr val="D83B01"/>
          </a:solidFill>
          <a:ln/>
        </p:spPr>
        <p:txBody>
          <a:bodyPr wrap="square" lIns="76200" tIns="76200" rIns="76200" bIns="7620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SIGTERM sent</a:t>
            </a:r>
            <a:endParaRPr lang="en-US" sz="1500" dirty="0"/>
          </a:p>
        </p:txBody>
      </p:sp>
      <p:sp>
        <p:nvSpPr>
          <p:cNvPr id="17" name="Text 15"/>
          <p:cNvSpPr/>
          <p:nvPr/>
        </p:nvSpPr>
        <p:spPr>
          <a:xfrm>
            <a:off x="5065776" y="2926080"/>
            <a:ext cx="2011680" cy="109728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App stops accepting, drains in-flight work</a:t>
            </a:r>
            <a:endParaRPr lang="en-US" sz="1350" dirty="0"/>
          </a:p>
        </p:txBody>
      </p:sp>
      <p:sp>
        <p:nvSpPr>
          <p:cNvPr id="18" name="Shape 16"/>
          <p:cNvSpPr/>
          <p:nvPr/>
        </p:nvSpPr>
        <p:spPr>
          <a:xfrm>
            <a:off x="7095744" y="2304288"/>
            <a:ext cx="210312" cy="0"/>
          </a:xfrm>
          <a:prstGeom prst="line">
            <a:avLst/>
          </a:prstGeom>
          <a:noFill/>
          <a:ln w="25400">
            <a:solidFill>
              <a:srgbClr val="D83B01"/>
            </a:solidFill>
            <a:prstDash val="solid"/>
            <a:tailEnd type="triangle"/>
          </a:ln>
        </p:spPr>
        <p:txBody>
          <a:bodyPr/>
          <a:lstStyle/>
          <a:p>
            <a:endParaRPr lang="en-US"/>
          </a:p>
        </p:txBody>
      </p:sp>
      <p:sp>
        <p:nvSpPr>
          <p:cNvPr id="19" name="Text 17"/>
          <p:cNvSpPr/>
          <p:nvPr/>
        </p:nvSpPr>
        <p:spPr>
          <a:xfrm>
            <a:off x="7324344" y="1828800"/>
            <a:ext cx="2011680" cy="960120"/>
          </a:xfrm>
          <a:prstGeom prst="rect">
            <a:avLst/>
          </a:prstGeom>
          <a:solidFill>
            <a:srgbClr val="D83B01"/>
          </a:solidFill>
          <a:ln/>
        </p:spPr>
        <p:txBody>
          <a:bodyPr wrap="square" lIns="76200" tIns="76200" rIns="76200" bIns="7620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Process exits</a:t>
            </a:r>
            <a:endParaRPr lang="en-US" sz="1500" dirty="0"/>
          </a:p>
        </p:txBody>
      </p:sp>
      <p:sp>
        <p:nvSpPr>
          <p:cNvPr id="20" name="Text 18"/>
          <p:cNvSpPr/>
          <p:nvPr/>
        </p:nvSpPr>
        <p:spPr>
          <a:xfrm>
            <a:off x="7324344" y="2926080"/>
            <a:ext cx="2011680" cy="1097280"/>
          </a:xfrm>
          <a:prstGeom prst="rect">
            <a:avLst/>
          </a:prstGeom>
          <a:noFill/>
          <a:ln/>
        </p:spPr>
        <p:txBody>
          <a:bodyPr wrap="square" lIns="0" tIns="0" rIns="0" bIns="0" rtlCol="0"/>
          <a:lstStyle/>
          <a:p>
            <a:pPr marL="0" indent="0">
              <a:buNone/>
            </a:pPr>
            <a:r>
              <a:rPr lang="en-US" sz="1350" dirty="0">
                <a:solidFill>
                  <a:srgbClr val="323130"/>
                </a:solidFill>
                <a:latin typeface="Segoe UI" pitchFamily="34" charset="0"/>
                <a:ea typeface="Segoe UI" pitchFamily="34" charset="-122"/>
                <a:cs typeface="Segoe UI" pitchFamily="34" charset="-120"/>
              </a:rPr>
              <a:t>Clean exit inside the grace period</a:t>
            </a:r>
            <a:endParaRPr lang="en-US" sz="1350" dirty="0"/>
          </a:p>
        </p:txBody>
      </p:sp>
      <p:sp>
        <p:nvSpPr>
          <p:cNvPr id="21" name="Shape 19"/>
          <p:cNvSpPr/>
          <p:nvPr/>
        </p:nvSpPr>
        <p:spPr>
          <a:xfrm>
            <a:off x="9354312" y="2304288"/>
            <a:ext cx="210312" cy="0"/>
          </a:xfrm>
          <a:prstGeom prst="line">
            <a:avLst/>
          </a:prstGeom>
          <a:noFill/>
          <a:ln w="25400">
            <a:solidFill>
              <a:srgbClr val="D83B01"/>
            </a:solidFill>
            <a:prstDash val="solid"/>
            <a:tailEnd type="triangle"/>
          </a:ln>
        </p:spPr>
        <p:txBody>
          <a:bodyPr/>
          <a:lstStyle/>
          <a:p>
            <a:endParaRPr lang="en-US"/>
          </a:p>
        </p:txBody>
      </p:sp>
      <p:sp>
        <p:nvSpPr>
          <p:cNvPr id="22" name="Text 20"/>
          <p:cNvSpPr/>
          <p:nvPr/>
        </p:nvSpPr>
        <p:spPr>
          <a:xfrm>
            <a:off x="9582912" y="1828800"/>
            <a:ext cx="2011680" cy="960120"/>
          </a:xfrm>
          <a:prstGeom prst="rect">
            <a:avLst/>
          </a:prstGeom>
          <a:solidFill>
            <a:srgbClr val="0B1F33"/>
          </a:solidFill>
          <a:ln/>
        </p:spPr>
        <p:txBody>
          <a:bodyPr wrap="square" lIns="76200" tIns="76200" rIns="76200" bIns="7620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SIGKILL</a:t>
            </a:r>
            <a:endParaRPr lang="en-US" sz="1500" dirty="0"/>
          </a:p>
        </p:txBody>
      </p:sp>
      <p:sp>
        <p:nvSpPr>
          <p:cNvPr id="23" name="Text 21"/>
          <p:cNvSpPr/>
          <p:nvPr/>
        </p:nvSpPr>
        <p:spPr>
          <a:xfrm>
            <a:off x="9582912" y="2926080"/>
            <a:ext cx="2011680" cy="109728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Only if terminationGracePeriodSeconds (default 30 s) expires</a:t>
            </a:r>
            <a:endParaRPr lang="en-US" sz="1350" dirty="0"/>
          </a:p>
        </p:txBody>
      </p:sp>
      <p:sp>
        <p:nvSpPr>
          <p:cNvPr id="24" name="Shape 22"/>
          <p:cNvSpPr/>
          <p:nvPr/>
        </p:nvSpPr>
        <p:spPr>
          <a:xfrm>
            <a:off x="548640" y="4206240"/>
            <a:ext cx="6035040" cy="1874520"/>
          </a:xfrm>
          <a:prstGeom prst="rect">
            <a:avLst/>
          </a:prstGeom>
          <a:solidFill>
            <a:srgbClr val="1E1E1E"/>
          </a:solidFill>
          <a:ln/>
        </p:spPr>
        <p:txBody>
          <a:bodyPr anchor="t"/>
          <a:lstStyle/>
          <a:p>
            <a:endParaRPr lang="en-US"/>
          </a:p>
        </p:txBody>
      </p:sp>
      <p:sp>
        <p:nvSpPr>
          <p:cNvPr id="25" name="Shape 23"/>
          <p:cNvSpPr/>
          <p:nvPr/>
        </p:nvSpPr>
        <p:spPr>
          <a:xfrm>
            <a:off x="548640" y="4206240"/>
            <a:ext cx="6035040" cy="347472"/>
          </a:xfrm>
          <a:prstGeom prst="rect">
            <a:avLst/>
          </a:prstGeom>
          <a:solidFill>
            <a:srgbClr val="2D2D30"/>
          </a:solidFill>
          <a:ln/>
        </p:spPr>
        <p:txBody>
          <a:bodyPr/>
          <a:lstStyle/>
          <a:p>
            <a:endParaRPr lang="en-US"/>
          </a:p>
        </p:txBody>
      </p:sp>
      <p:sp>
        <p:nvSpPr>
          <p:cNvPr id="26" name="Shape 24"/>
          <p:cNvSpPr/>
          <p:nvPr/>
        </p:nvSpPr>
        <p:spPr>
          <a:xfrm>
            <a:off x="548640" y="4206240"/>
            <a:ext cx="1714500" cy="347472"/>
          </a:xfrm>
          <a:prstGeom prst="rect">
            <a:avLst/>
          </a:prstGeom>
          <a:solidFill>
            <a:srgbClr val="1E1E1E"/>
          </a:solidFill>
          <a:ln/>
        </p:spPr>
        <p:txBody>
          <a:bodyPr/>
          <a:lstStyle/>
          <a:p>
            <a:endParaRPr lang="en-US"/>
          </a:p>
        </p:txBody>
      </p:sp>
      <p:sp>
        <p:nvSpPr>
          <p:cNvPr id="27" name="Text 25"/>
          <p:cNvSpPr/>
          <p:nvPr/>
        </p:nvSpPr>
        <p:spPr>
          <a:xfrm>
            <a:off x="685800" y="4206240"/>
            <a:ext cx="1531620"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deployment.yaml</a:t>
            </a:r>
            <a:endParaRPr lang="en-US" sz="1100" dirty="0"/>
          </a:p>
        </p:txBody>
      </p:sp>
      <p:sp>
        <p:nvSpPr>
          <p:cNvPr id="28" name="Text 26"/>
          <p:cNvSpPr/>
          <p:nvPr/>
        </p:nvSpPr>
        <p:spPr>
          <a:xfrm>
            <a:off x="749808" y="4681728"/>
            <a:ext cx="5669280" cy="1280160"/>
          </a:xfrm>
          <a:prstGeom prst="rect">
            <a:avLst/>
          </a:prstGeom>
          <a:noFill/>
          <a:ln/>
        </p:spPr>
        <p:txBody>
          <a:bodyPr wrap="square" lIns="0" tIns="0" rIns="0" bIns="0" rtlCol="0" anchor="t"/>
          <a:lstStyle/>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lifecycle</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preStop</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sleep</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 seconds: 10 }  </a:t>
            </a:r>
            <a:r>
              <a:rPr lang="en-US" sz="1300" dirty="0">
                <a:solidFill>
                  <a:srgbClr val="6A9955"/>
                </a:solidFill>
                <a:latin typeface="Consolas" pitchFamily="34" charset="0"/>
                <a:ea typeface="Consolas" pitchFamily="34" charset="-122"/>
                <a:cs typeface="Consolas" pitchFamily="34" charset="-120"/>
              </a:rPr>
              <a:t> # </a:t>
            </a:r>
            <a:r>
              <a:rPr lang="en-US" sz="1300">
                <a:solidFill>
                  <a:srgbClr val="6A9955"/>
                </a:solidFill>
                <a:latin typeface="Consolas" pitchFamily="34" charset="0"/>
                <a:ea typeface="Consolas" pitchFamily="34" charset="-122"/>
                <a:cs typeface="Consolas" pitchFamily="34" charset="-120"/>
              </a:rPr>
              <a:t>K8s 1.30+; else</a:t>
            </a:r>
            <a:r>
              <a:rPr lang="en-US" sz="1300" dirty="0">
                <a:solidFill>
                  <a:srgbClr val="6A9955"/>
                </a:solidFill>
                <a:latin typeface="Consolas" pitchFamily="34" charset="0"/>
                <a:ea typeface="Consolas" pitchFamily="34" charset="-122"/>
                <a:cs typeface="Consolas" pitchFamily="34" charset="-120"/>
              </a:rPr>
              <a:t> exec</a:t>
            </a:r>
            <a:r>
              <a:rPr lang="en-US" sz="1300">
                <a:solidFill>
                  <a:srgbClr val="6A9955"/>
                </a:solidFill>
                <a:latin typeface="Consolas" pitchFamily="34" charset="0"/>
                <a:ea typeface="Consolas" pitchFamily="34" charset="-122"/>
                <a:cs typeface="Consolas" pitchFamily="34" charset="-120"/>
              </a:rPr>
              <a:t> </a:t>
            </a:r>
            <a:r>
              <a:rPr lang="en-US" sz="1300" dirty="0">
                <a:solidFill>
                  <a:srgbClr val="6A9955"/>
                </a:solidFill>
                <a:latin typeface="Consolas" pitchFamily="34" charset="0"/>
                <a:ea typeface="Consolas" pitchFamily="34" charset="-122"/>
                <a:cs typeface="Consolas" pitchFamily="34" charset="-120"/>
              </a:rPr>
              <a:t>sleep</a:t>
            </a:r>
            <a:endParaRPr lang="en-US" sz="1300" dirty="0"/>
          </a:p>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terminationGracePeriodSeconds</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45</a:t>
            </a:r>
            <a:endParaRPr lang="en-US" sz="1300" dirty="0"/>
          </a:p>
        </p:txBody>
      </p:sp>
      <p:sp>
        <p:nvSpPr>
          <p:cNvPr id="29" name="Shape 27"/>
          <p:cNvSpPr/>
          <p:nvPr/>
        </p:nvSpPr>
        <p:spPr>
          <a:xfrm>
            <a:off x="6858000" y="4206240"/>
            <a:ext cx="4782312" cy="1874520"/>
          </a:xfrm>
          <a:prstGeom prst="rect">
            <a:avLst/>
          </a:prstGeom>
          <a:solidFill>
            <a:srgbClr val="FDE7DE"/>
          </a:solidFill>
          <a:ln/>
        </p:spPr>
        <p:txBody>
          <a:bodyPr anchor="t"/>
          <a:lstStyle/>
          <a:p>
            <a:endParaRPr lang="en-US"/>
          </a:p>
        </p:txBody>
      </p:sp>
      <p:sp>
        <p:nvSpPr>
          <p:cNvPr id="30" name="Shape 28"/>
          <p:cNvSpPr/>
          <p:nvPr/>
        </p:nvSpPr>
        <p:spPr>
          <a:xfrm>
            <a:off x="7086600" y="4892040"/>
            <a:ext cx="502920" cy="502920"/>
          </a:xfrm>
          <a:prstGeom prst="ellipse">
            <a:avLst/>
          </a:prstGeom>
          <a:solidFill>
            <a:srgbClr val="D83B01"/>
          </a:solidFill>
          <a:ln/>
        </p:spPr>
        <p:txBody>
          <a:bodyPr/>
          <a:lstStyle/>
          <a:p>
            <a:endParaRPr lang="en-US"/>
          </a:p>
        </p:txBody>
      </p:sp>
      <p:pic>
        <p:nvPicPr>
          <p:cNvPr id="31" name="Image 0" descr="/agent/turn2/workspace/output/_anthropic_assets/icon-timer-5033fbda.png"/>
          <p:cNvPicPr>
            <a:picLocks noChangeAspect="1"/>
          </p:cNvPicPr>
          <p:nvPr/>
        </p:nvPicPr>
        <p:blipFill>
          <a:blip r:embed="rId2"/>
          <a:stretch>
            <a:fillRect/>
          </a:stretch>
        </p:blipFill>
        <p:spPr>
          <a:xfrm>
            <a:off x="7197242" y="5002682"/>
            <a:ext cx="281635" cy="281635"/>
          </a:xfrm>
          <a:prstGeom prst="rect">
            <a:avLst/>
          </a:prstGeom>
        </p:spPr>
      </p:pic>
      <p:sp>
        <p:nvSpPr>
          <p:cNvPr id="32" name="Text 29"/>
          <p:cNvSpPr/>
          <p:nvPr/>
        </p:nvSpPr>
        <p:spPr>
          <a:xfrm>
            <a:off x="7818120" y="4206240"/>
            <a:ext cx="3593592" cy="1874520"/>
          </a:xfrm>
          <a:prstGeom prst="rect">
            <a:avLst/>
          </a:prstGeom>
          <a:noFill/>
          <a:ln/>
        </p:spPr>
        <p:txBody>
          <a:bodyPr wrap="square" lIns="0" tIns="0" rIns="0" bIns="0" rtlCol="0" anchor="ctr"/>
          <a:lstStyle/>
          <a:p>
            <a:pPr marL="0" indent="0">
              <a:buNone/>
            </a:pPr>
            <a:r>
              <a:rPr lang="en-US" sz="1450" dirty="0">
                <a:solidFill>
                  <a:srgbClr val="201F1E"/>
                </a:solidFill>
                <a:latin typeface="Segoe UI" pitchFamily="34" charset="0"/>
                <a:ea typeface="Segoe UI" pitchFamily="34" charset="-122"/>
                <a:cs typeface="Segoe UI" pitchFamily="34" charset="-120"/>
              </a:rPr>
              <a:t>Endpoint removal and SIGTERM happen </a:t>
            </a:r>
            <a:r>
              <a:rPr lang="en-US" sz="1450" b="1" dirty="0">
                <a:solidFill>
                  <a:srgbClr val="201F1E"/>
                </a:solidFill>
                <a:latin typeface="Segoe UI" pitchFamily="34" charset="0"/>
                <a:ea typeface="Segoe UI" pitchFamily="34" charset="-122"/>
                <a:cs typeface="Segoe UI" pitchFamily="34" charset="-120"/>
              </a:rPr>
              <a:t>in parallel</a:t>
            </a:r>
            <a:r>
              <a:rPr lang="en-US" sz="1450" dirty="0">
                <a:solidFill>
                  <a:srgbClr val="201F1E"/>
                </a:solidFill>
                <a:latin typeface="Segoe UI" pitchFamily="34" charset="0"/>
                <a:ea typeface="Segoe UI" pitchFamily="34" charset="-122"/>
                <a:cs typeface="Segoe UI" pitchFamily="34" charset="-120"/>
              </a:rPr>
              <a:t> — the preStop pause stops new requests landing on a pod that is shutting down.</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6">
    <p:bg>
      <p:bgPr>
        <a:solidFill>
          <a:srgbClr val="5C2D91"/>
        </a:solidFill>
        <a:effectLst/>
      </p:bgPr>
    </p:bg>
    <p:spTree>
      <p:nvGrpSpPr>
        <p:cNvPr id="1" name=""/>
        <p:cNvGrpSpPr/>
        <p:nvPr/>
      </p:nvGrpSpPr>
      <p:grpSpPr>
        <a:xfrm>
          <a:off x="0" y="0"/>
          <a:ext cx="0" cy="0"/>
          <a:chOff x="0" y="0"/>
          <a:chExt cx="0" cy="0"/>
        </a:xfrm>
      </p:grpSpPr>
      <p:sp>
        <p:nvSpPr>
          <p:cNvPr id="2" name="Text 0"/>
          <p:cNvSpPr/>
          <p:nvPr/>
        </p:nvSpPr>
        <p:spPr>
          <a:xfrm>
            <a:off x="457200" y="274320"/>
            <a:ext cx="5486400" cy="3291840"/>
          </a:xfrm>
          <a:prstGeom prst="rect">
            <a:avLst/>
          </a:prstGeom>
          <a:noFill/>
          <a:ln/>
        </p:spPr>
        <p:txBody>
          <a:bodyPr wrap="square" lIns="0" tIns="0" rIns="0" bIns="0" rtlCol="0" anchor="t"/>
          <a:lstStyle/>
          <a:p>
            <a:pPr marL="0" indent="0">
              <a:buNone/>
            </a:pPr>
            <a:r>
              <a:rPr lang="en-US" sz="22000" dirty="0">
                <a:solidFill>
                  <a:srgbClr val="7044A8"/>
                </a:solidFill>
                <a:latin typeface="Segoe UI Semibold" pitchFamily="34" charset="0"/>
                <a:ea typeface="Segoe UI Semibold" pitchFamily="34" charset="-122"/>
                <a:cs typeface="Segoe UI Semibold" pitchFamily="34" charset="-120"/>
              </a:rPr>
              <a:t>05</a:t>
            </a:r>
            <a:endParaRPr lang="en-US" sz="22000" dirty="0"/>
          </a:p>
        </p:txBody>
      </p:sp>
      <p:sp>
        <p:nvSpPr>
          <p:cNvPr id="3" name="Shape 1"/>
          <p:cNvSpPr/>
          <p:nvPr/>
        </p:nvSpPr>
        <p:spPr>
          <a:xfrm>
            <a:off x="640080" y="3703320"/>
            <a:ext cx="146304" cy="146304"/>
          </a:xfrm>
          <a:prstGeom prst="rect">
            <a:avLst/>
          </a:prstGeom>
          <a:solidFill>
            <a:srgbClr val="F25022"/>
          </a:solidFill>
          <a:ln/>
        </p:spPr>
        <p:txBody>
          <a:bodyPr/>
          <a:lstStyle/>
          <a:p>
            <a:endParaRPr lang="en-US"/>
          </a:p>
        </p:txBody>
      </p:sp>
      <p:sp>
        <p:nvSpPr>
          <p:cNvPr id="4" name="Shape 2"/>
          <p:cNvSpPr/>
          <p:nvPr/>
        </p:nvSpPr>
        <p:spPr>
          <a:xfrm>
            <a:off x="818571" y="3703320"/>
            <a:ext cx="146304" cy="146304"/>
          </a:xfrm>
          <a:prstGeom prst="rect">
            <a:avLst/>
          </a:prstGeom>
          <a:solidFill>
            <a:srgbClr val="7FBA00"/>
          </a:solidFill>
          <a:ln/>
        </p:spPr>
        <p:txBody>
          <a:bodyPr/>
          <a:lstStyle/>
          <a:p>
            <a:endParaRPr lang="en-US"/>
          </a:p>
        </p:txBody>
      </p:sp>
      <p:sp>
        <p:nvSpPr>
          <p:cNvPr id="5" name="Shape 3"/>
          <p:cNvSpPr/>
          <p:nvPr/>
        </p:nvSpPr>
        <p:spPr>
          <a:xfrm>
            <a:off x="640080" y="3881811"/>
            <a:ext cx="146304" cy="146304"/>
          </a:xfrm>
          <a:prstGeom prst="rect">
            <a:avLst/>
          </a:prstGeom>
          <a:solidFill>
            <a:srgbClr val="00A4EF"/>
          </a:solidFill>
          <a:ln/>
        </p:spPr>
        <p:txBody>
          <a:bodyPr/>
          <a:lstStyle/>
          <a:p>
            <a:endParaRPr lang="en-US"/>
          </a:p>
        </p:txBody>
      </p:sp>
      <p:sp>
        <p:nvSpPr>
          <p:cNvPr id="6" name="Shape 4"/>
          <p:cNvSpPr/>
          <p:nvPr/>
        </p:nvSpPr>
        <p:spPr>
          <a:xfrm>
            <a:off x="818571" y="3881811"/>
            <a:ext cx="146304" cy="146304"/>
          </a:xfrm>
          <a:prstGeom prst="rect">
            <a:avLst/>
          </a:prstGeom>
          <a:solidFill>
            <a:srgbClr val="FFB900"/>
          </a:solidFill>
          <a:ln/>
        </p:spPr>
        <p:txBody>
          <a:bodyPr/>
          <a:lstStyle/>
          <a:p>
            <a:endParaRPr lang="en-US"/>
          </a:p>
        </p:txBody>
      </p:sp>
      <p:sp>
        <p:nvSpPr>
          <p:cNvPr id="7" name="Text 5"/>
          <p:cNvSpPr/>
          <p:nvPr/>
        </p:nvSpPr>
        <p:spPr>
          <a:xfrm>
            <a:off x="1097280" y="3657600"/>
            <a:ext cx="4572000" cy="384048"/>
          </a:xfrm>
          <a:prstGeom prst="rect">
            <a:avLst/>
          </a:prstGeom>
          <a:noFill/>
          <a:ln/>
        </p:spPr>
        <p:txBody>
          <a:bodyPr wrap="square" lIns="0" tIns="0" rIns="0" bIns="0" rtlCol="0" anchor="ctr"/>
          <a:lstStyle/>
          <a:p>
            <a:pPr marL="0" indent="0">
              <a:buNone/>
            </a:pPr>
            <a:r>
              <a:rPr lang="en-US" sz="1600" kern="0" spc="300" dirty="0">
                <a:solidFill>
                  <a:srgbClr val="FFFFFF"/>
                </a:solidFill>
                <a:latin typeface="Segoe UI Semibold" pitchFamily="34" charset="0"/>
                <a:ea typeface="Segoe UI Semibold" pitchFamily="34" charset="-122"/>
                <a:cs typeface="Segoe UI Semibold" pitchFamily="34" charset="-120"/>
              </a:rPr>
              <a:t>PART 5</a:t>
            </a:r>
            <a:endParaRPr lang="en-US" sz="1600" dirty="0"/>
          </a:p>
        </p:txBody>
      </p:sp>
      <p:sp>
        <p:nvSpPr>
          <p:cNvPr id="8" name="Text 6"/>
          <p:cNvSpPr/>
          <p:nvPr/>
        </p:nvSpPr>
        <p:spPr>
          <a:xfrm>
            <a:off x="640080" y="4114800"/>
            <a:ext cx="6949440" cy="1371600"/>
          </a:xfrm>
          <a:prstGeom prst="rect">
            <a:avLst/>
          </a:prstGeom>
          <a:noFill/>
          <a:ln/>
        </p:spPr>
        <p:txBody>
          <a:bodyPr wrap="square" lIns="0" tIns="0" rIns="0" bIns="0" rtlCol="0" anchor="t"/>
          <a:lstStyle/>
          <a:p>
            <a:pPr marL="0" indent="0">
              <a:lnSpc>
                <a:spcPct val="95000"/>
              </a:lnSpc>
              <a:buNone/>
            </a:pPr>
            <a:r>
              <a:rPr lang="en-US" sz="4800" dirty="0">
                <a:solidFill>
                  <a:srgbClr val="FFFFFF"/>
                </a:solidFill>
                <a:latin typeface="Segoe UI Semibold" pitchFamily="34" charset="0"/>
                <a:ea typeface="Segoe UI Semibold" pitchFamily="34" charset="-122"/>
                <a:cs typeface="Segoe UI Semibold" pitchFamily="34" charset="-120"/>
              </a:rPr>
              <a:t>Scaling Pods and Nodes</a:t>
            </a:r>
            <a:endParaRPr lang="en-US" sz="4800"/>
          </a:p>
        </p:txBody>
      </p:sp>
      <p:sp>
        <p:nvSpPr>
          <p:cNvPr id="9" name="Text 7"/>
          <p:cNvSpPr/>
          <p:nvPr/>
        </p:nvSpPr>
        <p:spPr>
          <a:xfrm>
            <a:off x="640080" y="5577840"/>
            <a:ext cx="6766560" cy="731520"/>
          </a:xfrm>
          <a:prstGeom prst="rect">
            <a:avLst/>
          </a:prstGeom>
          <a:noFill/>
          <a:ln/>
        </p:spPr>
        <p:txBody>
          <a:bodyPr wrap="square" lIns="0" tIns="0" rIns="0" bIns="0" rtlCol="0" anchor="t"/>
          <a:lstStyle/>
          <a:p>
            <a:pPr marL="0" indent="0">
              <a:buNone/>
            </a:pPr>
            <a:r>
              <a:rPr lang="en-US" sz="1800" dirty="0">
                <a:solidFill>
                  <a:srgbClr val="FFFFFF"/>
                </a:solidFill>
                <a:latin typeface="Segoe UI" pitchFamily="34" charset="0"/>
                <a:ea typeface="Segoe UI" pitchFamily="34" charset="-122"/>
                <a:cs typeface="Segoe UI" pitchFamily="34" charset="-120"/>
              </a:rPr>
              <a:t>Right-size requests, then let HPA and node autoscaling follow demand</a:t>
            </a:r>
            <a:endParaRPr lang="en-US" sz="1800" dirty="0"/>
          </a:p>
        </p:txBody>
      </p:sp>
      <p:sp>
        <p:nvSpPr>
          <p:cNvPr id="10" name="Shape 8"/>
          <p:cNvSpPr/>
          <p:nvPr/>
        </p:nvSpPr>
        <p:spPr>
          <a:xfrm>
            <a:off x="8138160" y="1463040"/>
            <a:ext cx="1600200" cy="1600200"/>
          </a:xfrm>
          <a:prstGeom prst="rect">
            <a:avLst/>
          </a:prstGeom>
          <a:solidFill>
            <a:srgbClr val="FFFFFF"/>
          </a:solidFill>
          <a:ln/>
        </p:spPr>
        <p:txBody>
          <a:bodyPr/>
          <a:lstStyle/>
          <a:p>
            <a:endParaRPr lang="en-US"/>
          </a:p>
        </p:txBody>
      </p:sp>
      <p:sp>
        <p:nvSpPr>
          <p:cNvPr id="11" name="Shape 9"/>
          <p:cNvSpPr/>
          <p:nvPr/>
        </p:nvSpPr>
        <p:spPr>
          <a:xfrm>
            <a:off x="9902952" y="1463040"/>
            <a:ext cx="1600200" cy="1600200"/>
          </a:xfrm>
          <a:prstGeom prst="rect">
            <a:avLst/>
          </a:prstGeom>
          <a:solidFill>
            <a:srgbClr val="FFFFFF">
              <a:alpha val="55000"/>
            </a:srgbClr>
          </a:solidFill>
          <a:ln/>
        </p:spPr>
        <p:txBody>
          <a:bodyPr/>
          <a:lstStyle/>
          <a:p>
            <a:endParaRPr lang="en-US"/>
          </a:p>
        </p:txBody>
      </p:sp>
      <p:sp>
        <p:nvSpPr>
          <p:cNvPr id="12" name="Shape 10"/>
          <p:cNvSpPr/>
          <p:nvPr/>
        </p:nvSpPr>
        <p:spPr>
          <a:xfrm>
            <a:off x="8138160" y="3227832"/>
            <a:ext cx="1600200" cy="1600200"/>
          </a:xfrm>
          <a:prstGeom prst="rect">
            <a:avLst/>
          </a:prstGeom>
          <a:solidFill>
            <a:srgbClr val="FFFFFF">
              <a:alpha val="35000"/>
            </a:srgbClr>
          </a:solidFill>
          <a:ln/>
        </p:spPr>
        <p:txBody>
          <a:bodyPr/>
          <a:lstStyle/>
          <a:p>
            <a:endParaRPr lang="en-US"/>
          </a:p>
        </p:txBody>
      </p:sp>
      <p:sp>
        <p:nvSpPr>
          <p:cNvPr id="13" name="Shape 11"/>
          <p:cNvSpPr/>
          <p:nvPr/>
        </p:nvSpPr>
        <p:spPr>
          <a:xfrm>
            <a:off x="9902952" y="3227832"/>
            <a:ext cx="1600200" cy="1600200"/>
          </a:xfrm>
          <a:prstGeom prst="rect">
            <a:avLst/>
          </a:prstGeom>
          <a:solidFill>
            <a:srgbClr val="FFFFFF">
              <a:alpha val="18000"/>
            </a:srgbClr>
          </a:solidFill>
          <a:ln/>
        </p:spPr>
        <p:txBody>
          <a:bodyPr/>
          <a:lstStyle/>
          <a:p>
            <a:endParaRPr lang="en-US"/>
          </a:p>
        </p:txBody>
      </p:sp>
      <p:pic>
        <p:nvPicPr>
          <p:cNvPr id="14" name="Image 0" descr="/agent/turn2/workspace/output/_anthropic_assets/icon-arrow-trending-c06427f6.png"/>
          <p:cNvPicPr>
            <a:picLocks noChangeAspect="1"/>
          </p:cNvPicPr>
          <p:nvPr/>
        </p:nvPicPr>
        <p:blipFill>
          <a:blip r:embed="rId2"/>
          <a:stretch>
            <a:fillRect/>
          </a:stretch>
        </p:blipFill>
        <p:spPr>
          <a:xfrm>
            <a:off x="10314432" y="3639312"/>
            <a:ext cx="777240" cy="7772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5C2D91"/>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6CFD9F9A-3571-411F-B319-D61D75E008A8}" type="slidenum">
              <a:rPr lang="en-US" sz="1100">
                <a:solidFill>
                  <a:srgbClr val="605E5C"/>
                </a:solidFill>
                <a:latin typeface="Segoe UI" pitchFamily="34" charset="0"/>
                <a:ea typeface="Segoe UI" pitchFamily="34" charset="-122"/>
                <a:cs typeface="Segoe UI" pitchFamily="34" charset="-120"/>
              </a:rPr>
              <a:t>40</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Two Layers of Scaling</a:t>
            </a:r>
            <a:endParaRPr lang="en-US" sz="3200" dirty="0"/>
          </a:p>
        </p:txBody>
      </p:sp>
      <p:sp>
        <p:nvSpPr>
          <p:cNvPr id="10" name="Shape 8"/>
          <p:cNvSpPr/>
          <p:nvPr/>
        </p:nvSpPr>
        <p:spPr>
          <a:xfrm>
            <a:off x="548640" y="1737360"/>
            <a:ext cx="5422392" cy="4343400"/>
          </a:xfrm>
          <a:prstGeom prst="rect">
            <a:avLst/>
          </a:prstGeom>
          <a:solidFill>
            <a:srgbClr val="EDE4F7"/>
          </a:solidFill>
          <a:ln/>
        </p:spPr>
        <p:txBody>
          <a:bodyPr/>
          <a:lstStyle/>
          <a:p>
            <a:endParaRPr lang="en-US"/>
          </a:p>
        </p:txBody>
      </p:sp>
      <p:sp>
        <p:nvSpPr>
          <p:cNvPr id="11" name="Shape 9"/>
          <p:cNvSpPr/>
          <p:nvPr/>
        </p:nvSpPr>
        <p:spPr>
          <a:xfrm>
            <a:off x="822960" y="1965960"/>
            <a:ext cx="685800" cy="685800"/>
          </a:xfrm>
          <a:prstGeom prst="ellipse">
            <a:avLst/>
          </a:prstGeom>
          <a:solidFill>
            <a:srgbClr val="5C2D91"/>
          </a:solidFill>
          <a:ln/>
        </p:spPr>
        <p:txBody>
          <a:bodyPr/>
          <a:lstStyle/>
          <a:p>
            <a:endParaRPr lang="en-US"/>
          </a:p>
        </p:txBody>
      </p:sp>
      <p:pic>
        <p:nvPicPr>
          <p:cNvPr id="12" name="Image 0" descr="/agent/turn2/workspace/output/_anthropic_assets/icon-people-8e576e70.png"/>
          <p:cNvPicPr>
            <a:picLocks noChangeAspect="1"/>
          </p:cNvPicPr>
          <p:nvPr/>
        </p:nvPicPr>
        <p:blipFill>
          <a:blip r:embed="rId2"/>
          <a:stretch>
            <a:fillRect/>
          </a:stretch>
        </p:blipFill>
        <p:spPr>
          <a:xfrm>
            <a:off x="973836" y="2116836"/>
            <a:ext cx="384048" cy="384048"/>
          </a:xfrm>
          <a:prstGeom prst="rect">
            <a:avLst/>
          </a:prstGeom>
        </p:spPr>
      </p:pic>
      <p:sp>
        <p:nvSpPr>
          <p:cNvPr id="13" name="Text 10"/>
          <p:cNvSpPr/>
          <p:nvPr/>
        </p:nvSpPr>
        <p:spPr>
          <a:xfrm>
            <a:off x="1691640" y="1920240"/>
            <a:ext cx="4023360" cy="457200"/>
          </a:xfrm>
          <a:prstGeom prst="rect">
            <a:avLst/>
          </a:prstGeom>
          <a:noFill/>
          <a:ln/>
        </p:spPr>
        <p:txBody>
          <a:bodyPr wrap="square" lIns="0" tIns="0" rIns="0" bIns="0" rtlCol="0" anchor="ctr"/>
          <a:lstStyle/>
          <a:p>
            <a:pPr marL="0" indent="0">
              <a:buNone/>
            </a:pPr>
            <a:r>
              <a:rPr lang="en-US" sz="2400" dirty="0">
                <a:solidFill>
                  <a:srgbClr val="201F1E"/>
                </a:solidFill>
                <a:latin typeface="Segoe UI Semibold" pitchFamily="34" charset="0"/>
                <a:ea typeface="Segoe UI Semibold" pitchFamily="34" charset="-122"/>
                <a:cs typeface="Segoe UI Semibold" pitchFamily="34" charset="-120"/>
              </a:rPr>
              <a:t>Pod layer</a:t>
            </a:r>
            <a:endParaRPr lang="en-US" sz="2400" dirty="0"/>
          </a:p>
        </p:txBody>
      </p:sp>
      <p:sp>
        <p:nvSpPr>
          <p:cNvPr id="14" name="Text 11"/>
          <p:cNvSpPr/>
          <p:nvPr/>
        </p:nvSpPr>
        <p:spPr>
          <a:xfrm>
            <a:off x="1691640" y="2331720"/>
            <a:ext cx="4023360" cy="365760"/>
          </a:xfrm>
          <a:prstGeom prst="rect">
            <a:avLst/>
          </a:prstGeom>
          <a:noFill/>
          <a:ln/>
        </p:spPr>
        <p:txBody>
          <a:bodyPr wrap="square" lIns="0" tIns="0" rIns="0" bIns="0" rtlCol="0" anchor="ctr"/>
          <a:lstStyle/>
          <a:p>
            <a:pPr marL="0" indent="0">
              <a:buNone/>
            </a:pPr>
            <a:r>
              <a:rPr lang="en-US" sz="1500" dirty="0">
                <a:solidFill>
                  <a:srgbClr val="605E5C"/>
                </a:solidFill>
                <a:latin typeface="Segoe UI" pitchFamily="34" charset="0"/>
                <a:ea typeface="Segoe UI" pitchFamily="34" charset="-122"/>
                <a:cs typeface="Segoe UI" pitchFamily="34" charset="-120"/>
              </a:rPr>
              <a:t>Add or remove replicas</a:t>
            </a:r>
            <a:endParaRPr lang="en-US" sz="1500" dirty="0"/>
          </a:p>
        </p:txBody>
      </p:sp>
      <p:sp>
        <p:nvSpPr>
          <p:cNvPr id="15" name="Text 12"/>
          <p:cNvSpPr/>
          <p:nvPr/>
        </p:nvSpPr>
        <p:spPr>
          <a:xfrm>
            <a:off x="868680" y="3017520"/>
            <a:ext cx="4800600" cy="2926080"/>
          </a:xfrm>
          <a:prstGeom prst="rect">
            <a:avLst/>
          </a:prstGeom>
          <a:noFill/>
          <a:ln/>
        </p:spPr>
        <p:txBody>
          <a:bodyPr wrap="square" lIns="0" tIns="0" rIns="0" bIns="0" rtlCol="0" anchor="t"/>
          <a:lstStyle/>
          <a:p>
            <a:pPr marL="254000" indent="-254000">
              <a:spcAft>
                <a:spcPts val="1400"/>
              </a:spcAft>
              <a:buSzPct val="100000"/>
              <a:buChar char="•"/>
            </a:pPr>
            <a:r>
              <a:rPr lang="en-US" sz="1600" b="1" dirty="0">
                <a:solidFill>
                  <a:srgbClr val="323130"/>
                </a:solidFill>
                <a:latin typeface="Segoe UI" pitchFamily="34" charset="0"/>
                <a:ea typeface="Segoe UI" pitchFamily="34" charset="-122"/>
                <a:cs typeface="Segoe UI" pitchFamily="34" charset="-120"/>
              </a:rPr>
              <a:t>HPA</a:t>
            </a:r>
            <a:r>
              <a:rPr lang="en-US" sz="1600" dirty="0">
                <a:solidFill>
                  <a:srgbClr val="323130"/>
                </a:solidFill>
                <a:latin typeface="Segoe UI" pitchFamily="34" charset="0"/>
                <a:ea typeface="Segoe UI" pitchFamily="34" charset="-122"/>
                <a:cs typeface="Segoe UI" pitchFamily="34" charset="-120"/>
              </a:rPr>
              <a:t> — scale replicas on CPU, memory or custom metrics</a:t>
            </a:r>
            <a:endParaRPr lang="en-US" sz="1600" dirty="0"/>
          </a:p>
          <a:p>
            <a:pPr marL="254000" indent="-254000">
              <a:spcAft>
                <a:spcPts val="1400"/>
              </a:spcAft>
              <a:buSzPct val="100000"/>
              <a:buChar char="•"/>
            </a:pPr>
            <a:r>
              <a:rPr lang="en-US" sz="1600" b="1" dirty="0">
                <a:solidFill>
                  <a:srgbClr val="323130"/>
                </a:solidFill>
                <a:latin typeface="Segoe UI" pitchFamily="34" charset="0"/>
                <a:ea typeface="Segoe UI" pitchFamily="34" charset="-122"/>
                <a:cs typeface="Segoe UI" pitchFamily="34" charset="-120"/>
              </a:rPr>
              <a:t>KEDA</a:t>
            </a:r>
            <a:r>
              <a:rPr lang="en-US" sz="1600" dirty="0">
                <a:solidFill>
                  <a:srgbClr val="323130"/>
                </a:solidFill>
                <a:latin typeface="Segoe UI" pitchFamily="34" charset="0"/>
                <a:ea typeface="Segoe UI" pitchFamily="34" charset="-122"/>
                <a:cs typeface="Segoe UI" pitchFamily="34" charset="-120"/>
              </a:rPr>
              <a:t> — event-driven scaling (queues, streams), available as an AKS add-on</a:t>
            </a:r>
            <a:endParaRPr lang="en-US" sz="1600" dirty="0"/>
          </a:p>
          <a:p>
            <a:pPr marL="254000" indent="-254000">
              <a:spcAft>
                <a:spcPts val="1400"/>
              </a:spcAft>
              <a:buSzPct val="100000"/>
              <a:buChar char="•"/>
            </a:pPr>
            <a:r>
              <a:rPr lang="en-US" sz="1600" b="1" dirty="0">
                <a:solidFill>
                  <a:srgbClr val="323130"/>
                </a:solidFill>
                <a:latin typeface="Segoe UI" pitchFamily="34" charset="0"/>
                <a:ea typeface="Segoe UI" pitchFamily="34" charset="-122"/>
                <a:cs typeface="Segoe UI" pitchFamily="34" charset="-120"/>
              </a:rPr>
              <a:t>VPA</a:t>
            </a:r>
            <a:r>
              <a:rPr lang="en-US" sz="1600" dirty="0">
                <a:solidFill>
                  <a:srgbClr val="323130"/>
                </a:solidFill>
                <a:latin typeface="Segoe UI" pitchFamily="34" charset="0"/>
                <a:ea typeface="Segoe UI" pitchFamily="34" charset="-122"/>
                <a:cs typeface="Segoe UI" pitchFamily="34" charset="-120"/>
              </a:rPr>
              <a:t> — right-size requests over time</a:t>
            </a:r>
            <a:endParaRPr lang="en-US" sz="1600" dirty="0"/>
          </a:p>
        </p:txBody>
      </p:sp>
      <p:sp>
        <p:nvSpPr>
          <p:cNvPr id="16" name="Shape 13"/>
          <p:cNvSpPr/>
          <p:nvPr/>
        </p:nvSpPr>
        <p:spPr>
          <a:xfrm>
            <a:off x="6217920" y="1737360"/>
            <a:ext cx="5422392" cy="4343400"/>
          </a:xfrm>
          <a:prstGeom prst="rect">
            <a:avLst/>
          </a:prstGeom>
          <a:solidFill>
            <a:srgbClr val="F3F2F1"/>
          </a:solidFill>
          <a:ln/>
        </p:spPr>
        <p:txBody>
          <a:bodyPr anchor="t"/>
          <a:lstStyle/>
          <a:p>
            <a:endParaRPr lang="en-US"/>
          </a:p>
        </p:txBody>
      </p:sp>
      <p:sp>
        <p:nvSpPr>
          <p:cNvPr id="17" name="Shape 14"/>
          <p:cNvSpPr/>
          <p:nvPr/>
        </p:nvSpPr>
        <p:spPr>
          <a:xfrm>
            <a:off x="6492240" y="1965960"/>
            <a:ext cx="685800" cy="685800"/>
          </a:xfrm>
          <a:prstGeom prst="ellipse">
            <a:avLst/>
          </a:prstGeom>
          <a:solidFill>
            <a:srgbClr val="0B1F33"/>
          </a:solidFill>
          <a:ln/>
        </p:spPr>
        <p:txBody>
          <a:bodyPr/>
          <a:lstStyle/>
          <a:p>
            <a:endParaRPr lang="en-US"/>
          </a:p>
        </p:txBody>
      </p:sp>
      <p:pic>
        <p:nvPicPr>
          <p:cNvPr id="18" name="Image 1" descr="/agent/turn2/workspace/output/_anthropic_assets/icon-server-e8a10e40.png"/>
          <p:cNvPicPr>
            <a:picLocks noChangeAspect="1"/>
          </p:cNvPicPr>
          <p:nvPr/>
        </p:nvPicPr>
        <p:blipFill>
          <a:blip r:embed="rId3"/>
          <a:stretch>
            <a:fillRect/>
          </a:stretch>
        </p:blipFill>
        <p:spPr>
          <a:xfrm>
            <a:off x="6643116" y="2116836"/>
            <a:ext cx="384048" cy="384048"/>
          </a:xfrm>
          <a:prstGeom prst="rect">
            <a:avLst/>
          </a:prstGeom>
        </p:spPr>
      </p:pic>
      <p:sp>
        <p:nvSpPr>
          <p:cNvPr id="19" name="Text 15"/>
          <p:cNvSpPr/>
          <p:nvPr/>
        </p:nvSpPr>
        <p:spPr>
          <a:xfrm>
            <a:off x="7360920" y="1920240"/>
            <a:ext cx="4023360" cy="457200"/>
          </a:xfrm>
          <a:prstGeom prst="rect">
            <a:avLst/>
          </a:prstGeom>
          <a:noFill/>
          <a:ln/>
        </p:spPr>
        <p:txBody>
          <a:bodyPr wrap="square" lIns="0" tIns="0" rIns="0" bIns="0" rtlCol="0" anchor="ctr"/>
          <a:lstStyle/>
          <a:p>
            <a:pPr marL="0" indent="0">
              <a:buNone/>
            </a:pPr>
            <a:r>
              <a:rPr lang="en-US" sz="2400" dirty="0">
                <a:solidFill>
                  <a:srgbClr val="201F1E"/>
                </a:solidFill>
                <a:latin typeface="Segoe UI Semibold" pitchFamily="34" charset="0"/>
                <a:ea typeface="Segoe UI Semibold" pitchFamily="34" charset="-122"/>
                <a:cs typeface="Segoe UI Semibold" pitchFamily="34" charset="-120"/>
              </a:rPr>
              <a:t>Node layer</a:t>
            </a:r>
            <a:endParaRPr lang="en-US" sz="2400" dirty="0"/>
          </a:p>
        </p:txBody>
      </p:sp>
      <p:sp>
        <p:nvSpPr>
          <p:cNvPr id="20" name="Text 16"/>
          <p:cNvSpPr/>
          <p:nvPr/>
        </p:nvSpPr>
        <p:spPr>
          <a:xfrm>
            <a:off x="7360920" y="2331720"/>
            <a:ext cx="4023360" cy="365760"/>
          </a:xfrm>
          <a:prstGeom prst="rect">
            <a:avLst/>
          </a:prstGeom>
          <a:noFill/>
          <a:ln/>
        </p:spPr>
        <p:txBody>
          <a:bodyPr wrap="square" lIns="0" tIns="0" rIns="0" bIns="0" rtlCol="0" anchor="ctr"/>
          <a:lstStyle/>
          <a:p>
            <a:pPr marL="0" indent="0">
              <a:buNone/>
            </a:pPr>
            <a:r>
              <a:rPr lang="en-US" sz="1500" dirty="0">
                <a:solidFill>
                  <a:srgbClr val="605E5C"/>
                </a:solidFill>
                <a:latin typeface="Segoe UI" pitchFamily="34" charset="0"/>
                <a:ea typeface="Segoe UI" pitchFamily="34" charset="-122"/>
                <a:cs typeface="Segoe UI" pitchFamily="34" charset="-120"/>
              </a:rPr>
              <a:t>Add or remove capacity</a:t>
            </a:r>
            <a:endParaRPr lang="en-US" sz="1500" dirty="0"/>
          </a:p>
        </p:txBody>
      </p:sp>
      <p:sp>
        <p:nvSpPr>
          <p:cNvPr id="21" name="Text 17"/>
          <p:cNvSpPr/>
          <p:nvPr/>
        </p:nvSpPr>
        <p:spPr>
          <a:xfrm>
            <a:off x="6537960" y="3017520"/>
            <a:ext cx="4800600" cy="2926080"/>
          </a:xfrm>
          <a:prstGeom prst="rect">
            <a:avLst/>
          </a:prstGeom>
          <a:noFill/>
          <a:ln/>
        </p:spPr>
        <p:txBody>
          <a:bodyPr wrap="square" lIns="0" tIns="0" rIns="0" bIns="0" rtlCol="0" anchor="t"/>
          <a:lstStyle/>
          <a:p>
            <a:pPr marL="254000" indent="-254000">
              <a:spcAft>
                <a:spcPts val="1400"/>
              </a:spcAft>
              <a:buSzPct val="100000"/>
              <a:buChar char="•"/>
            </a:pPr>
            <a:r>
              <a:rPr lang="en-US" sz="1600" b="1" dirty="0">
                <a:solidFill>
                  <a:srgbClr val="323130"/>
                </a:solidFill>
                <a:latin typeface="Segoe UI" pitchFamily="34" charset="0"/>
                <a:ea typeface="Segoe UI" pitchFamily="34" charset="-122"/>
                <a:cs typeface="Segoe UI" pitchFamily="34" charset="-120"/>
              </a:rPr>
              <a:t>Cluster autoscaler</a:t>
            </a:r>
            <a:r>
              <a:rPr lang="en-US" sz="1600" dirty="0">
                <a:solidFill>
                  <a:srgbClr val="323130"/>
                </a:solidFill>
                <a:latin typeface="Segoe UI" pitchFamily="34" charset="0"/>
                <a:ea typeface="Segoe UI" pitchFamily="34" charset="-122"/>
                <a:cs typeface="Segoe UI" pitchFamily="34" charset="-120"/>
              </a:rPr>
              <a:t> — grows node pools when pods can't be scheduled</a:t>
            </a:r>
            <a:endParaRPr lang="en-US" sz="1600" dirty="0"/>
          </a:p>
          <a:p>
            <a:pPr marL="254000" indent="-254000">
              <a:spcAft>
                <a:spcPts val="1400"/>
              </a:spcAft>
              <a:buSzPct val="100000"/>
              <a:buChar char="•"/>
            </a:pPr>
            <a:r>
              <a:rPr lang="en-US" sz="1600" b="1" dirty="0">
                <a:solidFill>
                  <a:srgbClr val="323130"/>
                </a:solidFill>
                <a:latin typeface="Segoe UI" pitchFamily="34" charset="0"/>
                <a:ea typeface="Segoe UI" pitchFamily="34" charset="-122"/>
                <a:cs typeface="Segoe UI" pitchFamily="34" charset="-120"/>
              </a:rPr>
              <a:t>Node auto-provisioning (NAP)</a:t>
            </a:r>
            <a:r>
              <a:rPr lang="en-US" sz="1600" dirty="0">
                <a:solidFill>
                  <a:srgbClr val="323130"/>
                </a:solidFill>
                <a:latin typeface="Segoe UI" pitchFamily="34" charset="0"/>
                <a:ea typeface="Segoe UI" pitchFamily="34" charset="-122"/>
                <a:cs typeface="Segoe UI" pitchFamily="34" charset="-120"/>
              </a:rPr>
              <a:t> — picks VM sizes for pending pods</a:t>
            </a:r>
            <a:endParaRPr lang="en-US" sz="1600" dirty="0"/>
          </a:p>
          <a:p>
            <a:pPr marL="254000" indent="-254000">
              <a:spcAft>
                <a:spcPts val="1400"/>
              </a:spcAft>
              <a:buSzPct val="100000"/>
              <a:buChar char="•"/>
            </a:pPr>
            <a:r>
              <a:rPr lang="en-US" sz="1600" dirty="0">
                <a:solidFill>
                  <a:srgbClr val="323130"/>
                </a:solidFill>
                <a:latin typeface="Segoe UI" pitchFamily="34" charset="0"/>
                <a:ea typeface="Segoe UI" pitchFamily="34" charset="-122"/>
                <a:cs typeface="Segoe UI" pitchFamily="34" charset="-120"/>
              </a:rPr>
              <a:t>Both remove underused nodes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8">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8A4F0"/>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B6C25958-274D-42A7-BAC4-11F100DC640E}" type="slidenum">
              <a:rPr lang="en-US" sz="1100">
                <a:solidFill>
                  <a:srgbClr val="A9B8C8"/>
                </a:solidFill>
                <a:latin typeface="Segoe UI" pitchFamily="34" charset="0"/>
                <a:ea typeface="Segoe UI" pitchFamily="34" charset="-122"/>
                <a:cs typeface="Segoe UI" pitchFamily="34" charset="-120"/>
              </a:rPr>
              <a:t>41</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Requests and Limits</a:t>
            </a:r>
            <a:endParaRPr lang="en-US" sz="3200" dirty="0"/>
          </a:p>
        </p:txBody>
      </p:sp>
      <p:sp>
        <p:nvSpPr>
          <p:cNvPr id="10" name="Shape 8"/>
          <p:cNvSpPr/>
          <p:nvPr/>
        </p:nvSpPr>
        <p:spPr>
          <a:xfrm>
            <a:off x="548640" y="1737360"/>
            <a:ext cx="5669280" cy="2743200"/>
          </a:xfrm>
          <a:prstGeom prst="rect">
            <a:avLst/>
          </a:prstGeom>
          <a:solidFill>
            <a:srgbClr val="1E1E1E"/>
          </a:solidFill>
          <a:ln/>
        </p:spPr>
        <p:txBody>
          <a:bodyPr/>
          <a:lstStyle/>
          <a:p>
            <a:endParaRPr lang="en-US"/>
          </a:p>
        </p:txBody>
      </p:sp>
      <p:sp>
        <p:nvSpPr>
          <p:cNvPr id="11" name="Shape 9"/>
          <p:cNvSpPr/>
          <p:nvPr/>
        </p:nvSpPr>
        <p:spPr>
          <a:xfrm>
            <a:off x="548640" y="1737360"/>
            <a:ext cx="5669280" cy="347472"/>
          </a:xfrm>
          <a:prstGeom prst="rect">
            <a:avLst/>
          </a:prstGeom>
          <a:solidFill>
            <a:srgbClr val="2D2D30"/>
          </a:solidFill>
          <a:ln/>
        </p:spPr>
        <p:txBody>
          <a:bodyPr/>
          <a:lstStyle/>
          <a:p>
            <a:endParaRPr lang="en-US"/>
          </a:p>
        </p:txBody>
      </p:sp>
      <p:sp>
        <p:nvSpPr>
          <p:cNvPr id="12" name="Shape 10"/>
          <p:cNvSpPr/>
          <p:nvPr/>
        </p:nvSpPr>
        <p:spPr>
          <a:xfrm>
            <a:off x="548640" y="1737360"/>
            <a:ext cx="1714500" cy="347472"/>
          </a:xfrm>
          <a:prstGeom prst="rect">
            <a:avLst/>
          </a:prstGeom>
          <a:solidFill>
            <a:srgbClr val="1E1E1E"/>
          </a:solidFill>
          <a:ln/>
        </p:spPr>
        <p:txBody>
          <a:bodyPr/>
          <a:lstStyle/>
          <a:p>
            <a:endParaRPr lang="en-US"/>
          </a:p>
        </p:txBody>
      </p:sp>
      <p:sp>
        <p:nvSpPr>
          <p:cNvPr id="13" name="Text 11"/>
          <p:cNvSpPr/>
          <p:nvPr/>
        </p:nvSpPr>
        <p:spPr>
          <a:xfrm>
            <a:off x="685800" y="1737360"/>
            <a:ext cx="1531620"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deployment.yaml</a:t>
            </a:r>
            <a:endParaRPr lang="en-US" sz="1100" dirty="0"/>
          </a:p>
        </p:txBody>
      </p:sp>
      <p:sp>
        <p:nvSpPr>
          <p:cNvPr id="14" name="Text 12"/>
          <p:cNvSpPr/>
          <p:nvPr/>
        </p:nvSpPr>
        <p:spPr>
          <a:xfrm>
            <a:off x="749808" y="2212848"/>
            <a:ext cx="5303520" cy="2148840"/>
          </a:xfrm>
          <a:prstGeom prst="rect">
            <a:avLst/>
          </a:prstGeom>
          <a:noFill/>
          <a:ln/>
        </p:spPr>
        <p:txBody>
          <a:bodyPr wrap="square" lIns="0" tIns="0" rIns="0" bIns="0" rtlCol="0" anchor="t"/>
          <a:lstStyle/>
          <a:p>
            <a:pPr marL="0" indent="0">
              <a:lnSpc>
                <a:spcPct val="105000"/>
              </a:lnSpc>
              <a:buNone/>
            </a:pPr>
            <a:r>
              <a:rPr lang="en-US" sz="1400" dirty="0">
                <a:solidFill>
                  <a:srgbClr val="9CDCFE"/>
                </a:solidFill>
                <a:latin typeface="Consolas" pitchFamily="34" charset="0"/>
                <a:ea typeface="Consolas" pitchFamily="34" charset="-122"/>
                <a:cs typeface="Consolas" pitchFamily="34" charset="-120"/>
              </a:rPr>
              <a:t>resources</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requests</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cpu</a:t>
            </a:r>
            <a:r>
              <a:rPr lang="en-US" sz="1400" dirty="0">
                <a:solidFill>
                  <a:srgbClr val="D4D4D4"/>
                </a:solidFill>
                <a:latin typeface="Consolas" pitchFamily="34" charset="0"/>
                <a:ea typeface="Consolas" pitchFamily="34" charset="-122"/>
                <a:cs typeface="Consolas" pitchFamily="34" charset="-120"/>
              </a:rPr>
              <a:t>:</a:t>
            </a:r>
            <a:r>
              <a:rPr lang="en-US" sz="1400" dirty="0">
                <a:solidFill>
                  <a:srgbClr val="CE9178"/>
                </a:solidFill>
                <a:latin typeface="Consolas" pitchFamily="34" charset="0"/>
                <a:ea typeface="Consolas" pitchFamily="34" charset="-122"/>
                <a:cs typeface="Consolas" pitchFamily="34" charset="-120"/>
              </a:rPr>
              <a:t> 250m       </a:t>
            </a:r>
            <a:r>
              <a:rPr lang="en-US" sz="1400" dirty="0">
                <a:solidFill>
                  <a:srgbClr val="6A9955"/>
                </a:solidFill>
                <a:latin typeface="Consolas" pitchFamily="34" charset="0"/>
                <a:ea typeface="Consolas" pitchFamily="34" charset="-122"/>
                <a:cs typeface="Consolas" pitchFamily="34" charset="-120"/>
              </a:rPr>
              <a:t> # reserved; used for scheduling</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memory</a:t>
            </a:r>
            <a:r>
              <a:rPr lang="en-US" sz="1400" dirty="0">
                <a:solidFill>
                  <a:srgbClr val="D4D4D4"/>
                </a:solidFill>
                <a:latin typeface="Consolas" pitchFamily="34" charset="0"/>
                <a:ea typeface="Consolas" pitchFamily="34" charset="-122"/>
                <a:cs typeface="Consolas" pitchFamily="34" charset="-120"/>
              </a:rPr>
              <a:t>:</a:t>
            </a:r>
            <a:r>
              <a:rPr lang="en-US" sz="1400" dirty="0">
                <a:solidFill>
                  <a:srgbClr val="CE9178"/>
                </a:solidFill>
                <a:latin typeface="Consolas" pitchFamily="34" charset="0"/>
                <a:ea typeface="Consolas" pitchFamily="34" charset="-122"/>
                <a:cs typeface="Consolas" pitchFamily="34" charset="-120"/>
              </a:rPr>
              <a:t> 256Mi</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limits</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cpu</a:t>
            </a:r>
            <a:r>
              <a:rPr lang="en-US" sz="1400" dirty="0">
                <a:solidFill>
                  <a:srgbClr val="D4D4D4"/>
                </a:solidFill>
                <a:latin typeface="Consolas" pitchFamily="34" charset="0"/>
                <a:ea typeface="Consolas" pitchFamily="34" charset="-122"/>
                <a:cs typeface="Consolas" pitchFamily="34" charset="-120"/>
              </a:rPr>
              <a:t>:</a:t>
            </a:r>
            <a:r>
              <a:rPr lang="en-US" sz="1400" dirty="0">
                <a:solidFill>
                  <a:srgbClr val="CE9178"/>
                </a:solidFill>
                <a:latin typeface="Consolas" pitchFamily="34" charset="0"/>
                <a:ea typeface="Consolas" pitchFamily="34" charset="-122"/>
                <a:cs typeface="Consolas" pitchFamily="34" charset="-120"/>
              </a:rPr>
              <a:t> 500m       </a:t>
            </a:r>
            <a:r>
              <a:rPr lang="en-US" sz="1400" dirty="0">
                <a:solidFill>
                  <a:srgbClr val="6A9955"/>
                </a:solidFill>
                <a:latin typeface="Consolas" pitchFamily="34" charset="0"/>
                <a:ea typeface="Consolas" pitchFamily="34" charset="-122"/>
                <a:cs typeface="Consolas" pitchFamily="34" charset="-120"/>
              </a:rPr>
              <a:t> # throttled above this</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memory</a:t>
            </a:r>
            <a:r>
              <a:rPr lang="en-US" sz="1400" dirty="0">
                <a:solidFill>
                  <a:srgbClr val="D4D4D4"/>
                </a:solidFill>
                <a:latin typeface="Consolas" pitchFamily="34" charset="0"/>
                <a:ea typeface="Consolas" pitchFamily="34" charset="-122"/>
                <a:cs typeface="Consolas" pitchFamily="34" charset="-120"/>
              </a:rPr>
              <a:t>:</a:t>
            </a:r>
            <a:r>
              <a:rPr lang="en-US" sz="1400" dirty="0">
                <a:solidFill>
                  <a:srgbClr val="CE9178"/>
                </a:solidFill>
                <a:latin typeface="Consolas" pitchFamily="34" charset="0"/>
                <a:ea typeface="Consolas" pitchFamily="34" charset="-122"/>
                <a:cs typeface="Consolas" pitchFamily="34" charset="-120"/>
              </a:rPr>
              <a:t> 512Mi   </a:t>
            </a:r>
            <a:r>
              <a:rPr lang="en-US" sz="1400" dirty="0">
                <a:solidFill>
                  <a:srgbClr val="6A9955"/>
                </a:solidFill>
                <a:latin typeface="Consolas" pitchFamily="34" charset="0"/>
                <a:ea typeface="Consolas" pitchFamily="34" charset="-122"/>
                <a:cs typeface="Consolas" pitchFamily="34" charset="-120"/>
              </a:rPr>
              <a:t> # OOMKilled above this</a:t>
            </a:r>
            <a:endParaRPr lang="en-US" sz="1400" dirty="0"/>
          </a:p>
        </p:txBody>
      </p:sp>
      <p:sp>
        <p:nvSpPr>
          <p:cNvPr id="15" name="Shape 13"/>
          <p:cNvSpPr/>
          <p:nvPr/>
        </p:nvSpPr>
        <p:spPr>
          <a:xfrm>
            <a:off x="6492240" y="1737360"/>
            <a:ext cx="5148072" cy="962406"/>
          </a:xfrm>
          <a:prstGeom prst="rect">
            <a:avLst/>
          </a:prstGeom>
          <a:solidFill>
            <a:srgbClr val="16304A"/>
          </a:solidFill>
          <a:ln/>
        </p:spPr>
        <p:txBody>
          <a:bodyPr/>
          <a:lstStyle/>
          <a:p>
            <a:endParaRPr lang="en-US"/>
          </a:p>
        </p:txBody>
      </p:sp>
      <p:sp>
        <p:nvSpPr>
          <p:cNvPr id="16" name="Shape 14"/>
          <p:cNvSpPr/>
          <p:nvPr/>
        </p:nvSpPr>
        <p:spPr>
          <a:xfrm>
            <a:off x="6720840" y="1965960"/>
            <a:ext cx="457200" cy="457200"/>
          </a:xfrm>
          <a:prstGeom prst="ellipse">
            <a:avLst/>
          </a:prstGeom>
          <a:solidFill>
            <a:srgbClr val="5C2D91"/>
          </a:solidFill>
          <a:ln/>
        </p:spPr>
        <p:txBody>
          <a:bodyPr/>
          <a:lstStyle/>
          <a:p>
            <a:endParaRPr lang="en-US"/>
          </a:p>
        </p:txBody>
      </p:sp>
      <p:pic>
        <p:nvPicPr>
          <p:cNvPr id="17" name="Image 0" descr="/agent/turn2/workspace/output/_anthropic_assets/icon-server-e8a10e40.png"/>
          <p:cNvPicPr>
            <a:picLocks noChangeAspect="1"/>
          </p:cNvPicPr>
          <p:nvPr/>
        </p:nvPicPr>
        <p:blipFill>
          <a:blip r:embed="rId2"/>
          <a:stretch>
            <a:fillRect/>
          </a:stretch>
        </p:blipFill>
        <p:spPr>
          <a:xfrm>
            <a:off x="6821424" y="2066544"/>
            <a:ext cx="256032" cy="256032"/>
          </a:xfrm>
          <a:prstGeom prst="rect">
            <a:avLst/>
          </a:prstGeom>
        </p:spPr>
      </p:pic>
      <p:sp>
        <p:nvSpPr>
          <p:cNvPr id="18" name="Text 15"/>
          <p:cNvSpPr/>
          <p:nvPr/>
        </p:nvSpPr>
        <p:spPr>
          <a:xfrm>
            <a:off x="7406640" y="1920240"/>
            <a:ext cx="4050792" cy="384048"/>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Requests drive scheduling</a:t>
            </a:r>
            <a:endParaRPr lang="en-US" sz="1600" dirty="0"/>
          </a:p>
        </p:txBody>
      </p:sp>
      <p:sp>
        <p:nvSpPr>
          <p:cNvPr id="19" name="Text 16"/>
          <p:cNvSpPr/>
          <p:nvPr/>
        </p:nvSpPr>
        <p:spPr>
          <a:xfrm>
            <a:off x="7406640" y="2331720"/>
            <a:ext cx="4050792" cy="230886"/>
          </a:xfrm>
          <a:prstGeom prst="rect">
            <a:avLst/>
          </a:prstGeom>
          <a:noFill/>
          <a:ln/>
        </p:spPr>
        <p:txBody>
          <a:bodyPr wrap="square" lIns="0" tIns="0" rIns="0" bIns="0" rtlCol="0"/>
          <a:lstStyle/>
          <a:p>
            <a:pPr marL="0" indent="0">
              <a:buNone/>
            </a:pPr>
            <a:r>
              <a:rPr lang="en-US" sz="1350" dirty="0">
                <a:solidFill>
                  <a:srgbClr val="D0D8E2"/>
                </a:solidFill>
                <a:latin typeface="Segoe UI" pitchFamily="34" charset="0"/>
                <a:ea typeface="Segoe UI" pitchFamily="34" charset="-122"/>
                <a:cs typeface="Segoe UI" pitchFamily="34" charset="-120"/>
              </a:rPr>
              <a:t>The scheduler places pods by requests, not real usage.</a:t>
            </a:r>
            <a:endParaRPr lang="en-US" sz="1350" dirty="0"/>
          </a:p>
        </p:txBody>
      </p:sp>
      <p:sp>
        <p:nvSpPr>
          <p:cNvPr id="20" name="Shape 17"/>
          <p:cNvSpPr/>
          <p:nvPr/>
        </p:nvSpPr>
        <p:spPr>
          <a:xfrm>
            <a:off x="6492240" y="2864358"/>
            <a:ext cx="5148072" cy="962406"/>
          </a:xfrm>
          <a:prstGeom prst="rect">
            <a:avLst/>
          </a:prstGeom>
          <a:solidFill>
            <a:srgbClr val="16304A"/>
          </a:solidFill>
          <a:ln/>
        </p:spPr>
        <p:txBody>
          <a:bodyPr/>
          <a:lstStyle/>
          <a:p>
            <a:endParaRPr lang="en-US"/>
          </a:p>
        </p:txBody>
      </p:sp>
      <p:sp>
        <p:nvSpPr>
          <p:cNvPr id="21" name="Shape 18"/>
          <p:cNvSpPr/>
          <p:nvPr/>
        </p:nvSpPr>
        <p:spPr>
          <a:xfrm>
            <a:off x="6720840" y="3092958"/>
            <a:ext cx="457200" cy="457200"/>
          </a:xfrm>
          <a:prstGeom prst="ellipse">
            <a:avLst/>
          </a:prstGeom>
          <a:solidFill>
            <a:srgbClr val="5C2D91"/>
          </a:solidFill>
          <a:ln/>
        </p:spPr>
        <p:txBody>
          <a:bodyPr/>
          <a:lstStyle/>
          <a:p>
            <a:endParaRPr lang="en-US"/>
          </a:p>
        </p:txBody>
      </p:sp>
      <p:pic>
        <p:nvPicPr>
          <p:cNvPr id="22" name="Image 1" descr="/agent/turn2/workspace/output/_anthropic_assets/icon-arrow-trending-c06427f6.png"/>
          <p:cNvPicPr>
            <a:picLocks noChangeAspect="1"/>
          </p:cNvPicPr>
          <p:nvPr/>
        </p:nvPicPr>
        <p:blipFill>
          <a:blip r:embed="rId3"/>
          <a:stretch>
            <a:fillRect/>
          </a:stretch>
        </p:blipFill>
        <p:spPr>
          <a:xfrm>
            <a:off x="6821424" y="3193542"/>
            <a:ext cx="256032" cy="256032"/>
          </a:xfrm>
          <a:prstGeom prst="rect">
            <a:avLst/>
          </a:prstGeom>
        </p:spPr>
      </p:pic>
      <p:sp>
        <p:nvSpPr>
          <p:cNvPr id="23" name="Text 19"/>
          <p:cNvSpPr/>
          <p:nvPr/>
        </p:nvSpPr>
        <p:spPr>
          <a:xfrm>
            <a:off x="7406640" y="3047238"/>
            <a:ext cx="4050792" cy="384048"/>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Requests drive HPA</a:t>
            </a:r>
            <a:endParaRPr lang="en-US" sz="1600" dirty="0"/>
          </a:p>
        </p:txBody>
      </p:sp>
      <p:sp>
        <p:nvSpPr>
          <p:cNvPr id="24" name="Text 20"/>
          <p:cNvSpPr/>
          <p:nvPr/>
        </p:nvSpPr>
        <p:spPr>
          <a:xfrm>
            <a:off x="7406640" y="3458718"/>
            <a:ext cx="4050792" cy="230886"/>
          </a:xfrm>
          <a:prstGeom prst="rect">
            <a:avLst/>
          </a:prstGeom>
          <a:noFill/>
          <a:ln/>
        </p:spPr>
        <p:txBody>
          <a:bodyPr wrap="square" lIns="0" tIns="0" rIns="0" bIns="0" rtlCol="0"/>
          <a:lstStyle/>
          <a:p>
            <a:pPr marL="0" indent="0">
              <a:buNone/>
            </a:pPr>
            <a:r>
              <a:rPr lang="en-US" sz="1350" dirty="0">
                <a:solidFill>
                  <a:srgbClr val="D0D8E2"/>
                </a:solidFill>
                <a:latin typeface="Segoe UI" pitchFamily="34" charset="0"/>
                <a:ea typeface="Segoe UI" pitchFamily="34" charset="-122"/>
                <a:cs typeface="Segoe UI" pitchFamily="34" charset="-120"/>
              </a:rPr>
              <a:t>CPU </a:t>
            </a:r>
            <a:r>
              <a:rPr lang="en-US" sz="1350">
                <a:solidFill>
                  <a:srgbClr val="D0D8E2"/>
                </a:solidFill>
                <a:latin typeface="Segoe UI" pitchFamily="34" charset="0"/>
                <a:ea typeface="Segoe UI" pitchFamily="34" charset="-122"/>
                <a:cs typeface="Segoe UI" pitchFamily="34" charset="-120"/>
              </a:rPr>
              <a:t>utilization</a:t>
            </a:r>
            <a:r>
              <a:rPr lang="en-US" sz="1350" dirty="0">
                <a:solidFill>
                  <a:srgbClr val="D0D8E2"/>
                </a:solidFill>
                <a:latin typeface="Segoe UI" pitchFamily="34" charset="0"/>
                <a:ea typeface="Segoe UI" pitchFamily="34" charset="-122"/>
                <a:cs typeface="Segoe UI" pitchFamily="34" charset="-120"/>
              </a:rPr>
              <a:t> targets are a percentage of the request.</a:t>
            </a:r>
            <a:endParaRPr lang="en-US" sz="1350" dirty="0"/>
          </a:p>
        </p:txBody>
      </p:sp>
      <p:sp>
        <p:nvSpPr>
          <p:cNvPr id="25" name="Shape 21"/>
          <p:cNvSpPr/>
          <p:nvPr/>
        </p:nvSpPr>
        <p:spPr>
          <a:xfrm>
            <a:off x="6492240" y="3991356"/>
            <a:ext cx="5148072" cy="962406"/>
          </a:xfrm>
          <a:prstGeom prst="rect">
            <a:avLst/>
          </a:prstGeom>
          <a:solidFill>
            <a:srgbClr val="16304A"/>
          </a:solidFill>
          <a:ln/>
        </p:spPr>
        <p:txBody>
          <a:bodyPr/>
          <a:lstStyle/>
          <a:p>
            <a:endParaRPr lang="en-US"/>
          </a:p>
        </p:txBody>
      </p:sp>
      <p:sp>
        <p:nvSpPr>
          <p:cNvPr id="26" name="Shape 22"/>
          <p:cNvSpPr/>
          <p:nvPr/>
        </p:nvSpPr>
        <p:spPr>
          <a:xfrm>
            <a:off x="6720840" y="4219956"/>
            <a:ext cx="457200" cy="457200"/>
          </a:xfrm>
          <a:prstGeom prst="ellipse">
            <a:avLst/>
          </a:prstGeom>
          <a:solidFill>
            <a:srgbClr val="5C2D91"/>
          </a:solidFill>
          <a:ln/>
        </p:spPr>
        <p:txBody>
          <a:bodyPr/>
          <a:lstStyle/>
          <a:p>
            <a:endParaRPr lang="en-US"/>
          </a:p>
        </p:txBody>
      </p:sp>
      <p:pic>
        <p:nvPicPr>
          <p:cNvPr id="27" name="Image 2" descr="/agent/turn2/workspace/output/_anthropic_assets/icon-timer-5033fbda.png"/>
          <p:cNvPicPr>
            <a:picLocks noChangeAspect="1"/>
          </p:cNvPicPr>
          <p:nvPr/>
        </p:nvPicPr>
        <p:blipFill>
          <a:blip r:embed="rId4"/>
          <a:stretch>
            <a:fillRect/>
          </a:stretch>
        </p:blipFill>
        <p:spPr>
          <a:xfrm>
            <a:off x="6821424" y="4320540"/>
            <a:ext cx="256032" cy="256032"/>
          </a:xfrm>
          <a:prstGeom prst="rect">
            <a:avLst/>
          </a:prstGeom>
        </p:spPr>
      </p:pic>
      <p:sp>
        <p:nvSpPr>
          <p:cNvPr id="28" name="Text 23"/>
          <p:cNvSpPr/>
          <p:nvPr/>
        </p:nvSpPr>
        <p:spPr>
          <a:xfrm>
            <a:off x="7406640" y="4174236"/>
            <a:ext cx="4050792" cy="384048"/>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CPU limit = throttling</a:t>
            </a:r>
            <a:endParaRPr lang="en-US" sz="1600" dirty="0"/>
          </a:p>
        </p:txBody>
      </p:sp>
      <p:sp>
        <p:nvSpPr>
          <p:cNvPr id="29" name="Text 24"/>
          <p:cNvSpPr/>
          <p:nvPr/>
        </p:nvSpPr>
        <p:spPr>
          <a:xfrm>
            <a:off x="7406640" y="4585716"/>
            <a:ext cx="4050792" cy="230886"/>
          </a:xfrm>
          <a:prstGeom prst="rect">
            <a:avLst/>
          </a:prstGeom>
          <a:noFill/>
          <a:ln/>
        </p:spPr>
        <p:txBody>
          <a:bodyPr wrap="square" lIns="0" tIns="0" rIns="0" bIns="0" rtlCol="0" anchor="t"/>
          <a:lstStyle/>
          <a:p>
            <a:pPr marL="0" indent="0">
              <a:buNone/>
            </a:pPr>
            <a:r>
              <a:rPr lang="en-US" sz="1350" dirty="0">
                <a:solidFill>
                  <a:srgbClr val="D0D8E2"/>
                </a:solidFill>
                <a:latin typeface="Segoe UI" pitchFamily="34" charset="0"/>
                <a:ea typeface="Segoe UI" pitchFamily="34" charset="-122"/>
                <a:cs typeface="Segoe UI" pitchFamily="34" charset="-120"/>
              </a:rPr>
              <a:t>The container slows down; it is not killed.</a:t>
            </a:r>
            <a:endParaRPr lang="en-US" sz="1350" dirty="0"/>
          </a:p>
        </p:txBody>
      </p:sp>
      <p:sp>
        <p:nvSpPr>
          <p:cNvPr id="30" name="Shape 25"/>
          <p:cNvSpPr/>
          <p:nvPr/>
        </p:nvSpPr>
        <p:spPr>
          <a:xfrm>
            <a:off x="6492240" y="5118354"/>
            <a:ext cx="5148072" cy="962406"/>
          </a:xfrm>
          <a:prstGeom prst="rect">
            <a:avLst/>
          </a:prstGeom>
          <a:solidFill>
            <a:srgbClr val="16304A"/>
          </a:solidFill>
          <a:ln/>
        </p:spPr>
        <p:txBody>
          <a:bodyPr/>
          <a:lstStyle/>
          <a:p>
            <a:endParaRPr lang="en-US"/>
          </a:p>
        </p:txBody>
      </p:sp>
      <p:sp>
        <p:nvSpPr>
          <p:cNvPr id="31" name="Shape 26"/>
          <p:cNvSpPr/>
          <p:nvPr/>
        </p:nvSpPr>
        <p:spPr>
          <a:xfrm>
            <a:off x="6720840" y="5346954"/>
            <a:ext cx="457200" cy="457200"/>
          </a:xfrm>
          <a:prstGeom prst="ellipse">
            <a:avLst/>
          </a:prstGeom>
          <a:solidFill>
            <a:srgbClr val="5C2D91"/>
          </a:solidFill>
          <a:ln/>
        </p:spPr>
        <p:txBody>
          <a:bodyPr/>
          <a:lstStyle/>
          <a:p>
            <a:endParaRPr lang="en-US"/>
          </a:p>
        </p:txBody>
      </p:sp>
      <p:pic>
        <p:nvPicPr>
          <p:cNvPr id="32" name="Image 3" descr="/agent/turn2/workspace/output/_anthropic_assets/icon-warning-adbe1e7c.png"/>
          <p:cNvPicPr>
            <a:picLocks noChangeAspect="1"/>
          </p:cNvPicPr>
          <p:nvPr/>
        </p:nvPicPr>
        <p:blipFill>
          <a:blip r:embed="rId5"/>
          <a:stretch>
            <a:fillRect/>
          </a:stretch>
        </p:blipFill>
        <p:spPr>
          <a:xfrm>
            <a:off x="6821424" y="5447538"/>
            <a:ext cx="256032" cy="256032"/>
          </a:xfrm>
          <a:prstGeom prst="rect">
            <a:avLst/>
          </a:prstGeom>
        </p:spPr>
      </p:pic>
      <p:sp>
        <p:nvSpPr>
          <p:cNvPr id="33" name="Text 27"/>
          <p:cNvSpPr/>
          <p:nvPr/>
        </p:nvSpPr>
        <p:spPr>
          <a:xfrm>
            <a:off x="7406640" y="5301234"/>
            <a:ext cx="4050792" cy="384048"/>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Memory limit = OOMKill</a:t>
            </a:r>
            <a:endParaRPr lang="en-US" sz="1600" dirty="0"/>
          </a:p>
        </p:txBody>
      </p:sp>
      <p:sp>
        <p:nvSpPr>
          <p:cNvPr id="34" name="Text 28"/>
          <p:cNvSpPr/>
          <p:nvPr/>
        </p:nvSpPr>
        <p:spPr>
          <a:xfrm>
            <a:off x="7406640" y="5712714"/>
            <a:ext cx="4050792" cy="230886"/>
          </a:xfrm>
          <a:prstGeom prst="rect">
            <a:avLst/>
          </a:prstGeom>
          <a:noFill/>
          <a:ln/>
        </p:spPr>
        <p:txBody>
          <a:bodyPr wrap="square" lIns="0" tIns="0" rIns="0" bIns="0" rtlCol="0" anchor="t"/>
          <a:lstStyle/>
          <a:p>
            <a:pPr marL="0" indent="0">
              <a:buNone/>
            </a:pPr>
            <a:r>
              <a:rPr lang="en-US" sz="1350" dirty="0">
                <a:solidFill>
                  <a:srgbClr val="D0D8E2"/>
                </a:solidFill>
                <a:latin typeface="Segoe UI" pitchFamily="34" charset="0"/>
                <a:ea typeface="Segoe UI" pitchFamily="34" charset="-122"/>
                <a:cs typeface="Segoe UI" pitchFamily="34" charset="-120"/>
              </a:rPr>
              <a:t>Exceeding it terminates the container.</a:t>
            </a:r>
            <a:endParaRPr lang="en-US" sz="1350" dirty="0"/>
          </a:p>
        </p:txBody>
      </p:sp>
      <p:sp>
        <p:nvSpPr>
          <p:cNvPr id="35" name="Shape 29"/>
          <p:cNvSpPr/>
          <p:nvPr/>
        </p:nvSpPr>
        <p:spPr>
          <a:xfrm>
            <a:off x="548640" y="4709160"/>
            <a:ext cx="5669280" cy="1371600"/>
          </a:xfrm>
          <a:prstGeom prst="rect">
            <a:avLst/>
          </a:prstGeom>
          <a:solidFill>
            <a:srgbClr val="16304A"/>
          </a:solidFill>
          <a:ln/>
        </p:spPr>
        <p:txBody>
          <a:bodyPr/>
          <a:lstStyle/>
          <a:p>
            <a:endParaRPr lang="en-US"/>
          </a:p>
        </p:txBody>
      </p:sp>
      <p:sp>
        <p:nvSpPr>
          <p:cNvPr id="36" name="Shape 30"/>
          <p:cNvSpPr/>
          <p:nvPr/>
        </p:nvSpPr>
        <p:spPr>
          <a:xfrm>
            <a:off x="777240" y="5143500"/>
            <a:ext cx="502920" cy="502920"/>
          </a:xfrm>
          <a:prstGeom prst="ellipse">
            <a:avLst/>
          </a:prstGeom>
          <a:solidFill>
            <a:srgbClr val="5C2D91"/>
          </a:solidFill>
          <a:ln/>
        </p:spPr>
        <p:txBody>
          <a:bodyPr/>
          <a:lstStyle/>
          <a:p>
            <a:endParaRPr lang="en-US"/>
          </a:p>
        </p:txBody>
      </p:sp>
      <p:pic>
        <p:nvPicPr>
          <p:cNvPr id="37" name="Image 4" descr="/agent/turn2/workspace/output/_anthropic_assets/icon-search-5b67a595.png"/>
          <p:cNvPicPr>
            <a:picLocks noChangeAspect="1"/>
          </p:cNvPicPr>
          <p:nvPr/>
        </p:nvPicPr>
        <p:blipFill>
          <a:blip r:embed="rId6"/>
          <a:stretch>
            <a:fillRect/>
          </a:stretch>
        </p:blipFill>
        <p:spPr>
          <a:xfrm>
            <a:off x="887882" y="5254142"/>
            <a:ext cx="281635" cy="281635"/>
          </a:xfrm>
          <a:prstGeom prst="rect">
            <a:avLst/>
          </a:prstGeom>
        </p:spPr>
      </p:pic>
      <p:sp>
        <p:nvSpPr>
          <p:cNvPr id="38" name="Text 31"/>
          <p:cNvSpPr/>
          <p:nvPr/>
        </p:nvSpPr>
        <p:spPr>
          <a:xfrm>
            <a:off x="1508760" y="4709160"/>
            <a:ext cx="4480560" cy="1371600"/>
          </a:xfrm>
          <a:prstGeom prst="rect">
            <a:avLst/>
          </a:prstGeom>
          <a:noFill/>
          <a:ln/>
        </p:spPr>
        <p:txBody>
          <a:bodyPr wrap="square" lIns="0" tIns="0" rIns="0" bIns="0" rtlCol="0" anchor="ctr"/>
          <a:lstStyle/>
          <a:p>
            <a:pPr marL="0" indent="0">
              <a:buNone/>
            </a:pPr>
            <a:r>
              <a:rPr lang="en-US" sz="1500" dirty="0">
                <a:solidFill>
                  <a:srgbClr val="FFFFFF"/>
                </a:solidFill>
                <a:latin typeface="Segoe UI" pitchFamily="34" charset="0"/>
                <a:ea typeface="Segoe UI" pitchFamily="34" charset="-122"/>
                <a:cs typeface="Segoe UI" pitchFamily="34" charset="-120"/>
              </a:rPr>
              <a:t>Measure first with </a:t>
            </a:r>
            <a:r>
              <a:rPr lang="en-US" sz="1500" dirty="0">
                <a:solidFill>
                  <a:srgbClr val="9CDCFE"/>
                </a:solidFill>
                <a:latin typeface="Consolas" pitchFamily="34" charset="0"/>
                <a:ea typeface="Consolas" pitchFamily="34" charset="-122"/>
                <a:cs typeface="Consolas" pitchFamily="34" charset="-120"/>
              </a:rPr>
              <a:t>kubectl top</a:t>
            </a:r>
            <a:r>
              <a:rPr lang="en-US" sz="1500" dirty="0">
                <a:solidFill>
                  <a:srgbClr val="FFFFFF"/>
                </a:solidFill>
                <a:latin typeface="Segoe UI" pitchFamily="34" charset="0"/>
                <a:ea typeface="Segoe UI" pitchFamily="34" charset="-122"/>
                <a:cs typeface="Segoe UI" pitchFamily="34" charset="-120"/>
              </a:rPr>
              <a:t>, then set requests near typical usage and memory limits with headroom.</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9">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5C2D91"/>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41700B4A-374A-4E6F-81A3-15489C76CCDA}" type="slidenum">
              <a:rPr lang="en-US" sz="1100">
                <a:solidFill>
                  <a:srgbClr val="605E5C"/>
                </a:solidFill>
                <a:latin typeface="Segoe UI" pitchFamily="34" charset="0"/>
                <a:ea typeface="Segoe UI" pitchFamily="34" charset="-122"/>
                <a:cs typeface="Segoe UI" pitchFamily="34" charset="-120"/>
              </a:rPr>
              <a:t>42</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Quality of Service Classes</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291840"/>
        </p:xfrm>
        <a:graphic>
          <a:graphicData uri="http://schemas.openxmlformats.org/drawingml/2006/table">
            <a:tbl>
              <a:tblPr/>
              <a:tblGrid>
                <a:gridCol w="2194560">
                  <a:extLst>
                    <a:ext uri="{9D8B030D-6E8A-4147-A177-3AD203B41FA5}">
                      <a16:colId xmlns:a16="http://schemas.microsoft.com/office/drawing/2014/main" val="20000"/>
                    </a:ext>
                  </a:extLst>
                </a:gridCol>
                <a:gridCol w="4873752">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822960">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QoS class</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5C2D91"/>
                    </a:solidFill>
                  </a:tcPr>
                </a:tc>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When you get it</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5C2D91"/>
                    </a:solidFill>
                  </a:tcPr>
                </a:tc>
                <a:tc>
                  <a:txBody>
                    <a:bodyPr/>
                    <a:lstStyle/>
                    <a:p>
                      <a:pPr marL="0" indent="0">
                        <a:buNone/>
                      </a:pPr>
                      <a:r>
                        <a:rPr lang="en-US" sz="1500" b="1" dirty="0">
                          <a:solidFill>
                            <a:srgbClr val="FFFFFF"/>
                          </a:solidFill>
                          <a:latin typeface="Segoe UI Semibold" pitchFamily="34" charset="0"/>
                          <a:ea typeface="Segoe UI Semibold" pitchFamily="34" charset="-122"/>
                          <a:cs typeface="Segoe UI Semibold" pitchFamily="34" charset="-120"/>
                        </a:rPr>
                        <a:t>Under node memory pressure</a:t>
                      </a:r>
                      <a:endParaRPr lang="en-US" sz="1500" dirty="0">
                        <a:latin typeface="Segoe UI Semibold" charset="0"/>
                        <a:ea typeface="Segoe UI Semibold" charset="0"/>
                        <a:cs typeface="Segoe UI Semibold"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5C2D91"/>
                    </a:solidFill>
                  </a:tcPr>
                </a:tc>
                <a:extLst>
                  <a:ext uri="{0D108BD9-81ED-4DB2-BD59-A6C34878D82A}">
                    <a16:rowId xmlns:a16="http://schemas.microsoft.com/office/drawing/2014/main" val="10000"/>
                  </a:ext>
                </a:extLst>
              </a:tr>
              <a:tr h="822960">
                <a:tc>
                  <a:txBody>
                    <a:bodyPr/>
                    <a:lstStyle/>
                    <a:p>
                      <a:pPr marL="0" indent="0">
                        <a:buNone/>
                      </a:pPr>
                      <a:r>
                        <a:rPr lang="en-US" sz="1500" b="1" dirty="0">
                          <a:solidFill>
                            <a:srgbClr val="323130"/>
                          </a:solidFill>
                          <a:latin typeface="Segoe UI" pitchFamily="34" charset="0"/>
                          <a:ea typeface="Segoe UI" pitchFamily="34" charset="-122"/>
                          <a:cs typeface="Segoe UI" pitchFamily="34" charset="-120"/>
                        </a:rPr>
                        <a:t>Guaranteed</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Every container sets requests = limits for CPU and memory</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Evicted last</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1500" b="1" dirty="0">
                          <a:solidFill>
                            <a:srgbClr val="323130"/>
                          </a:solidFill>
                          <a:latin typeface="Segoe UI" pitchFamily="34" charset="0"/>
                          <a:ea typeface="Segoe UI" pitchFamily="34" charset="-122"/>
                          <a:cs typeface="Segoe UI" pitchFamily="34" charset="-120"/>
                        </a:rPr>
                        <a:t>Burstable</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At least one request or limit is set, but not Guaranteed</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Evicted after BestEffort, by usage over requests</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3F2F1"/>
                    </a:solidFill>
                  </a:tcPr>
                </a:tc>
                <a:extLst>
                  <a:ext uri="{0D108BD9-81ED-4DB2-BD59-A6C34878D82A}">
                    <a16:rowId xmlns:a16="http://schemas.microsoft.com/office/drawing/2014/main" val="10002"/>
                  </a:ext>
                </a:extLst>
              </a:tr>
              <a:tr h="822960">
                <a:tc>
                  <a:txBody>
                    <a:bodyPr/>
                    <a:lstStyle/>
                    <a:p>
                      <a:pPr marL="0" indent="0">
                        <a:buNone/>
                      </a:pPr>
                      <a:r>
                        <a:rPr lang="en-US" sz="1500" b="1" dirty="0">
                          <a:solidFill>
                            <a:srgbClr val="323130"/>
                          </a:solidFill>
                          <a:latin typeface="Segoe UI" pitchFamily="34" charset="0"/>
                          <a:ea typeface="Segoe UI" pitchFamily="34" charset="-122"/>
                          <a:cs typeface="Segoe UI" pitchFamily="34" charset="-120"/>
                        </a:rPr>
                        <a:t>BestEffort</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No requests or limits at all</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tc>
                  <a:txBody>
                    <a:bodyPr/>
                    <a:lstStyle/>
                    <a:p>
                      <a:pPr marL="0" indent="0">
                        <a:buNone/>
                      </a:pPr>
                      <a:r>
                        <a:rPr lang="en-US" sz="1500" dirty="0">
                          <a:solidFill>
                            <a:srgbClr val="323130"/>
                          </a:solidFill>
                          <a:latin typeface="Segoe UI" pitchFamily="34" charset="0"/>
                          <a:ea typeface="Segoe UI" pitchFamily="34" charset="-122"/>
                          <a:cs typeface="Segoe UI" pitchFamily="34" charset="-120"/>
                        </a:rPr>
                        <a:t>Evicted first</a:t>
                      </a:r>
                      <a:endParaRPr lang="en-US" sz="1500" dirty="0">
                        <a:latin typeface="Segoe UI" charset="0"/>
                        <a:ea typeface="Segoe UI" charset="0"/>
                        <a:cs typeface="Segoe UI" charset="0"/>
                      </a:endParaRPr>
                    </a:p>
                  </a:txBody>
                  <a:tcPr marL="128016" marR="128016" marT="64008" marB="64008" anchor="ctr">
                    <a:lnL w="9525" cap="flat" cmpd="sng" algn="ctr">
                      <a:solidFill>
                        <a:srgbClr val="E1DFDD"/>
                      </a:solidFill>
                      <a:prstDash val="solid"/>
                      <a:round/>
                      <a:headEnd type="none" w="med" len="med"/>
                      <a:tailEnd type="none" w="med" len="med"/>
                    </a:lnL>
                    <a:lnR w="9525" cap="flat" cmpd="sng" algn="ctr">
                      <a:solidFill>
                        <a:srgbClr val="E1DFDD"/>
                      </a:solidFill>
                      <a:prstDash val="solid"/>
                      <a:round/>
                      <a:headEnd type="none" w="med" len="med"/>
                      <a:tailEnd type="none" w="med" len="med"/>
                    </a:lnR>
                    <a:lnT w="9525" cap="flat" cmpd="sng" algn="ctr">
                      <a:solidFill>
                        <a:srgbClr val="E1DFDD"/>
                      </a:solidFill>
                      <a:prstDash val="solid"/>
                      <a:round/>
                      <a:headEnd type="none" w="med" len="med"/>
                      <a:tailEnd type="none" w="med" len="med"/>
                    </a:lnT>
                    <a:lnB w="9525" cap="flat" cmpd="sng" algn="ctr">
                      <a:solidFill>
                        <a:srgbClr val="E1DF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8"/>
          <p:cNvSpPr/>
          <p:nvPr/>
        </p:nvSpPr>
        <p:spPr>
          <a:xfrm>
            <a:off x="548640" y="5257800"/>
            <a:ext cx="11091672" cy="822960"/>
          </a:xfrm>
          <a:prstGeom prst="rect">
            <a:avLst/>
          </a:prstGeom>
          <a:solidFill>
            <a:srgbClr val="5C2D91"/>
          </a:solidFill>
          <a:ln/>
        </p:spPr>
        <p:txBody>
          <a:bodyPr/>
          <a:lstStyle/>
          <a:p>
            <a:endParaRPr lang="en-US"/>
          </a:p>
        </p:txBody>
      </p:sp>
      <p:sp>
        <p:nvSpPr>
          <p:cNvPr id="12" name="Shape 9"/>
          <p:cNvSpPr/>
          <p:nvPr/>
        </p:nvSpPr>
        <p:spPr>
          <a:xfrm>
            <a:off x="777240" y="5417820"/>
            <a:ext cx="502920" cy="502920"/>
          </a:xfrm>
          <a:prstGeom prst="ellipse">
            <a:avLst/>
          </a:prstGeom>
          <a:solidFill>
            <a:srgbClr val="3B1A61"/>
          </a:solidFill>
          <a:ln/>
        </p:spPr>
        <p:txBody>
          <a:bodyPr/>
          <a:lstStyle/>
          <a:p>
            <a:endParaRPr lang="en-US"/>
          </a:p>
        </p:txBody>
      </p:sp>
      <p:pic>
        <p:nvPicPr>
          <p:cNvPr id="13" name="Image 0" descr="/agent/turn2/workspace/output/_anthropic_assets/icon-shield-checkmark-8da48fe0.png"/>
          <p:cNvPicPr>
            <a:picLocks noChangeAspect="1"/>
          </p:cNvPicPr>
          <p:nvPr/>
        </p:nvPicPr>
        <p:blipFill>
          <a:blip r:embed="rId2"/>
          <a:stretch>
            <a:fillRect/>
          </a:stretch>
        </p:blipFill>
        <p:spPr>
          <a:xfrm>
            <a:off x="887882" y="5528462"/>
            <a:ext cx="281635" cy="281635"/>
          </a:xfrm>
          <a:prstGeom prst="rect">
            <a:avLst/>
          </a:prstGeom>
        </p:spPr>
      </p:pic>
      <p:sp>
        <p:nvSpPr>
          <p:cNvPr id="14" name="Text 10"/>
          <p:cNvSpPr/>
          <p:nvPr/>
        </p:nvSpPr>
        <p:spPr>
          <a:xfrm>
            <a:off x="1508760" y="5257800"/>
            <a:ext cx="9902952" cy="822960"/>
          </a:xfrm>
          <a:prstGeom prst="rect">
            <a:avLst/>
          </a:prstGeom>
          <a:noFill/>
          <a:ln/>
        </p:spPr>
        <p:txBody>
          <a:bodyPr wrap="square" lIns="0" tIns="0" rIns="0" bIns="0" rtlCol="0" anchor="ctr"/>
          <a:lstStyle/>
          <a:p>
            <a:pPr marL="0" indent="0">
              <a:buNone/>
            </a:pPr>
            <a:r>
              <a:rPr lang="en-US" sz="1700" dirty="0">
                <a:solidFill>
                  <a:srgbClr val="FFFFFF"/>
                </a:solidFill>
                <a:latin typeface="Segoe UI" pitchFamily="34" charset="0"/>
                <a:ea typeface="Segoe UI" pitchFamily="34" charset="-122"/>
                <a:cs typeface="Segoe UI" pitchFamily="34" charset="-120"/>
              </a:rPr>
              <a:t>Production workloads should never be </a:t>
            </a:r>
            <a:r>
              <a:rPr lang="en-US" sz="1700" b="1" dirty="0">
                <a:solidFill>
                  <a:srgbClr val="FFFFFF"/>
                </a:solidFill>
                <a:latin typeface="Segoe UI" pitchFamily="34" charset="0"/>
                <a:ea typeface="Segoe UI" pitchFamily="34" charset="-122"/>
                <a:cs typeface="Segoe UI" pitchFamily="34" charset="-120"/>
              </a:rPr>
              <a:t>BestEffort</a:t>
            </a:r>
            <a:r>
              <a:rPr lang="en-US" sz="1700" dirty="0">
                <a:solidFill>
                  <a:srgbClr val="FFFFFF"/>
                </a:solidFill>
                <a:latin typeface="Segoe UI" pitchFamily="34" charset="0"/>
                <a:ea typeface="Segoe UI" pitchFamily="34" charset="-122"/>
                <a:cs typeface="Segoe UI" pitchFamily="34" charset="-120"/>
              </a:rPr>
              <a:t> — always set requests.</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5C2D91"/>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BC35C0A1-E4A2-4392-8A54-91711FCFC98B}" type="slidenum">
              <a:rPr lang="en-US" sz="1100">
                <a:solidFill>
                  <a:srgbClr val="605E5C"/>
                </a:solidFill>
                <a:latin typeface="Segoe UI" pitchFamily="34" charset="0"/>
                <a:ea typeface="Segoe UI" pitchFamily="34" charset="-122"/>
                <a:cs typeface="Segoe UI" pitchFamily="34" charset="-120"/>
              </a:rPr>
              <a:t>43</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Horizontal Pod Autoscaler</a:t>
            </a:r>
            <a:endParaRPr lang="en-US" sz="3200" dirty="0"/>
          </a:p>
        </p:txBody>
      </p:sp>
      <p:sp>
        <p:nvSpPr>
          <p:cNvPr id="10" name="Shape 8"/>
          <p:cNvSpPr/>
          <p:nvPr/>
        </p:nvSpPr>
        <p:spPr>
          <a:xfrm>
            <a:off x="548640" y="1737360"/>
            <a:ext cx="6949440" cy="4343400"/>
          </a:xfrm>
          <a:prstGeom prst="rect">
            <a:avLst/>
          </a:prstGeom>
          <a:solidFill>
            <a:srgbClr val="1E1E1E"/>
          </a:solidFill>
          <a:ln/>
        </p:spPr>
        <p:txBody>
          <a:bodyPr/>
          <a:lstStyle/>
          <a:p>
            <a:endParaRPr lang="en-US"/>
          </a:p>
        </p:txBody>
      </p:sp>
      <p:sp>
        <p:nvSpPr>
          <p:cNvPr id="11" name="Shape 9"/>
          <p:cNvSpPr/>
          <p:nvPr/>
        </p:nvSpPr>
        <p:spPr>
          <a:xfrm>
            <a:off x="548640" y="1737360"/>
            <a:ext cx="6949440" cy="347472"/>
          </a:xfrm>
          <a:prstGeom prst="rect">
            <a:avLst/>
          </a:prstGeom>
          <a:solidFill>
            <a:srgbClr val="2D2D30"/>
          </a:solidFill>
          <a:ln/>
        </p:spPr>
        <p:txBody>
          <a:bodyPr/>
          <a:lstStyle/>
          <a:p>
            <a:endParaRPr lang="en-US"/>
          </a:p>
        </p:txBody>
      </p:sp>
      <p:sp>
        <p:nvSpPr>
          <p:cNvPr id="12" name="Shape 10"/>
          <p:cNvSpPr/>
          <p:nvPr/>
        </p:nvSpPr>
        <p:spPr>
          <a:xfrm>
            <a:off x="548640" y="1737360"/>
            <a:ext cx="1170432" cy="347472"/>
          </a:xfrm>
          <a:prstGeom prst="rect">
            <a:avLst/>
          </a:prstGeom>
          <a:solidFill>
            <a:srgbClr val="1E1E1E"/>
          </a:solidFill>
          <a:ln/>
        </p:spPr>
        <p:txBody>
          <a:bodyPr/>
          <a:lstStyle/>
          <a:p>
            <a:endParaRPr lang="en-US"/>
          </a:p>
        </p:txBody>
      </p:sp>
      <p:sp>
        <p:nvSpPr>
          <p:cNvPr id="13" name="Text 11"/>
          <p:cNvSpPr/>
          <p:nvPr/>
        </p:nvSpPr>
        <p:spPr>
          <a:xfrm>
            <a:off x="685800" y="1737360"/>
            <a:ext cx="987552"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hpa.yaml</a:t>
            </a:r>
            <a:endParaRPr lang="en-US" sz="1100" dirty="0"/>
          </a:p>
        </p:txBody>
      </p:sp>
      <p:sp>
        <p:nvSpPr>
          <p:cNvPr id="14" name="Text 12"/>
          <p:cNvSpPr/>
          <p:nvPr/>
        </p:nvSpPr>
        <p:spPr>
          <a:xfrm>
            <a:off x="749808" y="2212848"/>
            <a:ext cx="6583680" cy="3749040"/>
          </a:xfrm>
          <a:prstGeom prst="rect">
            <a:avLst/>
          </a:prstGeom>
          <a:noFill/>
          <a:ln/>
        </p:spPr>
        <p:txBody>
          <a:bodyPr wrap="square" lIns="0" tIns="0" rIns="0" bIns="0" rtlCol="0" anchor="t"/>
          <a:lstStyle/>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apiVersion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autoscaling/v2</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kind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HorizontalPodAutoscaler</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metadata</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api</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scaleTargetRef</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apiVersion: apps/v1, kind: Deployment, name: api }</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minReplicas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2</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maxReplicas</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10</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metrics</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type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Resource</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resource</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name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cpu</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target</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type: Utilization, averageUtilization: 70 }</a:t>
            </a:r>
            <a:endParaRPr lang="en-US" sz="1250" dirty="0"/>
          </a:p>
        </p:txBody>
      </p:sp>
      <p:sp>
        <p:nvSpPr>
          <p:cNvPr id="15" name="Shape 13"/>
          <p:cNvSpPr/>
          <p:nvPr/>
        </p:nvSpPr>
        <p:spPr>
          <a:xfrm>
            <a:off x="7772400" y="1737360"/>
            <a:ext cx="3867912" cy="1325880"/>
          </a:xfrm>
          <a:prstGeom prst="rect">
            <a:avLst/>
          </a:prstGeom>
          <a:solidFill>
            <a:srgbClr val="F3F2F1"/>
          </a:solidFill>
          <a:ln/>
        </p:spPr>
        <p:txBody>
          <a:bodyPr/>
          <a:lstStyle/>
          <a:p>
            <a:endParaRPr lang="en-US"/>
          </a:p>
        </p:txBody>
      </p:sp>
      <p:sp>
        <p:nvSpPr>
          <p:cNvPr id="16" name="Shape 14"/>
          <p:cNvSpPr/>
          <p:nvPr/>
        </p:nvSpPr>
        <p:spPr>
          <a:xfrm>
            <a:off x="8001000" y="1965960"/>
            <a:ext cx="457200" cy="457200"/>
          </a:xfrm>
          <a:prstGeom prst="ellipse">
            <a:avLst/>
          </a:prstGeom>
          <a:solidFill>
            <a:srgbClr val="5C2D91"/>
          </a:solidFill>
          <a:ln/>
        </p:spPr>
        <p:txBody>
          <a:bodyPr/>
          <a:lstStyle/>
          <a:p>
            <a:endParaRPr lang="en-US"/>
          </a:p>
        </p:txBody>
      </p:sp>
      <p:pic>
        <p:nvPicPr>
          <p:cNvPr id="17" name="Image 0" descr="/agent/turn2/workspace/output/_anthropic_assets/icon-database-d108fcbe.png"/>
          <p:cNvPicPr>
            <a:picLocks noChangeAspect="1"/>
          </p:cNvPicPr>
          <p:nvPr/>
        </p:nvPicPr>
        <p:blipFill>
          <a:blip r:embed="rId2"/>
          <a:stretch>
            <a:fillRect/>
          </a:stretch>
        </p:blipFill>
        <p:spPr>
          <a:xfrm>
            <a:off x="8101584" y="2066544"/>
            <a:ext cx="256032" cy="256032"/>
          </a:xfrm>
          <a:prstGeom prst="rect">
            <a:avLst/>
          </a:prstGeom>
        </p:spPr>
      </p:pic>
      <p:sp>
        <p:nvSpPr>
          <p:cNvPr id="18" name="Text 15"/>
          <p:cNvSpPr/>
          <p:nvPr/>
        </p:nvSpPr>
        <p:spPr>
          <a:xfrm>
            <a:off x="8686800" y="1920240"/>
            <a:ext cx="277063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Needs metrics-server</a:t>
            </a:r>
            <a:endParaRPr lang="en-US" sz="1600" dirty="0"/>
          </a:p>
        </p:txBody>
      </p:sp>
      <p:sp>
        <p:nvSpPr>
          <p:cNvPr id="19" name="Text 16"/>
          <p:cNvSpPr/>
          <p:nvPr/>
        </p:nvSpPr>
        <p:spPr>
          <a:xfrm>
            <a:off x="8686800" y="2331720"/>
            <a:ext cx="2770632" cy="59436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Installed by default on AKS; feeds </a:t>
            </a:r>
            <a:r>
              <a:rPr lang="en-US" sz="1350" dirty="0">
                <a:solidFill>
                  <a:srgbClr val="0F6CBD"/>
                </a:solidFill>
                <a:latin typeface="Consolas" pitchFamily="34" charset="0"/>
                <a:ea typeface="Consolas" pitchFamily="34" charset="-122"/>
                <a:cs typeface="Consolas" pitchFamily="34" charset="-120"/>
              </a:rPr>
              <a:t>kubectl top</a:t>
            </a:r>
            <a:r>
              <a:rPr lang="en-US" sz="1350" dirty="0">
                <a:solidFill>
                  <a:srgbClr val="323130"/>
                </a:solidFill>
                <a:latin typeface="Segoe UI" pitchFamily="34" charset="0"/>
                <a:ea typeface="Segoe UI" pitchFamily="34" charset="-122"/>
                <a:cs typeface="Segoe UI" pitchFamily="34" charset="-120"/>
              </a:rPr>
              <a:t> and HPA.</a:t>
            </a:r>
            <a:endParaRPr lang="en-US" sz="1350" dirty="0"/>
          </a:p>
        </p:txBody>
      </p:sp>
      <p:sp>
        <p:nvSpPr>
          <p:cNvPr id="20" name="Shape 17"/>
          <p:cNvSpPr/>
          <p:nvPr/>
        </p:nvSpPr>
        <p:spPr>
          <a:xfrm>
            <a:off x="7772400" y="3246120"/>
            <a:ext cx="3867912" cy="1325880"/>
          </a:xfrm>
          <a:prstGeom prst="rect">
            <a:avLst/>
          </a:prstGeom>
          <a:solidFill>
            <a:srgbClr val="F3F2F1"/>
          </a:solidFill>
          <a:ln/>
        </p:spPr>
        <p:txBody>
          <a:bodyPr/>
          <a:lstStyle/>
          <a:p>
            <a:endParaRPr lang="en-US"/>
          </a:p>
        </p:txBody>
      </p:sp>
      <p:sp>
        <p:nvSpPr>
          <p:cNvPr id="21" name="Shape 18"/>
          <p:cNvSpPr/>
          <p:nvPr/>
        </p:nvSpPr>
        <p:spPr>
          <a:xfrm>
            <a:off x="8001000" y="3474720"/>
            <a:ext cx="457200" cy="457200"/>
          </a:xfrm>
          <a:prstGeom prst="ellipse">
            <a:avLst/>
          </a:prstGeom>
          <a:solidFill>
            <a:srgbClr val="5C2D91"/>
          </a:solidFill>
          <a:ln/>
        </p:spPr>
        <p:txBody>
          <a:bodyPr/>
          <a:lstStyle/>
          <a:p>
            <a:endParaRPr lang="en-US"/>
          </a:p>
        </p:txBody>
      </p:sp>
      <p:pic>
        <p:nvPicPr>
          <p:cNvPr id="22" name="Image 1" descr="/agent/turn2/workspace/output/_anthropic_assets/icon-settings-29333648.png"/>
          <p:cNvPicPr>
            <a:picLocks noChangeAspect="1"/>
          </p:cNvPicPr>
          <p:nvPr/>
        </p:nvPicPr>
        <p:blipFill>
          <a:blip r:embed="rId3"/>
          <a:stretch>
            <a:fillRect/>
          </a:stretch>
        </p:blipFill>
        <p:spPr>
          <a:xfrm>
            <a:off x="8101584" y="3575304"/>
            <a:ext cx="256032" cy="256032"/>
          </a:xfrm>
          <a:prstGeom prst="rect">
            <a:avLst/>
          </a:prstGeom>
        </p:spPr>
      </p:pic>
      <p:sp>
        <p:nvSpPr>
          <p:cNvPr id="23" name="Text 19"/>
          <p:cNvSpPr/>
          <p:nvPr/>
        </p:nvSpPr>
        <p:spPr>
          <a:xfrm>
            <a:off x="8686800" y="3429000"/>
            <a:ext cx="277063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Needs requests</a:t>
            </a:r>
            <a:endParaRPr lang="en-US" sz="1600" dirty="0"/>
          </a:p>
        </p:txBody>
      </p:sp>
      <p:sp>
        <p:nvSpPr>
          <p:cNvPr id="24" name="Text 20"/>
          <p:cNvSpPr/>
          <p:nvPr/>
        </p:nvSpPr>
        <p:spPr>
          <a:xfrm>
            <a:off x="8686800" y="3840480"/>
            <a:ext cx="2770632" cy="59436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70% </a:t>
            </a:r>
            <a:r>
              <a:rPr lang="en-US" sz="1350">
                <a:solidFill>
                  <a:srgbClr val="323130"/>
                </a:solidFill>
                <a:latin typeface="Segoe UI" pitchFamily="34" charset="0"/>
                <a:ea typeface="Segoe UI" pitchFamily="34" charset="-122"/>
                <a:cs typeface="Segoe UI" pitchFamily="34" charset="-120"/>
              </a:rPr>
              <a:t>utilization</a:t>
            </a:r>
            <a:r>
              <a:rPr lang="en-US" sz="1350" dirty="0">
                <a:solidFill>
                  <a:srgbClr val="323130"/>
                </a:solidFill>
                <a:latin typeface="Segoe UI" pitchFamily="34" charset="0"/>
                <a:ea typeface="Segoe UI" pitchFamily="34" charset="-122"/>
                <a:cs typeface="Segoe UI" pitchFamily="34" charset="-120"/>
              </a:rPr>
              <a:t> means 70% of the CPU </a:t>
            </a:r>
            <a:r>
              <a:rPr lang="en-US" sz="1350" b="1" dirty="0">
                <a:solidFill>
                  <a:srgbClr val="323130"/>
                </a:solidFill>
                <a:latin typeface="Segoe UI" pitchFamily="34" charset="0"/>
                <a:ea typeface="Segoe UI" pitchFamily="34" charset="-122"/>
                <a:cs typeface="Segoe UI" pitchFamily="34" charset="-120"/>
              </a:rPr>
              <a:t>request</a:t>
            </a:r>
            <a:r>
              <a:rPr lang="en-US" sz="1350" dirty="0">
                <a:solidFill>
                  <a:srgbClr val="323130"/>
                </a:solidFill>
                <a:latin typeface="Segoe UI" pitchFamily="34" charset="0"/>
                <a:ea typeface="Segoe UI" pitchFamily="34" charset="-122"/>
                <a:cs typeface="Segoe UI" pitchFamily="34" charset="-120"/>
              </a:rPr>
              <a:t>.</a:t>
            </a:r>
            <a:endParaRPr lang="en-US" sz="1350" dirty="0"/>
          </a:p>
        </p:txBody>
      </p:sp>
      <p:sp>
        <p:nvSpPr>
          <p:cNvPr id="25" name="Shape 21"/>
          <p:cNvSpPr/>
          <p:nvPr/>
        </p:nvSpPr>
        <p:spPr>
          <a:xfrm>
            <a:off x="7772400" y="4754880"/>
            <a:ext cx="3867912" cy="1325880"/>
          </a:xfrm>
          <a:prstGeom prst="rect">
            <a:avLst/>
          </a:prstGeom>
          <a:solidFill>
            <a:srgbClr val="F3F2F1"/>
          </a:solidFill>
          <a:ln/>
        </p:spPr>
        <p:txBody>
          <a:bodyPr/>
          <a:lstStyle/>
          <a:p>
            <a:endParaRPr lang="en-US"/>
          </a:p>
        </p:txBody>
      </p:sp>
      <p:sp>
        <p:nvSpPr>
          <p:cNvPr id="26" name="Shape 22"/>
          <p:cNvSpPr/>
          <p:nvPr/>
        </p:nvSpPr>
        <p:spPr>
          <a:xfrm>
            <a:off x="8001000" y="4983480"/>
            <a:ext cx="457200" cy="457200"/>
          </a:xfrm>
          <a:prstGeom prst="ellipse">
            <a:avLst/>
          </a:prstGeom>
          <a:solidFill>
            <a:srgbClr val="5C2D91"/>
          </a:solidFill>
          <a:ln/>
        </p:spPr>
        <p:txBody>
          <a:bodyPr/>
          <a:lstStyle/>
          <a:p>
            <a:endParaRPr lang="en-US"/>
          </a:p>
        </p:txBody>
      </p:sp>
      <p:pic>
        <p:nvPicPr>
          <p:cNvPr id="27" name="Image 2" descr="/agent/turn2/workspace/output/_anthropic_assets/icon-shield-checkmark-8da48fe0.png"/>
          <p:cNvPicPr>
            <a:picLocks noChangeAspect="1"/>
          </p:cNvPicPr>
          <p:nvPr/>
        </p:nvPicPr>
        <p:blipFill>
          <a:blip r:embed="rId4"/>
          <a:stretch>
            <a:fillRect/>
          </a:stretch>
        </p:blipFill>
        <p:spPr>
          <a:xfrm>
            <a:off x="8101584" y="5084064"/>
            <a:ext cx="256032" cy="256032"/>
          </a:xfrm>
          <a:prstGeom prst="rect">
            <a:avLst/>
          </a:prstGeom>
        </p:spPr>
      </p:pic>
      <p:sp>
        <p:nvSpPr>
          <p:cNvPr id="28" name="Text 23"/>
          <p:cNvSpPr/>
          <p:nvPr/>
        </p:nvSpPr>
        <p:spPr>
          <a:xfrm>
            <a:off x="8686800" y="4937760"/>
            <a:ext cx="277063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Bounded</a:t>
            </a:r>
            <a:endParaRPr lang="en-US" sz="1600" dirty="0"/>
          </a:p>
        </p:txBody>
      </p:sp>
      <p:sp>
        <p:nvSpPr>
          <p:cNvPr id="29" name="Text 24"/>
          <p:cNvSpPr/>
          <p:nvPr/>
        </p:nvSpPr>
        <p:spPr>
          <a:xfrm>
            <a:off x="8686800" y="5349240"/>
            <a:ext cx="2770632" cy="594360"/>
          </a:xfrm>
          <a:prstGeom prst="rect">
            <a:avLst/>
          </a:prstGeom>
          <a:noFill/>
          <a:ln/>
        </p:spPr>
        <p:txBody>
          <a:bodyPr wrap="square" lIns="0" tIns="0" rIns="0" bIns="0" rtlCol="0" anchor="t"/>
          <a:lstStyle/>
          <a:p>
            <a:pPr marL="0" indent="0">
              <a:buNone/>
            </a:pPr>
            <a:r>
              <a:rPr lang="en-US" sz="1350" dirty="0">
                <a:solidFill>
                  <a:srgbClr val="0F6CBD"/>
                </a:solidFill>
                <a:latin typeface="Consolas" pitchFamily="34" charset="0"/>
                <a:ea typeface="Consolas" pitchFamily="34" charset="-122"/>
                <a:cs typeface="Consolas" pitchFamily="34" charset="-120"/>
              </a:rPr>
              <a:t>minReplicas</a:t>
            </a:r>
            <a:r>
              <a:rPr lang="en-US" sz="1350" dirty="0">
                <a:solidFill>
                  <a:srgbClr val="323130"/>
                </a:solidFill>
                <a:latin typeface="Segoe UI" pitchFamily="34" charset="0"/>
                <a:ea typeface="Segoe UI" pitchFamily="34" charset="-122"/>
                <a:cs typeface="Segoe UI" pitchFamily="34" charset="-120"/>
              </a:rPr>
              <a:t> keeps resilience; </a:t>
            </a:r>
            <a:r>
              <a:rPr lang="en-US" sz="1350" dirty="0">
                <a:solidFill>
                  <a:srgbClr val="0F6CBD"/>
                </a:solidFill>
                <a:latin typeface="Consolas" pitchFamily="34" charset="0"/>
                <a:ea typeface="Consolas" pitchFamily="34" charset="-122"/>
                <a:cs typeface="Consolas" pitchFamily="34" charset="-120"/>
              </a:rPr>
              <a:t>maxReplicas</a:t>
            </a:r>
            <a:r>
              <a:rPr lang="en-US" sz="1350" dirty="0">
                <a:solidFill>
                  <a:srgbClr val="323130"/>
                </a:solidFill>
                <a:latin typeface="Segoe UI" pitchFamily="34" charset="0"/>
                <a:ea typeface="Segoe UI" pitchFamily="34" charset="-122"/>
                <a:cs typeface="Segoe UI" pitchFamily="34" charset="-120"/>
              </a:rPr>
              <a:t> caps cost.</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1">
    <p:bg>
      <p:bgPr>
        <a:solidFill>
          <a:srgbClr val="5C2D9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8A4F0"/>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91356E3E-EB1C-4D37-8046-03C3E460B605}" type="slidenum">
              <a:rPr lang="en-US" sz="1100">
                <a:solidFill>
                  <a:srgbClr val="A9B8C8"/>
                </a:solidFill>
                <a:latin typeface="Segoe UI" pitchFamily="34" charset="0"/>
                <a:ea typeface="Segoe UI" pitchFamily="34" charset="-122"/>
                <a:cs typeface="Segoe UI" pitchFamily="34" charset="-120"/>
              </a:rPr>
              <a:t>44</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How the HPA Decides</a:t>
            </a:r>
            <a:endParaRPr lang="en-US" sz="3200" dirty="0"/>
          </a:p>
        </p:txBody>
      </p:sp>
      <p:sp>
        <p:nvSpPr>
          <p:cNvPr id="10" name="Shape 8"/>
          <p:cNvSpPr/>
          <p:nvPr/>
        </p:nvSpPr>
        <p:spPr>
          <a:xfrm>
            <a:off x="548640" y="1828800"/>
            <a:ext cx="11091672" cy="1463040"/>
          </a:xfrm>
          <a:prstGeom prst="rect">
            <a:avLst/>
          </a:prstGeom>
          <a:solidFill>
            <a:srgbClr val="3B1A61"/>
          </a:solidFill>
          <a:ln/>
        </p:spPr>
        <p:txBody>
          <a:bodyPr/>
          <a:lstStyle/>
          <a:p>
            <a:endParaRPr lang="en-US"/>
          </a:p>
        </p:txBody>
      </p:sp>
      <p:sp>
        <p:nvSpPr>
          <p:cNvPr id="11" name="Text 9"/>
          <p:cNvSpPr/>
          <p:nvPr/>
        </p:nvSpPr>
        <p:spPr>
          <a:xfrm>
            <a:off x="548640" y="1828800"/>
            <a:ext cx="11091672" cy="1463040"/>
          </a:xfrm>
          <a:prstGeom prst="rect">
            <a:avLst/>
          </a:prstGeom>
          <a:noFill/>
          <a:ln/>
        </p:spPr>
        <p:txBody>
          <a:bodyPr wrap="square" lIns="0" tIns="0" rIns="0" bIns="0" rtlCol="0" anchor="ctr"/>
          <a:lstStyle/>
          <a:p>
            <a:pPr marL="0" indent="0" algn="ctr">
              <a:buNone/>
            </a:pPr>
            <a:r>
              <a:rPr lang="en-US" sz="3000" dirty="0">
                <a:solidFill>
                  <a:srgbClr val="FFFFFF"/>
                </a:solidFill>
                <a:latin typeface="Consolas" pitchFamily="34" charset="0"/>
                <a:ea typeface="Consolas" pitchFamily="34" charset="-122"/>
                <a:cs typeface="Consolas" pitchFamily="34" charset="-120"/>
              </a:rPr>
              <a:t>desired = ceil( current × currentMetric ÷ target )</a:t>
            </a:r>
            <a:endParaRPr lang="en-US" sz="3000" dirty="0"/>
          </a:p>
        </p:txBody>
      </p:sp>
      <p:sp>
        <p:nvSpPr>
          <p:cNvPr id="12" name="Text 10"/>
          <p:cNvSpPr/>
          <p:nvPr/>
        </p:nvSpPr>
        <p:spPr>
          <a:xfrm>
            <a:off x="548640" y="3566160"/>
            <a:ext cx="2651760" cy="822960"/>
          </a:xfrm>
          <a:prstGeom prst="rect">
            <a:avLst/>
          </a:prstGeom>
          <a:noFill/>
          <a:ln/>
        </p:spPr>
        <p:txBody>
          <a:bodyPr wrap="square" lIns="0" tIns="0" rIns="0" bIns="0" rtlCol="0" anchor="ctr"/>
          <a:lstStyle/>
          <a:p>
            <a:pPr marL="0" indent="0">
              <a:buNone/>
            </a:pPr>
            <a:r>
              <a:rPr lang="en-US" sz="4000" dirty="0">
                <a:solidFill>
                  <a:srgbClr val="FFFFFF"/>
                </a:solidFill>
                <a:latin typeface="Segoe UI Semibold" pitchFamily="34" charset="0"/>
                <a:ea typeface="Segoe UI Semibold" pitchFamily="34" charset="-122"/>
                <a:cs typeface="Segoe UI Semibold" pitchFamily="34" charset="-120"/>
              </a:rPr>
              <a:t>4 pods</a:t>
            </a:r>
            <a:endParaRPr lang="en-US" sz="4000" dirty="0"/>
          </a:p>
        </p:txBody>
      </p:sp>
      <p:sp>
        <p:nvSpPr>
          <p:cNvPr id="13" name="Text 11"/>
          <p:cNvSpPr/>
          <p:nvPr/>
        </p:nvSpPr>
        <p:spPr>
          <a:xfrm>
            <a:off x="548640" y="4389120"/>
            <a:ext cx="2651760" cy="411480"/>
          </a:xfrm>
          <a:prstGeom prst="rect">
            <a:avLst/>
          </a:prstGeom>
          <a:noFill/>
          <a:ln/>
        </p:spPr>
        <p:txBody>
          <a:bodyPr wrap="square" lIns="0" tIns="0" rIns="0" bIns="0" rtlCol="0" anchor="ctr"/>
          <a:lstStyle/>
          <a:p>
            <a:pPr marL="0" indent="0">
              <a:buNone/>
            </a:pPr>
            <a:r>
              <a:rPr lang="en-US" sz="1500" dirty="0">
                <a:solidFill>
                  <a:srgbClr val="D9CCEB"/>
                </a:solidFill>
                <a:latin typeface="Segoe UI" pitchFamily="34" charset="0"/>
                <a:ea typeface="Segoe UI" pitchFamily="34" charset="-122"/>
                <a:cs typeface="Segoe UI" pitchFamily="34" charset="-120"/>
              </a:rPr>
              <a:t>current replicas</a:t>
            </a:r>
            <a:endParaRPr lang="en-US" sz="1500" dirty="0"/>
          </a:p>
        </p:txBody>
      </p:sp>
      <p:sp>
        <p:nvSpPr>
          <p:cNvPr id="14" name="Text 12"/>
          <p:cNvSpPr/>
          <p:nvPr/>
        </p:nvSpPr>
        <p:spPr>
          <a:xfrm>
            <a:off x="3383280" y="3566160"/>
            <a:ext cx="2651760" cy="822960"/>
          </a:xfrm>
          <a:prstGeom prst="rect">
            <a:avLst/>
          </a:prstGeom>
          <a:noFill/>
          <a:ln/>
        </p:spPr>
        <p:txBody>
          <a:bodyPr wrap="square" lIns="0" tIns="0" rIns="0" bIns="0" rtlCol="0" anchor="ctr"/>
          <a:lstStyle/>
          <a:p>
            <a:pPr marL="0" indent="0">
              <a:buNone/>
            </a:pPr>
            <a:r>
              <a:rPr lang="en-US" sz="4000" dirty="0">
                <a:solidFill>
                  <a:srgbClr val="FFFFFF"/>
                </a:solidFill>
                <a:latin typeface="Segoe UI Semibold" pitchFamily="34" charset="0"/>
                <a:ea typeface="Segoe UI Semibold" pitchFamily="34" charset="-122"/>
                <a:cs typeface="Segoe UI Semibold" pitchFamily="34" charset="-120"/>
              </a:rPr>
              <a:t>105%</a:t>
            </a:r>
            <a:endParaRPr lang="en-US" sz="4000" dirty="0"/>
          </a:p>
        </p:txBody>
      </p:sp>
      <p:sp>
        <p:nvSpPr>
          <p:cNvPr id="15" name="Text 13"/>
          <p:cNvSpPr/>
          <p:nvPr/>
        </p:nvSpPr>
        <p:spPr>
          <a:xfrm>
            <a:off x="3383280" y="4389120"/>
            <a:ext cx="2651760" cy="411480"/>
          </a:xfrm>
          <a:prstGeom prst="rect">
            <a:avLst/>
          </a:prstGeom>
          <a:noFill/>
          <a:ln/>
        </p:spPr>
        <p:txBody>
          <a:bodyPr wrap="square" lIns="0" tIns="0" rIns="0" bIns="0" rtlCol="0" anchor="ctr"/>
          <a:lstStyle/>
          <a:p>
            <a:pPr marL="0" indent="0">
              <a:buNone/>
            </a:pPr>
            <a:r>
              <a:rPr lang="en-US" sz="1500" dirty="0">
                <a:solidFill>
                  <a:srgbClr val="D9CCEB"/>
                </a:solidFill>
                <a:latin typeface="Segoe UI" pitchFamily="34" charset="0"/>
                <a:ea typeface="Segoe UI" pitchFamily="34" charset="-122"/>
                <a:cs typeface="Segoe UI" pitchFamily="34" charset="-120"/>
              </a:rPr>
              <a:t>average CPU of request</a:t>
            </a:r>
            <a:endParaRPr lang="en-US" sz="1500" dirty="0"/>
          </a:p>
        </p:txBody>
      </p:sp>
      <p:sp>
        <p:nvSpPr>
          <p:cNvPr id="16" name="Text 14"/>
          <p:cNvSpPr/>
          <p:nvPr/>
        </p:nvSpPr>
        <p:spPr>
          <a:xfrm>
            <a:off x="6217920" y="3566160"/>
            <a:ext cx="2651760" cy="822960"/>
          </a:xfrm>
          <a:prstGeom prst="rect">
            <a:avLst/>
          </a:prstGeom>
          <a:noFill/>
          <a:ln/>
        </p:spPr>
        <p:txBody>
          <a:bodyPr wrap="square" lIns="0" tIns="0" rIns="0" bIns="0" rtlCol="0" anchor="ctr"/>
          <a:lstStyle/>
          <a:p>
            <a:pPr marL="0" indent="0">
              <a:buNone/>
            </a:pPr>
            <a:r>
              <a:rPr lang="en-US" sz="4000" dirty="0">
                <a:solidFill>
                  <a:srgbClr val="FFFFFF"/>
                </a:solidFill>
                <a:latin typeface="Segoe UI Semibold" pitchFamily="34" charset="0"/>
                <a:ea typeface="Segoe UI Semibold" pitchFamily="34" charset="-122"/>
                <a:cs typeface="Segoe UI Semibold" pitchFamily="34" charset="-120"/>
              </a:rPr>
              <a:t>70%</a:t>
            </a:r>
            <a:endParaRPr lang="en-US" sz="4000" dirty="0"/>
          </a:p>
        </p:txBody>
      </p:sp>
      <p:sp>
        <p:nvSpPr>
          <p:cNvPr id="17" name="Text 15"/>
          <p:cNvSpPr/>
          <p:nvPr/>
        </p:nvSpPr>
        <p:spPr>
          <a:xfrm>
            <a:off x="6217920" y="4389120"/>
            <a:ext cx="2651760" cy="411480"/>
          </a:xfrm>
          <a:prstGeom prst="rect">
            <a:avLst/>
          </a:prstGeom>
          <a:noFill/>
          <a:ln/>
        </p:spPr>
        <p:txBody>
          <a:bodyPr wrap="square" lIns="0" tIns="0" rIns="0" bIns="0" rtlCol="0" anchor="ctr"/>
          <a:lstStyle/>
          <a:p>
            <a:pPr marL="0" indent="0">
              <a:buNone/>
            </a:pPr>
            <a:r>
              <a:rPr lang="en-US" sz="1500" dirty="0">
                <a:solidFill>
                  <a:srgbClr val="D9CCEB"/>
                </a:solidFill>
                <a:latin typeface="Segoe UI" pitchFamily="34" charset="0"/>
                <a:ea typeface="Segoe UI" pitchFamily="34" charset="-122"/>
                <a:cs typeface="Segoe UI" pitchFamily="34" charset="-120"/>
              </a:rPr>
              <a:t>target</a:t>
            </a:r>
            <a:endParaRPr lang="en-US" sz="1500" dirty="0"/>
          </a:p>
        </p:txBody>
      </p:sp>
      <p:sp>
        <p:nvSpPr>
          <p:cNvPr id="18" name="Text 16"/>
          <p:cNvSpPr/>
          <p:nvPr/>
        </p:nvSpPr>
        <p:spPr>
          <a:xfrm>
            <a:off x="9052560" y="3566160"/>
            <a:ext cx="2651760" cy="822960"/>
          </a:xfrm>
          <a:prstGeom prst="rect">
            <a:avLst/>
          </a:prstGeom>
          <a:noFill/>
          <a:ln/>
        </p:spPr>
        <p:txBody>
          <a:bodyPr wrap="square" lIns="0" tIns="0" rIns="0" bIns="0" rtlCol="0" anchor="ctr"/>
          <a:lstStyle/>
          <a:p>
            <a:pPr marL="0" indent="0">
              <a:buNone/>
            </a:pPr>
            <a:r>
              <a:rPr lang="en-US" sz="4000" dirty="0">
                <a:solidFill>
                  <a:srgbClr val="50E6FF"/>
                </a:solidFill>
                <a:latin typeface="Segoe UI Semibold" pitchFamily="34" charset="0"/>
                <a:ea typeface="Segoe UI Semibold" pitchFamily="34" charset="-122"/>
                <a:cs typeface="Segoe UI Semibold" pitchFamily="34" charset="-120"/>
              </a:rPr>
              <a:t>6 pods</a:t>
            </a:r>
            <a:endParaRPr lang="en-US" sz="4000" dirty="0"/>
          </a:p>
        </p:txBody>
      </p:sp>
      <p:sp>
        <p:nvSpPr>
          <p:cNvPr id="19" name="Text 17"/>
          <p:cNvSpPr/>
          <p:nvPr/>
        </p:nvSpPr>
        <p:spPr>
          <a:xfrm>
            <a:off x="9052560" y="4389120"/>
            <a:ext cx="2651760" cy="411480"/>
          </a:xfrm>
          <a:prstGeom prst="rect">
            <a:avLst/>
          </a:prstGeom>
          <a:noFill/>
          <a:ln/>
        </p:spPr>
        <p:txBody>
          <a:bodyPr wrap="square" lIns="0" tIns="0" rIns="0" bIns="0" rtlCol="0" anchor="ctr"/>
          <a:lstStyle/>
          <a:p>
            <a:pPr marL="0" indent="0">
              <a:buNone/>
            </a:pPr>
            <a:r>
              <a:rPr lang="en-US" sz="1500" dirty="0">
                <a:solidFill>
                  <a:srgbClr val="D9CCEB"/>
                </a:solidFill>
                <a:latin typeface="Segoe UI" pitchFamily="34" charset="0"/>
                <a:ea typeface="Segoe UI" pitchFamily="34" charset="-122"/>
                <a:cs typeface="Segoe UI" pitchFamily="34" charset="-120"/>
              </a:rPr>
              <a:t>ceil(4 × 105 ÷ 70)</a:t>
            </a:r>
            <a:endParaRPr lang="en-US" sz="1500" dirty="0"/>
          </a:p>
        </p:txBody>
      </p:sp>
      <p:sp>
        <p:nvSpPr>
          <p:cNvPr id="20" name="Text 18"/>
          <p:cNvSpPr/>
          <p:nvPr/>
        </p:nvSpPr>
        <p:spPr>
          <a:xfrm>
            <a:off x="548640" y="5120640"/>
            <a:ext cx="11091672" cy="822960"/>
          </a:xfrm>
          <a:prstGeom prst="rect">
            <a:avLst/>
          </a:prstGeom>
          <a:noFill/>
          <a:ln/>
        </p:spPr>
        <p:txBody>
          <a:bodyPr wrap="square" lIns="0" tIns="0" rIns="0" bIns="0" rtlCol="0" anchor="ctr"/>
          <a:lstStyle/>
          <a:p>
            <a:pPr marL="0" indent="0">
              <a:buNone/>
            </a:pPr>
            <a:r>
              <a:rPr lang="en-US" sz="1600" dirty="0">
                <a:solidFill>
                  <a:srgbClr val="FFFFFF"/>
                </a:solidFill>
                <a:latin typeface="Segoe UI" pitchFamily="34" charset="0"/>
                <a:ea typeface="Segoe UI" pitchFamily="34" charset="-122"/>
                <a:cs typeface="Segoe UI" pitchFamily="34" charset="-120"/>
              </a:rPr>
              <a:t>Checks every </a:t>
            </a:r>
            <a:r>
              <a:rPr lang="en-US" sz="1600" b="1" dirty="0">
                <a:solidFill>
                  <a:srgbClr val="FFFFFF"/>
                </a:solidFill>
                <a:latin typeface="Segoe UI" pitchFamily="34" charset="0"/>
                <a:ea typeface="Segoe UI" pitchFamily="34" charset="-122"/>
                <a:cs typeface="Segoe UI" pitchFamily="34" charset="-120"/>
              </a:rPr>
              <a:t>15 s</a:t>
            </a:r>
            <a:r>
              <a:rPr lang="en-US" sz="1600" dirty="0">
                <a:solidFill>
                  <a:srgbClr val="FFFFFF"/>
                </a:solidFill>
                <a:latin typeface="Segoe UI" pitchFamily="34" charset="0"/>
                <a:ea typeface="Segoe UI" pitchFamily="34" charset="-122"/>
                <a:cs typeface="Segoe UI" pitchFamily="34" charset="-120"/>
              </a:rPr>
              <a:t> by default. Scale-down waits for a </a:t>
            </a:r>
            <a:r>
              <a:rPr lang="en-US" sz="1600" b="1" dirty="0">
                <a:solidFill>
                  <a:srgbClr val="FFFFFF"/>
                </a:solidFill>
                <a:latin typeface="Segoe UI" pitchFamily="34" charset="0"/>
                <a:ea typeface="Segoe UI" pitchFamily="34" charset="-122"/>
                <a:cs typeface="Segoe UI" pitchFamily="34" charset="-120"/>
              </a:rPr>
              <a:t>300 s stabilization window</a:t>
            </a:r>
            <a:r>
              <a:rPr lang="en-US" sz="1600" dirty="0">
                <a:solidFill>
                  <a:srgbClr val="FFFFFF"/>
                </a:solidFill>
                <a:latin typeface="Segoe UI" pitchFamily="34" charset="0"/>
                <a:ea typeface="Segoe UI" pitchFamily="34" charset="-122"/>
                <a:cs typeface="Segoe UI" pitchFamily="34" charset="-120"/>
              </a:rPr>
              <a:t> to avoid flapping — tune it with </a:t>
            </a:r>
            <a:r>
              <a:rPr lang="en-US" sz="1600" dirty="0">
                <a:solidFill>
                  <a:srgbClr val="50E6FF"/>
                </a:solidFill>
                <a:latin typeface="Consolas" pitchFamily="34" charset="0"/>
                <a:ea typeface="Consolas" pitchFamily="34" charset="-122"/>
                <a:cs typeface="Consolas" pitchFamily="34" charset="-120"/>
              </a:rPr>
              <a:t>behavior</a:t>
            </a:r>
            <a:r>
              <a:rPr lang="en-US" sz="1600" dirty="0">
                <a:solidFill>
                  <a:srgbClr val="FFFFFF"/>
                </a:solidFill>
                <a:latin typeface="Segoe UI" pitchFamily="34" charset="0"/>
                <a:ea typeface="Segoe UI" pitchFamily="34" charset="-122"/>
                <a:cs typeface="Segoe UI" pitchFamily="34" charset="-120"/>
              </a:rPr>
              <a:t>.</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2">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5C2D91"/>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42B2FCE8-B6DC-466A-8FFF-50267014B55B}" type="slidenum">
              <a:rPr lang="en-US" sz="1100">
                <a:solidFill>
                  <a:srgbClr val="605E5C"/>
                </a:solidFill>
                <a:latin typeface="Segoe UI" pitchFamily="34" charset="0"/>
                <a:ea typeface="Segoe UI" pitchFamily="34" charset="-122"/>
                <a:cs typeface="Segoe UI" pitchFamily="34" charset="-120"/>
              </a:rPr>
              <a:t>45</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Scaling Beyond CPU</a:t>
            </a:r>
            <a:endParaRPr lang="en-US" sz="3200" dirty="0"/>
          </a:p>
        </p:txBody>
      </p:sp>
      <p:sp>
        <p:nvSpPr>
          <p:cNvPr id="10" name="Shape 8"/>
          <p:cNvSpPr/>
          <p:nvPr/>
        </p:nvSpPr>
        <p:spPr>
          <a:xfrm>
            <a:off x="548640" y="1737360"/>
            <a:ext cx="5408676" cy="2034540"/>
          </a:xfrm>
          <a:prstGeom prst="rect">
            <a:avLst/>
          </a:prstGeom>
          <a:solidFill>
            <a:srgbClr val="FFFFFF"/>
          </a:solidFill>
          <a:ln/>
        </p:spPr>
        <p:txBody>
          <a:bodyPr/>
          <a:lstStyle/>
          <a:p>
            <a:endParaRPr lang="en-US"/>
          </a:p>
        </p:txBody>
      </p:sp>
      <p:sp>
        <p:nvSpPr>
          <p:cNvPr id="11" name="Shape 9"/>
          <p:cNvSpPr/>
          <p:nvPr/>
        </p:nvSpPr>
        <p:spPr>
          <a:xfrm>
            <a:off x="777240" y="1965960"/>
            <a:ext cx="548640" cy="548640"/>
          </a:xfrm>
          <a:prstGeom prst="ellipse">
            <a:avLst/>
          </a:prstGeom>
          <a:solidFill>
            <a:srgbClr val="5C2D91"/>
          </a:solidFill>
          <a:ln/>
        </p:spPr>
        <p:txBody>
          <a:bodyPr/>
          <a:lstStyle/>
          <a:p>
            <a:endParaRPr lang="en-US"/>
          </a:p>
        </p:txBody>
      </p:sp>
      <p:pic>
        <p:nvPicPr>
          <p:cNvPr id="12" name="Image 0" descr="/agent/turn2/workspace/output/_anthropic_assets/icon-database-d108fcbe.png"/>
          <p:cNvPicPr>
            <a:picLocks noChangeAspect="1"/>
          </p:cNvPicPr>
          <p:nvPr/>
        </p:nvPicPr>
        <p:blipFill>
          <a:blip r:embed="rId2"/>
          <a:stretch>
            <a:fillRect/>
          </a:stretch>
        </p:blipFill>
        <p:spPr>
          <a:xfrm>
            <a:off x="897941" y="2086661"/>
            <a:ext cx="307238" cy="307238"/>
          </a:xfrm>
          <a:prstGeom prst="rect">
            <a:avLst/>
          </a:prstGeom>
        </p:spPr>
      </p:pic>
      <p:sp>
        <p:nvSpPr>
          <p:cNvPr id="13" name="Text 10"/>
          <p:cNvSpPr/>
          <p:nvPr/>
        </p:nvSpPr>
        <p:spPr>
          <a:xfrm>
            <a:off x="1554480" y="1920240"/>
            <a:ext cx="4219956" cy="384048"/>
          </a:xfrm>
          <a:prstGeom prst="rect">
            <a:avLst/>
          </a:prstGeom>
          <a:noFill/>
          <a:ln/>
        </p:spPr>
        <p:txBody>
          <a:bodyPr wrap="square" lIns="0" tIns="0" rIns="0" bIns="0" rtlCol="0" anchor="ctr"/>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Memory</a:t>
            </a:r>
            <a:endParaRPr lang="en-US" sz="1800" dirty="0"/>
          </a:p>
        </p:txBody>
      </p:sp>
      <p:sp>
        <p:nvSpPr>
          <p:cNvPr id="14" name="Text 11"/>
          <p:cNvSpPr/>
          <p:nvPr/>
        </p:nvSpPr>
        <p:spPr>
          <a:xfrm>
            <a:off x="1554480" y="2331720"/>
            <a:ext cx="4219956" cy="1303020"/>
          </a:xfrm>
          <a:prstGeom prst="rect">
            <a:avLst/>
          </a:prstGeom>
          <a:noFill/>
          <a:ln/>
        </p:spPr>
        <p:txBody>
          <a:bodyPr wrap="square" lIns="0" tIns="0" rIns="0" bIns="0" rtlCol="0" anchor="t"/>
          <a:lstStyle/>
          <a:p>
            <a:pPr marL="0" indent="0">
              <a:buNone/>
            </a:pPr>
            <a:r>
              <a:rPr lang="en-US" sz="1450" dirty="0">
                <a:solidFill>
                  <a:srgbClr val="323130"/>
                </a:solidFill>
                <a:latin typeface="Segoe UI" pitchFamily="34" charset="0"/>
                <a:ea typeface="Segoe UI" pitchFamily="34" charset="-122"/>
                <a:cs typeface="Segoe UI" pitchFamily="34" charset="-120"/>
              </a:rPr>
              <a:t>Built-in resource metric — but many runtimes don't release memory, so scale-down can stall.</a:t>
            </a:r>
            <a:endParaRPr lang="en-US" sz="1450" dirty="0"/>
          </a:p>
        </p:txBody>
      </p:sp>
      <p:sp>
        <p:nvSpPr>
          <p:cNvPr id="15" name="Shape 12"/>
          <p:cNvSpPr/>
          <p:nvPr/>
        </p:nvSpPr>
        <p:spPr>
          <a:xfrm>
            <a:off x="6231636" y="1737360"/>
            <a:ext cx="5408676" cy="2034540"/>
          </a:xfrm>
          <a:prstGeom prst="rect">
            <a:avLst/>
          </a:prstGeom>
          <a:solidFill>
            <a:srgbClr val="FFFFFF"/>
          </a:solidFill>
          <a:ln/>
        </p:spPr>
        <p:txBody>
          <a:bodyPr/>
          <a:lstStyle/>
          <a:p>
            <a:endParaRPr lang="en-US"/>
          </a:p>
        </p:txBody>
      </p:sp>
      <p:sp>
        <p:nvSpPr>
          <p:cNvPr id="16" name="Shape 13"/>
          <p:cNvSpPr/>
          <p:nvPr/>
        </p:nvSpPr>
        <p:spPr>
          <a:xfrm>
            <a:off x="6460236" y="1965960"/>
            <a:ext cx="548640" cy="548640"/>
          </a:xfrm>
          <a:prstGeom prst="ellipse">
            <a:avLst/>
          </a:prstGeom>
          <a:solidFill>
            <a:srgbClr val="5C2D91"/>
          </a:solidFill>
          <a:ln/>
        </p:spPr>
        <p:txBody>
          <a:bodyPr/>
          <a:lstStyle/>
          <a:p>
            <a:endParaRPr lang="en-US"/>
          </a:p>
        </p:txBody>
      </p:sp>
      <p:pic>
        <p:nvPicPr>
          <p:cNvPr id="17" name="Image 1" descr="/agent/turn2/workspace/output/_anthropic_assets/icon-arrow-trending-c06427f6.png"/>
          <p:cNvPicPr>
            <a:picLocks noChangeAspect="1"/>
          </p:cNvPicPr>
          <p:nvPr/>
        </p:nvPicPr>
        <p:blipFill>
          <a:blip r:embed="rId3"/>
          <a:stretch>
            <a:fillRect/>
          </a:stretch>
        </p:blipFill>
        <p:spPr>
          <a:xfrm>
            <a:off x="6580937" y="2086661"/>
            <a:ext cx="307238" cy="307238"/>
          </a:xfrm>
          <a:prstGeom prst="rect">
            <a:avLst/>
          </a:prstGeom>
        </p:spPr>
      </p:pic>
      <p:sp>
        <p:nvSpPr>
          <p:cNvPr id="18" name="Text 14"/>
          <p:cNvSpPr/>
          <p:nvPr/>
        </p:nvSpPr>
        <p:spPr>
          <a:xfrm>
            <a:off x="7237476" y="1920240"/>
            <a:ext cx="4219956" cy="384048"/>
          </a:xfrm>
          <a:prstGeom prst="rect">
            <a:avLst/>
          </a:prstGeom>
          <a:noFill/>
          <a:ln/>
        </p:spPr>
        <p:txBody>
          <a:bodyPr wrap="square" lIns="0" tIns="0" rIns="0" bIns="0" rtlCol="0" anchor="ctr"/>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Custom &amp; external metrics</a:t>
            </a:r>
            <a:endParaRPr lang="en-US" sz="1800" dirty="0"/>
          </a:p>
        </p:txBody>
      </p:sp>
      <p:sp>
        <p:nvSpPr>
          <p:cNvPr id="19" name="Text 15"/>
          <p:cNvSpPr/>
          <p:nvPr/>
        </p:nvSpPr>
        <p:spPr>
          <a:xfrm>
            <a:off x="7237476" y="2331720"/>
            <a:ext cx="4219956" cy="1303020"/>
          </a:xfrm>
          <a:prstGeom prst="rect">
            <a:avLst/>
          </a:prstGeom>
          <a:noFill/>
          <a:ln/>
        </p:spPr>
        <p:txBody>
          <a:bodyPr wrap="square" lIns="0" tIns="0" rIns="0" bIns="0" rtlCol="0" anchor="t"/>
          <a:lstStyle/>
          <a:p>
            <a:pPr marL="0" indent="0">
              <a:buNone/>
            </a:pPr>
            <a:r>
              <a:rPr lang="en-US" sz="1450" dirty="0">
                <a:solidFill>
                  <a:srgbClr val="323130"/>
                </a:solidFill>
                <a:latin typeface="Segoe UI" pitchFamily="34" charset="0"/>
                <a:ea typeface="Segoe UI" pitchFamily="34" charset="-122"/>
                <a:cs typeface="Segoe UI" pitchFamily="34" charset="-120"/>
              </a:rPr>
              <a:t>Requests per second or queue depth via a metrics adapter (for example from Azure Monitor).</a:t>
            </a:r>
            <a:endParaRPr lang="en-US" sz="1450" dirty="0"/>
          </a:p>
        </p:txBody>
      </p:sp>
      <p:sp>
        <p:nvSpPr>
          <p:cNvPr id="20" name="Shape 16"/>
          <p:cNvSpPr/>
          <p:nvPr/>
        </p:nvSpPr>
        <p:spPr>
          <a:xfrm>
            <a:off x="548640" y="4046220"/>
            <a:ext cx="5408676" cy="2034540"/>
          </a:xfrm>
          <a:prstGeom prst="rect">
            <a:avLst/>
          </a:prstGeom>
          <a:solidFill>
            <a:srgbClr val="FFFFFF"/>
          </a:solidFill>
          <a:ln/>
        </p:spPr>
        <p:txBody>
          <a:bodyPr/>
          <a:lstStyle/>
          <a:p>
            <a:endParaRPr lang="en-US"/>
          </a:p>
        </p:txBody>
      </p:sp>
      <p:sp>
        <p:nvSpPr>
          <p:cNvPr id="21" name="Shape 17"/>
          <p:cNvSpPr/>
          <p:nvPr/>
        </p:nvSpPr>
        <p:spPr>
          <a:xfrm>
            <a:off x="777240" y="4274820"/>
            <a:ext cx="548640" cy="548640"/>
          </a:xfrm>
          <a:prstGeom prst="ellipse">
            <a:avLst/>
          </a:prstGeom>
          <a:solidFill>
            <a:srgbClr val="5C2D91"/>
          </a:solidFill>
          <a:ln/>
        </p:spPr>
        <p:txBody>
          <a:bodyPr/>
          <a:lstStyle/>
          <a:p>
            <a:endParaRPr lang="en-US"/>
          </a:p>
        </p:txBody>
      </p:sp>
      <p:pic>
        <p:nvPicPr>
          <p:cNvPr id="22" name="Image 2" descr="/agent/turn2/workspace/output/_anthropic_assets/icon-rocket-5cb11c41.png"/>
          <p:cNvPicPr>
            <a:picLocks noChangeAspect="1"/>
          </p:cNvPicPr>
          <p:nvPr/>
        </p:nvPicPr>
        <p:blipFill>
          <a:blip r:embed="rId4"/>
          <a:stretch>
            <a:fillRect/>
          </a:stretch>
        </p:blipFill>
        <p:spPr>
          <a:xfrm>
            <a:off x="897941" y="4395521"/>
            <a:ext cx="307238" cy="307238"/>
          </a:xfrm>
          <a:prstGeom prst="rect">
            <a:avLst/>
          </a:prstGeom>
        </p:spPr>
      </p:pic>
      <p:sp>
        <p:nvSpPr>
          <p:cNvPr id="23" name="Text 18"/>
          <p:cNvSpPr/>
          <p:nvPr/>
        </p:nvSpPr>
        <p:spPr>
          <a:xfrm>
            <a:off x="1554480" y="4229100"/>
            <a:ext cx="4219956" cy="384048"/>
          </a:xfrm>
          <a:prstGeom prst="rect">
            <a:avLst/>
          </a:prstGeom>
          <a:noFill/>
          <a:ln/>
        </p:spPr>
        <p:txBody>
          <a:bodyPr wrap="square" lIns="0" tIns="0" rIns="0" bIns="0" rtlCol="0" anchor="ctr"/>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KEDA</a:t>
            </a:r>
            <a:endParaRPr lang="en-US" sz="1800" dirty="0"/>
          </a:p>
        </p:txBody>
      </p:sp>
      <p:sp>
        <p:nvSpPr>
          <p:cNvPr id="24" name="Text 19"/>
          <p:cNvSpPr/>
          <p:nvPr/>
        </p:nvSpPr>
        <p:spPr>
          <a:xfrm>
            <a:off x="1554480" y="4640580"/>
            <a:ext cx="4219956" cy="1303020"/>
          </a:xfrm>
          <a:prstGeom prst="rect">
            <a:avLst/>
          </a:prstGeom>
          <a:noFill/>
          <a:ln/>
        </p:spPr>
        <p:txBody>
          <a:bodyPr wrap="square" lIns="0" tIns="0" rIns="0" bIns="0" rtlCol="0" anchor="t"/>
          <a:lstStyle/>
          <a:p>
            <a:pPr marL="0" indent="0">
              <a:buNone/>
            </a:pPr>
            <a:r>
              <a:rPr lang="en-US" sz="1450" dirty="0">
                <a:solidFill>
                  <a:srgbClr val="323130"/>
                </a:solidFill>
                <a:latin typeface="Segoe UI" pitchFamily="34" charset="0"/>
                <a:ea typeface="Segoe UI" pitchFamily="34" charset="-122"/>
                <a:cs typeface="Segoe UI" pitchFamily="34" charset="-120"/>
              </a:rPr>
              <a:t>Event-driven scaling with </a:t>
            </a:r>
            <a:r>
              <a:rPr lang="en-US" sz="1450">
                <a:solidFill>
                  <a:srgbClr val="323130"/>
                </a:solidFill>
                <a:latin typeface="Segoe UI" pitchFamily="34" charset="0"/>
                <a:ea typeface="Segoe UI" pitchFamily="34" charset="-122"/>
                <a:cs typeface="Segoe UI" pitchFamily="34" charset="-120"/>
              </a:rPr>
              <a:t>70</a:t>
            </a:r>
            <a:r>
              <a:rPr lang="en-US" sz="1450" dirty="0">
                <a:solidFill>
                  <a:srgbClr val="323130"/>
                </a:solidFill>
                <a:latin typeface="Segoe UI" pitchFamily="34" charset="0"/>
                <a:ea typeface="Segoe UI" pitchFamily="34" charset="-122"/>
                <a:cs typeface="Segoe UI" pitchFamily="34" charset="-120"/>
              </a:rPr>
              <a:t>+ scalers, including scale to zero. Available as a managed AKS add-on.</a:t>
            </a:r>
            <a:endParaRPr lang="en-US" sz="1450" dirty="0"/>
          </a:p>
        </p:txBody>
      </p:sp>
      <p:sp>
        <p:nvSpPr>
          <p:cNvPr id="25" name="Shape 20"/>
          <p:cNvSpPr/>
          <p:nvPr/>
        </p:nvSpPr>
        <p:spPr>
          <a:xfrm>
            <a:off x="6231636" y="4046220"/>
            <a:ext cx="5408676" cy="2034540"/>
          </a:xfrm>
          <a:prstGeom prst="rect">
            <a:avLst/>
          </a:prstGeom>
          <a:solidFill>
            <a:srgbClr val="FFFFFF"/>
          </a:solidFill>
          <a:ln/>
        </p:spPr>
        <p:txBody>
          <a:bodyPr/>
          <a:lstStyle/>
          <a:p>
            <a:endParaRPr lang="en-US"/>
          </a:p>
        </p:txBody>
      </p:sp>
      <p:sp>
        <p:nvSpPr>
          <p:cNvPr id="26" name="Shape 21"/>
          <p:cNvSpPr/>
          <p:nvPr/>
        </p:nvSpPr>
        <p:spPr>
          <a:xfrm>
            <a:off x="6460236" y="4274820"/>
            <a:ext cx="548640" cy="548640"/>
          </a:xfrm>
          <a:prstGeom prst="ellipse">
            <a:avLst/>
          </a:prstGeom>
          <a:solidFill>
            <a:srgbClr val="5C2D91"/>
          </a:solidFill>
          <a:ln/>
        </p:spPr>
        <p:txBody>
          <a:bodyPr anchor="t"/>
          <a:lstStyle/>
          <a:p>
            <a:endParaRPr lang="en-US"/>
          </a:p>
        </p:txBody>
      </p:sp>
      <p:pic>
        <p:nvPicPr>
          <p:cNvPr id="27" name="Image 3" descr="/agent/turn2/workspace/output/_anthropic_assets/icon-settings-29333648.png"/>
          <p:cNvPicPr>
            <a:picLocks noChangeAspect="1"/>
          </p:cNvPicPr>
          <p:nvPr/>
        </p:nvPicPr>
        <p:blipFill>
          <a:blip r:embed="rId5"/>
          <a:stretch>
            <a:fillRect/>
          </a:stretch>
        </p:blipFill>
        <p:spPr>
          <a:xfrm>
            <a:off x="6580937" y="4395521"/>
            <a:ext cx="307238" cy="307238"/>
          </a:xfrm>
          <a:prstGeom prst="rect">
            <a:avLst/>
          </a:prstGeom>
        </p:spPr>
      </p:pic>
      <p:sp>
        <p:nvSpPr>
          <p:cNvPr id="28" name="Text 22"/>
          <p:cNvSpPr/>
          <p:nvPr/>
        </p:nvSpPr>
        <p:spPr>
          <a:xfrm>
            <a:off x="7237476" y="4229100"/>
            <a:ext cx="4219956" cy="384048"/>
          </a:xfrm>
          <a:prstGeom prst="rect">
            <a:avLst/>
          </a:prstGeom>
          <a:noFill/>
          <a:ln/>
        </p:spPr>
        <p:txBody>
          <a:bodyPr wrap="square" lIns="0" tIns="0" rIns="0" bIns="0" rtlCol="0" anchor="ctr"/>
          <a:lstStyle/>
          <a:p>
            <a:pPr marL="0" indent="0">
              <a:buNone/>
            </a:pPr>
            <a:r>
              <a:rPr lang="en-US" sz="1800" dirty="0">
                <a:solidFill>
                  <a:srgbClr val="201F1E"/>
                </a:solidFill>
                <a:latin typeface="Segoe UI Semibold" pitchFamily="34" charset="0"/>
                <a:ea typeface="Segoe UI Semibold" pitchFamily="34" charset="-122"/>
                <a:cs typeface="Segoe UI Semibold" pitchFamily="34" charset="-120"/>
              </a:rPr>
              <a:t>VPA</a:t>
            </a:r>
            <a:endParaRPr lang="en-US" sz="1800" dirty="0"/>
          </a:p>
        </p:txBody>
      </p:sp>
      <p:sp>
        <p:nvSpPr>
          <p:cNvPr id="29" name="Text 23"/>
          <p:cNvSpPr/>
          <p:nvPr/>
        </p:nvSpPr>
        <p:spPr>
          <a:xfrm>
            <a:off x="7237476" y="4640580"/>
            <a:ext cx="4219956" cy="1303020"/>
          </a:xfrm>
          <a:prstGeom prst="rect">
            <a:avLst/>
          </a:prstGeom>
          <a:noFill/>
          <a:ln/>
        </p:spPr>
        <p:txBody>
          <a:bodyPr wrap="square" lIns="0" tIns="0" rIns="0" bIns="0" rtlCol="0" anchor="t"/>
          <a:lstStyle/>
          <a:p>
            <a:pPr marL="0" indent="0">
              <a:buNone/>
            </a:pPr>
            <a:r>
              <a:rPr lang="en-US" sz="1450" dirty="0">
                <a:solidFill>
                  <a:srgbClr val="323130"/>
                </a:solidFill>
                <a:latin typeface="Segoe UI" pitchFamily="34" charset="0"/>
                <a:ea typeface="Segoe UI" pitchFamily="34" charset="-122"/>
                <a:cs typeface="Segoe UI" pitchFamily="34" charset="-120"/>
              </a:rPr>
              <a:t>Recommends or sets requests from observed usage. Don't let VPA and HPA act on the same CPU/memory metric.</a:t>
            </a:r>
            <a:endParaRPr lang="en-US" sz="14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5C2D91"/>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FD8BCA10-BD20-432D-B041-B706032EB057}" type="slidenum">
              <a:rPr lang="en-US" sz="1100">
                <a:solidFill>
                  <a:srgbClr val="605E5C"/>
                </a:solidFill>
                <a:latin typeface="Segoe UI" pitchFamily="34" charset="0"/>
                <a:ea typeface="Segoe UI" pitchFamily="34" charset="-122"/>
                <a:cs typeface="Segoe UI" pitchFamily="34" charset="-120"/>
              </a:rPr>
              <a:t>46</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Cluster Autoscaler</a:t>
            </a:r>
            <a:endParaRPr lang="en-US" sz="3200" dirty="0"/>
          </a:p>
        </p:txBody>
      </p:sp>
      <p:sp>
        <p:nvSpPr>
          <p:cNvPr id="10" name="Shape 8"/>
          <p:cNvSpPr/>
          <p:nvPr/>
        </p:nvSpPr>
        <p:spPr>
          <a:xfrm>
            <a:off x="548640" y="1737360"/>
            <a:ext cx="3355848" cy="2103120"/>
          </a:xfrm>
          <a:prstGeom prst="rect">
            <a:avLst/>
          </a:prstGeom>
          <a:solidFill>
            <a:srgbClr val="EDE4F7"/>
          </a:solidFill>
          <a:ln/>
        </p:spPr>
        <p:txBody>
          <a:bodyPr/>
          <a:lstStyle/>
          <a:p>
            <a:endParaRPr lang="en-US"/>
          </a:p>
        </p:txBody>
      </p:sp>
      <p:sp>
        <p:nvSpPr>
          <p:cNvPr id="11" name="Shape 9"/>
          <p:cNvSpPr/>
          <p:nvPr/>
        </p:nvSpPr>
        <p:spPr>
          <a:xfrm>
            <a:off x="777240" y="1920240"/>
            <a:ext cx="548640" cy="548640"/>
          </a:xfrm>
          <a:prstGeom prst="ellipse">
            <a:avLst/>
          </a:prstGeom>
          <a:solidFill>
            <a:srgbClr val="5C2D91"/>
          </a:solidFill>
          <a:ln/>
        </p:spPr>
        <p:txBody>
          <a:bodyPr/>
          <a:lstStyle/>
          <a:p>
            <a:endParaRPr lang="en-US"/>
          </a:p>
        </p:txBody>
      </p:sp>
      <p:pic>
        <p:nvPicPr>
          <p:cNvPr id="12" name="Image 0" descr="/agent/turn2/workspace/output/_anthropic_assets/icon-warning-adbe1e7c.png"/>
          <p:cNvPicPr>
            <a:picLocks noChangeAspect="1"/>
          </p:cNvPicPr>
          <p:nvPr/>
        </p:nvPicPr>
        <p:blipFill>
          <a:blip r:embed="rId2"/>
          <a:stretch>
            <a:fillRect/>
          </a:stretch>
        </p:blipFill>
        <p:spPr>
          <a:xfrm>
            <a:off x="897941" y="2040941"/>
            <a:ext cx="307238" cy="307238"/>
          </a:xfrm>
          <a:prstGeom prst="rect">
            <a:avLst/>
          </a:prstGeom>
        </p:spPr>
      </p:pic>
      <p:sp>
        <p:nvSpPr>
          <p:cNvPr id="13" name="Text 10"/>
          <p:cNvSpPr/>
          <p:nvPr/>
        </p:nvSpPr>
        <p:spPr>
          <a:xfrm>
            <a:off x="1463040" y="1920240"/>
            <a:ext cx="2286000" cy="548640"/>
          </a:xfrm>
          <a:prstGeom prst="rect">
            <a:avLst/>
          </a:prstGeom>
          <a:noFill/>
          <a:ln/>
        </p:spPr>
        <p:txBody>
          <a:bodyPr wrap="square" lIns="0" tIns="0" rIns="0" bIns="0" rtlCol="0" anchor="ctr"/>
          <a:lstStyle/>
          <a:p>
            <a:pPr marL="0" indent="0">
              <a:buNone/>
            </a:pPr>
            <a:r>
              <a:rPr lang="en-US" sz="1900" dirty="0">
                <a:solidFill>
                  <a:srgbClr val="201F1E"/>
                </a:solidFill>
                <a:latin typeface="Segoe UI Semibold" pitchFamily="34" charset="0"/>
                <a:ea typeface="Segoe UI Semibold" pitchFamily="34" charset="-122"/>
                <a:cs typeface="Segoe UI Semibold" pitchFamily="34" charset="-120"/>
              </a:rPr>
              <a:t>Pods Pending</a:t>
            </a:r>
            <a:endParaRPr lang="en-US" sz="1900" dirty="0"/>
          </a:p>
        </p:txBody>
      </p:sp>
      <p:sp>
        <p:nvSpPr>
          <p:cNvPr id="14" name="Text 11"/>
          <p:cNvSpPr/>
          <p:nvPr/>
        </p:nvSpPr>
        <p:spPr>
          <a:xfrm>
            <a:off x="777240" y="2651760"/>
            <a:ext cx="2926080" cy="109728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Unschedulable: </a:t>
            </a:r>
            <a:r>
              <a:rPr lang="en-US" sz="1400">
                <a:solidFill>
                  <a:srgbClr val="323130"/>
                </a:solidFill>
                <a:latin typeface="Segoe UI" pitchFamily="34" charset="0"/>
                <a:ea typeface="Segoe UI" pitchFamily="34" charset="-122"/>
                <a:cs typeface="Segoe UI" pitchFamily="34" charset="-120"/>
              </a:rPr>
              <a:t>no node has </a:t>
            </a:r>
            <a:r>
              <a:rPr lang="en-US" sz="1400" dirty="0">
                <a:solidFill>
                  <a:srgbClr val="323130"/>
                </a:solidFill>
                <a:latin typeface="Segoe UI" pitchFamily="34" charset="0"/>
                <a:ea typeface="Segoe UI" pitchFamily="34" charset="-122"/>
                <a:cs typeface="Segoe UI" pitchFamily="34" charset="-120"/>
              </a:rPr>
              <a:t>enough </a:t>
            </a:r>
            <a:r>
              <a:rPr lang="en-US" sz="1400">
                <a:solidFill>
                  <a:srgbClr val="323130"/>
                </a:solidFill>
                <a:latin typeface="Segoe UI" pitchFamily="34" charset="0"/>
                <a:ea typeface="Segoe UI" pitchFamily="34" charset="-122"/>
                <a:cs typeface="Segoe UI" pitchFamily="34" charset="-120"/>
              </a:rPr>
              <a:t>free </a:t>
            </a:r>
            <a:r>
              <a:rPr lang="en-US" sz="1400" dirty="0">
                <a:solidFill>
                  <a:srgbClr val="323130"/>
                </a:solidFill>
                <a:latin typeface="Segoe UI" pitchFamily="34" charset="0"/>
                <a:ea typeface="Segoe UI" pitchFamily="34" charset="-122"/>
                <a:cs typeface="Segoe UI" pitchFamily="34" charset="-120"/>
              </a:rPr>
              <a:t>CPU or memory </a:t>
            </a:r>
            <a:r>
              <a:rPr lang="en-US" sz="1400">
                <a:solidFill>
                  <a:srgbClr val="323130"/>
                </a:solidFill>
                <a:latin typeface="Segoe UI" pitchFamily="34" charset="0"/>
                <a:ea typeface="Segoe UI" pitchFamily="34" charset="-122"/>
                <a:cs typeface="Segoe UI" pitchFamily="34" charset="-120"/>
              </a:rPr>
              <a:t>for the requests</a:t>
            </a:r>
            <a:endParaRPr lang="en-US" sz="1400" dirty="0"/>
          </a:p>
        </p:txBody>
      </p:sp>
      <p:sp>
        <p:nvSpPr>
          <p:cNvPr id="15" name="Shape 12"/>
          <p:cNvSpPr/>
          <p:nvPr/>
        </p:nvSpPr>
        <p:spPr>
          <a:xfrm>
            <a:off x="3931920" y="2788920"/>
            <a:ext cx="365760" cy="0"/>
          </a:xfrm>
          <a:prstGeom prst="line">
            <a:avLst/>
          </a:prstGeom>
          <a:noFill/>
          <a:ln w="31750">
            <a:solidFill>
              <a:srgbClr val="5C2D91"/>
            </a:solidFill>
            <a:prstDash val="solid"/>
            <a:tailEnd type="triangle"/>
          </a:ln>
        </p:spPr>
        <p:txBody>
          <a:bodyPr/>
          <a:lstStyle/>
          <a:p>
            <a:endParaRPr lang="en-US"/>
          </a:p>
        </p:txBody>
      </p:sp>
      <p:sp>
        <p:nvSpPr>
          <p:cNvPr id="16" name="Shape 13"/>
          <p:cNvSpPr/>
          <p:nvPr/>
        </p:nvSpPr>
        <p:spPr>
          <a:xfrm>
            <a:off x="4325112" y="1737360"/>
            <a:ext cx="3355848" cy="2103120"/>
          </a:xfrm>
          <a:prstGeom prst="rect">
            <a:avLst/>
          </a:prstGeom>
          <a:solidFill>
            <a:srgbClr val="5C2D91"/>
          </a:solidFill>
          <a:ln/>
        </p:spPr>
        <p:txBody>
          <a:bodyPr/>
          <a:lstStyle/>
          <a:p>
            <a:endParaRPr lang="en-US"/>
          </a:p>
        </p:txBody>
      </p:sp>
      <p:sp>
        <p:nvSpPr>
          <p:cNvPr id="17" name="Shape 14"/>
          <p:cNvSpPr/>
          <p:nvPr/>
        </p:nvSpPr>
        <p:spPr>
          <a:xfrm>
            <a:off x="4553712" y="1920240"/>
            <a:ext cx="548640" cy="548640"/>
          </a:xfrm>
          <a:prstGeom prst="ellipse">
            <a:avLst/>
          </a:prstGeom>
          <a:solidFill>
            <a:srgbClr val="3B1A61"/>
          </a:solidFill>
          <a:ln/>
        </p:spPr>
        <p:txBody>
          <a:bodyPr/>
          <a:lstStyle/>
          <a:p>
            <a:endParaRPr lang="en-US"/>
          </a:p>
        </p:txBody>
      </p:sp>
      <p:pic>
        <p:nvPicPr>
          <p:cNvPr id="18" name="Image 1" descr="/agent/turn2/workspace/output/_anthropic_assets/icon-arrow-trending-c06427f6.png"/>
          <p:cNvPicPr>
            <a:picLocks noChangeAspect="1"/>
          </p:cNvPicPr>
          <p:nvPr/>
        </p:nvPicPr>
        <p:blipFill>
          <a:blip r:embed="rId3"/>
          <a:stretch>
            <a:fillRect/>
          </a:stretch>
        </p:blipFill>
        <p:spPr>
          <a:xfrm>
            <a:off x="4674413" y="2040941"/>
            <a:ext cx="307238" cy="307238"/>
          </a:xfrm>
          <a:prstGeom prst="rect">
            <a:avLst/>
          </a:prstGeom>
        </p:spPr>
      </p:pic>
      <p:sp>
        <p:nvSpPr>
          <p:cNvPr id="19" name="Text 15"/>
          <p:cNvSpPr/>
          <p:nvPr/>
        </p:nvSpPr>
        <p:spPr>
          <a:xfrm>
            <a:off x="5239512" y="1920240"/>
            <a:ext cx="2286000" cy="548640"/>
          </a:xfrm>
          <a:prstGeom prst="rect">
            <a:avLst/>
          </a:prstGeom>
          <a:noFill/>
          <a:ln/>
        </p:spPr>
        <p:txBody>
          <a:bodyPr wrap="square" lIns="0" tIns="0" rIns="0" bIns="0" rtlCol="0" anchor="ctr"/>
          <a:lstStyle/>
          <a:p>
            <a:pPr marL="0" indent="0">
              <a:buNone/>
            </a:pPr>
            <a:r>
              <a:rPr lang="en-US" sz="1900" dirty="0">
                <a:solidFill>
                  <a:srgbClr val="FFFFFF"/>
                </a:solidFill>
                <a:latin typeface="Segoe UI Semibold" pitchFamily="34" charset="0"/>
                <a:ea typeface="Segoe UI Semibold" pitchFamily="34" charset="-122"/>
                <a:cs typeface="Segoe UI Semibold" pitchFamily="34" charset="-120"/>
              </a:rPr>
              <a:t>Scale up</a:t>
            </a:r>
            <a:endParaRPr lang="en-US" sz="1900" dirty="0"/>
          </a:p>
        </p:txBody>
      </p:sp>
      <p:sp>
        <p:nvSpPr>
          <p:cNvPr id="20" name="Text 16"/>
          <p:cNvSpPr/>
          <p:nvPr/>
        </p:nvSpPr>
        <p:spPr>
          <a:xfrm>
            <a:off x="4553712" y="2651760"/>
            <a:ext cx="2926080" cy="1097280"/>
          </a:xfrm>
          <a:prstGeom prst="rect">
            <a:avLst/>
          </a:prstGeom>
          <a:noFill/>
          <a:ln/>
        </p:spPr>
        <p:txBody>
          <a:bodyPr wrap="square" lIns="0" tIns="0" rIns="0" bIns="0" rtlCol="0"/>
          <a:lstStyle/>
          <a:p>
            <a:pPr marL="0" indent="0">
              <a:buNone/>
            </a:pPr>
            <a:r>
              <a:rPr lang="en-US" sz="1400" dirty="0">
                <a:solidFill>
                  <a:srgbClr val="FFFFFF"/>
                </a:solidFill>
                <a:latin typeface="Segoe UI" pitchFamily="34" charset="0"/>
                <a:ea typeface="Segoe UI" pitchFamily="34" charset="-122"/>
                <a:cs typeface="Segoe UI" pitchFamily="34" charset="-120"/>
              </a:rPr>
              <a:t>Autoscaler adds a node to the node pool (within min/max)</a:t>
            </a:r>
            <a:endParaRPr lang="en-US" sz="1400" dirty="0"/>
          </a:p>
        </p:txBody>
      </p:sp>
      <p:sp>
        <p:nvSpPr>
          <p:cNvPr id="21" name="Shape 17"/>
          <p:cNvSpPr/>
          <p:nvPr/>
        </p:nvSpPr>
        <p:spPr>
          <a:xfrm>
            <a:off x="7708392" y="2788920"/>
            <a:ext cx="365760" cy="0"/>
          </a:xfrm>
          <a:prstGeom prst="line">
            <a:avLst/>
          </a:prstGeom>
          <a:noFill/>
          <a:ln w="31750">
            <a:solidFill>
              <a:srgbClr val="5C2D91"/>
            </a:solidFill>
            <a:prstDash val="solid"/>
            <a:tailEnd type="triangle"/>
          </a:ln>
        </p:spPr>
        <p:txBody>
          <a:bodyPr/>
          <a:lstStyle/>
          <a:p>
            <a:endParaRPr lang="en-US"/>
          </a:p>
        </p:txBody>
      </p:sp>
      <p:sp>
        <p:nvSpPr>
          <p:cNvPr id="22" name="Shape 18"/>
          <p:cNvSpPr/>
          <p:nvPr/>
        </p:nvSpPr>
        <p:spPr>
          <a:xfrm>
            <a:off x="8101584" y="1737360"/>
            <a:ext cx="3355848" cy="2103120"/>
          </a:xfrm>
          <a:prstGeom prst="rect">
            <a:avLst/>
          </a:prstGeom>
          <a:solidFill>
            <a:srgbClr val="EDE4F7"/>
          </a:solidFill>
          <a:ln/>
        </p:spPr>
        <p:txBody>
          <a:bodyPr/>
          <a:lstStyle/>
          <a:p>
            <a:endParaRPr lang="en-US"/>
          </a:p>
        </p:txBody>
      </p:sp>
      <p:sp>
        <p:nvSpPr>
          <p:cNvPr id="23" name="Shape 19"/>
          <p:cNvSpPr/>
          <p:nvPr/>
        </p:nvSpPr>
        <p:spPr>
          <a:xfrm>
            <a:off x="8330184" y="1920240"/>
            <a:ext cx="548640" cy="548640"/>
          </a:xfrm>
          <a:prstGeom prst="ellipse">
            <a:avLst/>
          </a:prstGeom>
          <a:solidFill>
            <a:srgbClr val="5C2D91"/>
          </a:solidFill>
          <a:ln/>
        </p:spPr>
        <p:txBody>
          <a:bodyPr/>
          <a:lstStyle/>
          <a:p>
            <a:endParaRPr lang="en-US"/>
          </a:p>
        </p:txBody>
      </p:sp>
      <p:pic>
        <p:nvPicPr>
          <p:cNvPr id="24" name="Image 2" descr="/agent/turn2/workspace/output/_anthropic_assets/icon-checkmark-circle-fc6554a2.png"/>
          <p:cNvPicPr>
            <a:picLocks noChangeAspect="1"/>
          </p:cNvPicPr>
          <p:nvPr/>
        </p:nvPicPr>
        <p:blipFill>
          <a:blip r:embed="rId4"/>
          <a:stretch>
            <a:fillRect/>
          </a:stretch>
        </p:blipFill>
        <p:spPr>
          <a:xfrm>
            <a:off x="8450885" y="2040941"/>
            <a:ext cx="307238" cy="307238"/>
          </a:xfrm>
          <a:prstGeom prst="rect">
            <a:avLst/>
          </a:prstGeom>
        </p:spPr>
      </p:pic>
      <p:sp>
        <p:nvSpPr>
          <p:cNvPr id="25" name="Text 20"/>
          <p:cNvSpPr/>
          <p:nvPr/>
        </p:nvSpPr>
        <p:spPr>
          <a:xfrm>
            <a:off x="9015984" y="1920240"/>
            <a:ext cx="2286000" cy="548640"/>
          </a:xfrm>
          <a:prstGeom prst="rect">
            <a:avLst/>
          </a:prstGeom>
          <a:noFill/>
          <a:ln/>
        </p:spPr>
        <p:txBody>
          <a:bodyPr wrap="square" lIns="0" tIns="0" rIns="0" bIns="0" rtlCol="0" anchor="ctr"/>
          <a:lstStyle/>
          <a:p>
            <a:pPr marL="0" indent="0">
              <a:buNone/>
            </a:pPr>
            <a:r>
              <a:rPr lang="en-US" sz="1900" dirty="0">
                <a:solidFill>
                  <a:srgbClr val="201F1E"/>
                </a:solidFill>
                <a:latin typeface="Segoe UI Semibold" pitchFamily="34" charset="0"/>
                <a:ea typeface="Segoe UI Semibold" pitchFamily="34" charset="-122"/>
                <a:cs typeface="Segoe UI Semibold" pitchFamily="34" charset="-120"/>
              </a:rPr>
              <a:t>Scheduled</a:t>
            </a:r>
            <a:endParaRPr lang="en-US" sz="1900" dirty="0"/>
          </a:p>
        </p:txBody>
      </p:sp>
      <p:sp>
        <p:nvSpPr>
          <p:cNvPr id="26" name="Text 21"/>
          <p:cNvSpPr/>
          <p:nvPr/>
        </p:nvSpPr>
        <p:spPr>
          <a:xfrm>
            <a:off x="8330184" y="2651760"/>
            <a:ext cx="2926080" cy="1097280"/>
          </a:xfrm>
          <a:prstGeom prst="rect">
            <a:avLst/>
          </a:prstGeom>
          <a:noFill/>
          <a:ln/>
        </p:spPr>
        <p:txBody>
          <a:bodyPr wrap="square" lIns="0" tIns="0" rIns="0" bIns="0" rtlCol="0"/>
          <a:lstStyle/>
          <a:p>
            <a:pPr marL="0" indent="0">
              <a:buNone/>
            </a:pPr>
            <a:r>
              <a:rPr lang="en-US" sz="1400" dirty="0">
                <a:solidFill>
                  <a:srgbClr val="323130"/>
                </a:solidFill>
                <a:latin typeface="Segoe UI" pitchFamily="34" charset="0"/>
                <a:ea typeface="Segoe UI" pitchFamily="34" charset="-122"/>
                <a:cs typeface="Segoe UI" pitchFamily="34" charset="-120"/>
              </a:rPr>
              <a:t>Pending pods land on the new node</a:t>
            </a:r>
            <a:endParaRPr lang="en-US" sz="1400" dirty="0"/>
          </a:p>
        </p:txBody>
      </p:sp>
      <p:sp>
        <p:nvSpPr>
          <p:cNvPr id="27" name="Shape 22"/>
          <p:cNvSpPr/>
          <p:nvPr/>
        </p:nvSpPr>
        <p:spPr>
          <a:xfrm>
            <a:off x="548640" y="4114800"/>
            <a:ext cx="7498080" cy="1280160"/>
          </a:xfrm>
          <a:prstGeom prst="rect">
            <a:avLst/>
          </a:prstGeom>
          <a:solidFill>
            <a:srgbClr val="1E1E1E"/>
          </a:solidFill>
          <a:ln/>
        </p:spPr>
        <p:txBody>
          <a:bodyPr/>
          <a:lstStyle/>
          <a:p>
            <a:endParaRPr lang="en-US"/>
          </a:p>
        </p:txBody>
      </p:sp>
      <p:sp>
        <p:nvSpPr>
          <p:cNvPr id="28" name="Shape 23"/>
          <p:cNvSpPr/>
          <p:nvPr/>
        </p:nvSpPr>
        <p:spPr>
          <a:xfrm>
            <a:off x="548640" y="4114800"/>
            <a:ext cx="7498080" cy="347472"/>
          </a:xfrm>
          <a:prstGeom prst="rect">
            <a:avLst/>
          </a:prstGeom>
          <a:solidFill>
            <a:srgbClr val="2D2D30"/>
          </a:solidFill>
          <a:ln/>
        </p:spPr>
        <p:txBody>
          <a:bodyPr/>
          <a:lstStyle/>
          <a:p>
            <a:endParaRPr lang="en-US"/>
          </a:p>
        </p:txBody>
      </p:sp>
      <p:sp>
        <p:nvSpPr>
          <p:cNvPr id="29" name="Shape 24"/>
          <p:cNvSpPr/>
          <p:nvPr/>
        </p:nvSpPr>
        <p:spPr>
          <a:xfrm>
            <a:off x="548640" y="4114800"/>
            <a:ext cx="859536" cy="347472"/>
          </a:xfrm>
          <a:prstGeom prst="rect">
            <a:avLst/>
          </a:prstGeom>
          <a:solidFill>
            <a:srgbClr val="1E1E1E"/>
          </a:solidFill>
          <a:ln/>
        </p:spPr>
        <p:txBody>
          <a:bodyPr anchor="t"/>
          <a:lstStyle/>
          <a:p>
            <a:endParaRPr lang="en-US"/>
          </a:p>
        </p:txBody>
      </p:sp>
      <p:sp>
        <p:nvSpPr>
          <p:cNvPr id="30" name="Text 25"/>
          <p:cNvSpPr/>
          <p:nvPr/>
        </p:nvSpPr>
        <p:spPr>
          <a:xfrm>
            <a:off x="685800" y="411480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31" name="Text 26"/>
          <p:cNvSpPr/>
          <p:nvPr/>
        </p:nvSpPr>
        <p:spPr>
          <a:xfrm>
            <a:off x="749808" y="4590288"/>
            <a:ext cx="7132320" cy="685800"/>
          </a:xfrm>
          <a:prstGeom prst="rect">
            <a:avLst/>
          </a:prstGeom>
          <a:noFill/>
          <a:ln/>
        </p:spPr>
        <p:txBody>
          <a:bodyPr wrap="square" lIns="0" tIns="0" rIns="0" bIns="0" rtlCol="0" anchor="t"/>
          <a:lstStyle/>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az</a:t>
            </a:r>
            <a:r>
              <a:rPr lang="en-US" sz="1300" dirty="0">
                <a:solidFill>
                  <a:srgbClr val="D4D4D4"/>
                </a:solidFill>
                <a:latin typeface="Consolas" pitchFamily="34" charset="0"/>
                <a:ea typeface="Consolas" pitchFamily="34" charset="-122"/>
                <a:cs typeface="Consolas" pitchFamily="34" charset="-120"/>
              </a:rPr>
              <a:t> aks nodepool update -g </a:t>
            </a:r>
            <a:r>
              <a:rPr lang="en-US" sz="1300">
                <a:solidFill>
                  <a:srgbClr val="D4D4D4"/>
                </a:solidFill>
                <a:latin typeface="Consolas" pitchFamily="34" charset="0"/>
                <a:ea typeface="Consolas" pitchFamily="34" charset="-122"/>
                <a:cs typeface="Consolas" pitchFamily="34" charset="-120"/>
              </a:rPr>
              <a:t>rg-aks-demo </a:t>
            </a:r>
            <a:r>
              <a:rPr lang="en-US" sz="1300" dirty="0">
                <a:solidFill>
                  <a:srgbClr val="D4D4D4"/>
                </a:solidFill>
                <a:latin typeface="Consolas" pitchFamily="34" charset="0"/>
                <a:ea typeface="Consolas" pitchFamily="34" charset="-122"/>
                <a:cs typeface="Consolas" pitchFamily="34" charset="-120"/>
              </a:rPr>
              <a:t>--cluster-name </a:t>
            </a:r>
            <a:r>
              <a:rPr lang="en-US" sz="1300">
                <a:solidFill>
                  <a:srgbClr val="D4D4D4"/>
                </a:solidFill>
                <a:latin typeface="Consolas" pitchFamily="34" charset="0"/>
                <a:ea typeface="Consolas" pitchFamily="34" charset="-122"/>
                <a:cs typeface="Consolas" pitchFamily="34" charset="-120"/>
              </a:rPr>
              <a:t>aks-demo</a:t>
            </a:r>
            <a:r>
              <a:rPr lang="en-US" sz="1300" dirty="0">
                <a:solidFill>
                  <a:srgbClr val="D4D4D4"/>
                </a:solidFill>
                <a:latin typeface="Consolas" pitchFamily="34" charset="0"/>
                <a:ea typeface="Consolas" pitchFamily="34" charset="-122"/>
                <a:cs typeface="Consolas" pitchFamily="34" charset="-120"/>
              </a:rPr>
              <a:t> -n user1 \</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DCDCAA"/>
                </a:solidFill>
                <a:latin typeface="Consolas" pitchFamily="34" charset="0"/>
                <a:ea typeface="Consolas" pitchFamily="34" charset="-122"/>
                <a:cs typeface="Consolas" pitchFamily="34" charset="-120"/>
              </a:rPr>
              <a:t>--enable-cluster-autoscaler</a:t>
            </a:r>
            <a:r>
              <a:rPr lang="en-US" sz="1300" dirty="0">
                <a:solidFill>
                  <a:srgbClr val="D4D4D4"/>
                </a:solidFill>
                <a:latin typeface="Consolas" pitchFamily="34" charset="0"/>
                <a:ea typeface="Consolas" pitchFamily="34" charset="-122"/>
                <a:cs typeface="Consolas" pitchFamily="34" charset="-120"/>
              </a:rPr>
              <a:t> --min-count 2 --max-count 10</a:t>
            </a:r>
            <a:endParaRPr lang="en-US" sz="1300" dirty="0"/>
          </a:p>
        </p:txBody>
      </p:sp>
      <p:sp>
        <p:nvSpPr>
          <p:cNvPr id="32" name="Shape 27"/>
          <p:cNvSpPr/>
          <p:nvPr/>
        </p:nvSpPr>
        <p:spPr>
          <a:xfrm>
            <a:off x="8321040" y="4114800"/>
            <a:ext cx="3319272" cy="1965960"/>
          </a:xfrm>
          <a:prstGeom prst="rect">
            <a:avLst/>
          </a:prstGeom>
          <a:solidFill>
            <a:srgbClr val="EDE4F7"/>
          </a:solidFill>
          <a:ln/>
        </p:spPr>
        <p:txBody>
          <a:bodyPr/>
          <a:lstStyle/>
          <a:p>
            <a:endParaRPr lang="en-US"/>
          </a:p>
        </p:txBody>
      </p:sp>
      <p:sp>
        <p:nvSpPr>
          <p:cNvPr id="33" name="Text 28"/>
          <p:cNvSpPr/>
          <p:nvPr/>
        </p:nvSpPr>
        <p:spPr>
          <a:xfrm>
            <a:off x="8595360" y="4114800"/>
            <a:ext cx="2816352" cy="1965960"/>
          </a:xfrm>
          <a:prstGeom prst="rect">
            <a:avLst/>
          </a:prstGeom>
          <a:noFill/>
          <a:ln/>
        </p:spPr>
        <p:txBody>
          <a:bodyPr wrap="square" lIns="0" tIns="0" rIns="0" bIns="0" rtlCol="0" anchor="ctr"/>
          <a:lstStyle/>
          <a:p>
            <a:pPr marL="0" indent="0">
              <a:buNone/>
            </a:pPr>
            <a:r>
              <a:rPr lang="en-US" sz="1450" dirty="0">
                <a:solidFill>
                  <a:srgbClr val="201F1E"/>
                </a:solidFill>
                <a:latin typeface="Segoe UI" pitchFamily="34" charset="0"/>
                <a:ea typeface="Segoe UI" pitchFamily="34" charset="-122"/>
                <a:cs typeface="Segoe UI" pitchFamily="34" charset="-120"/>
              </a:rPr>
              <a:t>Scale-down removes nodes that stay underused — PDBs are respected while it drains them.</a:t>
            </a:r>
            <a:endParaRPr lang="en-US" sz="1450" dirty="0"/>
          </a:p>
        </p:txBody>
      </p:sp>
      <p:sp>
        <p:nvSpPr>
          <p:cNvPr id="34" name="Text 29"/>
          <p:cNvSpPr/>
          <p:nvPr/>
        </p:nvSpPr>
        <p:spPr>
          <a:xfrm>
            <a:off x="548640" y="5532120"/>
            <a:ext cx="7498080" cy="548640"/>
          </a:xfrm>
          <a:prstGeom prst="rect">
            <a:avLst/>
          </a:prstGeom>
          <a:noFill/>
          <a:ln/>
        </p:spPr>
        <p:txBody>
          <a:bodyPr wrap="square" lIns="0" tIns="0" rIns="0" bIns="0" rtlCol="0" anchor="ctr"/>
          <a:lstStyle/>
          <a:p>
            <a:pPr marL="0" indent="0">
              <a:buNone/>
            </a:pPr>
            <a:r>
              <a:rPr lang="en-US" sz="1400" i="1" dirty="0">
                <a:solidFill>
                  <a:srgbClr val="5C2D91"/>
                </a:solidFill>
                <a:latin typeface="Segoe UI" pitchFamily="34" charset="0"/>
                <a:ea typeface="Segoe UI" pitchFamily="34" charset="-122"/>
                <a:cs typeface="Segoe UI" pitchFamily="34" charset="-120"/>
              </a:rPr>
              <a:t>Decisions are based on requests, not live usage — wrong requests mean wrong node counts.</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4">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C8A4F0"/>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2AE19F0B-D903-498F-9BD8-4B82067E2ADE}" type="slidenum">
              <a:rPr lang="en-US" sz="1100">
                <a:solidFill>
                  <a:srgbClr val="A9B8C8"/>
                </a:solidFill>
                <a:latin typeface="Segoe UI" pitchFamily="34" charset="0"/>
                <a:ea typeface="Segoe UI" pitchFamily="34" charset="-122"/>
                <a:cs typeface="Segoe UI" pitchFamily="34" charset="-120"/>
              </a:rPr>
              <a:t>47</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Node Auto-Provisioning (NAP)</a:t>
            </a:r>
            <a:endParaRPr lang="en-US" sz="3200" dirty="0"/>
          </a:p>
        </p:txBody>
      </p:sp>
      <p:sp>
        <p:nvSpPr>
          <p:cNvPr id="10" name="Text 8"/>
          <p:cNvSpPr/>
          <p:nvPr/>
        </p:nvSpPr>
        <p:spPr>
          <a:xfrm>
            <a:off x="548640" y="1783080"/>
            <a:ext cx="5852160" cy="2926080"/>
          </a:xfrm>
          <a:prstGeom prst="rect">
            <a:avLst/>
          </a:prstGeom>
          <a:noFill/>
          <a:ln/>
        </p:spPr>
        <p:txBody>
          <a:bodyPr wrap="square" lIns="0" tIns="0" rIns="0" bIns="0" rtlCol="0"/>
          <a:lstStyle/>
          <a:p>
            <a:pPr marL="254000" indent="-254000">
              <a:spcAft>
                <a:spcPts val="1600"/>
              </a:spcAft>
              <a:buSzPct val="100000"/>
              <a:buChar char="•"/>
            </a:pPr>
            <a:r>
              <a:rPr lang="en-US" sz="1800" b="1" dirty="0">
                <a:solidFill>
                  <a:srgbClr val="FFFFFF"/>
                </a:solidFill>
                <a:latin typeface="Segoe UI" pitchFamily="34" charset="0"/>
                <a:ea typeface="Segoe UI" pitchFamily="34" charset="-122"/>
                <a:cs typeface="Segoe UI" pitchFamily="34" charset="-120"/>
              </a:rPr>
              <a:t>Managed Karpenter</a:t>
            </a:r>
            <a:r>
              <a:rPr lang="en-US" sz="1800" dirty="0">
                <a:solidFill>
                  <a:srgbClr val="FFFFFF"/>
                </a:solidFill>
                <a:latin typeface="Segoe UI" pitchFamily="34" charset="0"/>
                <a:ea typeface="Segoe UI" pitchFamily="34" charset="-122"/>
                <a:cs typeface="Segoe UI" pitchFamily="34" charset="-120"/>
              </a:rPr>
              <a:t> on AKS — no node pools to pre-size</a:t>
            </a:r>
            <a:endParaRPr lang="en-US" sz="1800" dirty="0"/>
          </a:p>
          <a:p>
            <a:pPr marL="254000" indent="-254000">
              <a:spcAft>
                <a:spcPts val="1600"/>
              </a:spcAft>
              <a:buSzPct val="100000"/>
              <a:buChar char="•"/>
            </a:pPr>
            <a:r>
              <a:rPr lang="en-US" sz="1800" dirty="0">
                <a:solidFill>
                  <a:srgbClr val="FFFFFF"/>
                </a:solidFill>
                <a:latin typeface="Segoe UI" pitchFamily="34" charset="0"/>
                <a:ea typeface="Segoe UI" pitchFamily="34" charset="-122"/>
                <a:cs typeface="Segoe UI" pitchFamily="34" charset="-120"/>
              </a:rPr>
              <a:t>Looks at pending pods and </a:t>
            </a:r>
            <a:r>
              <a:rPr lang="en-US" sz="1800" b="1" dirty="0">
                <a:solidFill>
                  <a:srgbClr val="FFFFFF"/>
                </a:solidFill>
                <a:latin typeface="Segoe UI" pitchFamily="34" charset="0"/>
                <a:ea typeface="Segoe UI" pitchFamily="34" charset="-122"/>
                <a:cs typeface="Segoe UI" pitchFamily="34" charset="-120"/>
              </a:rPr>
              <a:t>chooses VM sizes</a:t>
            </a:r>
            <a:r>
              <a:rPr lang="en-US" sz="1800" dirty="0">
                <a:solidFill>
                  <a:srgbClr val="FFFFFF"/>
                </a:solidFill>
                <a:latin typeface="Segoe UI" pitchFamily="34" charset="0"/>
                <a:ea typeface="Segoe UI" pitchFamily="34" charset="-122"/>
                <a:cs typeface="Segoe UI" pitchFamily="34" charset="-120"/>
              </a:rPr>
              <a:t> that fit them</a:t>
            </a:r>
            <a:endParaRPr lang="en-US" sz="1800" dirty="0"/>
          </a:p>
          <a:p>
            <a:pPr marL="254000" indent="-254000">
              <a:spcAft>
                <a:spcPts val="1600"/>
              </a:spcAft>
              <a:buSzPct val="100000"/>
              <a:buChar char="•"/>
            </a:pPr>
            <a:r>
              <a:rPr lang="en-US" sz="1800" dirty="0">
                <a:solidFill>
                  <a:srgbClr val="FFFFFF"/>
                </a:solidFill>
                <a:latin typeface="Segoe UI" pitchFamily="34" charset="0"/>
                <a:ea typeface="Segoe UI" pitchFamily="34" charset="-122"/>
                <a:cs typeface="Segoe UI" pitchFamily="34" charset="-120"/>
              </a:rPr>
              <a:t>Consolidates: replaces or removes nodes to cut waste</a:t>
            </a:r>
            <a:endParaRPr lang="en-US" sz="1800" dirty="0"/>
          </a:p>
          <a:p>
            <a:pPr marL="254000" indent="-254000">
              <a:spcAft>
                <a:spcPts val="1600"/>
              </a:spcAft>
              <a:buSzPct val="100000"/>
              <a:buChar char="•"/>
            </a:pPr>
            <a:r>
              <a:rPr lang="en-US" sz="1800" dirty="0">
                <a:solidFill>
                  <a:srgbClr val="FFFFFF"/>
                </a:solidFill>
                <a:latin typeface="Segoe UI" pitchFamily="34" charset="0"/>
                <a:ea typeface="Segoe UI" pitchFamily="34" charset="-122"/>
                <a:cs typeface="Segoe UI" pitchFamily="34" charset="-120"/>
              </a:rPr>
              <a:t>Preconfigured in </a:t>
            </a:r>
            <a:r>
              <a:rPr lang="en-US" sz="1800" b="1" dirty="0">
                <a:solidFill>
                  <a:srgbClr val="FFFFFF"/>
                </a:solidFill>
                <a:latin typeface="Segoe UI" pitchFamily="34" charset="0"/>
                <a:ea typeface="Segoe UI" pitchFamily="34" charset="-122"/>
                <a:cs typeface="Segoe UI" pitchFamily="34" charset="-120"/>
              </a:rPr>
              <a:t>AKS Automatic</a:t>
            </a:r>
            <a:r>
              <a:rPr lang="en-US" sz="1800" dirty="0">
                <a:solidFill>
                  <a:srgbClr val="FFFFFF"/>
                </a:solidFill>
                <a:latin typeface="Segoe UI" pitchFamily="34" charset="0"/>
                <a:ea typeface="Segoe UI" pitchFamily="34" charset="-122"/>
                <a:cs typeface="Segoe UI" pitchFamily="34" charset="-120"/>
              </a:rPr>
              <a:t> clusters</a:t>
            </a:r>
            <a:endParaRPr lang="en-US" sz="1800" dirty="0"/>
          </a:p>
        </p:txBody>
      </p:sp>
      <p:sp>
        <p:nvSpPr>
          <p:cNvPr id="11" name="Shape 9"/>
          <p:cNvSpPr/>
          <p:nvPr/>
        </p:nvSpPr>
        <p:spPr>
          <a:xfrm>
            <a:off x="548640" y="4800600"/>
            <a:ext cx="5852160" cy="1280160"/>
          </a:xfrm>
          <a:prstGeom prst="rect">
            <a:avLst/>
          </a:prstGeom>
          <a:solidFill>
            <a:srgbClr val="1E1E1E"/>
          </a:solidFill>
          <a:ln/>
        </p:spPr>
        <p:txBody>
          <a:bodyPr/>
          <a:lstStyle/>
          <a:p>
            <a:endParaRPr lang="en-US"/>
          </a:p>
        </p:txBody>
      </p:sp>
      <p:sp>
        <p:nvSpPr>
          <p:cNvPr id="12" name="Shape 10"/>
          <p:cNvSpPr/>
          <p:nvPr/>
        </p:nvSpPr>
        <p:spPr>
          <a:xfrm>
            <a:off x="548640" y="4800600"/>
            <a:ext cx="5852160" cy="347472"/>
          </a:xfrm>
          <a:prstGeom prst="rect">
            <a:avLst/>
          </a:prstGeom>
          <a:solidFill>
            <a:srgbClr val="2D2D30"/>
          </a:solidFill>
          <a:ln/>
        </p:spPr>
        <p:txBody>
          <a:bodyPr/>
          <a:lstStyle/>
          <a:p>
            <a:endParaRPr lang="en-US"/>
          </a:p>
        </p:txBody>
      </p:sp>
      <p:sp>
        <p:nvSpPr>
          <p:cNvPr id="13" name="Shape 11"/>
          <p:cNvSpPr/>
          <p:nvPr/>
        </p:nvSpPr>
        <p:spPr>
          <a:xfrm>
            <a:off x="548640" y="4800600"/>
            <a:ext cx="859536" cy="347472"/>
          </a:xfrm>
          <a:prstGeom prst="rect">
            <a:avLst/>
          </a:prstGeom>
          <a:solidFill>
            <a:srgbClr val="1E1E1E"/>
          </a:solidFill>
          <a:ln/>
        </p:spPr>
        <p:txBody>
          <a:bodyPr/>
          <a:lstStyle/>
          <a:p>
            <a:endParaRPr lang="en-US"/>
          </a:p>
        </p:txBody>
      </p:sp>
      <p:sp>
        <p:nvSpPr>
          <p:cNvPr id="14" name="Text 12"/>
          <p:cNvSpPr/>
          <p:nvPr/>
        </p:nvSpPr>
        <p:spPr>
          <a:xfrm>
            <a:off x="685800" y="480060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15" name="Text 13"/>
          <p:cNvSpPr/>
          <p:nvPr/>
        </p:nvSpPr>
        <p:spPr>
          <a:xfrm>
            <a:off x="749808" y="5276088"/>
            <a:ext cx="5486400" cy="685800"/>
          </a:xfrm>
          <a:prstGeom prst="rect">
            <a:avLst/>
          </a:prstGeom>
          <a:noFill/>
          <a:ln/>
        </p:spPr>
        <p:txBody>
          <a:bodyPr wrap="square" lIns="0" tIns="0" rIns="0" bIns="0" rtlCol="0"/>
          <a:lstStyle/>
          <a:p>
            <a:pPr marL="0" indent="0">
              <a:lnSpc>
                <a:spcPct val="105000"/>
              </a:lnSpc>
              <a:buNone/>
            </a:pPr>
            <a:r>
              <a:rPr lang="en-US" sz="1350" dirty="0">
                <a:solidFill>
                  <a:srgbClr val="DCDCAA"/>
                </a:solidFill>
                <a:latin typeface="Consolas" pitchFamily="34" charset="0"/>
                <a:ea typeface="Consolas" pitchFamily="34" charset="-122"/>
                <a:cs typeface="Consolas" pitchFamily="34" charset="-120"/>
              </a:rPr>
              <a:t>az</a:t>
            </a:r>
            <a:r>
              <a:rPr lang="en-US" sz="1350" dirty="0">
                <a:solidFill>
                  <a:srgbClr val="D4D4D4"/>
                </a:solidFill>
                <a:latin typeface="Consolas" pitchFamily="34" charset="0"/>
                <a:ea typeface="Consolas" pitchFamily="34" charset="-122"/>
                <a:cs typeface="Consolas" pitchFamily="34" charset="-120"/>
              </a:rPr>
              <a:t> aks update -g </a:t>
            </a:r>
            <a:r>
              <a:rPr lang="en-US" sz="1350">
                <a:solidFill>
                  <a:srgbClr val="D4D4D4"/>
                </a:solidFill>
                <a:latin typeface="Consolas" pitchFamily="34" charset="0"/>
                <a:ea typeface="Consolas" pitchFamily="34" charset="-122"/>
                <a:cs typeface="Consolas" pitchFamily="34" charset="-120"/>
              </a:rPr>
              <a:t>rg-aks-demo </a:t>
            </a:r>
            <a:r>
              <a:rPr lang="en-US" sz="1350" dirty="0">
                <a:solidFill>
                  <a:srgbClr val="D4D4D4"/>
                </a:solidFill>
                <a:latin typeface="Consolas" pitchFamily="34" charset="0"/>
                <a:ea typeface="Consolas" pitchFamily="34" charset="-122"/>
                <a:cs typeface="Consolas" pitchFamily="34" charset="-120"/>
              </a:rPr>
              <a:t>-n </a:t>
            </a:r>
            <a:r>
              <a:rPr lang="en-US" sz="1350">
                <a:solidFill>
                  <a:srgbClr val="D4D4D4"/>
                </a:solidFill>
                <a:latin typeface="Consolas" pitchFamily="34" charset="0"/>
                <a:ea typeface="Consolas" pitchFamily="34" charset="-122"/>
                <a:cs typeface="Consolas" pitchFamily="34" charset="-120"/>
              </a:rPr>
              <a:t>aks-demo</a:t>
            </a:r>
            <a:r>
              <a:rPr lang="en-US" sz="1350" dirty="0">
                <a:solidFill>
                  <a:srgbClr val="D4D4D4"/>
                </a:solidFill>
                <a:latin typeface="Consolas" pitchFamily="34" charset="0"/>
                <a:ea typeface="Consolas" pitchFamily="34" charset="-122"/>
                <a:cs typeface="Consolas" pitchFamily="34" charset="-120"/>
              </a:rPr>
              <a:t> \</a:t>
            </a:r>
            <a:endParaRPr lang="en-US" sz="1350" dirty="0"/>
          </a:p>
          <a:p>
            <a:pPr marL="0" indent="0">
              <a:lnSpc>
                <a:spcPct val="105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DCDCAA"/>
                </a:solidFill>
                <a:latin typeface="Consolas" pitchFamily="34" charset="0"/>
                <a:ea typeface="Consolas" pitchFamily="34" charset="-122"/>
                <a:cs typeface="Consolas" pitchFamily="34" charset="-120"/>
              </a:rPr>
              <a:t>--node-provisioning-mode</a:t>
            </a:r>
            <a:r>
              <a:rPr lang="en-US" sz="1350" dirty="0">
                <a:solidFill>
                  <a:srgbClr val="D4D4D4"/>
                </a:solidFill>
                <a:latin typeface="Consolas" pitchFamily="34" charset="0"/>
                <a:ea typeface="Consolas" pitchFamily="34" charset="-122"/>
                <a:cs typeface="Consolas" pitchFamily="34" charset="-120"/>
              </a:rPr>
              <a:t> Auto</a:t>
            </a:r>
            <a:endParaRPr lang="en-US" sz="13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3291840"/>
        </p:xfrm>
        <a:graphic>
          <a:graphicData uri="http://schemas.openxmlformats.org/drawingml/2006/table">
            <a:tbl>
              <a:tblPr/>
              <a:tblGrid>
                <a:gridCol w="1234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01952">
                  <a:extLst>
                    <a:ext uri="{9D8B030D-6E8A-4147-A177-3AD203B41FA5}">
                      <a16:colId xmlns:a16="http://schemas.microsoft.com/office/drawing/2014/main" val="20002"/>
                    </a:ext>
                  </a:extLst>
                </a:gridCol>
              </a:tblGrid>
              <a:tr h="822960">
                <a:tc>
                  <a:txBody>
                    <a:bodyPr/>
                    <a:lstStyle/>
                    <a:p>
                      <a:pPr marL="0" indent="0">
                        <a:buNone/>
                      </a:pP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5C2D91"/>
                    </a:solidFill>
                  </a:tcPr>
                </a:tc>
                <a:tc>
                  <a:txBody>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Cluster autoscaler</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5C2D91"/>
                    </a:solidFill>
                  </a:tcPr>
                </a:tc>
                <a:tc>
                  <a:txBody>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NAP</a:t>
                      </a:r>
                      <a:endParaRPr lang="en-US" sz="1250" dirty="0">
                        <a:latin typeface="Segoe UI Semibold" charset="0"/>
                        <a:ea typeface="Segoe UI Semibold" charset="0"/>
                        <a:cs typeface="Segoe UI Semibold"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5C2D91"/>
                    </a:solidFill>
                  </a:tcPr>
                </a:tc>
                <a:extLst>
                  <a:ext uri="{0D108BD9-81ED-4DB2-BD59-A6C34878D82A}">
                    <a16:rowId xmlns:a16="http://schemas.microsoft.com/office/drawing/2014/main" val="10000"/>
                  </a:ext>
                </a:extLst>
              </a:tr>
              <a:tr h="822960">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Unit</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Node pool (fixed VM size)</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Individual nodes, any fitting size</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extLst>
                  <a:ext uri="{0D108BD9-81ED-4DB2-BD59-A6C34878D82A}">
                    <a16:rowId xmlns:a16="http://schemas.microsoft.com/office/drawing/2014/main" val="10001"/>
                  </a:ext>
                </a:extLst>
              </a:tr>
              <a:tr h="822960">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Setup</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Min/max per pool</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NodePool and AKSNodeClass resources</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extLst>
                  <a:ext uri="{0D108BD9-81ED-4DB2-BD59-A6C34878D82A}">
                    <a16:rowId xmlns:a16="http://schemas.microsoft.com/office/drawing/2014/main" val="10002"/>
                  </a:ext>
                </a:extLst>
              </a:tr>
              <a:tr h="822960">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Bin-packing</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Within the pool's size</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250" dirty="0">
                          <a:solidFill>
                            <a:srgbClr val="FFFFFF"/>
                          </a:solidFill>
                          <a:latin typeface="Segoe UI" pitchFamily="34" charset="0"/>
                          <a:ea typeface="Segoe UI" pitchFamily="34" charset="-122"/>
                          <a:cs typeface="Segoe UI" pitchFamily="34" charset="-120"/>
                        </a:rPr>
                        <a:t>Picks sizes to fit pending pods</a:t>
                      </a:r>
                      <a:endParaRPr lang="en-US" sz="125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extLst>
                  <a:ext uri="{0D108BD9-81ED-4DB2-BD59-A6C34878D82A}">
                    <a16:rowId xmlns:a16="http://schemas.microsoft.com/office/drawing/2014/main" val="10003"/>
                  </a:ext>
                </a:extLst>
              </a:tr>
            </a:tbl>
          </a:graphicData>
        </a:graphic>
      </p:graphicFrame>
      <p:sp>
        <p:nvSpPr>
          <p:cNvPr id="17" name="Text 14"/>
          <p:cNvSpPr/>
          <p:nvPr/>
        </p:nvSpPr>
        <p:spPr>
          <a:xfrm>
            <a:off x="6675120" y="5577840"/>
            <a:ext cx="4965192" cy="36576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Source: Microsoft Learn — Node auto-provisioning in AKS</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5">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5C2D91"/>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9E13DCB3-61FC-49E0-9015-3761922B781A}" type="slidenum">
              <a:rPr lang="en-US" sz="1100">
                <a:solidFill>
                  <a:srgbClr val="605E5C"/>
                </a:solidFill>
                <a:latin typeface="Segoe UI" pitchFamily="34" charset="0"/>
                <a:ea typeface="Segoe UI" pitchFamily="34" charset="-122"/>
                <a:cs typeface="Segoe UI" pitchFamily="34" charset="-120"/>
              </a:rPr>
              <a:t>48</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The Scaling Chain</a:t>
            </a:r>
            <a:endParaRPr lang="en-US" sz="3200" dirty="0"/>
          </a:p>
        </p:txBody>
      </p:sp>
      <p:sp>
        <p:nvSpPr>
          <p:cNvPr id="10" name="Shape 8"/>
          <p:cNvSpPr/>
          <p:nvPr/>
        </p:nvSpPr>
        <p:spPr>
          <a:xfrm>
            <a:off x="548640" y="1828800"/>
            <a:ext cx="2011680" cy="2103120"/>
          </a:xfrm>
          <a:prstGeom prst="rect">
            <a:avLst/>
          </a:prstGeom>
          <a:solidFill>
            <a:srgbClr val="FFFFFF"/>
          </a:solidFill>
          <a:ln/>
        </p:spPr>
        <p:txBody>
          <a:bodyPr/>
          <a:lstStyle/>
          <a:p>
            <a:endParaRPr lang="en-US"/>
          </a:p>
        </p:txBody>
      </p:sp>
      <p:sp>
        <p:nvSpPr>
          <p:cNvPr id="11" name="Shape 9"/>
          <p:cNvSpPr/>
          <p:nvPr/>
        </p:nvSpPr>
        <p:spPr>
          <a:xfrm>
            <a:off x="1188720" y="2057400"/>
            <a:ext cx="731520" cy="731520"/>
          </a:xfrm>
          <a:prstGeom prst="ellipse">
            <a:avLst/>
          </a:prstGeom>
          <a:solidFill>
            <a:srgbClr val="7044A8"/>
          </a:solidFill>
          <a:ln/>
        </p:spPr>
        <p:txBody>
          <a:bodyPr/>
          <a:lstStyle/>
          <a:p>
            <a:endParaRPr lang="en-US"/>
          </a:p>
        </p:txBody>
      </p:sp>
      <p:pic>
        <p:nvPicPr>
          <p:cNvPr id="12" name="Image 0" descr="/agent/turn2/workspace/output/_anthropic_assets/icon-arrow-trending-c06427f6.png"/>
          <p:cNvPicPr>
            <a:picLocks noChangeAspect="1"/>
          </p:cNvPicPr>
          <p:nvPr/>
        </p:nvPicPr>
        <p:blipFill>
          <a:blip r:embed="rId2"/>
          <a:stretch>
            <a:fillRect/>
          </a:stretch>
        </p:blipFill>
        <p:spPr>
          <a:xfrm>
            <a:off x="1349654" y="2218334"/>
            <a:ext cx="409651" cy="409651"/>
          </a:xfrm>
          <a:prstGeom prst="rect">
            <a:avLst/>
          </a:prstGeom>
        </p:spPr>
      </p:pic>
      <p:sp>
        <p:nvSpPr>
          <p:cNvPr id="13" name="Text 10"/>
          <p:cNvSpPr/>
          <p:nvPr/>
        </p:nvSpPr>
        <p:spPr>
          <a:xfrm>
            <a:off x="640080" y="2926080"/>
            <a:ext cx="1828800" cy="822960"/>
          </a:xfrm>
          <a:prstGeom prst="rect">
            <a:avLst/>
          </a:prstGeom>
          <a:noFill/>
          <a:ln/>
        </p:spPr>
        <p:txBody>
          <a:bodyPr wrap="square" lIns="0" tIns="0" rIns="0" bIns="0" rtlCol="0" anchor="ctr"/>
          <a:lstStyle/>
          <a:p>
            <a:pPr marL="0" indent="0" algn="ctr">
              <a:buNone/>
            </a:pPr>
            <a:r>
              <a:rPr lang="en-US" sz="1600" dirty="0">
                <a:solidFill>
                  <a:srgbClr val="201F1E"/>
                </a:solidFill>
                <a:latin typeface="Segoe UI Semibold" pitchFamily="34" charset="0"/>
                <a:ea typeface="Segoe UI Semibold" pitchFamily="34" charset="-122"/>
                <a:cs typeface="Segoe UI Semibold" pitchFamily="34" charset="-120"/>
              </a:rPr>
              <a:t>Load rises</a:t>
            </a:r>
            <a:endParaRPr lang="en-US" sz="1600" dirty="0"/>
          </a:p>
        </p:txBody>
      </p:sp>
      <p:sp>
        <p:nvSpPr>
          <p:cNvPr id="14" name="Shape 11"/>
          <p:cNvSpPr/>
          <p:nvPr/>
        </p:nvSpPr>
        <p:spPr>
          <a:xfrm>
            <a:off x="2578608" y="2880360"/>
            <a:ext cx="210312" cy="0"/>
          </a:xfrm>
          <a:prstGeom prst="line">
            <a:avLst/>
          </a:prstGeom>
          <a:noFill/>
          <a:ln w="31750">
            <a:solidFill>
              <a:srgbClr val="5C2D91"/>
            </a:solidFill>
            <a:prstDash val="solid"/>
            <a:tailEnd type="triangle"/>
          </a:ln>
        </p:spPr>
        <p:txBody>
          <a:bodyPr anchor="t"/>
          <a:lstStyle/>
          <a:p>
            <a:endParaRPr lang="en-US"/>
          </a:p>
        </p:txBody>
      </p:sp>
      <p:sp>
        <p:nvSpPr>
          <p:cNvPr id="15" name="Shape 12"/>
          <p:cNvSpPr/>
          <p:nvPr/>
        </p:nvSpPr>
        <p:spPr>
          <a:xfrm>
            <a:off x="2807208" y="1828800"/>
            <a:ext cx="2011680" cy="2103120"/>
          </a:xfrm>
          <a:prstGeom prst="rect">
            <a:avLst/>
          </a:prstGeom>
          <a:solidFill>
            <a:srgbClr val="FFFFFF"/>
          </a:solidFill>
          <a:ln/>
        </p:spPr>
        <p:txBody>
          <a:bodyPr/>
          <a:lstStyle/>
          <a:p>
            <a:endParaRPr lang="en-US"/>
          </a:p>
        </p:txBody>
      </p:sp>
      <p:sp>
        <p:nvSpPr>
          <p:cNvPr id="16" name="Shape 13"/>
          <p:cNvSpPr/>
          <p:nvPr/>
        </p:nvSpPr>
        <p:spPr>
          <a:xfrm>
            <a:off x="3447288" y="2057400"/>
            <a:ext cx="731520" cy="731520"/>
          </a:xfrm>
          <a:prstGeom prst="ellipse">
            <a:avLst/>
          </a:prstGeom>
          <a:solidFill>
            <a:srgbClr val="5C2D91"/>
          </a:solidFill>
          <a:ln/>
        </p:spPr>
        <p:txBody>
          <a:bodyPr/>
          <a:lstStyle/>
          <a:p>
            <a:endParaRPr lang="en-US"/>
          </a:p>
        </p:txBody>
      </p:sp>
      <p:pic>
        <p:nvPicPr>
          <p:cNvPr id="17" name="Image 1" descr="/agent/turn2/workspace/output/_anthropic_assets/icon-people-8e576e70.png"/>
          <p:cNvPicPr>
            <a:picLocks noChangeAspect="1"/>
          </p:cNvPicPr>
          <p:nvPr/>
        </p:nvPicPr>
        <p:blipFill>
          <a:blip r:embed="rId3"/>
          <a:stretch>
            <a:fillRect/>
          </a:stretch>
        </p:blipFill>
        <p:spPr>
          <a:xfrm>
            <a:off x="3608222" y="2218334"/>
            <a:ext cx="409651" cy="409651"/>
          </a:xfrm>
          <a:prstGeom prst="rect">
            <a:avLst/>
          </a:prstGeom>
        </p:spPr>
      </p:pic>
      <p:sp>
        <p:nvSpPr>
          <p:cNvPr id="18" name="Text 14"/>
          <p:cNvSpPr/>
          <p:nvPr/>
        </p:nvSpPr>
        <p:spPr>
          <a:xfrm>
            <a:off x="2898648" y="2926080"/>
            <a:ext cx="1828800" cy="822960"/>
          </a:xfrm>
          <a:prstGeom prst="rect">
            <a:avLst/>
          </a:prstGeom>
          <a:noFill/>
          <a:ln/>
        </p:spPr>
        <p:txBody>
          <a:bodyPr wrap="square" lIns="0" tIns="0" rIns="0" bIns="0" rtlCol="0" anchor="ctr"/>
          <a:lstStyle/>
          <a:p>
            <a:pPr marL="0" indent="0" algn="ctr">
              <a:buNone/>
            </a:pPr>
            <a:r>
              <a:rPr lang="en-US" sz="1600" dirty="0">
                <a:solidFill>
                  <a:srgbClr val="201F1E"/>
                </a:solidFill>
                <a:latin typeface="Segoe UI Semibold" pitchFamily="34" charset="0"/>
                <a:ea typeface="Segoe UI Semibold" pitchFamily="34" charset="-122"/>
                <a:cs typeface="Segoe UI Semibold" pitchFamily="34" charset="-120"/>
              </a:rPr>
              <a:t>HPA adds pods</a:t>
            </a:r>
            <a:endParaRPr lang="en-US" sz="1600" dirty="0"/>
          </a:p>
        </p:txBody>
      </p:sp>
      <p:sp>
        <p:nvSpPr>
          <p:cNvPr id="19" name="Shape 15"/>
          <p:cNvSpPr/>
          <p:nvPr/>
        </p:nvSpPr>
        <p:spPr>
          <a:xfrm>
            <a:off x="4837176" y="2880360"/>
            <a:ext cx="210312" cy="0"/>
          </a:xfrm>
          <a:prstGeom prst="line">
            <a:avLst/>
          </a:prstGeom>
          <a:noFill/>
          <a:ln w="31750">
            <a:solidFill>
              <a:srgbClr val="5C2D91"/>
            </a:solidFill>
            <a:prstDash val="solid"/>
            <a:tailEnd type="triangle"/>
          </a:ln>
        </p:spPr>
        <p:txBody>
          <a:bodyPr anchor="t"/>
          <a:lstStyle/>
          <a:p>
            <a:endParaRPr lang="en-US"/>
          </a:p>
        </p:txBody>
      </p:sp>
      <p:sp>
        <p:nvSpPr>
          <p:cNvPr id="20" name="Shape 16"/>
          <p:cNvSpPr/>
          <p:nvPr/>
        </p:nvSpPr>
        <p:spPr>
          <a:xfrm>
            <a:off x="5065776" y="1828800"/>
            <a:ext cx="2011680" cy="2103120"/>
          </a:xfrm>
          <a:prstGeom prst="rect">
            <a:avLst/>
          </a:prstGeom>
          <a:solidFill>
            <a:srgbClr val="FFFFFF"/>
          </a:solidFill>
          <a:ln/>
        </p:spPr>
        <p:txBody>
          <a:bodyPr/>
          <a:lstStyle/>
          <a:p>
            <a:endParaRPr lang="en-US"/>
          </a:p>
        </p:txBody>
      </p:sp>
      <p:sp>
        <p:nvSpPr>
          <p:cNvPr id="21" name="Shape 17"/>
          <p:cNvSpPr/>
          <p:nvPr/>
        </p:nvSpPr>
        <p:spPr>
          <a:xfrm>
            <a:off x="5705856" y="2057400"/>
            <a:ext cx="731520" cy="731520"/>
          </a:xfrm>
          <a:prstGeom prst="ellipse">
            <a:avLst/>
          </a:prstGeom>
          <a:solidFill>
            <a:srgbClr val="7044A8"/>
          </a:solidFill>
          <a:ln/>
        </p:spPr>
        <p:txBody>
          <a:bodyPr/>
          <a:lstStyle/>
          <a:p>
            <a:endParaRPr lang="en-US"/>
          </a:p>
        </p:txBody>
      </p:sp>
      <p:pic>
        <p:nvPicPr>
          <p:cNvPr id="22" name="Image 2" descr="/agent/turn2/workspace/output/_anthropic_assets/icon-timer-5033fbda.png"/>
          <p:cNvPicPr>
            <a:picLocks noChangeAspect="1"/>
          </p:cNvPicPr>
          <p:nvPr/>
        </p:nvPicPr>
        <p:blipFill>
          <a:blip r:embed="rId4"/>
          <a:stretch>
            <a:fillRect/>
          </a:stretch>
        </p:blipFill>
        <p:spPr>
          <a:xfrm>
            <a:off x="5866790" y="2218334"/>
            <a:ext cx="409651" cy="409651"/>
          </a:xfrm>
          <a:prstGeom prst="rect">
            <a:avLst/>
          </a:prstGeom>
        </p:spPr>
      </p:pic>
      <p:sp>
        <p:nvSpPr>
          <p:cNvPr id="23" name="Text 18"/>
          <p:cNvSpPr/>
          <p:nvPr/>
        </p:nvSpPr>
        <p:spPr>
          <a:xfrm>
            <a:off x="5157216" y="2926080"/>
            <a:ext cx="1828800" cy="822960"/>
          </a:xfrm>
          <a:prstGeom prst="rect">
            <a:avLst/>
          </a:prstGeom>
          <a:noFill/>
          <a:ln/>
        </p:spPr>
        <p:txBody>
          <a:bodyPr wrap="square" lIns="0" tIns="0" rIns="0" bIns="0" rtlCol="0" anchor="ctr"/>
          <a:lstStyle/>
          <a:p>
            <a:pPr marL="0" indent="0" algn="ctr">
              <a:buNone/>
            </a:pPr>
            <a:r>
              <a:rPr lang="en-US" sz="1600" dirty="0">
                <a:solidFill>
                  <a:srgbClr val="201F1E"/>
                </a:solidFill>
                <a:latin typeface="Segoe UI Semibold" pitchFamily="34" charset="0"/>
                <a:ea typeface="Segoe UI Semibold" pitchFamily="34" charset="-122"/>
                <a:cs typeface="Segoe UI Semibold" pitchFamily="34" charset="-120"/>
              </a:rPr>
              <a:t>Pods Pending</a:t>
            </a:r>
            <a:endParaRPr lang="en-US" sz="1600" dirty="0"/>
          </a:p>
        </p:txBody>
      </p:sp>
      <p:sp>
        <p:nvSpPr>
          <p:cNvPr id="24" name="Shape 19"/>
          <p:cNvSpPr/>
          <p:nvPr/>
        </p:nvSpPr>
        <p:spPr>
          <a:xfrm>
            <a:off x="7095744" y="2880360"/>
            <a:ext cx="210312" cy="0"/>
          </a:xfrm>
          <a:prstGeom prst="line">
            <a:avLst/>
          </a:prstGeom>
          <a:noFill/>
          <a:ln w="31750">
            <a:solidFill>
              <a:srgbClr val="5C2D91"/>
            </a:solidFill>
            <a:prstDash val="solid"/>
            <a:tailEnd type="triangle"/>
          </a:ln>
        </p:spPr>
        <p:txBody>
          <a:bodyPr anchor="t"/>
          <a:lstStyle/>
          <a:p>
            <a:endParaRPr lang="en-US"/>
          </a:p>
        </p:txBody>
      </p:sp>
      <p:sp>
        <p:nvSpPr>
          <p:cNvPr id="25" name="Shape 20"/>
          <p:cNvSpPr/>
          <p:nvPr/>
        </p:nvSpPr>
        <p:spPr>
          <a:xfrm>
            <a:off x="7324344" y="1828800"/>
            <a:ext cx="2011680" cy="2103120"/>
          </a:xfrm>
          <a:prstGeom prst="rect">
            <a:avLst/>
          </a:prstGeom>
          <a:solidFill>
            <a:srgbClr val="FFFFFF"/>
          </a:solidFill>
          <a:ln/>
        </p:spPr>
        <p:txBody>
          <a:bodyPr/>
          <a:lstStyle/>
          <a:p>
            <a:endParaRPr lang="en-US"/>
          </a:p>
        </p:txBody>
      </p:sp>
      <p:sp>
        <p:nvSpPr>
          <p:cNvPr id="26" name="Shape 21"/>
          <p:cNvSpPr/>
          <p:nvPr/>
        </p:nvSpPr>
        <p:spPr>
          <a:xfrm>
            <a:off x="7964424" y="2057400"/>
            <a:ext cx="731520" cy="731520"/>
          </a:xfrm>
          <a:prstGeom prst="ellipse">
            <a:avLst/>
          </a:prstGeom>
          <a:solidFill>
            <a:srgbClr val="5C2D91"/>
          </a:solidFill>
          <a:ln/>
        </p:spPr>
        <p:txBody>
          <a:bodyPr/>
          <a:lstStyle/>
          <a:p>
            <a:endParaRPr lang="en-US"/>
          </a:p>
        </p:txBody>
      </p:sp>
      <p:pic>
        <p:nvPicPr>
          <p:cNvPr id="27" name="Image 3" descr="/agent/turn2/workspace/output/_anthropic_assets/icon-server-e8a10e40.png"/>
          <p:cNvPicPr>
            <a:picLocks noChangeAspect="1"/>
          </p:cNvPicPr>
          <p:nvPr/>
        </p:nvPicPr>
        <p:blipFill>
          <a:blip r:embed="rId5"/>
          <a:stretch>
            <a:fillRect/>
          </a:stretch>
        </p:blipFill>
        <p:spPr>
          <a:xfrm>
            <a:off x="8125358" y="2218334"/>
            <a:ext cx="409651" cy="409651"/>
          </a:xfrm>
          <a:prstGeom prst="rect">
            <a:avLst/>
          </a:prstGeom>
        </p:spPr>
      </p:pic>
      <p:sp>
        <p:nvSpPr>
          <p:cNvPr id="28" name="Text 22"/>
          <p:cNvSpPr/>
          <p:nvPr/>
        </p:nvSpPr>
        <p:spPr>
          <a:xfrm>
            <a:off x="7415784" y="2926080"/>
            <a:ext cx="1828800" cy="822960"/>
          </a:xfrm>
          <a:prstGeom prst="rect">
            <a:avLst/>
          </a:prstGeom>
          <a:noFill/>
          <a:ln/>
        </p:spPr>
        <p:txBody>
          <a:bodyPr wrap="square" lIns="0" tIns="0" rIns="0" bIns="0" rtlCol="0" anchor="ctr"/>
          <a:lstStyle/>
          <a:p>
            <a:pPr marL="0" indent="0" algn="ctr">
              <a:buNone/>
            </a:pPr>
            <a:r>
              <a:rPr lang="en-US" sz="1600" dirty="0">
                <a:solidFill>
                  <a:srgbClr val="201F1E"/>
                </a:solidFill>
                <a:latin typeface="Segoe UI Semibold" pitchFamily="34" charset="0"/>
                <a:ea typeface="Segoe UI Semibold" pitchFamily="34" charset="-122"/>
                <a:cs typeface="Segoe UI Semibold" pitchFamily="34" charset="-120"/>
              </a:rPr>
              <a:t>Node added (CA or NAP)</a:t>
            </a:r>
            <a:endParaRPr lang="en-US" sz="1600" dirty="0"/>
          </a:p>
        </p:txBody>
      </p:sp>
      <p:sp>
        <p:nvSpPr>
          <p:cNvPr id="29" name="Shape 23"/>
          <p:cNvSpPr/>
          <p:nvPr/>
        </p:nvSpPr>
        <p:spPr>
          <a:xfrm>
            <a:off x="9354312" y="2880360"/>
            <a:ext cx="210312" cy="0"/>
          </a:xfrm>
          <a:prstGeom prst="line">
            <a:avLst/>
          </a:prstGeom>
          <a:noFill/>
          <a:ln w="31750">
            <a:solidFill>
              <a:srgbClr val="5C2D91"/>
            </a:solidFill>
            <a:prstDash val="solid"/>
            <a:tailEnd type="triangle"/>
          </a:ln>
        </p:spPr>
        <p:txBody>
          <a:bodyPr anchor="t"/>
          <a:lstStyle/>
          <a:p>
            <a:endParaRPr lang="en-US"/>
          </a:p>
        </p:txBody>
      </p:sp>
      <p:sp>
        <p:nvSpPr>
          <p:cNvPr id="30" name="Shape 24"/>
          <p:cNvSpPr/>
          <p:nvPr/>
        </p:nvSpPr>
        <p:spPr>
          <a:xfrm>
            <a:off x="9582912" y="1828800"/>
            <a:ext cx="2011680" cy="2103120"/>
          </a:xfrm>
          <a:prstGeom prst="rect">
            <a:avLst/>
          </a:prstGeom>
          <a:solidFill>
            <a:srgbClr val="FFFFFF"/>
          </a:solidFill>
          <a:ln/>
        </p:spPr>
        <p:txBody>
          <a:bodyPr/>
          <a:lstStyle/>
          <a:p>
            <a:endParaRPr lang="en-US"/>
          </a:p>
        </p:txBody>
      </p:sp>
      <p:sp>
        <p:nvSpPr>
          <p:cNvPr id="31" name="Shape 25"/>
          <p:cNvSpPr/>
          <p:nvPr/>
        </p:nvSpPr>
        <p:spPr>
          <a:xfrm>
            <a:off x="10222992" y="2057400"/>
            <a:ext cx="731520" cy="731520"/>
          </a:xfrm>
          <a:prstGeom prst="ellipse">
            <a:avLst/>
          </a:prstGeom>
          <a:solidFill>
            <a:srgbClr val="7044A8"/>
          </a:solidFill>
          <a:ln/>
        </p:spPr>
        <p:txBody>
          <a:bodyPr/>
          <a:lstStyle/>
          <a:p>
            <a:endParaRPr lang="en-US"/>
          </a:p>
        </p:txBody>
      </p:sp>
      <p:pic>
        <p:nvPicPr>
          <p:cNvPr id="32" name="Image 4" descr="/agent/turn2/workspace/output/_anthropic_assets/icon-checkmark-circle-fc6554a2.png"/>
          <p:cNvPicPr>
            <a:picLocks noChangeAspect="1"/>
          </p:cNvPicPr>
          <p:nvPr/>
        </p:nvPicPr>
        <p:blipFill>
          <a:blip r:embed="rId6"/>
          <a:stretch>
            <a:fillRect/>
          </a:stretch>
        </p:blipFill>
        <p:spPr>
          <a:xfrm>
            <a:off x="10383926" y="2218334"/>
            <a:ext cx="409651" cy="409651"/>
          </a:xfrm>
          <a:prstGeom prst="rect">
            <a:avLst/>
          </a:prstGeom>
        </p:spPr>
      </p:pic>
      <p:sp>
        <p:nvSpPr>
          <p:cNvPr id="33" name="Text 26"/>
          <p:cNvSpPr/>
          <p:nvPr/>
        </p:nvSpPr>
        <p:spPr>
          <a:xfrm>
            <a:off x="9674352" y="2926080"/>
            <a:ext cx="1828800" cy="822960"/>
          </a:xfrm>
          <a:prstGeom prst="rect">
            <a:avLst/>
          </a:prstGeom>
          <a:noFill/>
          <a:ln/>
        </p:spPr>
        <p:txBody>
          <a:bodyPr wrap="square" lIns="0" tIns="0" rIns="0" bIns="0" rtlCol="0" anchor="ctr"/>
          <a:lstStyle/>
          <a:p>
            <a:pPr marL="0" indent="0" algn="ctr">
              <a:buNone/>
            </a:pPr>
            <a:r>
              <a:rPr lang="en-US" sz="1600" dirty="0">
                <a:solidFill>
                  <a:srgbClr val="201F1E"/>
                </a:solidFill>
                <a:latin typeface="Segoe UI Semibold" pitchFamily="34" charset="0"/>
                <a:ea typeface="Segoe UI Semibold" pitchFamily="34" charset="-122"/>
                <a:cs typeface="Segoe UI Semibold" pitchFamily="34" charset="-120"/>
              </a:rPr>
              <a:t>Pods Ready</a:t>
            </a:r>
            <a:endParaRPr lang="en-US" sz="1600" dirty="0"/>
          </a:p>
        </p:txBody>
      </p:sp>
      <p:sp>
        <p:nvSpPr>
          <p:cNvPr id="34" name="Shape 27"/>
          <p:cNvSpPr/>
          <p:nvPr/>
        </p:nvSpPr>
        <p:spPr>
          <a:xfrm>
            <a:off x="548640" y="4251960"/>
            <a:ext cx="11091672" cy="1828800"/>
          </a:xfrm>
          <a:prstGeom prst="rect">
            <a:avLst/>
          </a:prstGeom>
          <a:solidFill>
            <a:srgbClr val="EDE4F7"/>
          </a:solidFill>
          <a:ln/>
        </p:spPr>
        <p:txBody>
          <a:bodyPr/>
          <a:lstStyle/>
          <a:p>
            <a:endParaRPr lang="en-US"/>
          </a:p>
        </p:txBody>
      </p:sp>
      <p:sp>
        <p:nvSpPr>
          <p:cNvPr id="35" name="Text 28"/>
          <p:cNvSpPr/>
          <p:nvPr/>
        </p:nvSpPr>
        <p:spPr>
          <a:xfrm>
            <a:off x="822960" y="4389120"/>
            <a:ext cx="3657600" cy="411480"/>
          </a:xfrm>
          <a:prstGeom prst="rect">
            <a:avLst/>
          </a:prstGeom>
          <a:noFill/>
          <a:ln/>
        </p:spPr>
        <p:txBody>
          <a:bodyPr wrap="square" lIns="0" tIns="0" rIns="0" bIns="0" rtlCol="0" anchor="ctr"/>
          <a:lstStyle/>
          <a:p>
            <a:pPr marL="0" indent="0">
              <a:buNone/>
            </a:pPr>
            <a:r>
              <a:rPr lang="en-US" sz="1800" dirty="0">
                <a:solidFill>
                  <a:srgbClr val="5C2D91"/>
                </a:solidFill>
                <a:latin typeface="Segoe UI Semibold" pitchFamily="34" charset="0"/>
                <a:ea typeface="Segoe UI Semibold" pitchFamily="34" charset="-122"/>
                <a:cs typeface="Segoe UI Semibold" pitchFamily="34" charset="-120"/>
              </a:rPr>
              <a:t>Time to capacity</a:t>
            </a:r>
            <a:endParaRPr lang="en-US" sz="1800" dirty="0"/>
          </a:p>
        </p:txBody>
      </p:sp>
      <p:sp>
        <p:nvSpPr>
          <p:cNvPr id="36" name="Text 29"/>
          <p:cNvSpPr/>
          <p:nvPr/>
        </p:nvSpPr>
        <p:spPr>
          <a:xfrm>
            <a:off x="822960" y="4846320"/>
            <a:ext cx="10515600" cy="1188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323130"/>
                </a:solidFill>
                <a:latin typeface="Segoe UI" pitchFamily="34" charset="0"/>
                <a:ea typeface="Segoe UI" pitchFamily="34" charset="-122"/>
                <a:cs typeface="Segoe UI" pitchFamily="34" charset="-120"/>
              </a:rPr>
              <a:t>Pod scale-out takes </a:t>
            </a:r>
            <a:r>
              <a:rPr lang="en-US" sz="1600" b="1" dirty="0">
                <a:solidFill>
                  <a:srgbClr val="323130"/>
                </a:solidFill>
                <a:latin typeface="Segoe UI" pitchFamily="34" charset="0"/>
                <a:ea typeface="Segoe UI" pitchFamily="34" charset="-122"/>
                <a:cs typeface="Segoe UI" pitchFamily="34" charset="-120"/>
              </a:rPr>
              <a:t>seconds</a:t>
            </a:r>
            <a:r>
              <a:rPr lang="en-US" sz="1600" dirty="0">
                <a:solidFill>
                  <a:srgbClr val="323130"/>
                </a:solidFill>
                <a:latin typeface="Segoe UI" pitchFamily="34" charset="0"/>
                <a:ea typeface="Segoe UI" pitchFamily="34" charset="-122"/>
                <a:cs typeface="Segoe UI" pitchFamily="34" charset="-120"/>
              </a:rPr>
              <a:t>; a new node takes </a:t>
            </a:r>
            <a:r>
              <a:rPr lang="en-US" sz="1600" b="1" dirty="0">
                <a:solidFill>
                  <a:srgbClr val="323130"/>
                </a:solidFill>
                <a:latin typeface="Segoe UI" pitchFamily="34" charset="0"/>
                <a:ea typeface="Segoe UI" pitchFamily="34" charset="-122"/>
                <a:cs typeface="Segoe UI" pitchFamily="34" charset="-120"/>
              </a:rPr>
              <a:t>minutes</a:t>
            </a:r>
            <a:r>
              <a:rPr lang="en-US" sz="1600" dirty="0">
                <a:solidFill>
                  <a:srgbClr val="323130"/>
                </a:solidFill>
                <a:latin typeface="Segoe UI" pitchFamily="34" charset="0"/>
                <a:ea typeface="Segoe UI" pitchFamily="34" charset="-122"/>
                <a:cs typeface="Segoe UI" pitchFamily="34" charset="-120"/>
              </a:rPr>
              <a:t> — keep some headroom</a:t>
            </a:r>
            <a:endParaRPr lang="en-US" sz="1600" dirty="0"/>
          </a:p>
          <a:p>
            <a:pPr marL="254000" indent="-254000">
              <a:spcAft>
                <a:spcPts val="800"/>
              </a:spcAft>
              <a:buSzPct val="100000"/>
              <a:buChar char="•"/>
            </a:pPr>
            <a:r>
              <a:rPr lang="en-US" sz="1600" dirty="0">
                <a:solidFill>
                  <a:srgbClr val="323130"/>
                </a:solidFill>
                <a:latin typeface="Segoe UI" pitchFamily="34" charset="0"/>
                <a:ea typeface="Segoe UI" pitchFamily="34" charset="-122"/>
                <a:cs typeface="Segoe UI" pitchFamily="34" charset="-120"/>
              </a:rPr>
              <a:t>Fast startup and accurate readiness probes shorten the whole chain</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5C2D91"/>
                </a:solidFill>
                <a:latin typeface="Segoe UI Semibold" pitchFamily="34" charset="0"/>
                <a:ea typeface="Segoe UI Semibold" pitchFamily="34" charset="-122"/>
                <a:cs typeface="Segoe UI Semibold" pitchFamily="34" charset="-120"/>
              </a:rPr>
              <a:t>PART 5 · SCALING PODS AND NODES</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3DCBD88F-BAD6-4DAE-888B-79FB9065A6E3}" type="slidenum">
              <a:rPr lang="en-US" sz="1100">
                <a:solidFill>
                  <a:srgbClr val="605E5C"/>
                </a:solidFill>
                <a:latin typeface="Segoe UI" pitchFamily="34" charset="0"/>
                <a:ea typeface="Segoe UI" pitchFamily="34" charset="-122"/>
                <a:cs typeface="Segoe UI" pitchFamily="34" charset="-120"/>
              </a:rPr>
              <a:t>49</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Load Test to Prove It</a:t>
            </a:r>
            <a:endParaRPr lang="en-US" sz="3200" dirty="0"/>
          </a:p>
        </p:txBody>
      </p:sp>
      <p:sp>
        <p:nvSpPr>
          <p:cNvPr id="10" name="Shape 8"/>
          <p:cNvSpPr/>
          <p:nvPr/>
        </p:nvSpPr>
        <p:spPr>
          <a:xfrm>
            <a:off x="548640" y="1737360"/>
            <a:ext cx="6400800" cy="4343400"/>
          </a:xfrm>
          <a:prstGeom prst="rect">
            <a:avLst/>
          </a:prstGeom>
          <a:solidFill>
            <a:srgbClr val="1E1E1E"/>
          </a:solidFill>
          <a:ln/>
        </p:spPr>
        <p:txBody>
          <a:bodyPr/>
          <a:lstStyle/>
          <a:p>
            <a:endParaRPr lang="en-US"/>
          </a:p>
        </p:txBody>
      </p:sp>
      <p:sp>
        <p:nvSpPr>
          <p:cNvPr id="11" name="Shape 9"/>
          <p:cNvSpPr/>
          <p:nvPr/>
        </p:nvSpPr>
        <p:spPr>
          <a:xfrm>
            <a:off x="548640" y="1737360"/>
            <a:ext cx="6400800" cy="347472"/>
          </a:xfrm>
          <a:prstGeom prst="rect">
            <a:avLst/>
          </a:prstGeom>
          <a:solidFill>
            <a:srgbClr val="2D2D30"/>
          </a:solidFill>
          <a:ln/>
        </p:spPr>
        <p:txBody>
          <a:bodyPr/>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14" name="Text 12"/>
          <p:cNvSpPr/>
          <p:nvPr/>
        </p:nvSpPr>
        <p:spPr>
          <a:xfrm>
            <a:off x="749808" y="2212848"/>
            <a:ext cx="6035040" cy="3749040"/>
          </a:xfrm>
          <a:prstGeom prst="rect">
            <a:avLst/>
          </a:prstGeom>
          <a:noFill/>
          <a:ln/>
        </p:spPr>
        <p:txBody>
          <a:bodyPr wrap="square" lIns="0" tIns="0" rIns="0" bIns="0" rtlCol="0" anchor="t"/>
          <a:lstStyle/>
          <a:p>
            <a:pPr marL="0" indent="0">
              <a:lnSpc>
                <a:spcPct val="105000"/>
              </a:lnSpc>
              <a:buNone/>
            </a:pPr>
            <a:r>
              <a:rPr lang="en-US" sz="1400" dirty="0">
                <a:solidFill>
                  <a:srgbClr val="6A9955"/>
                </a:solidFill>
                <a:latin typeface="Consolas" pitchFamily="34" charset="0"/>
                <a:ea typeface="Consolas" pitchFamily="34" charset="-122"/>
                <a:cs typeface="Consolas" pitchFamily="34" charset="-120"/>
              </a:rPr>
              <a:t># terminal 1 — watch the autoscalers react</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get hpa api -w</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get pods -l app=api -w</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kubectl</a:t>
            </a:r>
            <a:r>
              <a:rPr lang="en-US" sz="1400" dirty="0">
                <a:solidFill>
                  <a:srgbClr val="D4D4D4"/>
                </a:solidFill>
                <a:latin typeface="Consolas" pitchFamily="34" charset="0"/>
                <a:ea typeface="Consolas" pitchFamily="34" charset="-122"/>
                <a:cs typeface="Consolas" pitchFamily="34" charset="-120"/>
              </a:rPr>
              <a:t> get nodes -w</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marL="0" indent="0">
              <a:lnSpc>
                <a:spcPct val="105000"/>
              </a:lnSpc>
              <a:buNone/>
            </a:pPr>
            <a:r>
              <a:rPr lang="en-US" sz="1400" dirty="0">
                <a:solidFill>
                  <a:srgbClr val="6A9955"/>
                </a:solidFill>
                <a:latin typeface="Consolas" pitchFamily="34" charset="0"/>
                <a:ea typeface="Consolas" pitchFamily="34" charset="-122"/>
                <a:cs typeface="Consolas" pitchFamily="34" charset="-120"/>
              </a:rPr>
              <a:t># terminal 2 — generate load</a:t>
            </a:r>
            <a:endParaRPr lang="en-US" sz="1400" dirty="0"/>
          </a:p>
          <a:p>
            <a:pPr marL="0" indent="0">
              <a:lnSpc>
                <a:spcPct val="105000"/>
              </a:lnSpc>
              <a:buNone/>
            </a:pPr>
            <a:r>
              <a:rPr lang="en-US" sz="1400" dirty="0">
                <a:solidFill>
                  <a:srgbClr val="DCDCAA"/>
                </a:solidFill>
                <a:latin typeface="Consolas" pitchFamily="34" charset="0"/>
                <a:ea typeface="Consolas" pitchFamily="34" charset="-122"/>
                <a:cs typeface="Consolas" pitchFamily="34" charset="-120"/>
              </a:rPr>
              <a:t>hey</a:t>
            </a:r>
            <a:r>
              <a:rPr lang="en-US" sz="1400" dirty="0">
                <a:solidFill>
                  <a:srgbClr val="D4D4D4"/>
                </a:solidFill>
                <a:latin typeface="Consolas" pitchFamily="34" charset="0"/>
                <a:ea typeface="Consolas" pitchFamily="34" charset="-122"/>
                <a:cs typeface="Consolas" pitchFamily="34" charset="-120"/>
              </a:rPr>
              <a:t> -z 5m -c 50 http://$IP/api/products</a:t>
            </a:r>
            <a:endParaRPr lang="en-US" sz="1400" dirty="0"/>
          </a:p>
        </p:txBody>
      </p:sp>
      <p:sp>
        <p:nvSpPr>
          <p:cNvPr id="15" name="Shape 13"/>
          <p:cNvSpPr/>
          <p:nvPr/>
        </p:nvSpPr>
        <p:spPr>
          <a:xfrm>
            <a:off x="7223760" y="1737360"/>
            <a:ext cx="4416552" cy="1325880"/>
          </a:xfrm>
          <a:prstGeom prst="rect">
            <a:avLst/>
          </a:prstGeom>
          <a:solidFill>
            <a:srgbClr val="F3F2F1"/>
          </a:solidFill>
          <a:ln/>
        </p:spPr>
        <p:txBody>
          <a:bodyPr/>
          <a:lstStyle/>
          <a:p>
            <a:endParaRPr lang="en-US"/>
          </a:p>
        </p:txBody>
      </p:sp>
      <p:sp>
        <p:nvSpPr>
          <p:cNvPr id="16" name="Shape 14"/>
          <p:cNvSpPr/>
          <p:nvPr/>
        </p:nvSpPr>
        <p:spPr>
          <a:xfrm>
            <a:off x="7452360" y="1965960"/>
            <a:ext cx="502920" cy="502920"/>
          </a:xfrm>
          <a:prstGeom prst="ellipse">
            <a:avLst/>
          </a:prstGeom>
          <a:solidFill>
            <a:srgbClr val="5C2D91"/>
          </a:solidFill>
          <a:ln/>
        </p:spPr>
        <p:txBody>
          <a:bodyPr/>
          <a:lstStyle/>
          <a:p>
            <a:endParaRPr lang="en-US"/>
          </a:p>
        </p:txBody>
      </p:sp>
      <p:pic>
        <p:nvPicPr>
          <p:cNvPr id="17" name="Image 0" descr="/agent/turn2/workspace/output/_anthropic_assets/icon-rocket-5cb11c41.png"/>
          <p:cNvPicPr>
            <a:picLocks noChangeAspect="1"/>
          </p:cNvPicPr>
          <p:nvPr/>
        </p:nvPicPr>
        <p:blipFill>
          <a:blip r:embed="rId2"/>
          <a:stretch>
            <a:fillRect/>
          </a:stretch>
        </p:blipFill>
        <p:spPr>
          <a:xfrm>
            <a:off x="7563002" y="2076602"/>
            <a:ext cx="281635" cy="281635"/>
          </a:xfrm>
          <a:prstGeom prst="rect">
            <a:avLst/>
          </a:prstGeom>
        </p:spPr>
      </p:pic>
      <p:sp>
        <p:nvSpPr>
          <p:cNvPr id="18" name="Text 15"/>
          <p:cNvSpPr/>
          <p:nvPr/>
        </p:nvSpPr>
        <p:spPr>
          <a:xfrm>
            <a:off x="8183880" y="1920240"/>
            <a:ext cx="3273552"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Tools</a:t>
            </a:r>
            <a:endParaRPr lang="en-US" sz="1700" dirty="0"/>
          </a:p>
        </p:txBody>
      </p:sp>
      <p:sp>
        <p:nvSpPr>
          <p:cNvPr id="19" name="Text 16"/>
          <p:cNvSpPr/>
          <p:nvPr/>
        </p:nvSpPr>
        <p:spPr>
          <a:xfrm>
            <a:off x="8183880" y="2331720"/>
            <a:ext cx="3273552" cy="594360"/>
          </a:xfrm>
          <a:prstGeom prst="rect">
            <a:avLst/>
          </a:prstGeom>
          <a:noFill/>
          <a:ln/>
        </p:spPr>
        <p:txBody>
          <a:bodyPr wrap="square" lIns="0" tIns="0" rIns="0" bIns="0" rtlCol="0"/>
          <a:lstStyle/>
          <a:p>
            <a:pPr marL="0" indent="0">
              <a:buNone/>
            </a:pPr>
            <a:r>
              <a:rPr lang="en-US" sz="1400" dirty="0">
                <a:solidFill>
                  <a:srgbClr val="0F6CBD"/>
                </a:solidFill>
                <a:latin typeface="Consolas" pitchFamily="34" charset="0"/>
                <a:ea typeface="Consolas" pitchFamily="34" charset="-122"/>
                <a:cs typeface="Consolas" pitchFamily="34" charset="-120"/>
              </a:rPr>
              <a:t>hey</a:t>
            </a:r>
            <a:r>
              <a:rPr lang="en-US" sz="1400" dirty="0">
                <a:solidFill>
                  <a:srgbClr val="323130"/>
                </a:solidFill>
                <a:latin typeface="Segoe UI" pitchFamily="34" charset="0"/>
                <a:ea typeface="Segoe UI" pitchFamily="34" charset="-122"/>
                <a:cs typeface="Segoe UI" pitchFamily="34" charset="-120"/>
              </a:rPr>
              <a:t>, k6, or </a:t>
            </a:r>
            <a:r>
              <a:rPr lang="en-US" sz="1400" b="1" dirty="0">
                <a:solidFill>
                  <a:srgbClr val="323130"/>
                </a:solidFill>
                <a:latin typeface="Segoe UI" pitchFamily="34" charset="0"/>
                <a:ea typeface="Segoe UI" pitchFamily="34" charset="-122"/>
                <a:cs typeface="Segoe UI" pitchFamily="34" charset="-120"/>
              </a:rPr>
              <a:t>Azure Load Testing</a:t>
            </a:r>
            <a:r>
              <a:rPr lang="en-US" sz="1400" dirty="0">
                <a:solidFill>
                  <a:srgbClr val="323130"/>
                </a:solidFill>
                <a:latin typeface="Segoe UI" pitchFamily="34" charset="0"/>
                <a:ea typeface="Segoe UI" pitchFamily="34" charset="-122"/>
                <a:cs typeface="Segoe UI" pitchFamily="34" charset="-120"/>
              </a:rPr>
              <a:t> for managed, repeatable runs.</a:t>
            </a:r>
            <a:endParaRPr lang="en-US" sz="1400" dirty="0"/>
          </a:p>
        </p:txBody>
      </p:sp>
      <p:sp>
        <p:nvSpPr>
          <p:cNvPr id="20" name="Shape 17"/>
          <p:cNvSpPr/>
          <p:nvPr/>
        </p:nvSpPr>
        <p:spPr>
          <a:xfrm>
            <a:off x="7223760" y="3246120"/>
            <a:ext cx="4416552" cy="1325880"/>
          </a:xfrm>
          <a:prstGeom prst="rect">
            <a:avLst/>
          </a:prstGeom>
          <a:solidFill>
            <a:srgbClr val="F3F2F1"/>
          </a:solidFill>
          <a:ln/>
        </p:spPr>
        <p:txBody>
          <a:bodyPr/>
          <a:lstStyle/>
          <a:p>
            <a:endParaRPr lang="en-US"/>
          </a:p>
        </p:txBody>
      </p:sp>
      <p:sp>
        <p:nvSpPr>
          <p:cNvPr id="21" name="Shape 18"/>
          <p:cNvSpPr/>
          <p:nvPr/>
        </p:nvSpPr>
        <p:spPr>
          <a:xfrm>
            <a:off x="7452360" y="3474720"/>
            <a:ext cx="502920" cy="502920"/>
          </a:xfrm>
          <a:prstGeom prst="ellipse">
            <a:avLst/>
          </a:prstGeom>
          <a:solidFill>
            <a:srgbClr val="5C2D91"/>
          </a:solidFill>
          <a:ln/>
        </p:spPr>
        <p:txBody>
          <a:bodyPr/>
          <a:lstStyle/>
          <a:p>
            <a:endParaRPr lang="en-US"/>
          </a:p>
        </p:txBody>
      </p:sp>
      <p:pic>
        <p:nvPicPr>
          <p:cNvPr id="22" name="Image 1" descr="/agent/turn2/workspace/output/_anthropic_assets/icon-eye-65b8945b.png"/>
          <p:cNvPicPr>
            <a:picLocks noChangeAspect="1"/>
          </p:cNvPicPr>
          <p:nvPr/>
        </p:nvPicPr>
        <p:blipFill>
          <a:blip r:embed="rId3"/>
          <a:stretch>
            <a:fillRect/>
          </a:stretch>
        </p:blipFill>
        <p:spPr>
          <a:xfrm>
            <a:off x="7563002" y="3585362"/>
            <a:ext cx="281635" cy="281635"/>
          </a:xfrm>
          <a:prstGeom prst="rect">
            <a:avLst/>
          </a:prstGeom>
        </p:spPr>
      </p:pic>
      <p:sp>
        <p:nvSpPr>
          <p:cNvPr id="23" name="Text 19"/>
          <p:cNvSpPr/>
          <p:nvPr/>
        </p:nvSpPr>
        <p:spPr>
          <a:xfrm>
            <a:off x="8183880" y="3429000"/>
            <a:ext cx="3273552"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Watch</a:t>
            </a:r>
            <a:endParaRPr lang="en-US" sz="1700" dirty="0"/>
          </a:p>
        </p:txBody>
      </p:sp>
      <p:sp>
        <p:nvSpPr>
          <p:cNvPr id="24" name="Text 20"/>
          <p:cNvSpPr/>
          <p:nvPr/>
        </p:nvSpPr>
        <p:spPr>
          <a:xfrm>
            <a:off x="8183880" y="3840480"/>
            <a:ext cx="3273552" cy="5943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Replica count, pending pods, node count, latency and error rate.</a:t>
            </a:r>
            <a:endParaRPr lang="en-US" sz="1400" dirty="0"/>
          </a:p>
        </p:txBody>
      </p:sp>
      <p:sp>
        <p:nvSpPr>
          <p:cNvPr id="25" name="Shape 21"/>
          <p:cNvSpPr/>
          <p:nvPr/>
        </p:nvSpPr>
        <p:spPr>
          <a:xfrm>
            <a:off x="7223760" y="4754880"/>
            <a:ext cx="4416552" cy="1325880"/>
          </a:xfrm>
          <a:prstGeom prst="rect">
            <a:avLst/>
          </a:prstGeom>
          <a:solidFill>
            <a:srgbClr val="F3F2F1"/>
          </a:solidFill>
          <a:ln/>
        </p:spPr>
        <p:txBody>
          <a:bodyPr/>
          <a:lstStyle/>
          <a:p>
            <a:endParaRPr lang="en-US"/>
          </a:p>
        </p:txBody>
      </p:sp>
      <p:sp>
        <p:nvSpPr>
          <p:cNvPr id="26" name="Shape 22"/>
          <p:cNvSpPr/>
          <p:nvPr/>
        </p:nvSpPr>
        <p:spPr>
          <a:xfrm>
            <a:off x="7452360" y="4983480"/>
            <a:ext cx="502920" cy="502920"/>
          </a:xfrm>
          <a:prstGeom prst="ellipse">
            <a:avLst/>
          </a:prstGeom>
          <a:solidFill>
            <a:srgbClr val="5C2D91"/>
          </a:solidFill>
          <a:ln/>
        </p:spPr>
        <p:txBody>
          <a:bodyPr/>
          <a:lstStyle/>
          <a:p>
            <a:endParaRPr lang="en-US"/>
          </a:p>
        </p:txBody>
      </p:sp>
      <p:pic>
        <p:nvPicPr>
          <p:cNvPr id="27" name="Image 2" descr="/agent/turn2/workspace/output/_anthropic_assets/icon-settings-29333648.png"/>
          <p:cNvPicPr>
            <a:picLocks noChangeAspect="1"/>
          </p:cNvPicPr>
          <p:nvPr/>
        </p:nvPicPr>
        <p:blipFill>
          <a:blip r:embed="rId4"/>
          <a:stretch>
            <a:fillRect/>
          </a:stretch>
        </p:blipFill>
        <p:spPr>
          <a:xfrm>
            <a:off x="7563002" y="5094122"/>
            <a:ext cx="281635" cy="281635"/>
          </a:xfrm>
          <a:prstGeom prst="rect">
            <a:avLst/>
          </a:prstGeom>
        </p:spPr>
      </p:pic>
      <p:sp>
        <p:nvSpPr>
          <p:cNvPr id="28" name="Text 23"/>
          <p:cNvSpPr/>
          <p:nvPr/>
        </p:nvSpPr>
        <p:spPr>
          <a:xfrm>
            <a:off x="8183880" y="4937760"/>
            <a:ext cx="3273552"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Tune</a:t>
            </a:r>
            <a:endParaRPr lang="en-US" sz="1700" dirty="0"/>
          </a:p>
        </p:txBody>
      </p:sp>
      <p:sp>
        <p:nvSpPr>
          <p:cNvPr id="29" name="Text 24"/>
          <p:cNvSpPr/>
          <p:nvPr/>
        </p:nvSpPr>
        <p:spPr>
          <a:xfrm>
            <a:off x="8183880" y="5349240"/>
            <a:ext cx="3273552" cy="5943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Adjust requests, HPA targets and </a:t>
            </a:r>
            <a:r>
              <a:rPr lang="en-US" sz="1400" dirty="0">
                <a:solidFill>
                  <a:srgbClr val="0F6CBD"/>
                </a:solidFill>
                <a:latin typeface="Consolas" pitchFamily="34" charset="0"/>
                <a:ea typeface="Consolas" pitchFamily="34" charset="-122"/>
                <a:cs typeface="Consolas" pitchFamily="34" charset="-120"/>
              </a:rPr>
              <a:t>behavior</a:t>
            </a:r>
            <a:r>
              <a:rPr lang="en-US" sz="1400" dirty="0">
                <a:solidFill>
                  <a:srgbClr val="323130"/>
                </a:solidFill>
                <a:latin typeface="Segoe UI" pitchFamily="34" charset="0"/>
                <a:ea typeface="Segoe UI" pitchFamily="34" charset="-122"/>
                <a:cs typeface="Segoe UI" pitchFamily="34" charset="-120"/>
              </a:rPr>
              <a:t>, then test again.</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7">
    <p:bg>
      <p:bgPr>
        <a:solidFill>
          <a:srgbClr val="008575"/>
        </a:solidFill>
        <a:effectLst/>
      </p:bgPr>
    </p:bg>
    <p:spTree>
      <p:nvGrpSpPr>
        <p:cNvPr id="1" name=""/>
        <p:cNvGrpSpPr/>
        <p:nvPr/>
      </p:nvGrpSpPr>
      <p:grpSpPr>
        <a:xfrm>
          <a:off x="0" y="0"/>
          <a:ext cx="0" cy="0"/>
          <a:chOff x="0" y="0"/>
          <a:chExt cx="0" cy="0"/>
        </a:xfrm>
      </p:grpSpPr>
      <p:sp>
        <p:nvSpPr>
          <p:cNvPr id="2" name="Text 0"/>
          <p:cNvSpPr/>
          <p:nvPr/>
        </p:nvSpPr>
        <p:spPr>
          <a:xfrm>
            <a:off x="457200" y="274320"/>
            <a:ext cx="5486400" cy="3291840"/>
          </a:xfrm>
          <a:prstGeom prst="rect">
            <a:avLst/>
          </a:prstGeom>
          <a:noFill/>
          <a:ln/>
        </p:spPr>
        <p:txBody>
          <a:bodyPr wrap="square" lIns="0" tIns="0" rIns="0" bIns="0" rtlCol="0"/>
          <a:lstStyle/>
          <a:p>
            <a:pPr marL="0" indent="0">
              <a:buNone/>
            </a:pPr>
            <a:r>
              <a:rPr lang="en-US" sz="22000" dirty="0">
                <a:solidFill>
                  <a:srgbClr val="1A9A8A"/>
                </a:solidFill>
                <a:latin typeface="Segoe UI Semibold" pitchFamily="34" charset="0"/>
                <a:ea typeface="Segoe UI Semibold" pitchFamily="34" charset="-122"/>
                <a:cs typeface="Segoe UI Semibold" pitchFamily="34" charset="-120"/>
              </a:rPr>
              <a:t>06</a:t>
            </a:r>
            <a:endParaRPr lang="en-US" sz="22000" dirty="0"/>
          </a:p>
        </p:txBody>
      </p:sp>
      <p:sp>
        <p:nvSpPr>
          <p:cNvPr id="3" name="Shape 1"/>
          <p:cNvSpPr/>
          <p:nvPr/>
        </p:nvSpPr>
        <p:spPr>
          <a:xfrm>
            <a:off x="640080" y="3703320"/>
            <a:ext cx="146304" cy="146304"/>
          </a:xfrm>
          <a:prstGeom prst="rect">
            <a:avLst/>
          </a:prstGeom>
          <a:solidFill>
            <a:srgbClr val="F25022"/>
          </a:solidFill>
          <a:ln/>
        </p:spPr>
        <p:txBody>
          <a:bodyPr/>
          <a:lstStyle/>
          <a:p>
            <a:endParaRPr lang="en-US"/>
          </a:p>
        </p:txBody>
      </p:sp>
      <p:sp>
        <p:nvSpPr>
          <p:cNvPr id="4" name="Shape 2"/>
          <p:cNvSpPr/>
          <p:nvPr/>
        </p:nvSpPr>
        <p:spPr>
          <a:xfrm>
            <a:off x="818571" y="3703320"/>
            <a:ext cx="146304" cy="146304"/>
          </a:xfrm>
          <a:prstGeom prst="rect">
            <a:avLst/>
          </a:prstGeom>
          <a:solidFill>
            <a:srgbClr val="7FBA00"/>
          </a:solidFill>
          <a:ln/>
        </p:spPr>
        <p:txBody>
          <a:bodyPr/>
          <a:lstStyle/>
          <a:p>
            <a:endParaRPr lang="en-US"/>
          </a:p>
        </p:txBody>
      </p:sp>
      <p:sp>
        <p:nvSpPr>
          <p:cNvPr id="5" name="Shape 3"/>
          <p:cNvSpPr/>
          <p:nvPr/>
        </p:nvSpPr>
        <p:spPr>
          <a:xfrm>
            <a:off x="640080" y="3881811"/>
            <a:ext cx="146304" cy="146304"/>
          </a:xfrm>
          <a:prstGeom prst="rect">
            <a:avLst/>
          </a:prstGeom>
          <a:solidFill>
            <a:srgbClr val="00A4EF"/>
          </a:solidFill>
          <a:ln/>
        </p:spPr>
        <p:txBody>
          <a:bodyPr/>
          <a:lstStyle/>
          <a:p>
            <a:endParaRPr lang="en-US"/>
          </a:p>
        </p:txBody>
      </p:sp>
      <p:sp>
        <p:nvSpPr>
          <p:cNvPr id="6" name="Shape 4"/>
          <p:cNvSpPr/>
          <p:nvPr/>
        </p:nvSpPr>
        <p:spPr>
          <a:xfrm>
            <a:off x="818571" y="3881811"/>
            <a:ext cx="146304" cy="146304"/>
          </a:xfrm>
          <a:prstGeom prst="rect">
            <a:avLst/>
          </a:prstGeom>
          <a:solidFill>
            <a:srgbClr val="FFB900"/>
          </a:solidFill>
          <a:ln/>
        </p:spPr>
        <p:txBody>
          <a:bodyPr/>
          <a:lstStyle/>
          <a:p>
            <a:endParaRPr lang="en-US"/>
          </a:p>
        </p:txBody>
      </p:sp>
      <p:sp>
        <p:nvSpPr>
          <p:cNvPr id="7" name="Text 5"/>
          <p:cNvSpPr/>
          <p:nvPr/>
        </p:nvSpPr>
        <p:spPr>
          <a:xfrm>
            <a:off x="1097280" y="3657600"/>
            <a:ext cx="4572000" cy="384048"/>
          </a:xfrm>
          <a:prstGeom prst="rect">
            <a:avLst/>
          </a:prstGeom>
          <a:noFill/>
          <a:ln/>
        </p:spPr>
        <p:txBody>
          <a:bodyPr wrap="square" lIns="0" tIns="0" rIns="0" bIns="0" rtlCol="0" anchor="ctr"/>
          <a:lstStyle/>
          <a:p>
            <a:pPr marL="0" indent="0">
              <a:buNone/>
            </a:pPr>
            <a:r>
              <a:rPr lang="en-US" sz="1600" kern="0" spc="300" dirty="0">
                <a:solidFill>
                  <a:srgbClr val="FFFFFF"/>
                </a:solidFill>
                <a:latin typeface="Segoe UI Semibold" pitchFamily="34" charset="0"/>
                <a:ea typeface="Segoe UI Semibold" pitchFamily="34" charset="-122"/>
                <a:cs typeface="Segoe UI Semibold" pitchFamily="34" charset="-120"/>
              </a:rPr>
              <a:t>PART 6</a:t>
            </a:r>
            <a:endParaRPr lang="en-US" sz="1600" dirty="0"/>
          </a:p>
        </p:txBody>
      </p:sp>
      <p:sp>
        <p:nvSpPr>
          <p:cNvPr id="8" name="Text 6"/>
          <p:cNvSpPr/>
          <p:nvPr/>
        </p:nvSpPr>
        <p:spPr>
          <a:xfrm>
            <a:off x="640080" y="4114800"/>
            <a:ext cx="6949440" cy="1371600"/>
          </a:xfrm>
          <a:prstGeom prst="rect">
            <a:avLst/>
          </a:prstGeom>
          <a:noFill/>
          <a:ln/>
        </p:spPr>
        <p:txBody>
          <a:bodyPr wrap="square" lIns="0" tIns="0" rIns="0" bIns="0" rtlCol="0" anchor="t"/>
          <a:lstStyle/>
          <a:p>
            <a:pPr marL="0" indent="0">
              <a:lnSpc>
                <a:spcPct val="95000"/>
              </a:lnSpc>
              <a:buNone/>
            </a:pPr>
            <a:r>
              <a:rPr lang="en-US" sz="4800" dirty="0">
                <a:solidFill>
                  <a:srgbClr val="FFFFFF"/>
                </a:solidFill>
                <a:latin typeface="Segoe UI Semibold" pitchFamily="34" charset="0"/>
                <a:ea typeface="Segoe UI Semibold" pitchFamily="34" charset="-122"/>
                <a:cs typeface="Segoe UI Semibold" pitchFamily="34" charset="-120"/>
              </a:rPr>
              <a:t>GitOps with Flux and Argo CD</a:t>
            </a:r>
            <a:endParaRPr lang="en-US" sz="4800"/>
          </a:p>
        </p:txBody>
      </p:sp>
      <p:sp>
        <p:nvSpPr>
          <p:cNvPr id="9" name="Text 7"/>
          <p:cNvSpPr/>
          <p:nvPr/>
        </p:nvSpPr>
        <p:spPr>
          <a:xfrm>
            <a:off x="640080" y="5577840"/>
            <a:ext cx="6766560" cy="731520"/>
          </a:xfrm>
          <a:prstGeom prst="rect">
            <a:avLst/>
          </a:prstGeom>
          <a:noFill/>
          <a:ln/>
        </p:spPr>
        <p:txBody>
          <a:bodyPr wrap="square" lIns="0" tIns="0" rIns="0" bIns="0" rtlCol="0" anchor="t"/>
          <a:lstStyle/>
          <a:p>
            <a:pPr marL="0" indent="0">
              <a:buNone/>
            </a:pPr>
            <a:r>
              <a:rPr lang="en-US" sz="1800" dirty="0">
                <a:solidFill>
                  <a:srgbClr val="FFFFFF"/>
                </a:solidFill>
                <a:latin typeface="Segoe UI" pitchFamily="34" charset="0"/>
                <a:ea typeface="Segoe UI" pitchFamily="34" charset="-122"/>
                <a:cs typeface="Segoe UI" pitchFamily="34" charset="-120"/>
              </a:rPr>
              <a:t>Git as the source of truth, agents that reconcile continuously</a:t>
            </a:r>
            <a:endParaRPr lang="en-US" sz="1800" dirty="0"/>
          </a:p>
        </p:txBody>
      </p:sp>
      <p:sp>
        <p:nvSpPr>
          <p:cNvPr id="10" name="Shape 8"/>
          <p:cNvSpPr/>
          <p:nvPr/>
        </p:nvSpPr>
        <p:spPr>
          <a:xfrm>
            <a:off x="8138160" y="1463040"/>
            <a:ext cx="1600200" cy="1600200"/>
          </a:xfrm>
          <a:prstGeom prst="rect">
            <a:avLst/>
          </a:prstGeom>
          <a:solidFill>
            <a:srgbClr val="FFFFFF"/>
          </a:solidFill>
          <a:ln/>
        </p:spPr>
        <p:txBody>
          <a:bodyPr/>
          <a:lstStyle/>
          <a:p>
            <a:endParaRPr lang="en-US"/>
          </a:p>
        </p:txBody>
      </p:sp>
      <p:sp>
        <p:nvSpPr>
          <p:cNvPr id="11" name="Shape 9"/>
          <p:cNvSpPr/>
          <p:nvPr/>
        </p:nvSpPr>
        <p:spPr>
          <a:xfrm>
            <a:off x="9902952" y="1463040"/>
            <a:ext cx="1600200" cy="1600200"/>
          </a:xfrm>
          <a:prstGeom prst="rect">
            <a:avLst/>
          </a:prstGeom>
          <a:solidFill>
            <a:srgbClr val="FFFFFF">
              <a:alpha val="55000"/>
            </a:srgbClr>
          </a:solidFill>
          <a:ln/>
        </p:spPr>
        <p:txBody>
          <a:bodyPr/>
          <a:lstStyle/>
          <a:p>
            <a:endParaRPr lang="en-US"/>
          </a:p>
        </p:txBody>
      </p:sp>
      <p:sp>
        <p:nvSpPr>
          <p:cNvPr id="12" name="Shape 10"/>
          <p:cNvSpPr/>
          <p:nvPr/>
        </p:nvSpPr>
        <p:spPr>
          <a:xfrm>
            <a:off x="8138160" y="3227832"/>
            <a:ext cx="1600200" cy="1600200"/>
          </a:xfrm>
          <a:prstGeom prst="rect">
            <a:avLst/>
          </a:prstGeom>
          <a:solidFill>
            <a:srgbClr val="FFFFFF">
              <a:alpha val="35000"/>
            </a:srgbClr>
          </a:solidFill>
          <a:ln/>
        </p:spPr>
        <p:txBody>
          <a:bodyPr/>
          <a:lstStyle/>
          <a:p>
            <a:endParaRPr lang="en-US"/>
          </a:p>
        </p:txBody>
      </p:sp>
      <p:sp>
        <p:nvSpPr>
          <p:cNvPr id="13" name="Shape 11"/>
          <p:cNvSpPr/>
          <p:nvPr/>
        </p:nvSpPr>
        <p:spPr>
          <a:xfrm>
            <a:off x="9902952" y="3227832"/>
            <a:ext cx="1600200" cy="1600200"/>
          </a:xfrm>
          <a:prstGeom prst="rect">
            <a:avLst/>
          </a:prstGeom>
          <a:solidFill>
            <a:srgbClr val="FFFFFF">
              <a:alpha val="18000"/>
            </a:srgbClr>
          </a:solidFill>
          <a:ln/>
        </p:spPr>
        <p:txBody>
          <a:bodyPr/>
          <a:lstStyle/>
          <a:p>
            <a:endParaRPr lang="en-US"/>
          </a:p>
        </p:txBody>
      </p:sp>
      <p:pic>
        <p:nvPicPr>
          <p:cNvPr id="14" name="Image 0" descr="/agent/turn2/workspace/output/_anthropic_assets/icon-branch-3deffea2.png"/>
          <p:cNvPicPr>
            <a:picLocks noChangeAspect="1"/>
          </p:cNvPicPr>
          <p:nvPr/>
        </p:nvPicPr>
        <p:blipFill>
          <a:blip r:embed="rId2"/>
          <a:stretch>
            <a:fillRect/>
          </a:stretch>
        </p:blipFill>
        <p:spPr>
          <a:xfrm>
            <a:off x="10314432" y="3639312"/>
            <a:ext cx="777240" cy="77724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6BFE5106-6811-427B-9306-87AAE1DC31B8}" type="slidenum">
              <a:rPr lang="en-US" sz="1100">
                <a:solidFill>
                  <a:srgbClr val="605E5C"/>
                </a:solidFill>
                <a:latin typeface="Segoe UI" pitchFamily="34" charset="0"/>
                <a:ea typeface="Segoe UI" pitchFamily="34" charset="-122"/>
                <a:cs typeface="Segoe UI" pitchFamily="34" charset="-120"/>
              </a:rPr>
              <a:t>51</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What Is GitOps?</a:t>
            </a:r>
            <a:endParaRPr lang="en-US" sz="3200" dirty="0"/>
          </a:p>
        </p:txBody>
      </p:sp>
      <p:sp>
        <p:nvSpPr>
          <p:cNvPr id="10" name="Text 8"/>
          <p:cNvSpPr/>
          <p:nvPr/>
        </p:nvSpPr>
        <p:spPr>
          <a:xfrm>
            <a:off x="548640" y="1691640"/>
            <a:ext cx="10972800" cy="411480"/>
          </a:xfrm>
          <a:prstGeom prst="rect">
            <a:avLst/>
          </a:prstGeom>
          <a:noFill/>
          <a:ln/>
        </p:spPr>
        <p:txBody>
          <a:bodyPr wrap="square" lIns="0" tIns="0" rIns="0" bIns="0" rtlCol="0" anchor="ctr"/>
          <a:lstStyle/>
          <a:p>
            <a:pPr marL="0" indent="0">
              <a:buNone/>
            </a:pPr>
            <a:r>
              <a:rPr lang="en-US" sz="1800" dirty="0">
                <a:solidFill>
                  <a:srgbClr val="005248"/>
                </a:solidFill>
                <a:latin typeface="Segoe UI Semibold" pitchFamily="34" charset="0"/>
                <a:ea typeface="Segoe UI Semibold" pitchFamily="34" charset="-122"/>
                <a:cs typeface="Segoe UI Semibold" pitchFamily="34" charset="-120"/>
              </a:rPr>
              <a:t>The four OpenGitOps principles</a:t>
            </a:r>
            <a:endParaRPr lang="en-US" sz="1800" dirty="0"/>
          </a:p>
        </p:txBody>
      </p:sp>
      <p:sp>
        <p:nvSpPr>
          <p:cNvPr id="11" name="Shape 9"/>
          <p:cNvSpPr/>
          <p:nvPr/>
        </p:nvSpPr>
        <p:spPr>
          <a:xfrm>
            <a:off x="548640" y="2240280"/>
            <a:ext cx="2606040" cy="3840480"/>
          </a:xfrm>
          <a:prstGeom prst="rect">
            <a:avLst/>
          </a:prstGeom>
          <a:solidFill>
            <a:srgbClr val="008575"/>
          </a:solidFill>
          <a:ln/>
        </p:spPr>
        <p:txBody>
          <a:bodyPr/>
          <a:lstStyle/>
          <a:p>
            <a:endParaRPr lang="en-US"/>
          </a:p>
        </p:txBody>
      </p:sp>
      <p:sp>
        <p:nvSpPr>
          <p:cNvPr id="12" name="Text 10"/>
          <p:cNvSpPr/>
          <p:nvPr/>
        </p:nvSpPr>
        <p:spPr>
          <a:xfrm>
            <a:off x="822960" y="2377440"/>
            <a:ext cx="914400" cy="914400"/>
          </a:xfrm>
          <a:prstGeom prst="rect">
            <a:avLst/>
          </a:prstGeom>
          <a:noFill/>
          <a:ln/>
        </p:spPr>
        <p:txBody>
          <a:bodyPr wrap="square" lIns="0" tIns="0" rIns="0" bIns="0" rtlCol="0" anchor="ctr"/>
          <a:lstStyle/>
          <a:p>
            <a:pPr marL="0" indent="0">
              <a:buNone/>
            </a:pPr>
            <a:r>
              <a:rPr lang="en-US" sz="4800" dirty="0">
                <a:solidFill>
                  <a:srgbClr val="7FD8C9"/>
                </a:solidFill>
                <a:latin typeface="Segoe UI Semibold" pitchFamily="34" charset="0"/>
                <a:ea typeface="Segoe UI Semibold" pitchFamily="34" charset="-122"/>
                <a:cs typeface="Segoe UI Semibold" pitchFamily="34" charset="-120"/>
              </a:rPr>
              <a:t>1</a:t>
            </a:r>
            <a:endParaRPr lang="en-US" sz="4800" dirty="0"/>
          </a:p>
        </p:txBody>
      </p:sp>
      <p:sp>
        <p:nvSpPr>
          <p:cNvPr id="13" name="Shape 11"/>
          <p:cNvSpPr/>
          <p:nvPr/>
        </p:nvSpPr>
        <p:spPr>
          <a:xfrm>
            <a:off x="2331720" y="2514600"/>
            <a:ext cx="548640" cy="548640"/>
          </a:xfrm>
          <a:prstGeom prst="ellipse">
            <a:avLst/>
          </a:prstGeom>
          <a:solidFill>
            <a:srgbClr val="005248"/>
          </a:solidFill>
          <a:ln/>
        </p:spPr>
        <p:txBody>
          <a:bodyPr/>
          <a:lstStyle/>
          <a:p>
            <a:endParaRPr lang="en-US"/>
          </a:p>
        </p:txBody>
      </p:sp>
      <p:pic>
        <p:nvPicPr>
          <p:cNvPr id="14" name="Image 0" descr="/agent/turn2/workspace/output/_anthropic_assets/icon-document-f36ec721.png"/>
          <p:cNvPicPr>
            <a:picLocks noChangeAspect="1"/>
          </p:cNvPicPr>
          <p:nvPr/>
        </p:nvPicPr>
        <p:blipFill>
          <a:blip r:embed="rId2"/>
          <a:stretch>
            <a:fillRect/>
          </a:stretch>
        </p:blipFill>
        <p:spPr>
          <a:xfrm>
            <a:off x="2452421" y="2635301"/>
            <a:ext cx="307238" cy="307238"/>
          </a:xfrm>
          <a:prstGeom prst="rect">
            <a:avLst/>
          </a:prstGeom>
        </p:spPr>
      </p:pic>
      <p:sp>
        <p:nvSpPr>
          <p:cNvPr id="15" name="Text 12"/>
          <p:cNvSpPr/>
          <p:nvPr/>
        </p:nvSpPr>
        <p:spPr>
          <a:xfrm>
            <a:off x="822960" y="3474720"/>
            <a:ext cx="2103120" cy="822960"/>
          </a:xfrm>
          <a:prstGeom prst="rect">
            <a:avLst/>
          </a:prstGeom>
          <a:noFill/>
          <a:ln/>
        </p:spPr>
        <p:txBody>
          <a:bodyPr wrap="square" lIns="0" tIns="0" rIns="0" bIns="0" rtlCol="0" anchor="t"/>
          <a:lstStyle/>
          <a:p>
            <a:pPr marL="0" indent="0">
              <a:buNone/>
            </a:pPr>
            <a:r>
              <a:rPr lang="en-US" sz="1900" dirty="0">
                <a:solidFill>
                  <a:srgbClr val="FFFFFF"/>
                </a:solidFill>
                <a:latin typeface="Segoe UI Semibold" pitchFamily="34" charset="0"/>
                <a:ea typeface="Segoe UI Semibold" pitchFamily="34" charset="-122"/>
                <a:cs typeface="Segoe UI Semibold" pitchFamily="34" charset="-120"/>
              </a:rPr>
              <a:t>Declarative</a:t>
            </a:r>
            <a:endParaRPr lang="en-US" sz="1900" dirty="0"/>
          </a:p>
        </p:txBody>
      </p:sp>
      <p:sp>
        <p:nvSpPr>
          <p:cNvPr id="16" name="Text 13"/>
          <p:cNvSpPr/>
          <p:nvPr/>
        </p:nvSpPr>
        <p:spPr>
          <a:xfrm>
            <a:off x="822960" y="4343400"/>
            <a:ext cx="2103120" cy="1463040"/>
          </a:xfrm>
          <a:prstGeom prst="rect">
            <a:avLst/>
          </a:prstGeom>
          <a:noFill/>
          <a:ln/>
        </p:spPr>
        <p:txBody>
          <a:bodyPr wrap="square" lIns="0" tIns="0" rIns="0" bIns="0" rtlCol="0"/>
          <a:lstStyle/>
          <a:p>
            <a:pPr marL="0" indent="0">
              <a:buNone/>
            </a:pPr>
            <a:r>
              <a:rPr lang="en-US" sz="1450" dirty="0">
                <a:solidFill>
                  <a:srgbClr val="FFFFFF"/>
                </a:solidFill>
                <a:latin typeface="Segoe UI" pitchFamily="34" charset="0"/>
                <a:ea typeface="Segoe UI" pitchFamily="34" charset="-122"/>
                <a:cs typeface="Segoe UI" pitchFamily="34" charset="-120"/>
              </a:rPr>
              <a:t>The desired state of the system is expressed declaratively.</a:t>
            </a:r>
            <a:endParaRPr lang="en-US" sz="1450" dirty="0"/>
          </a:p>
        </p:txBody>
      </p:sp>
      <p:sp>
        <p:nvSpPr>
          <p:cNvPr id="17" name="Shape 14"/>
          <p:cNvSpPr/>
          <p:nvPr/>
        </p:nvSpPr>
        <p:spPr>
          <a:xfrm>
            <a:off x="3383280" y="2240280"/>
            <a:ext cx="2606040" cy="3840480"/>
          </a:xfrm>
          <a:prstGeom prst="rect">
            <a:avLst/>
          </a:prstGeom>
          <a:solidFill>
            <a:srgbClr val="D9F2EE"/>
          </a:solidFill>
          <a:ln/>
        </p:spPr>
        <p:txBody>
          <a:bodyPr/>
          <a:lstStyle/>
          <a:p>
            <a:endParaRPr lang="en-US"/>
          </a:p>
        </p:txBody>
      </p:sp>
      <p:sp>
        <p:nvSpPr>
          <p:cNvPr id="18" name="Text 15"/>
          <p:cNvSpPr/>
          <p:nvPr/>
        </p:nvSpPr>
        <p:spPr>
          <a:xfrm>
            <a:off x="3657600" y="2377440"/>
            <a:ext cx="914400" cy="914400"/>
          </a:xfrm>
          <a:prstGeom prst="rect">
            <a:avLst/>
          </a:prstGeom>
          <a:noFill/>
          <a:ln/>
        </p:spPr>
        <p:txBody>
          <a:bodyPr wrap="square" lIns="0" tIns="0" rIns="0" bIns="0" rtlCol="0" anchor="ctr"/>
          <a:lstStyle/>
          <a:p>
            <a:pPr marL="0" indent="0">
              <a:buNone/>
            </a:pPr>
            <a:r>
              <a:rPr lang="en-US" sz="4800" dirty="0">
                <a:solidFill>
                  <a:srgbClr val="008575"/>
                </a:solidFill>
                <a:latin typeface="Segoe UI Semibold" pitchFamily="34" charset="0"/>
                <a:ea typeface="Segoe UI Semibold" pitchFamily="34" charset="-122"/>
                <a:cs typeface="Segoe UI Semibold" pitchFamily="34" charset="-120"/>
              </a:rPr>
              <a:t>2</a:t>
            </a:r>
            <a:endParaRPr lang="en-US" sz="4800" dirty="0"/>
          </a:p>
        </p:txBody>
      </p:sp>
      <p:sp>
        <p:nvSpPr>
          <p:cNvPr id="19" name="Shape 16"/>
          <p:cNvSpPr/>
          <p:nvPr/>
        </p:nvSpPr>
        <p:spPr>
          <a:xfrm>
            <a:off x="5166360" y="2514600"/>
            <a:ext cx="548640" cy="548640"/>
          </a:xfrm>
          <a:prstGeom prst="ellipse">
            <a:avLst/>
          </a:prstGeom>
          <a:solidFill>
            <a:srgbClr val="008575"/>
          </a:solidFill>
          <a:ln/>
        </p:spPr>
        <p:txBody>
          <a:bodyPr/>
          <a:lstStyle/>
          <a:p>
            <a:endParaRPr lang="en-US"/>
          </a:p>
        </p:txBody>
      </p:sp>
      <p:pic>
        <p:nvPicPr>
          <p:cNvPr id="20" name="Image 1" descr="/agent/turn2/workspace/output/_anthropic_assets/icon-branch-3deffea2.png"/>
          <p:cNvPicPr>
            <a:picLocks noChangeAspect="1"/>
          </p:cNvPicPr>
          <p:nvPr/>
        </p:nvPicPr>
        <p:blipFill>
          <a:blip r:embed="rId3"/>
          <a:stretch>
            <a:fillRect/>
          </a:stretch>
        </p:blipFill>
        <p:spPr>
          <a:xfrm>
            <a:off x="5287061" y="2635301"/>
            <a:ext cx="307238" cy="307238"/>
          </a:xfrm>
          <a:prstGeom prst="rect">
            <a:avLst/>
          </a:prstGeom>
        </p:spPr>
      </p:pic>
      <p:sp>
        <p:nvSpPr>
          <p:cNvPr id="21" name="Text 17"/>
          <p:cNvSpPr/>
          <p:nvPr/>
        </p:nvSpPr>
        <p:spPr>
          <a:xfrm>
            <a:off x="3657600" y="3474720"/>
            <a:ext cx="2103120" cy="822960"/>
          </a:xfrm>
          <a:prstGeom prst="rect">
            <a:avLst/>
          </a:prstGeom>
          <a:noFill/>
          <a:ln/>
        </p:spPr>
        <p:txBody>
          <a:bodyPr wrap="square" lIns="0" tIns="0" rIns="0" bIns="0" rtlCol="0" anchor="t"/>
          <a:lstStyle/>
          <a:p>
            <a:pPr marL="0" indent="0">
              <a:buNone/>
            </a:pPr>
            <a:r>
              <a:rPr lang="en-US" sz="1900" dirty="0">
                <a:solidFill>
                  <a:srgbClr val="201F1E"/>
                </a:solidFill>
                <a:latin typeface="Segoe UI Semibold" pitchFamily="34" charset="0"/>
                <a:ea typeface="Segoe UI Semibold" pitchFamily="34" charset="-122"/>
                <a:cs typeface="Segoe UI Semibold" pitchFamily="34" charset="-120"/>
              </a:rPr>
              <a:t>Versioned and immutable</a:t>
            </a:r>
            <a:endParaRPr lang="en-US" sz="1900" dirty="0"/>
          </a:p>
        </p:txBody>
      </p:sp>
      <p:sp>
        <p:nvSpPr>
          <p:cNvPr id="22" name="Text 18"/>
          <p:cNvSpPr/>
          <p:nvPr/>
        </p:nvSpPr>
        <p:spPr>
          <a:xfrm>
            <a:off x="3657600" y="4343400"/>
            <a:ext cx="2103120" cy="1463040"/>
          </a:xfrm>
          <a:prstGeom prst="rect">
            <a:avLst/>
          </a:prstGeom>
          <a:noFill/>
          <a:ln/>
        </p:spPr>
        <p:txBody>
          <a:bodyPr wrap="square" lIns="0" tIns="0" rIns="0" bIns="0" rtlCol="0"/>
          <a:lstStyle/>
          <a:p>
            <a:pPr marL="0" indent="0">
              <a:buNone/>
            </a:pPr>
            <a:r>
              <a:rPr lang="en-US" sz="1450" dirty="0">
                <a:solidFill>
                  <a:srgbClr val="323130"/>
                </a:solidFill>
                <a:latin typeface="Segoe UI" pitchFamily="34" charset="0"/>
                <a:ea typeface="Segoe UI" pitchFamily="34" charset="-122"/>
                <a:cs typeface="Segoe UI" pitchFamily="34" charset="-120"/>
              </a:rPr>
              <a:t>Desired state is stored with full version history.</a:t>
            </a:r>
            <a:endParaRPr lang="en-US" sz="1450" dirty="0"/>
          </a:p>
        </p:txBody>
      </p:sp>
      <p:sp>
        <p:nvSpPr>
          <p:cNvPr id="23" name="Shape 19"/>
          <p:cNvSpPr/>
          <p:nvPr/>
        </p:nvSpPr>
        <p:spPr>
          <a:xfrm>
            <a:off x="6217920" y="2240280"/>
            <a:ext cx="2606040" cy="3840480"/>
          </a:xfrm>
          <a:prstGeom prst="rect">
            <a:avLst/>
          </a:prstGeom>
          <a:solidFill>
            <a:srgbClr val="008575"/>
          </a:solidFill>
          <a:ln/>
        </p:spPr>
        <p:txBody>
          <a:bodyPr/>
          <a:lstStyle/>
          <a:p>
            <a:endParaRPr lang="en-US"/>
          </a:p>
        </p:txBody>
      </p:sp>
      <p:sp>
        <p:nvSpPr>
          <p:cNvPr id="24" name="Text 20"/>
          <p:cNvSpPr/>
          <p:nvPr/>
        </p:nvSpPr>
        <p:spPr>
          <a:xfrm>
            <a:off x="6492240" y="2377440"/>
            <a:ext cx="914400" cy="914400"/>
          </a:xfrm>
          <a:prstGeom prst="rect">
            <a:avLst/>
          </a:prstGeom>
          <a:noFill/>
          <a:ln/>
        </p:spPr>
        <p:txBody>
          <a:bodyPr wrap="square" lIns="0" tIns="0" rIns="0" bIns="0" rtlCol="0" anchor="ctr"/>
          <a:lstStyle/>
          <a:p>
            <a:pPr marL="0" indent="0">
              <a:buNone/>
            </a:pPr>
            <a:r>
              <a:rPr lang="en-US" sz="4800" dirty="0">
                <a:solidFill>
                  <a:srgbClr val="7FD8C9"/>
                </a:solidFill>
                <a:latin typeface="Segoe UI Semibold" pitchFamily="34" charset="0"/>
                <a:ea typeface="Segoe UI Semibold" pitchFamily="34" charset="-122"/>
                <a:cs typeface="Segoe UI Semibold" pitchFamily="34" charset="-120"/>
              </a:rPr>
              <a:t>3</a:t>
            </a:r>
            <a:endParaRPr lang="en-US" sz="4800" dirty="0"/>
          </a:p>
        </p:txBody>
      </p:sp>
      <p:sp>
        <p:nvSpPr>
          <p:cNvPr id="25" name="Shape 21"/>
          <p:cNvSpPr/>
          <p:nvPr/>
        </p:nvSpPr>
        <p:spPr>
          <a:xfrm>
            <a:off x="8001000" y="2514600"/>
            <a:ext cx="548640" cy="548640"/>
          </a:xfrm>
          <a:prstGeom prst="ellipse">
            <a:avLst/>
          </a:prstGeom>
          <a:solidFill>
            <a:srgbClr val="005248"/>
          </a:solidFill>
          <a:ln/>
        </p:spPr>
        <p:txBody>
          <a:bodyPr/>
          <a:lstStyle/>
          <a:p>
            <a:endParaRPr lang="en-US"/>
          </a:p>
        </p:txBody>
      </p:sp>
      <p:pic>
        <p:nvPicPr>
          <p:cNvPr id="26" name="Image 2" descr="/agent/turn2/workspace/output/_anthropic_assets/icon-arrow-sync-7745594d.png"/>
          <p:cNvPicPr>
            <a:picLocks noChangeAspect="1"/>
          </p:cNvPicPr>
          <p:nvPr/>
        </p:nvPicPr>
        <p:blipFill>
          <a:blip r:embed="rId4"/>
          <a:stretch>
            <a:fillRect/>
          </a:stretch>
        </p:blipFill>
        <p:spPr>
          <a:xfrm>
            <a:off x="8121701" y="2635301"/>
            <a:ext cx="307238" cy="307238"/>
          </a:xfrm>
          <a:prstGeom prst="rect">
            <a:avLst/>
          </a:prstGeom>
        </p:spPr>
      </p:pic>
      <p:sp>
        <p:nvSpPr>
          <p:cNvPr id="27" name="Text 22"/>
          <p:cNvSpPr/>
          <p:nvPr/>
        </p:nvSpPr>
        <p:spPr>
          <a:xfrm>
            <a:off x="6492240" y="3474720"/>
            <a:ext cx="2103120" cy="822960"/>
          </a:xfrm>
          <a:prstGeom prst="rect">
            <a:avLst/>
          </a:prstGeom>
          <a:noFill/>
          <a:ln/>
        </p:spPr>
        <p:txBody>
          <a:bodyPr wrap="square" lIns="0" tIns="0" rIns="0" bIns="0" rtlCol="0" anchor="t"/>
          <a:lstStyle/>
          <a:p>
            <a:pPr marL="0" indent="0">
              <a:buNone/>
            </a:pPr>
            <a:r>
              <a:rPr lang="en-US" sz="1900" dirty="0">
                <a:solidFill>
                  <a:srgbClr val="FFFFFF"/>
                </a:solidFill>
                <a:latin typeface="Segoe UI Semibold" pitchFamily="34" charset="0"/>
                <a:ea typeface="Segoe UI Semibold" pitchFamily="34" charset="-122"/>
                <a:cs typeface="Segoe UI Semibold" pitchFamily="34" charset="-120"/>
              </a:rPr>
              <a:t>Pulled automatically</a:t>
            </a:r>
            <a:endParaRPr lang="en-US" sz="1900" dirty="0"/>
          </a:p>
        </p:txBody>
      </p:sp>
      <p:sp>
        <p:nvSpPr>
          <p:cNvPr id="28" name="Text 23"/>
          <p:cNvSpPr/>
          <p:nvPr/>
        </p:nvSpPr>
        <p:spPr>
          <a:xfrm>
            <a:off x="6492240" y="4343400"/>
            <a:ext cx="2103120" cy="1463040"/>
          </a:xfrm>
          <a:prstGeom prst="rect">
            <a:avLst/>
          </a:prstGeom>
          <a:noFill/>
          <a:ln/>
        </p:spPr>
        <p:txBody>
          <a:bodyPr wrap="square" lIns="0" tIns="0" rIns="0" bIns="0" rtlCol="0"/>
          <a:lstStyle/>
          <a:p>
            <a:pPr marL="0" indent="0">
              <a:buNone/>
            </a:pPr>
            <a:r>
              <a:rPr lang="en-US" sz="1450" dirty="0">
                <a:solidFill>
                  <a:srgbClr val="FFFFFF"/>
                </a:solidFill>
                <a:latin typeface="Segoe UI" pitchFamily="34" charset="0"/>
                <a:ea typeface="Segoe UI" pitchFamily="34" charset="-122"/>
                <a:cs typeface="Segoe UI" pitchFamily="34" charset="-120"/>
              </a:rPr>
              <a:t>Agents pull the desired state from the source.</a:t>
            </a:r>
            <a:endParaRPr lang="en-US" sz="1450" dirty="0"/>
          </a:p>
        </p:txBody>
      </p:sp>
      <p:sp>
        <p:nvSpPr>
          <p:cNvPr id="29" name="Shape 24"/>
          <p:cNvSpPr/>
          <p:nvPr/>
        </p:nvSpPr>
        <p:spPr>
          <a:xfrm>
            <a:off x="9052560" y="2240280"/>
            <a:ext cx="2606040" cy="3840480"/>
          </a:xfrm>
          <a:prstGeom prst="rect">
            <a:avLst/>
          </a:prstGeom>
          <a:solidFill>
            <a:srgbClr val="D9F2EE"/>
          </a:solidFill>
          <a:ln/>
        </p:spPr>
        <p:txBody>
          <a:bodyPr/>
          <a:lstStyle/>
          <a:p>
            <a:endParaRPr lang="en-US"/>
          </a:p>
        </p:txBody>
      </p:sp>
      <p:sp>
        <p:nvSpPr>
          <p:cNvPr id="30" name="Text 25"/>
          <p:cNvSpPr/>
          <p:nvPr/>
        </p:nvSpPr>
        <p:spPr>
          <a:xfrm>
            <a:off x="9326880" y="2377440"/>
            <a:ext cx="914400" cy="914400"/>
          </a:xfrm>
          <a:prstGeom prst="rect">
            <a:avLst/>
          </a:prstGeom>
          <a:noFill/>
          <a:ln/>
        </p:spPr>
        <p:txBody>
          <a:bodyPr wrap="square" lIns="0" tIns="0" rIns="0" bIns="0" rtlCol="0" anchor="ctr"/>
          <a:lstStyle/>
          <a:p>
            <a:pPr marL="0" indent="0">
              <a:buNone/>
            </a:pPr>
            <a:r>
              <a:rPr lang="en-US" sz="4800" dirty="0">
                <a:solidFill>
                  <a:srgbClr val="008575"/>
                </a:solidFill>
                <a:latin typeface="Segoe UI Semibold" pitchFamily="34" charset="0"/>
                <a:ea typeface="Segoe UI Semibold" pitchFamily="34" charset="-122"/>
                <a:cs typeface="Segoe UI Semibold" pitchFamily="34" charset="-120"/>
              </a:rPr>
              <a:t>4</a:t>
            </a:r>
            <a:endParaRPr lang="en-US" sz="4800" dirty="0"/>
          </a:p>
        </p:txBody>
      </p:sp>
      <p:sp>
        <p:nvSpPr>
          <p:cNvPr id="31" name="Shape 26"/>
          <p:cNvSpPr/>
          <p:nvPr/>
        </p:nvSpPr>
        <p:spPr>
          <a:xfrm>
            <a:off x="10835640" y="2514600"/>
            <a:ext cx="548640" cy="548640"/>
          </a:xfrm>
          <a:prstGeom prst="ellipse">
            <a:avLst/>
          </a:prstGeom>
          <a:solidFill>
            <a:srgbClr val="008575"/>
          </a:solidFill>
          <a:ln/>
        </p:spPr>
        <p:txBody>
          <a:bodyPr/>
          <a:lstStyle/>
          <a:p>
            <a:endParaRPr lang="en-US"/>
          </a:p>
        </p:txBody>
      </p:sp>
      <p:pic>
        <p:nvPicPr>
          <p:cNvPr id="32" name="Image 3" descr="/agent/turn2/workspace/output/_anthropic_assets/icon-eye-65b8945b.png"/>
          <p:cNvPicPr>
            <a:picLocks noChangeAspect="1"/>
          </p:cNvPicPr>
          <p:nvPr/>
        </p:nvPicPr>
        <p:blipFill>
          <a:blip r:embed="rId5"/>
          <a:stretch>
            <a:fillRect/>
          </a:stretch>
        </p:blipFill>
        <p:spPr>
          <a:xfrm>
            <a:off x="10956341" y="2635301"/>
            <a:ext cx="307238" cy="307238"/>
          </a:xfrm>
          <a:prstGeom prst="rect">
            <a:avLst/>
          </a:prstGeom>
        </p:spPr>
      </p:pic>
      <p:sp>
        <p:nvSpPr>
          <p:cNvPr id="33" name="Text 27"/>
          <p:cNvSpPr/>
          <p:nvPr/>
        </p:nvSpPr>
        <p:spPr>
          <a:xfrm>
            <a:off x="9326880" y="3474720"/>
            <a:ext cx="2103120" cy="822960"/>
          </a:xfrm>
          <a:prstGeom prst="rect">
            <a:avLst/>
          </a:prstGeom>
          <a:noFill/>
          <a:ln/>
        </p:spPr>
        <p:txBody>
          <a:bodyPr wrap="square" lIns="0" tIns="0" rIns="0" bIns="0" rtlCol="0" anchor="t"/>
          <a:lstStyle/>
          <a:p>
            <a:pPr marL="0" indent="0">
              <a:buNone/>
            </a:pPr>
            <a:r>
              <a:rPr lang="en-US" sz="1900" dirty="0">
                <a:solidFill>
                  <a:srgbClr val="201F1E"/>
                </a:solidFill>
                <a:latin typeface="Segoe UI Semibold" pitchFamily="34" charset="0"/>
                <a:ea typeface="Segoe UI Semibold" pitchFamily="34" charset="-122"/>
                <a:cs typeface="Segoe UI Semibold" pitchFamily="34" charset="-120"/>
              </a:rPr>
              <a:t>Continuously reconciled</a:t>
            </a:r>
            <a:endParaRPr lang="en-US" sz="1900" dirty="0"/>
          </a:p>
        </p:txBody>
      </p:sp>
      <p:sp>
        <p:nvSpPr>
          <p:cNvPr id="34" name="Text 28"/>
          <p:cNvSpPr/>
          <p:nvPr/>
        </p:nvSpPr>
        <p:spPr>
          <a:xfrm>
            <a:off x="9326880" y="4343400"/>
            <a:ext cx="2103120" cy="1463040"/>
          </a:xfrm>
          <a:prstGeom prst="rect">
            <a:avLst/>
          </a:prstGeom>
          <a:noFill/>
          <a:ln/>
        </p:spPr>
        <p:txBody>
          <a:bodyPr wrap="square" lIns="0" tIns="0" rIns="0" bIns="0" rtlCol="0" anchor="t"/>
          <a:lstStyle/>
          <a:p>
            <a:pPr marL="0" indent="0">
              <a:buNone/>
            </a:pPr>
            <a:r>
              <a:rPr lang="en-US" sz="1450" dirty="0">
                <a:solidFill>
                  <a:srgbClr val="323130"/>
                </a:solidFill>
                <a:latin typeface="Segoe UI" pitchFamily="34" charset="0"/>
                <a:ea typeface="Segoe UI" pitchFamily="34" charset="-122"/>
                <a:cs typeface="Segoe UI" pitchFamily="34" charset="-120"/>
              </a:rPr>
              <a:t>Agents observe actual state and correct any drift.</a:t>
            </a:r>
            <a:endParaRPr lang="en-US" sz="14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9">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A42ED133-4C98-41AB-9EC1-B7628D1EA28A}" type="slidenum">
              <a:rPr lang="en-US" sz="1100">
                <a:solidFill>
                  <a:srgbClr val="605E5C"/>
                </a:solidFill>
                <a:latin typeface="Segoe UI" pitchFamily="34" charset="0"/>
                <a:ea typeface="Segoe UI" pitchFamily="34" charset="-122"/>
                <a:cs typeface="Segoe UI" pitchFamily="34" charset="-120"/>
              </a:rPr>
              <a:t>52</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Push vs Pull Deployment</a:t>
            </a:r>
            <a:endParaRPr lang="en-US" sz="3200" dirty="0"/>
          </a:p>
        </p:txBody>
      </p:sp>
      <p:sp>
        <p:nvSpPr>
          <p:cNvPr id="10" name="Shape 8"/>
          <p:cNvSpPr/>
          <p:nvPr/>
        </p:nvSpPr>
        <p:spPr>
          <a:xfrm>
            <a:off x="548640" y="1737360"/>
            <a:ext cx="5422392" cy="4343400"/>
          </a:xfrm>
          <a:prstGeom prst="rect">
            <a:avLst/>
          </a:prstGeom>
          <a:solidFill>
            <a:srgbClr val="FFFFFF"/>
          </a:solidFill>
          <a:ln/>
        </p:spPr>
        <p:txBody>
          <a:bodyPr/>
          <a:lstStyle/>
          <a:p>
            <a:endParaRPr lang="en-US"/>
          </a:p>
        </p:txBody>
      </p:sp>
      <p:sp>
        <p:nvSpPr>
          <p:cNvPr id="11" name="Text 9"/>
          <p:cNvSpPr/>
          <p:nvPr/>
        </p:nvSpPr>
        <p:spPr>
          <a:xfrm>
            <a:off x="822960" y="1874520"/>
            <a:ext cx="4846320" cy="45720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Push (classic CI/CD)</a:t>
            </a:r>
            <a:endParaRPr lang="en-US" sz="2000" dirty="0"/>
          </a:p>
        </p:txBody>
      </p:sp>
      <p:sp>
        <p:nvSpPr>
          <p:cNvPr id="12" name="Text 10"/>
          <p:cNvSpPr/>
          <p:nvPr/>
        </p:nvSpPr>
        <p:spPr>
          <a:xfrm>
            <a:off x="822960" y="2560320"/>
            <a:ext cx="1371600" cy="731520"/>
          </a:xfrm>
          <a:prstGeom prst="rect">
            <a:avLst/>
          </a:prstGeom>
          <a:solidFill>
            <a:srgbClr val="0B1F33"/>
          </a:solidFill>
          <a:ln/>
        </p:spPr>
        <p:txBody>
          <a:bodyPr wrap="square" lIns="76200" tIns="76200" rIns="76200" bIns="7620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Git</a:t>
            </a:r>
            <a:endParaRPr lang="en-US" sz="1300" dirty="0"/>
          </a:p>
        </p:txBody>
      </p:sp>
      <p:sp>
        <p:nvSpPr>
          <p:cNvPr id="13" name="Shape 11"/>
          <p:cNvSpPr/>
          <p:nvPr/>
        </p:nvSpPr>
        <p:spPr>
          <a:xfrm>
            <a:off x="2240280" y="2926080"/>
            <a:ext cx="320040" cy="0"/>
          </a:xfrm>
          <a:prstGeom prst="line">
            <a:avLst/>
          </a:prstGeom>
          <a:noFill/>
          <a:ln w="25400">
            <a:solidFill>
              <a:srgbClr val="605E5C"/>
            </a:solidFill>
            <a:prstDash val="solid"/>
            <a:tailEnd type="triangle"/>
          </a:ln>
        </p:spPr>
        <p:txBody>
          <a:bodyPr/>
          <a:lstStyle/>
          <a:p>
            <a:endParaRPr lang="en-US"/>
          </a:p>
        </p:txBody>
      </p:sp>
      <p:sp>
        <p:nvSpPr>
          <p:cNvPr id="14" name="Text 12"/>
          <p:cNvSpPr/>
          <p:nvPr/>
        </p:nvSpPr>
        <p:spPr>
          <a:xfrm>
            <a:off x="2606040" y="2560320"/>
            <a:ext cx="1371600" cy="731520"/>
          </a:xfrm>
          <a:prstGeom prst="rect">
            <a:avLst/>
          </a:prstGeom>
          <a:solidFill>
            <a:srgbClr val="605E5C"/>
          </a:solidFill>
          <a:ln/>
        </p:spPr>
        <p:txBody>
          <a:bodyPr wrap="square" lIns="76200" tIns="76200" rIns="76200" bIns="7620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CI pipeline</a:t>
            </a:r>
            <a:endParaRPr lang="en-US" sz="1300" dirty="0"/>
          </a:p>
        </p:txBody>
      </p:sp>
      <p:sp>
        <p:nvSpPr>
          <p:cNvPr id="15" name="Shape 13"/>
          <p:cNvSpPr/>
          <p:nvPr/>
        </p:nvSpPr>
        <p:spPr>
          <a:xfrm>
            <a:off x="4023360" y="2926080"/>
            <a:ext cx="320040" cy="0"/>
          </a:xfrm>
          <a:prstGeom prst="line">
            <a:avLst/>
          </a:prstGeom>
          <a:noFill/>
          <a:ln w="25400">
            <a:solidFill>
              <a:srgbClr val="605E5C"/>
            </a:solidFill>
            <a:prstDash val="solid"/>
            <a:tailEnd type="triangle"/>
          </a:ln>
        </p:spPr>
        <p:txBody>
          <a:bodyPr/>
          <a:lstStyle/>
          <a:p>
            <a:endParaRPr lang="en-US"/>
          </a:p>
        </p:txBody>
      </p:sp>
      <p:sp>
        <p:nvSpPr>
          <p:cNvPr id="16" name="Text 14"/>
          <p:cNvSpPr/>
          <p:nvPr/>
        </p:nvSpPr>
        <p:spPr>
          <a:xfrm>
            <a:off x="4389120" y="2560320"/>
            <a:ext cx="1371600" cy="731520"/>
          </a:xfrm>
          <a:prstGeom prst="rect">
            <a:avLst/>
          </a:prstGeom>
          <a:solidFill>
            <a:srgbClr val="0B1F33"/>
          </a:solidFill>
          <a:ln/>
        </p:spPr>
        <p:txBody>
          <a:bodyPr wrap="square" lIns="76200" tIns="76200" rIns="76200" bIns="7620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Cluster</a:t>
            </a:r>
            <a:endParaRPr lang="en-US" sz="1300" dirty="0"/>
          </a:p>
        </p:txBody>
      </p:sp>
      <p:sp>
        <p:nvSpPr>
          <p:cNvPr id="17" name="Text 15"/>
          <p:cNvSpPr/>
          <p:nvPr/>
        </p:nvSpPr>
        <p:spPr>
          <a:xfrm>
            <a:off x="822960" y="3383280"/>
            <a:ext cx="4846320" cy="365760"/>
          </a:xfrm>
          <a:prstGeom prst="rect">
            <a:avLst/>
          </a:prstGeom>
          <a:noFill/>
          <a:ln/>
        </p:spPr>
        <p:txBody>
          <a:bodyPr wrap="square" lIns="0" tIns="0" rIns="0" bIns="0" rtlCol="0" anchor="ctr"/>
          <a:lstStyle/>
          <a:p>
            <a:pPr marL="0" indent="0">
              <a:buNone/>
            </a:pPr>
            <a:r>
              <a:rPr lang="en-US" sz="1250" i="1" dirty="0">
                <a:solidFill>
                  <a:srgbClr val="605E5C"/>
                </a:solidFill>
                <a:latin typeface="Segoe UI" pitchFamily="34" charset="0"/>
                <a:ea typeface="Segoe UI" pitchFamily="34" charset="-122"/>
                <a:cs typeface="Segoe UI" pitchFamily="34" charset="-120"/>
              </a:rPr>
              <a:t>pipeline pushes into the cluster</a:t>
            </a:r>
            <a:endParaRPr lang="en-US" sz="1250" dirty="0"/>
          </a:p>
        </p:txBody>
      </p:sp>
      <p:sp>
        <p:nvSpPr>
          <p:cNvPr id="18" name="Text 16"/>
          <p:cNvSpPr/>
          <p:nvPr/>
        </p:nvSpPr>
        <p:spPr>
          <a:xfrm>
            <a:off x="822960" y="3931920"/>
            <a:ext cx="4846320" cy="201168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323130"/>
                </a:solidFill>
                <a:latin typeface="Segoe UI" pitchFamily="34" charset="0"/>
                <a:ea typeface="Segoe UI" pitchFamily="34" charset="-122"/>
                <a:cs typeface="Segoe UI" pitchFamily="34" charset="-120"/>
              </a:rPr>
              <a:t>Pipeline holds cluster credentials</a:t>
            </a:r>
            <a:endParaRPr lang="en-US" sz="1500" dirty="0"/>
          </a:p>
          <a:p>
            <a:pPr marL="254000" indent="-254000">
              <a:spcAft>
                <a:spcPts val="800"/>
              </a:spcAft>
              <a:buSzPct val="100000"/>
              <a:buChar char="•"/>
            </a:pPr>
            <a:r>
              <a:rPr lang="en-US" sz="1500" dirty="0">
                <a:solidFill>
                  <a:srgbClr val="323130"/>
                </a:solidFill>
                <a:latin typeface="Segoe UI" pitchFamily="34" charset="0"/>
                <a:ea typeface="Segoe UI" pitchFamily="34" charset="-122"/>
                <a:cs typeface="Segoe UI" pitchFamily="34" charset="-120"/>
              </a:rPr>
              <a:t>Drift goes unnoticed after deploy</a:t>
            </a:r>
            <a:endParaRPr lang="en-US" sz="1500" dirty="0"/>
          </a:p>
          <a:p>
            <a:pPr marL="254000" indent="-254000">
              <a:spcAft>
                <a:spcPts val="800"/>
              </a:spcAft>
              <a:buSzPct val="100000"/>
              <a:buChar char="•"/>
            </a:pPr>
            <a:r>
              <a:rPr lang="en-US" sz="1500" dirty="0">
                <a:solidFill>
                  <a:srgbClr val="323130"/>
                </a:solidFill>
                <a:latin typeface="Segoe UI" pitchFamily="34" charset="0"/>
                <a:ea typeface="Segoe UI" pitchFamily="34" charset="-122"/>
                <a:cs typeface="Segoe UI" pitchFamily="34" charset="-120"/>
              </a:rPr>
              <a:t>Cluster API must be reachable from CI</a:t>
            </a:r>
            <a:endParaRPr lang="en-US" sz="1500" dirty="0"/>
          </a:p>
        </p:txBody>
      </p:sp>
      <p:sp>
        <p:nvSpPr>
          <p:cNvPr id="19" name="Shape 17"/>
          <p:cNvSpPr/>
          <p:nvPr/>
        </p:nvSpPr>
        <p:spPr>
          <a:xfrm>
            <a:off x="6217920" y="1737360"/>
            <a:ext cx="5422392" cy="4343400"/>
          </a:xfrm>
          <a:prstGeom prst="rect">
            <a:avLst/>
          </a:prstGeom>
          <a:solidFill>
            <a:srgbClr val="FFFFFF"/>
          </a:solidFill>
          <a:ln/>
        </p:spPr>
        <p:txBody>
          <a:bodyPr/>
          <a:lstStyle/>
          <a:p>
            <a:endParaRPr lang="en-US"/>
          </a:p>
        </p:txBody>
      </p:sp>
      <p:sp>
        <p:nvSpPr>
          <p:cNvPr id="20" name="Text 18"/>
          <p:cNvSpPr/>
          <p:nvPr/>
        </p:nvSpPr>
        <p:spPr>
          <a:xfrm>
            <a:off x="6492240" y="1874520"/>
            <a:ext cx="4846320" cy="457200"/>
          </a:xfrm>
          <a:prstGeom prst="rect">
            <a:avLst/>
          </a:prstGeom>
          <a:noFill/>
          <a:ln/>
        </p:spPr>
        <p:txBody>
          <a:bodyPr wrap="square" lIns="0" tIns="0" rIns="0" bIns="0" rtlCol="0" anchor="ctr"/>
          <a:lstStyle/>
          <a:p>
            <a:pPr marL="0" indent="0">
              <a:buNone/>
            </a:pPr>
            <a:r>
              <a:rPr lang="en-US" sz="2000" dirty="0">
                <a:solidFill>
                  <a:srgbClr val="005248"/>
                </a:solidFill>
                <a:latin typeface="Segoe UI Semibold" pitchFamily="34" charset="0"/>
                <a:ea typeface="Segoe UI Semibold" pitchFamily="34" charset="-122"/>
                <a:cs typeface="Segoe UI Semibold" pitchFamily="34" charset="-120"/>
              </a:rPr>
              <a:t>Pull (GitOps)</a:t>
            </a:r>
            <a:endParaRPr lang="en-US" sz="2000" dirty="0"/>
          </a:p>
        </p:txBody>
      </p:sp>
      <p:sp>
        <p:nvSpPr>
          <p:cNvPr id="21" name="Text 19"/>
          <p:cNvSpPr/>
          <p:nvPr/>
        </p:nvSpPr>
        <p:spPr>
          <a:xfrm>
            <a:off x="6492240" y="2560320"/>
            <a:ext cx="1371600" cy="731520"/>
          </a:xfrm>
          <a:prstGeom prst="rect">
            <a:avLst/>
          </a:prstGeom>
          <a:solidFill>
            <a:srgbClr val="0B1F33"/>
          </a:solidFill>
          <a:ln/>
        </p:spPr>
        <p:txBody>
          <a:bodyPr wrap="square" lIns="76200" tIns="76200" rIns="76200" bIns="7620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Git</a:t>
            </a:r>
            <a:endParaRPr lang="en-US" sz="1300" dirty="0"/>
          </a:p>
        </p:txBody>
      </p:sp>
      <p:sp>
        <p:nvSpPr>
          <p:cNvPr id="22" name="Shape 20"/>
          <p:cNvSpPr/>
          <p:nvPr/>
        </p:nvSpPr>
        <p:spPr>
          <a:xfrm>
            <a:off x="7909560" y="2926080"/>
            <a:ext cx="320040" cy="0"/>
          </a:xfrm>
          <a:prstGeom prst="line">
            <a:avLst/>
          </a:prstGeom>
          <a:noFill/>
          <a:ln w="25400">
            <a:solidFill>
              <a:srgbClr val="008575"/>
            </a:solidFill>
            <a:prstDash val="solid"/>
            <a:tailEnd type="triangle"/>
          </a:ln>
        </p:spPr>
        <p:txBody>
          <a:bodyPr/>
          <a:lstStyle/>
          <a:p>
            <a:endParaRPr lang="en-US"/>
          </a:p>
        </p:txBody>
      </p:sp>
      <p:sp>
        <p:nvSpPr>
          <p:cNvPr id="23" name="Text 21"/>
          <p:cNvSpPr/>
          <p:nvPr/>
        </p:nvSpPr>
        <p:spPr>
          <a:xfrm>
            <a:off x="8275320" y="2560320"/>
            <a:ext cx="1371600" cy="731520"/>
          </a:xfrm>
          <a:prstGeom prst="rect">
            <a:avLst/>
          </a:prstGeom>
          <a:solidFill>
            <a:srgbClr val="008575"/>
          </a:solidFill>
          <a:ln/>
        </p:spPr>
        <p:txBody>
          <a:bodyPr wrap="square" lIns="76200" tIns="76200" rIns="76200" bIns="7620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Agent in cluster</a:t>
            </a:r>
            <a:endParaRPr lang="en-US" sz="1300" dirty="0"/>
          </a:p>
        </p:txBody>
      </p:sp>
      <p:sp>
        <p:nvSpPr>
          <p:cNvPr id="24" name="Shape 22"/>
          <p:cNvSpPr/>
          <p:nvPr/>
        </p:nvSpPr>
        <p:spPr>
          <a:xfrm flipH="1">
            <a:off x="9692640" y="2926080"/>
            <a:ext cx="365760" cy="0"/>
          </a:xfrm>
          <a:prstGeom prst="line">
            <a:avLst/>
          </a:prstGeom>
          <a:noFill/>
          <a:ln w="25400">
            <a:solidFill>
              <a:srgbClr val="008575"/>
            </a:solidFill>
            <a:prstDash val="solid"/>
            <a:tailEnd type="triangle"/>
          </a:ln>
        </p:spPr>
        <p:txBody>
          <a:bodyPr/>
          <a:lstStyle/>
          <a:p>
            <a:endParaRPr lang="en-US"/>
          </a:p>
        </p:txBody>
      </p:sp>
      <p:sp>
        <p:nvSpPr>
          <p:cNvPr id="25" name="Text 23"/>
          <p:cNvSpPr/>
          <p:nvPr/>
        </p:nvSpPr>
        <p:spPr>
          <a:xfrm>
            <a:off x="10058400" y="2560320"/>
            <a:ext cx="1371600" cy="731520"/>
          </a:xfrm>
          <a:prstGeom prst="rect">
            <a:avLst/>
          </a:prstGeom>
          <a:solidFill>
            <a:srgbClr val="0B1F33"/>
          </a:solidFill>
          <a:ln/>
        </p:spPr>
        <p:txBody>
          <a:bodyPr wrap="square" lIns="76200" tIns="76200" rIns="76200" bIns="76200" rtlCol="0" anchor="ctr"/>
          <a:lstStyle/>
          <a:p>
            <a:pPr marL="0" indent="0" algn="ctr">
              <a:buNone/>
            </a:pPr>
            <a:r>
              <a:rPr lang="en-US" sz="1300" dirty="0">
                <a:solidFill>
                  <a:srgbClr val="FFFFFF"/>
                </a:solidFill>
                <a:latin typeface="Segoe UI Semibold" pitchFamily="34" charset="0"/>
                <a:ea typeface="Segoe UI Semibold" pitchFamily="34" charset="-122"/>
                <a:cs typeface="Segoe UI Semibold" pitchFamily="34" charset="-120"/>
              </a:rPr>
              <a:t>Cluster</a:t>
            </a:r>
            <a:endParaRPr lang="en-US" sz="1300" dirty="0"/>
          </a:p>
        </p:txBody>
      </p:sp>
      <p:sp>
        <p:nvSpPr>
          <p:cNvPr id="26" name="Text 24"/>
          <p:cNvSpPr/>
          <p:nvPr/>
        </p:nvSpPr>
        <p:spPr>
          <a:xfrm>
            <a:off x="6492240" y="3383280"/>
            <a:ext cx="4846320" cy="365760"/>
          </a:xfrm>
          <a:prstGeom prst="rect">
            <a:avLst/>
          </a:prstGeom>
          <a:noFill/>
          <a:ln/>
        </p:spPr>
        <p:txBody>
          <a:bodyPr wrap="square" lIns="0" tIns="0" rIns="0" bIns="0" rtlCol="0" anchor="ctr"/>
          <a:lstStyle/>
          <a:p>
            <a:pPr marL="0" indent="0">
              <a:buNone/>
            </a:pPr>
            <a:r>
              <a:rPr lang="en-US" sz="1250" i="1" dirty="0">
                <a:solidFill>
                  <a:srgbClr val="605E5C"/>
                </a:solidFill>
                <a:latin typeface="Segoe UI" pitchFamily="34" charset="0"/>
                <a:ea typeface="Segoe UI" pitchFamily="34" charset="-122"/>
                <a:cs typeface="Segoe UI" pitchFamily="34" charset="-120"/>
              </a:rPr>
              <a:t>agent pulls from Git and watches the cluster</a:t>
            </a:r>
            <a:endParaRPr lang="en-US" sz="1250" dirty="0"/>
          </a:p>
        </p:txBody>
      </p:sp>
      <p:sp>
        <p:nvSpPr>
          <p:cNvPr id="27" name="Text 25"/>
          <p:cNvSpPr/>
          <p:nvPr/>
        </p:nvSpPr>
        <p:spPr>
          <a:xfrm>
            <a:off x="6492240" y="3931920"/>
            <a:ext cx="4846320" cy="2011680"/>
          </a:xfrm>
          <a:prstGeom prst="rect">
            <a:avLst/>
          </a:prstGeom>
          <a:noFill/>
          <a:ln/>
        </p:spPr>
        <p:txBody>
          <a:bodyPr wrap="square" lIns="0" tIns="0" rIns="0" bIns="0" rtlCol="0" anchor="t"/>
          <a:lstStyle/>
          <a:p>
            <a:pPr marL="254000" indent="-254000">
              <a:spcAft>
                <a:spcPts val="800"/>
              </a:spcAft>
              <a:buSzPct val="100000"/>
              <a:buChar char="•"/>
            </a:pPr>
            <a:r>
              <a:rPr lang="en-US" sz="1500" dirty="0">
                <a:solidFill>
                  <a:srgbClr val="323130"/>
                </a:solidFill>
                <a:latin typeface="Segoe UI" pitchFamily="34" charset="0"/>
                <a:ea typeface="Segoe UI" pitchFamily="34" charset="-122"/>
                <a:cs typeface="Segoe UI" pitchFamily="34" charset="-120"/>
              </a:rPr>
              <a:t>No cluster credentials outside the cluster</a:t>
            </a:r>
            <a:endParaRPr lang="en-US" sz="1500" dirty="0"/>
          </a:p>
          <a:p>
            <a:pPr marL="254000" indent="-254000">
              <a:spcAft>
                <a:spcPts val="800"/>
              </a:spcAft>
              <a:buSzPct val="100000"/>
              <a:buChar char="•"/>
            </a:pPr>
            <a:r>
              <a:rPr lang="en-US" sz="1500" dirty="0">
                <a:solidFill>
                  <a:srgbClr val="323130"/>
                </a:solidFill>
                <a:latin typeface="Segoe UI" pitchFamily="34" charset="0"/>
                <a:ea typeface="Segoe UI" pitchFamily="34" charset="-122"/>
                <a:cs typeface="Segoe UI" pitchFamily="34" charset="-120"/>
              </a:rPr>
              <a:t>Drift is detected and corrected</a:t>
            </a:r>
            <a:endParaRPr lang="en-US" sz="1500" dirty="0"/>
          </a:p>
          <a:p>
            <a:pPr marL="254000" indent="-254000">
              <a:spcAft>
                <a:spcPts val="800"/>
              </a:spcAft>
              <a:buSzPct val="100000"/>
              <a:buChar char="•"/>
            </a:pPr>
            <a:r>
              <a:rPr lang="en-US" sz="1500" dirty="0">
                <a:solidFill>
                  <a:srgbClr val="323130"/>
                </a:solidFill>
                <a:latin typeface="Segoe UI" pitchFamily="34" charset="0"/>
                <a:ea typeface="Segoe UI" pitchFamily="34" charset="-122"/>
                <a:cs typeface="Segoe UI" pitchFamily="34" charset="-120"/>
              </a:rPr>
              <a:t>Works for private clusters — outbound only</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0">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4FE0C9"/>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0438D0D8-51F2-4BA7-AC0A-5221613603CF}" type="slidenum">
              <a:rPr lang="en-US" sz="1100">
                <a:solidFill>
                  <a:srgbClr val="A9B8C8"/>
                </a:solidFill>
                <a:latin typeface="Segoe UI" pitchFamily="34" charset="0"/>
                <a:ea typeface="Segoe UI" pitchFamily="34" charset="-122"/>
                <a:cs typeface="Segoe UI" pitchFamily="34" charset="-120"/>
              </a:rPr>
              <a:t>53</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The GitOps Loop</a:t>
            </a:r>
            <a:endParaRPr lang="en-US" sz="3200" dirty="0"/>
          </a:p>
        </p:txBody>
      </p:sp>
      <p:sp>
        <p:nvSpPr>
          <p:cNvPr id="10" name="Shape 8"/>
          <p:cNvSpPr/>
          <p:nvPr/>
        </p:nvSpPr>
        <p:spPr>
          <a:xfrm>
            <a:off x="1965960" y="2240280"/>
            <a:ext cx="3383280" cy="3383280"/>
          </a:xfrm>
          <a:prstGeom prst="ellipse">
            <a:avLst/>
          </a:prstGeom>
          <a:solidFill>
            <a:srgbClr val="0B1F33"/>
          </a:solidFill>
          <a:ln w="38100">
            <a:solidFill>
              <a:srgbClr val="008575"/>
            </a:solidFill>
            <a:prstDash val="dash"/>
          </a:ln>
        </p:spPr>
        <p:txBody>
          <a:bodyPr/>
          <a:lstStyle/>
          <a:p>
            <a:endParaRPr lang="en-US"/>
          </a:p>
        </p:txBody>
      </p:sp>
      <p:sp>
        <p:nvSpPr>
          <p:cNvPr id="11" name="Text 9"/>
          <p:cNvSpPr/>
          <p:nvPr/>
        </p:nvSpPr>
        <p:spPr>
          <a:xfrm>
            <a:off x="2560320" y="3474720"/>
            <a:ext cx="2194560" cy="914400"/>
          </a:xfrm>
          <a:prstGeom prst="rect">
            <a:avLst/>
          </a:prstGeom>
          <a:noFill/>
          <a:ln/>
        </p:spPr>
        <p:txBody>
          <a:bodyPr wrap="square" lIns="0" tIns="0" rIns="0" bIns="0" rtlCol="0" anchor="ctr"/>
          <a:lstStyle/>
          <a:p>
            <a:pPr marL="0" indent="0" algn="ctr">
              <a:buNone/>
            </a:pPr>
            <a:r>
              <a:rPr lang="en-US" sz="1600" dirty="0">
                <a:solidFill>
                  <a:srgbClr val="4FE0C9"/>
                </a:solidFill>
                <a:latin typeface="Segoe UI Semibold" pitchFamily="34" charset="0"/>
                <a:ea typeface="Segoe UI Semibold" pitchFamily="34" charset="-122"/>
                <a:cs typeface="Segoe UI Semibold" pitchFamily="34" charset="-120"/>
              </a:rPr>
              <a:t>Desired state = Git</a:t>
            </a:r>
            <a:endParaRPr lang="en-US" sz="1600" dirty="0"/>
          </a:p>
        </p:txBody>
      </p:sp>
      <p:sp>
        <p:nvSpPr>
          <p:cNvPr id="12" name="Text 10"/>
          <p:cNvSpPr/>
          <p:nvPr/>
        </p:nvSpPr>
        <p:spPr>
          <a:xfrm>
            <a:off x="2880360" y="1920240"/>
            <a:ext cx="1554480" cy="640080"/>
          </a:xfrm>
          <a:prstGeom prst="rect">
            <a:avLst/>
          </a:prstGeom>
          <a:solidFill>
            <a:srgbClr val="16304A"/>
          </a:solidFill>
          <a:ln w="15875">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Commit</a:t>
            </a:r>
            <a:endParaRPr lang="en-US" sz="1400" dirty="0"/>
          </a:p>
        </p:txBody>
      </p:sp>
      <p:sp>
        <p:nvSpPr>
          <p:cNvPr id="13" name="Text 11"/>
          <p:cNvSpPr/>
          <p:nvPr/>
        </p:nvSpPr>
        <p:spPr>
          <a:xfrm>
            <a:off x="4345363" y="2766060"/>
            <a:ext cx="1554480" cy="640080"/>
          </a:xfrm>
          <a:prstGeom prst="rect">
            <a:avLst/>
          </a:prstGeom>
          <a:solidFill>
            <a:srgbClr val="16304A"/>
          </a:solidFill>
          <a:ln w="15875">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Review</a:t>
            </a:r>
            <a:endParaRPr lang="en-US" sz="1400" dirty="0"/>
          </a:p>
        </p:txBody>
      </p:sp>
      <p:sp>
        <p:nvSpPr>
          <p:cNvPr id="14" name="Text 12"/>
          <p:cNvSpPr/>
          <p:nvPr/>
        </p:nvSpPr>
        <p:spPr>
          <a:xfrm>
            <a:off x="4345363" y="4457700"/>
            <a:ext cx="1554480" cy="640080"/>
          </a:xfrm>
          <a:prstGeom prst="rect">
            <a:avLst/>
          </a:prstGeom>
          <a:solidFill>
            <a:srgbClr val="16304A"/>
          </a:solidFill>
          <a:ln w="15875">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Merge</a:t>
            </a:r>
            <a:endParaRPr lang="en-US" sz="1400" dirty="0"/>
          </a:p>
        </p:txBody>
      </p:sp>
      <p:sp>
        <p:nvSpPr>
          <p:cNvPr id="15" name="Text 13"/>
          <p:cNvSpPr/>
          <p:nvPr/>
        </p:nvSpPr>
        <p:spPr>
          <a:xfrm>
            <a:off x="2880360" y="5303520"/>
            <a:ext cx="1554480" cy="640080"/>
          </a:xfrm>
          <a:prstGeom prst="rect">
            <a:avLst/>
          </a:prstGeom>
          <a:solidFill>
            <a:srgbClr val="16304A"/>
          </a:solidFill>
          <a:ln w="15875">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Detect</a:t>
            </a:r>
            <a:endParaRPr lang="en-US" sz="1400" dirty="0"/>
          </a:p>
        </p:txBody>
      </p:sp>
      <p:sp>
        <p:nvSpPr>
          <p:cNvPr id="16" name="Text 14"/>
          <p:cNvSpPr/>
          <p:nvPr/>
        </p:nvSpPr>
        <p:spPr>
          <a:xfrm>
            <a:off x="1415357" y="4457700"/>
            <a:ext cx="1554480" cy="640080"/>
          </a:xfrm>
          <a:prstGeom prst="rect">
            <a:avLst/>
          </a:prstGeom>
          <a:solidFill>
            <a:srgbClr val="008575"/>
          </a:solidFill>
          <a:ln w="15875">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Reconcile</a:t>
            </a:r>
            <a:endParaRPr lang="en-US" sz="1400" dirty="0"/>
          </a:p>
        </p:txBody>
      </p:sp>
      <p:sp>
        <p:nvSpPr>
          <p:cNvPr id="17" name="Text 15"/>
          <p:cNvSpPr/>
          <p:nvPr/>
        </p:nvSpPr>
        <p:spPr>
          <a:xfrm>
            <a:off x="1415357" y="2766060"/>
            <a:ext cx="1554480" cy="640080"/>
          </a:xfrm>
          <a:prstGeom prst="rect">
            <a:avLst/>
          </a:prstGeom>
          <a:solidFill>
            <a:srgbClr val="008575"/>
          </a:solidFill>
          <a:ln w="15875">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Correct drift</a:t>
            </a:r>
            <a:endParaRPr lang="en-US" sz="1400" dirty="0"/>
          </a:p>
        </p:txBody>
      </p:sp>
      <p:sp>
        <p:nvSpPr>
          <p:cNvPr id="18" name="Text 16"/>
          <p:cNvSpPr/>
          <p:nvPr/>
        </p:nvSpPr>
        <p:spPr>
          <a:xfrm>
            <a:off x="6675120" y="1920240"/>
            <a:ext cx="4965192" cy="4114800"/>
          </a:xfrm>
          <a:prstGeom prst="rect">
            <a:avLst/>
          </a:prstGeom>
          <a:noFill/>
          <a:ln/>
        </p:spPr>
        <p:txBody>
          <a:bodyPr wrap="square" lIns="0" tIns="0" rIns="0" bIns="0" rtlCol="0" anchor="t"/>
          <a:lstStyle/>
          <a:p>
            <a:pPr marL="254000" indent="-254000">
              <a:spcAft>
                <a:spcPts val="1600"/>
              </a:spcAft>
              <a:buSzPct val="100000"/>
              <a:buChar char="•"/>
            </a:pPr>
            <a:r>
              <a:rPr lang="en-US" sz="1700" dirty="0">
                <a:solidFill>
                  <a:srgbClr val="FFFFFF"/>
                </a:solidFill>
                <a:latin typeface="Segoe UI" pitchFamily="34" charset="0"/>
                <a:ea typeface="Segoe UI" pitchFamily="34" charset="-122"/>
                <a:cs typeface="Segoe UI" pitchFamily="34" charset="-120"/>
              </a:rPr>
              <a:t>Every change is a </a:t>
            </a:r>
            <a:r>
              <a:rPr lang="en-US" sz="1700" b="1" dirty="0">
                <a:solidFill>
                  <a:srgbClr val="FFFFFF"/>
                </a:solidFill>
                <a:latin typeface="Segoe UI" pitchFamily="34" charset="0"/>
                <a:ea typeface="Segoe UI" pitchFamily="34" charset="-122"/>
                <a:cs typeface="Segoe UI" pitchFamily="34" charset="-120"/>
              </a:rPr>
              <a:t>commit</a:t>
            </a:r>
            <a:r>
              <a:rPr lang="en-US" sz="1700" dirty="0">
                <a:solidFill>
                  <a:srgbClr val="FFFFFF"/>
                </a:solidFill>
                <a:latin typeface="Segoe UI" pitchFamily="34" charset="0"/>
                <a:ea typeface="Segoe UI" pitchFamily="34" charset="-122"/>
                <a:cs typeface="Segoe UI" pitchFamily="34" charset="-120"/>
              </a:rPr>
              <a:t> — reviewed, auditable, revertable</a:t>
            </a:r>
            <a:endParaRPr lang="en-US" sz="1700" dirty="0"/>
          </a:p>
          <a:p>
            <a:pPr marL="254000" indent="-254000">
              <a:spcAft>
                <a:spcPts val="1600"/>
              </a:spcAft>
              <a:buSzPct val="100000"/>
              <a:buChar char="•"/>
            </a:pPr>
            <a:r>
              <a:rPr lang="en-US" sz="1700" dirty="0">
                <a:solidFill>
                  <a:srgbClr val="FFFFFF"/>
                </a:solidFill>
                <a:latin typeface="Segoe UI" pitchFamily="34" charset="0"/>
                <a:ea typeface="Segoe UI" pitchFamily="34" charset="-122"/>
                <a:cs typeface="Segoe UI" pitchFamily="34" charset="-120"/>
              </a:rPr>
              <a:t>Rollback = </a:t>
            </a:r>
            <a:r>
              <a:rPr lang="en-US" sz="1700" dirty="0">
                <a:solidFill>
                  <a:srgbClr val="9CDCFE"/>
                </a:solidFill>
                <a:latin typeface="Consolas" pitchFamily="34" charset="0"/>
                <a:ea typeface="Consolas" pitchFamily="34" charset="-122"/>
                <a:cs typeface="Consolas" pitchFamily="34" charset="-120"/>
              </a:rPr>
              <a:t>git revert</a:t>
            </a:r>
            <a:endParaRPr lang="en-US" sz="1700" dirty="0"/>
          </a:p>
          <a:p>
            <a:pPr marL="254000" indent="-254000">
              <a:spcAft>
                <a:spcPts val="1600"/>
              </a:spcAft>
              <a:buSzPct val="100000"/>
              <a:buChar char="•"/>
            </a:pPr>
            <a:r>
              <a:rPr lang="en-US" sz="1700" dirty="0">
                <a:solidFill>
                  <a:srgbClr val="FFFFFF"/>
                </a:solidFill>
                <a:latin typeface="Segoe UI" pitchFamily="34" charset="0"/>
                <a:ea typeface="Segoe UI" pitchFamily="34" charset="-122"/>
                <a:cs typeface="Segoe UI" pitchFamily="34" charset="-120"/>
              </a:rPr>
              <a:t>The agent runs on an interval </a:t>
            </a:r>
            <a:r>
              <a:rPr lang="en-US" sz="1700" b="1" dirty="0">
                <a:solidFill>
                  <a:srgbClr val="FFFFFF"/>
                </a:solidFill>
                <a:latin typeface="Segoe UI" pitchFamily="34" charset="0"/>
                <a:ea typeface="Segoe UI" pitchFamily="34" charset="-122"/>
                <a:cs typeface="Segoe UI" pitchFamily="34" charset="-120"/>
              </a:rPr>
              <a:t>and</a:t>
            </a:r>
            <a:r>
              <a:rPr lang="en-US" sz="1700" dirty="0">
                <a:solidFill>
                  <a:srgbClr val="FFFFFF"/>
                </a:solidFill>
                <a:latin typeface="Segoe UI" pitchFamily="34" charset="0"/>
                <a:ea typeface="Segoe UI" pitchFamily="34" charset="-122"/>
                <a:cs typeface="Segoe UI" pitchFamily="34" charset="-120"/>
              </a:rPr>
              <a:t> on webhook triggers</a:t>
            </a:r>
            <a:endParaRPr lang="en-US" sz="1700" dirty="0"/>
          </a:p>
          <a:p>
            <a:pPr marL="254000" indent="-254000">
              <a:spcAft>
                <a:spcPts val="1600"/>
              </a:spcAft>
              <a:buSzPct val="100000"/>
              <a:buChar char="•"/>
            </a:pPr>
            <a:r>
              <a:rPr lang="en-US" sz="1700" dirty="0">
                <a:solidFill>
                  <a:srgbClr val="FFFFFF"/>
                </a:solidFill>
                <a:latin typeface="Segoe UI" pitchFamily="34" charset="0"/>
                <a:ea typeface="Segoe UI" pitchFamily="34" charset="-122"/>
                <a:cs typeface="Segoe UI" pitchFamily="34" charset="-120"/>
              </a:rPr>
              <a:t>Manual </a:t>
            </a:r>
            <a:r>
              <a:rPr lang="en-US" sz="1700" dirty="0">
                <a:solidFill>
                  <a:srgbClr val="9CDCFE"/>
                </a:solidFill>
                <a:latin typeface="Consolas" pitchFamily="34" charset="0"/>
                <a:ea typeface="Consolas" pitchFamily="34" charset="-122"/>
                <a:cs typeface="Consolas" pitchFamily="34" charset="-120"/>
              </a:rPr>
              <a:t>kubectl</a:t>
            </a:r>
            <a:r>
              <a:rPr lang="en-US" sz="1700" dirty="0">
                <a:solidFill>
                  <a:srgbClr val="FFFFFF"/>
                </a:solidFill>
                <a:latin typeface="Segoe UI" pitchFamily="34" charset="0"/>
                <a:ea typeface="Segoe UI" pitchFamily="34" charset="-122"/>
                <a:cs typeface="Segoe UI" pitchFamily="34" charset="-120"/>
              </a:rPr>
              <a:t> changes are overwritten on the next reconcile</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638542C5-72D0-4CCE-9141-0A898F5F40A1}" type="slidenum">
              <a:rPr lang="en-US" sz="1100">
                <a:solidFill>
                  <a:srgbClr val="605E5C"/>
                </a:solidFill>
                <a:latin typeface="Segoe UI" pitchFamily="34" charset="0"/>
                <a:ea typeface="Segoe UI" pitchFamily="34" charset="-122"/>
                <a:cs typeface="Segoe UI" pitchFamily="34" charset="-120"/>
              </a:rPr>
              <a:t>54</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Repository Structure</a:t>
            </a:r>
            <a:endParaRPr lang="en-US" sz="3200" dirty="0"/>
          </a:p>
        </p:txBody>
      </p:sp>
      <p:sp>
        <p:nvSpPr>
          <p:cNvPr id="10" name="Shape 8"/>
          <p:cNvSpPr/>
          <p:nvPr/>
        </p:nvSpPr>
        <p:spPr>
          <a:xfrm>
            <a:off x="548640" y="1737360"/>
            <a:ext cx="6217920" cy="4343400"/>
          </a:xfrm>
          <a:prstGeom prst="rect">
            <a:avLst/>
          </a:prstGeom>
          <a:solidFill>
            <a:srgbClr val="1E1E1E"/>
          </a:solidFill>
          <a:ln/>
        </p:spPr>
        <p:txBody>
          <a:bodyPr/>
          <a:lstStyle/>
          <a:p>
            <a:endParaRPr lang="en-US"/>
          </a:p>
        </p:txBody>
      </p:sp>
      <p:sp>
        <p:nvSpPr>
          <p:cNvPr id="11" name="Shape 9"/>
          <p:cNvSpPr/>
          <p:nvPr/>
        </p:nvSpPr>
        <p:spPr>
          <a:xfrm>
            <a:off x="548640" y="1737360"/>
            <a:ext cx="6217920" cy="347472"/>
          </a:xfrm>
          <a:prstGeom prst="rect">
            <a:avLst/>
          </a:prstGeom>
          <a:solidFill>
            <a:srgbClr val="2D2D30"/>
          </a:solidFill>
          <a:ln/>
        </p:spPr>
        <p:txBody>
          <a:bodyPr/>
          <a:lstStyle/>
          <a:p>
            <a:endParaRPr lang="en-US"/>
          </a:p>
        </p:txBody>
      </p:sp>
      <p:sp>
        <p:nvSpPr>
          <p:cNvPr id="12" name="Shape 10"/>
          <p:cNvSpPr/>
          <p:nvPr/>
        </p:nvSpPr>
        <p:spPr>
          <a:xfrm>
            <a:off x="548640" y="1737360"/>
            <a:ext cx="1869948" cy="347472"/>
          </a:xfrm>
          <a:prstGeom prst="rect">
            <a:avLst/>
          </a:prstGeom>
          <a:solidFill>
            <a:srgbClr val="1E1E1E"/>
          </a:solidFill>
          <a:ln/>
        </p:spPr>
        <p:txBody>
          <a:bodyPr/>
          <a:lstStyle/>
          <a:p>
            <a:endParaRPr lang="en-US"/>
          </a:p>
        </p:txBody>
      </p:sp>
      <p:sp>
        <p:nvSpPr>
          <p:cNvPr id="13" name="Text 11"/>
          <p:cNvSpPr/>
          <p:nvPr/>
        </p:nvSpPr>
        <p:spPr>
          <a:xfrm>
            <a:off x="685800" y="1737360"/>
            <a:ext cx="1687068"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repository layout</a:t>
            </a:r>
            <a:endParaRPr lang="en-US" sz="1100" dirty="0"/>
          </a:p>
        </p:txBody>
      </p:sp>
      <p:sp>
        <p:nvSpPr>
          <p:cNvPr id="14" name="Text 12"/>
          <p:cNvSpPr/>
          <p:nvPr/>
        </p:nvSpPr>
        <p:spPr>
          <a:xfrm>
            <a:off x="749808" y="2212848"/>
            <a:ext cx="5852160" cy="3749040"/>
          </a:xfrm>
          <a:prstGeom prst="rect">
            <a:avLst/>
          </a:prstGeom>
          <a:noFill/>
          <a:ln/>
        </p:spPr>
        <p:txBody>
          <a:bodyPr wrap="square" lIns="0" tIns="0" rIns="0" bIns="0" rtlCol="0" anchor="t"/>
          <a:lstStyle/>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platform-gitops</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apps</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base</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store-api      </a:t>
            </a:r>
            <a:r>
              <a:rPr lang="en-US" sz="1400" dirty="0">
                <a:solidFill>
                  <a:srgbClr val="6A9955"/>
                </a:solidFill>
                <a:latin typeface="Consolas" pitchFamily="34" charset="0"/>
                <a:ea typeface="Consolas" pitchFamily="34" charset="-122"/>
                <a:cs typeface="Consolas" pitchFamily="34" charset="-120"/>
              </a:rPr>
              <a:t> # Deployment, Service, HTTPRoute</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overlays</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dev            </a:t>
            </a:r>
            <a:r>
              <a:rPr lang="en-US" sz="1400" dirty="0">
                <a:solidFill>
                  <a:srgbClr val="6A9955"/>
                </a:solidFill>
                <a:latin typeface="Consolas" pitchFamily="34" charset="0"/>
                <a:ea typeface="Consolas" pitchFamily="34" charset="-122"/>
                <a:cs typeface="Consolas" pitchFamily="34" charset="-120"/>
              </a:rPr>
              <a:t> # kustomization.yaml + patches</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prod</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infrastructure</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gateway          </a:t>
            </a:r>
            <a:r>
              <a:rPr lang="en-US" sz="1400" dirty="0">
                <a:solidFill>
                  <a:srgbClr val="6A9955"/>
                </a:solidFill>
                <a:latin typeface="Consolas" pitchFamily="34" charset="0"/>
                <a:ea typeface="Consolas" pitchFamily="34" charset="-122"/>
                <a:cs typeface="Consolas" pitchFamily="34" charset="-120"/>
              </a:rPr>
              <a:t> # GatewayClass usage, Gateway</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monitoring</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clusters</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aks-dev          </a:t>
            </a:r>
            <a:r>
              <a:rPr lang="en-US" sz="1400" dirty="0">
                <a:solidFill>
                  <a:srgbClr val="6A9955"/>
                </a:solidFill>
                <a:latin typeface="Consolas" pitchFamily="34" charset="0"/>
                <a:ea typeface="Consolas" pitchFamily="34" charset="-122"/>
                <a:cs typeface="Consolas" pitchFamily="34" charset="-120"/>
              </a:rPr>
              <a:t> # Flux entry point for this cluster</a:t>
            </a:r>
            <a:endParaRPr lang="en-US" sz="1400" dirty="0"/>
          </a:p>
          <a:p>
            <a:pPr marL="0" indent="0">
              <a:lnSpc>
                <a:spcPct val="105000"/>
              </a:lnSpc>
              <a:buNone/>
            </a:pPr>
            <a:r>
              <a:rPr lang="en-US" sz="1400" dirty="0">
                <a:solidFill>
                  <a:srgbClr val="D4D4D4"/>
                </a:solidFill>
                <a:latin typeface="Consolas" pitchFamily="34" charset="0"/>
                <a:ea typeface="Consolas" pitchFamily="34" charset="-122"/>
                <a:cs typeface="Consolas" pitchFamily="34" charset="-120"/>
              </a:rPr>
              <a:t>    </a:t>
            </a:r>
            <a:r>
              <a:rPr lang="en-US" sz="1400">
                <a:solidFill>
                  <a:srgbClr val="D4D4D4"/>
                </a:solidFill>
                <a:latin typeface="Consolas" pitchFamily="34" charset="0"/>
                <a:ea typeface="Consolas" pitchFamily="34" charset="-122"/>
                <a:cs typeface="Consolas" pitchFamily="34" charset="-120"/>
              </a:rPr>
              <a:t>aks-demo</a:t>
            </a:r>
            <a:endParaRPr lang="en-US" sz="1400" dirty="0"/>
          </a:p>
        </p:txBody>
      </p:sp>
      <p:sp>
        <p:nvSpPr>
          <p:cNvPr id="15" name="Shape 13"/>
          <p:cNvSpPr/>
          <p:nvPr/>
        </p:nvSpPr>
        <p:spPr>
          <a:xfrm>
            <a:off x="7040880" y="1737360"/>
            <a:ext cx="4599432" cy="1325880"/>
          </a:xfrm>
          <a:prstGeom prst="rect">
            <a:avLst/>
          </a:prstGeom>
          <a:solidFill>
            <a:srgbClr val="F3F2F1"/>
          </a:solidFill>
          <a:ln/>
        </p:spPr>
        <p:txBody>
          <a:bodyPr/>
          <a:lstStyle/>
          <a:p>
            <a:endParaRPr lang="en-US"/>
          </a:p>
        </p:txBody>
      </p:sp>
      <p:sp>
        <p:nvSpPr>
          <p:cNvPr id="16" name="Shape 14"/>
          <p:cNvSpPr/>
          <p:nvPr/>
        </p:nvSpPr>
        <p:spPr>
          <a:xfrm>
            <a:off x="7269480" y="1965960"/>
            <a:ext cx="502920" cy="502920"/>
          </a:xfrm>
          <a:prstGeom prst="ellipse">
            <a:avLst/>
          </a:prstGeom>
          <a:solidFill>
            <a:srgbClr val="008575"/>
          </a:solidFill>
          <a:ln/>
        </p:spPr>
        <p:txBody>
          <a:bodyPr/>
          <a:lstStyle/>
          <a:p>
            <a:endParaRPr lang="en-US"/>
          </a:p>
        </p:txBody>
      </p:sp>
      <p:pic>
        <p:nvPicPr>
          <p:cNvPr id="17" name="Image 0" descr="/agent/turn2/workspace/output/_anthropic_assets/icon-box-bc0f1811.png"/>
          <p:cNvPicPr>
            <a:picLocks noChangeAspect="1"/>
          </p:cNvPicPr>
          <p:nvPr/>
        </p:nvPicPr>
        <p:blipFill>
          <a:blip r:embed="rId2"/>
          <a:stretch>
            <a:fillRect/>
          </a:stretch>
        </p:blipFill>
        <p:spPr>
          <a:xfrm>
            <a:off x="7380122" y="2076602"/>
            <a:ext cx="281635" cy="281635"/>
          </a:xfrm>
          <a:prstGeom prst="rect">
            <a:avLst/>
          </a:prstGeom>
        </p:spPr>
      </p:pic>
      <p:sp>
        <p:nvSpPr>
          <p:cNvPr id="18" name="Text 15"/>
          <p:cNvSpPr/>
          <p:nvPr/>
        </p:nvSpPr>
        <p:spPr>
          <a:xfrm>
            <a:off x="8001000" y="1920240"/>
            <a:ext cx="3456432"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apps</a:t>
            </a:r>
            <a:endParaRPr lang="en-US" sz="1700" dirty="0"/>
          </a:p>
        </p:txBody>
      </p:sp>
      <p:sp>
        <p:nvSpPr>
          <p:cNvPr id="19" name="Text 16"/>
          <p:cNvSpPr/>
          <p:nvPr/>
        </p:nvSpPr>
        <p:spPr>
          <a:xfrm>
            <a:off x="8001000" y="2331720"/>
            <a:ext cx="3456432" cy="5943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What teams ship — a shared base plus thin per-environment overlays.</a:t>
            </a:r>
            <a:endParaRPr lang="en-US" sz="1400" dirty="0"/>
          </a:p>
        </p:txBody>
      </p:sp>
      <p:sp>
        <p:nvSpPr>
          <p:cNvPr id="20" name="Shape 17"/>
          <p:cNvSpPr/>
          <p:nvPr/>
        </p:nvSpPr>
        <p:spPr>
          <a:xfrm>
            <a:off x="7040880" y="3246120"/>
            <a:ext cx="4599432" cy="1325880"/>
          </a:xfrm>
          <a:prstGeom prst="rect">
            <a:avLst/>
          </a:prstGeom>
          <a:solidFill>
            <a:srgbClr val="F3F2F1"/>
          </a:solidFill>
          <a:ln/>
        </p:spPr>
        <p:txBody>
          <a:bodyPr/>
          <a:lstStyle/>
          <a:p>
            <a:endParaRPr lang="en-US"/>
          </a:p>
        </p:txBody>
      </p:sp>
      <p:sp>
        <p:nvSpPr>
          <p:cNvPr id="21" name="Shape 18"/>
          <p:cNvSpPr/>
          <p:nvPr/>
        </p:nvSpPr>
        <p:spPr>
          <a:xfrm>
            <a:off x="7269480" y="3474720"/>
            <a:ext cx="502920" cy="502920"/>
          </a:xfrm>
          <a:prstGeom prst="ellipse">
            <a:avLst/>
          </a:prstGeom>
          <a:solidFill>
            <a:srgbClr val="008575"/>
          </a:solidFill>
          <a:ln/>
        </p:spPr>
        <p:txBody>
          <a:bodyPr/>
          <a:lstStyle/>
          <a:p>
            <a:endParaRPr lang="en-US"/>
          </a:p>
        </p:txBody>
      </p:sp>
      <p:pic>
        <p:nvPicPr>
          <p:cNvPr id="22" name="Image 1" descr="/agent/turn2/workspace/output/_anthropic_assets/icon-settings-29333648.png"/>
          <p:cNvPicPr>
            <a:picLocks noChangeAspect="1"/>
          </p:cNvPicPr>
          <p:nvPr/>
        </p:nvPicPr>
        <p:blipFill>
          <a:blip r:embed="rId3"/>
          <a:stretch>
            <a:fillRect/>
          </a:stretch>
        </p:blipFill>
        <p:spPr>
          <a:xfrm>
            <a:off x="7380122" y="3585362"/>
            <a:ext cx="281635" cy="281635"/>
          </a:xfrm>
          <a:prstGeom prst="rect">
            <a:avLst/>
          </a:prstGeom>
        </p:spPr>
      </p:pic>
      <p:sp>
        <p:nvSpPr>
          <p:cNvPr id="23" name="Text 19"/>
          <p:cNvSpPr/>
          <p:nvPr/>
        </p:nvSpPr>
        <p:spPr>
          <a:xfrm>
            <a:off x="8001000" y="3429000"/>
            <a:ext cx="3456432"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infrastructure</a:t>
            </a:r>
            <a:endParaRPr lang="en-US" sz="1700" dirty="0"/>
          </a:p>
        </p:txBody>
      </p:sp>
      <p:sp>
        <p:nvSpPr>
          <p:cNvPr id="24" name="Text 20"/>
          <p:cNvSpPr/>
          <p:nvPr/>
        </p:nvSpPr>
        <p:spPr>
          <a:xfrm>
            <a:off x="8001000" y="3840480"/>
            <a:ext cx="3456432" cy="5943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Cluster add-ons and shared platform pieces, owned by the platform team.</a:t>
            </a:r>
            <a:endParaRPr lang="en-US" sz="1400" dirty="0"/>
          </a:p>
        </p:txBody>
      </p:sp>
      <p:sp>
        <p:nvSpPr>
          <p:cNvPr id="25" name="Shape 21"/>
          <p:cNvSpPr/>
          <p:nvPr/>
        </p:nvSpPr>
        <p:spPr>
          <a:xfrm>
            <a:off x="7040880" y="4754880"/>
            <a:ext cx="4599432" cy="1325880"/>
          </a:xfrm>
          <a:prstGeom prst="rect">
            <a:avLst/>
          </a:prstGeom>
          <a:solidFill>
            <a:srgbClr val="F3F2F1"/>
          </a:solidFill>
          <a:ln/>
        </p:spPr>
        <p:txBody>
          <a:bodyPr/>
          <a:lstStyle/>
          <a:p>
            <a:endParaRPr lang="en-US"/>
          </a:p>
        </p:txBody>
      </p:sp>
      <p:sp>
        <p:nvSpPr>
          <p:cNvPr id="26" name="Shape 22"/>
          <p:cNvSpPr/>
          <p:nvPr/>
        </p:nvSpPr>
        <p:spPr>
          <a:xfrm>
            <a:off x="7269480" y="4983480"/>
            <a:ext cx="502920" cy="502920"/>
          </a:xfrm>
          <a:prstGeom prst="ellipse">
            <a:avLst/>
          </a:prstGeom>
          <a:solidFill>
            <a:srgbClr val="008575"/>
          </a:solidFill>
          <a:ln/>
        </p:spPr>
        <p:txBody>
          <a:bodyPr/>
          <a:lstStyle/>
          <a:p>
            <a:endParaRPr lang="en-US"/>
          </a:p>
        </p:txBody>
      </p:sp>
      <p:pic>
        <p:nvPicPr>
          <p:cNvPr id="27" name="Image 2" descr="/agent/turn2/workspace/output/_anthropic_assets/icon-server-e8a10e40.png"/>
          <p:cNvPicPr>
            <a:picLocks noChangeAspect="1"/>
          </p:cNvPicPr>
          <p:nvPr/>
        </p:nvPicPr>
        <p:blipFill>
          <a:blip r:embed="rId4"/>
          <a:stretch>
            <a:fillRect/>
          </a:stretch>
        </p:blipFill>
        <p:spPr>
          <a:xfrm>
            <a:off x="7380122" y="5094122"/>
            <a:ext cx="281635" cy="281635"/>
          </a:xfrm>
          <a:prstGeom prst="rect">
            <a:avLst/>
          </a:prstGeom>
        </p:spPr>
      </p:pic>
      <p:sp>
        <p:nvSpPr>
          <p:cNvPr id="28" name="Text 23"/>
          <p:cNvSpPr/>
          <p:nvPr/>
        </p:nvSpPr>
        <p:spPr>
          <a:xfrm>
            <a:off x="8001000" y="4937760"/>
            <a:ext cx="3456432"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clusters</a:t>
            </a:r>
            <a:endParaRPr lang="en-US" sz="1700" dirty="0"/>
          </a:p>
        </p:txBody>
      </p:sp>
      <p:sp>
        <p:nvSpPr>
          <p:cNvPr id="29" name="Text 24"/>
          <p:cNvSpPr/>
          <p:nvPr/>
        </p:nvSpPr>
        <p:spPr>
          <a:xfrm>
            <a:off x="8001000" y="5349240"/>
            <a:ext cx="3456432" cy="594360"/>
          </a:xfrm>
          <a:prstGeom prst="rect">
            <a:avLst/>
          </a:prstGeom>
          <a:noFill/>
          <a:ln/>
        </p:spPr>
        <p:txBody>
          <a:bodyPr wrap="square" lIns="0" tIns="0" rIns="0" bIns="0" rtlCol="0" anchor="t"/>
          <a:lstStyle/>
          <a:p>
            <a:pPr marL="0" indent="0">
              <a:buNone/>
            </a:pPr>
            <a:r>
              <a:rPr lang="en-US" sz="1400">
                <a:solidFill>
                  <a:srgbClr val="323130"/>
                </a:solidFill>
                <a:latin typeface="Segoe UI" pitchFamily="34" charset="0"/>
                <a:ea typeface="Segoe UI" pitchFamily="34" charset="-122"/>
                <a:cs typeface="Segoe UI" pitchFamily="34" charset="-120"/>
              </a:rPr>
              <a:t>Optional per-cluster entry point; the Flux extension can also target folders directly</a:t>
            </a:r>
            <a:r>
              <a:rPr lang="en-US" sz="1400" dirty="0">
                <a:solidFill>
                  <a:srgbClr val="323130"/>
                </a:solidFill>
                <a:latin typeface="Segoe UI" pitchFamily="34" charset="0"/>
                <a:ea typeface="Segoe UI" pitchFamily="34" charset="-122"/>
                <a:cs typeface="Segoe UI" pitchFamily="34" charset="-120"/>
              </a:rPr>
              <a:t>.</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2">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6A3416D4-14DB-4D92-B810-419C02466ED5}" type="slidenum">
              <a:rPr lang="en-US" sz="1100">
                <a:solidFill>
                  <a:srgbClr val="605E5C"/>
                </a:solidFill>
                <a:latin typeface="Segoe UI" pitchFamily="34" charset="0"/>
                <a:ea typeface="Segoe UI" pitchFamily="34" charset="-122"/>
                <a:cs typeface="Segoe UI" pitchFamily="34" charset="-120"/>
              </a:rPr>
              <a:t>55</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Kustomize: Base + Overlays</a:t>
            </a:r>
            <a:endParaRPr lang="en-US" sz="3200" dirty="0"/>
          </a:p>
        </p:txBody>
      </p:sp>
      <p:sp>
        <p:nvSpPr>
          <p:cNvPr id="10" name="Shape 8"/>
          <p:cNvSpPr/>
          <p:nvPr/>
        </p:nvSpPr>
        <p:spPr>
          <a:xfrm>
            <a:off x="548640" y="1737360"/>
            <a:ext cx="5440680" cy="2377440"/>
          </a:xfrm>
          <a:prstGeom prst="rect">
            <a:avLst/>
          </a:prstGeom>
          <a:solidFill>
            <a:srgbClr val="1E1E1E"/>
          </a:solidFill>
          <a:ln/>
        </p:spPr>
        <p:txBody>
          <a:bodyPr/>
          <a:lstStyle/>
          <a:p>
            <a:endParaRPr lang="en-US"/>
          </a:p>
        </p:txBody>
      </p:sp>
      <p:sp>
        <p:nvSpPr>
          <p:cNvPr id="11" name="Shape 9"/>
          <p:cNvSpPr/>
          <p:nvPr/>
        </p:nvSpPr>
        <p:spPr>
          <a:xfrm>
            <a:off x="548640" y="1737360"/>
            <a:ext cx="5440680" cy="347472"/>
          </a:xfrm>
          <a:prstGeom prst="rect">
            <a:avLst/>
          </a:prstGeom>
          <a:solidFill>
            <a:srgbClr val="2D2D30"/>
          </a:solidFill>
          <a:ln/>
        </p:spPr>
        <p:txBody>
          <a:bodyPr/>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base</a:t>
            </a:r>
            <a:endParaRPr lang="en-US" sz="1100" dirty="0"/>
          </a:p>
        </p:txBody>
      </p:sp>
      <p:sp>
        <p:nvSpPr>
          <p:cNvPr id="14" name="Text 12"/>
          <p:cNvSpPr/>
          <p:nvPr/>
        </p:nvSpPr>
        <p:spPr>
          <a:xfrm>
            <a:off x="749808" y="2212848"/>
            <a:ext cx="5074920" cy="1783080"/>
          </a:xfrm>
          <a:prstGeom prst="rect">
            <a:avLst/>
          </a:prstGeom>
          <a:noFill/>
          <a:ln/>
        </p:spPr>
        <p:txBody>
          <a:bodyPr wrap="square" lIns="0" tIns="0" rIns="0" bIns="0" rtlCol="0" anchor="t"/>
          <a:lstStyle/>
          <a:p>
            <a:pPr marL="0" indent="0">
              <a:lnSpc>
                <a:spcPct val="105000"/>
              </a:lnSpc>
              <a:buNone/>
            </a:pPr>
            <a:r>
              <a:rPr lang="en-US" sz="1300" dirty="0">
                <a:solidFill>
                  <a:srgbClr val="6A9955"/>
                </a:solidFill>
                <a:latin typeface="Consolas" pitchFamily="34" charset="0"/>
                <a:ea typeface="Consolas" pitchFamily="34" charset="-122"/>
                <a:cs typeface="Consolas" pitchFamily="34" charset="-120"/>
              </a:rPr>
              <a:t># apps/base/store-api/kustomization.yaml</a:t>
            </a:r>
            <a:endParaRPr lang="en-US" sz="1300" dirty="0"/>
          </a:p>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resources</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CE9178"/>
                </a:solidFill>
                <a:latin typeface="Consolas" pitchFamily="34" charset="0"/>
                <a:ea typeface="Consolas" pitchFamily="34" charset="-122"/>
                <a:cs typeface="Consolas" pitchFamily="34" charset="-120"/>
              </a:rPr>
              <a:t>  - deployment.yaml</a:t>
            </a:r>
            <a:endParaRPr lang="en-US" sz="1300" dirty="0"/>
          </a:p>
          <a:p>
            <a:pPr marL="0" indent="0">
              <a:lnSpc>
                <a:spcPct val="105000"/>
              </a:lnSpc>
              <a:buNone/>
            </a:pPr>
            <a:r>
              <a:rPr lang="en-US" sz="1300" dirty="0">
                <a:solidFill>
                  <a:srgbClr val="CE9178"/>
                </a:solidFill>
                <a:latin typeface="Consolas" pitchFamily="34" charset="0"/>
                <a:ea typeface="Consolas" pitchFamily="34" charset="-122"/>
                <a:cs typeface="Consolas" pitchFamily="34" charset="-120"/>
              </a:rPr>
              <a:t>  - service.yaml</a:t>
            </a:r>
            <a:endParaRPr lang="en-US" sz="1300" dirty="0"/>
          </a:p>
          <a:p>
            <a:pPr marL="0" indent="0">
              <a:lnSpc>
                <a:spcPct val="105000"/>
              </a:lnSpc>
              <a:buNone/>
            </a:pPr>
            <a:r>
              <a:rPr lang="en-US" sz="1300" dirty="0">
                <a:solidFill>
                  <a:srgbClr val="CE9178"/>
                </a:solidFill>
                <a:latin typeface="Consolas" pitchFamily="34" charset="0"/>
                <a:ea typeface="Consolas" pitchFamily="34" charset="-122"/>
                <a:cs typeface="Consolas" pitchFamily="34" charset="-120"/>
              </a:rPr>
              <a:t>  - httproute.yaml</a:t>
            </a:r>
            <a:endParaRPr lang="en-US" sz="1300" dirty="0"/>
          </a:p>
        </p:txBody>
      </p:sp>
      <p:sp>
        <p:nvSpPr>
          <p:cNvPr id="15" name="Shape 13"/>
          <p:cNvSpPr/>
          <p:nvPr/>
        </p:nvSpPr>
        <p:spPr>
          <a:xfrm>
            <a:off x="6199632" y="1737360"/>
            <a:ext cx="5440680" cy="2377440"/>
          </a:xfrm>
          <a:prstGeom prst="rect">
            <a:avLst/>
          </a:prstGeom>
          <a:solidFill>
            <a:srgbClr val="1E1E1E"/>
          </a:solidFill>
          <a:ln/>
        </p:spPr>
        <p:txBody>
          <a:bodyPr/>
          <a:lstStyle/>
          <a:p>
            <a:endParaRPr lang="en-US"/>
          </a:p>
        </p:txBody>
      </p:sp>
      <p:sp>
        <p:nvSpPr>
          <p:cNvPr id="16" name="Shape 14"/>
          <p:cNvSpPr/>
          <p:nvPr/>
        </p:nvSpPr>
        <p:spPr>
          <a:xfrm>
            <a:off x="6199632" y="1737360"/>
            <a:ext cx="5440680" cy="347472"/>
          </a:xfrm>
          <a:prstGeom prst="rect">
            <a:avLst/>
          </a:prstGeom>
          <a:solidFill>
            <a:srgbClr val="2D2D30"/>
          </a:solidFill>
          <a:ln/>
        </p:spPr>
        <p:txBody>
          <a:bodyPr/>
          <a:lstStyle/>
          <a:p>
            <a:endParaRPr lang="en-US"/>
          </a:p>
        </p:txBody>
      </p:sp>
      <p:sp>
        <p:nvSpPr>
          <p:cNvPr id="17" name="Shape 15"/>
          <p:cNvSpPr/>
          <p:nvPr/>
        </p:nvSpPr>
        <p:spPr>
          <a:xfrm>
            <a:off x="6199632" y="1737360"/>
            <a:ext cx="1559052" cy="347472"/>
          </a:xfrm>
          <a:prstGeom prst="rect">
            <a:avLst/>
          </a:prstGeom>
          <a:solidFill>
            <a:srgbClr val="1E1E1E"/>
          </a:solidFill>
          <a:ln/>
        </p:spPr>
        <p:txBody>
          <a:bodyPr/>
          <a:lstStyle/>
          <a:p>
            <a:endParaRPr lang="en-US"/>
          </a:p>
        </p:txBody>
      </p:sp>
      <p:sp>
        <p:nvSpPr>
          <p:cNvPr id="18" name="Text 16"/>
          <p:cNvSpPr/>
          <p:nvPr/>
        </p:nvSpPr>
        <p:spPr>
          <a:xfrm>
            <a:off x="6336792" y="1737360"/>
            <a:ext cx="1376172"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overlay: prod</a:t>
            </a:r>
            <a:endParaRPr lang="en-US" sz="1100" dirty="0"/>
          </a:p>
        </p:txBody>
      </p:sp>
      <p:sp>
        <p:nvSpPr>
          <p:cNvPr id="19" name="Text 17"/>
          <p:cNvSpPr/>
          <p:nvPr/>
        </p:nvSpPr>
        <p:spPr>
          <a:xfrm>
            <a:off x="6400800" y="2212848"/>
            <a:ext cx="5074920" cy="1783080"/>
          </a:xfrm>
          <a:prstGeom prst="rect">
            <a:avLst/>
          </a:prstGeom>
          <a:noFill/>
          <a:ln/>
        </p:spPr>
        <p:txBody>
          <a:bodyPr wrap="square" lIns="0" tIns="0" rIns="0" bIns="0" rtlCol="0" anchor="t"/>
          <a:lstStyle/>
          <a:p>
            <a:pPr marL="0" indent="0">
              <a:lnSpc>
                <a:spcPct val="105000"/>
              </a:lnSpc>
              <a:buNone/>
            </a:pPr>
            <a:r>
              <a:rPr lang="en-US" sz="1300" dirty="0">
                <a:solidFill>
                  <a:srgbClr val="6A9955"/>
                </a:solidFill>
                <a:latin typeface="Consolas" pitchFamily="34" charset="0"/>
                <a:ea typeface="Consolas" pitchFamily="34" charset="-122"/>
                <a:cs typeface="Consolas" pitchFamily="34" charset="-120"/>
              </a:rPr>
              <a:t># apps/overlays/prod/kustomization.yaml</a:t>
            </a:r>
            <a:endParaRPr lang="en-US" sz="1300" dirty="0"/>
          </a:p>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resources</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CE9178"/>
                </a:solidFill>
                <a:latin typeface="Consolas" pitchFamily="34" charset="0"/>
                <a:ea typeface="Consolas" pitchFamily="34" charset="-122"/>
                <a:cs typeface="Consolas" pitchFamily="34" charset="-120"/>
              </a:rPr>
              <a:t>  - ../../base/store-api</a:t>
            </a:r>
            <a:endParaRPr lang="en-US" sz="1300" dirty="0"/>
          </a:p>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patches</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 </a:t>
            </a:r>
            <a:r>
              <a:rPr lang="en-US" sz="1300" dirty="0">
                <a:solidFill>
                  <a:srgbClr val="9CDCFE"/>
                </a:solidFill>
                <a:latin typeface="Consolas" pitchFamily="34" charset="0"/>
                <a:ea typeface="Consolas" pitchFamily="34" charset="-122"/>
                <a:cs typeface="Consolas" pitchFamily="34" charset="-120"/>
              </a:rPr>
              <a:t>path</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replicas.yaml</a:t>
            </a:r>
            <a:endParaRPr lang="en-US" sz="1300" dirty="0"/>
          </a:p>
          <a:p>
            <a:pPr marL="0" indent="0">
              <a:lnSpc>
                <a:spcPct val="105000"/>
              </a:lnSpc>
              <a:buNone/>
            </a:pPr>
            <a:r>
              <a:rPr lang="en-US" sz="1300" dirty="0">
                <a:solidFill>
                  <a:srgbClr val="9CDCFE"/>
                </a:solidFill>
                <a:latin typeface="Consolas" pitchFamily="34" charset="0"/>
                <a:ea typeface="Consolas" pitchFamily="34" charset="-122"/>
                <a:cs typeface="Consolas" pitchFamily="34" charset="-120"/>
              </a:rPr>
              <a:t>images</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 </a:t>
            </a:r>
            <a:r>
              <a:rPr lang="en-US" sz="1300" dirty="0">
                <a:solidFill>
                  <a:srgbClr val="9CDCFE"/>
                </a:solidFill>
                <a:latin typeface="Consolas" pitchFamily="34" charset="0"/>
                <a:ea typeface="Consolas" pitchFamily="34" charset="-122"/>
                <a:cs typeface="Consolas" pitchFamily="34" charset="-120"/>
              </a:rPr>
              <a:t>name</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store-api</a:t>
            </a:r>
            <a:endParaRPr lang="en-US" sz="1300" dirty="0"/>
          </a:p>
          <a:p>
            <a:pPr marL="0" indent="0">
              <a:lnSpc>
                <a:spcPct val="105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newTag</a:t>
            </a:r>
            <a:r>
              <a:rPr lang="en-US" sz="1300" dirty="0">
                <a:solidFill>
                  <a:srgbClr val="D4D4D4"/>
                </a:solidFill>
                <a:latin typeface="Consolas" pitchFamily="34" charset="0"/>
                <a:ea typeface="Consolas" pitchFamily="34" charset="-122"/>
                <a:cs typeface="Consolas" pitchFamily="34" charset="-120"/>
              </a:rPr>
              <a:t>:</a:t>
            </a:r>
            <a:r>
              <a:rPr lang="en-US" sz="1300" dirty="0">
                <a:solidFill>
                  <a:srgbClr val="CE9178"/>
                </a:solidFill>
                <a:latin typeface="Consolas" pitchFamily="34" charset="0"/>
                <a:ea typeface="Consolas" pitchFamily="34" charset="-122"/>
                <a:cs typeface="Consolas" pitchFamily="34" charset="-120"/>
              </a:rPr>
              <a:t> "2.7.1"</a:t>
            </a:r>
            <a:endParaRPr lang="en-US" sz="1300" dirty="0"/>
          </a:p>
        </p:txBody>
      </p:sp>
      <p:sp>
        <p:nvSpPr>
          <p:cNvPr id="20" name="Shape 18"/>
          <p:cNvSpPr/>
          <p:nvPr/>
        </p:nvSpPr>
        <p:spPr>
          <a:xfrm>
            <a:off x="548640" y="4389120"/>
            <a:ext cx="3514344" cy="1691640"/>
          </a:xfrm>
          <a:prstGeom prst="rect">
            <a:avLst/>
          </a:prstGeom>
          <a:solidFill>
            <a:srgbClr val="FFFFFF"/>
          </a:solidFill>
          <a:ln/>
        </p:spPr>
        <p:txBody>
          <a:bodyPr/>
          <a:lstStyle/>
          <a:p>
            <a:endParaRPr lang="en-US"/>
          </a:p>
        </p:txBody>
      </p:sp>
      <p:sp>
        <p:nvSpPr>
          <p:cNvPr id="21" name="Shape 19"/>
          <p:cNvSpPr/>
          <p:nvPr/>
        </p:nvSpPr>
        <p:spPr>
          <a:xfrm>
            <a:off x="777240" y="4617720"/>
            <a:ext cx="502920" cy="502920"/>
          </a:xfrm>
          <a:prstGeom prst="ellipse">
            <a:avLst/>
          </a:prstGeom>
          <a:solidFill>
            <a:srgbClr val="008575"/>
          </a:solidFill>
          <a:ln/>
        </p:spPr>
        <p:txBody>
          <a:bodyPr/>
          <a:lstStyle/>
          <a:p>
            <a:endParaRPr lang="en-US"/>
          </a:p>
        </p:txBody>
      </p:sp>
      <p:pic>
        <p:nvPicPr>
          <p:cNvPr id="22" name="Image 0" descr="/agent/turn2/workspace/output/_anthropic_assets/icon-document-f36ec721.png"/>
          <p:cNvPicPr>
            <a:picLocks noChangeAspect="1"/>
          </p:cNvPicPr>
          <p:nvPr/>
        </p:nvPicPr>
        <p:blipFill>
          <a:blip r:embed="rId2"/>
          <a:stretch>
            <a:fillRect/>
          </a:stretch>
        </p:blipFill>
        <p:spPr>
          <a:xfrm>
            <a:off x="887882" y="4728362"/>
            <a:ext cx="281635" cy="281635"/>
          </a:xfrm>
          <a:prstGeom prst="rect">
            <a:avLst/>
          </a:prstGeom>
        </p:spPr>
      </p:pic>
      <p:sp>
        <p:nvSpPr>
          <p:cNvPr id="23" name="Text 20"/>
          <p:cNvSpPr/>
          <p:nvPr/>
        </p:nvSpPr>
        <p:spPr>
          <a:xfrm>
            <a:off x="1508760" y="457200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No templating</a:t>
            </a:r>
            <a:endParaRPr lang="en-US" sz="1600" dirty="0"/>
          </a:p>
        </p:txBody>
      </p:sp>
      <p:sp>
        <p:nvSpPr>
          <p:cNvPr id="24" name="Text 21"/>
          <p:cNvSpPr/>
          <p:nvPr/>
        </p:nvSpPr>
        <p:spPr>
          <a:xfrm>
            <a:off x="1508760" y="4983480"/>
            <a:ext cx="2371344" cy="96012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Plain YAML plus patches — what you read is what is applied.</a:t>
            </a:r>
            <a:endParaRPr lang="en-US" sz="1400" dirty="0"/>
          </a:p>
        </p:txBody>
      </p:sp>
      <p:sp>
        <p:nvSpPr>
          <p:cNvPr id="25" name="Shape 22"/>
          <p:cNvSpPr/>
          <p:nvPr/>
        </p:nvSpPr>
        <p:spPr>
          <a:xfrm>
            <a:off x="4337304" y="4389120"/>
            <a:ext cx="3514344" cy="1691640"/>
          </a:xfrm>
          <a:prstGeom prst="rect">
            <a:avLst/>
          </a:prstGeom>
          <a:solidFill>
            <a:srgbClr val="FFFFFF"/>
          </a:solidFill>
          <a:ln/>
        </p:spPr>
        <p:txBody>
          <a:bodyPr/>
          <a:lstStyle/>
          <a:p>
            <a:endParaRPr lang="en-US"/>
          </a:p>
        </p:txBody>
      </p:sp>
      <p:sp>
        <p:nvSpPr>
          <p:cNvPr id="26" name="Shape 23"/>
          <p:cNvSpPr/>
          <p:nvPr/>
        </p:nvSpPr>
        <p:spPr>
          <a:xfrm>
            <a:off x="4565904" y="4617720"/>
            <a:ext cx="502920" cy="502920"/>
          </a:xfrm>
          <a:prstGeom prst="ellipse">
            <a:avLst/>
          </a:prstGeom>
          <a:solidFill>
            <a:srgbClr val="008575"/>
          </a:solidFill>
          <a:ln/>
        </p:spPr>
        <p:txBody>
          <a:bodyPr/>
          <a:lstStyle/>
          <a:p>
            <a:endParaRPr lang="en-US"/>
          </a:p>
        </p:txBody>
      </p:sp>
      <p:pic>
        <p:nvPicPr>
          <p:cNvPr id="27" name="Image 1" descr="/agent/turn2/workspace/output/_anthropic_assets/icon-code-2c7ac4d5.png"/>
          <p:cNvPicPr>
            <a:picLocks noChangeAspect="1"/>
          </p:cNvPicPr>
          <p:nvPr/>
        </p:nvPicPr>
        <p:blipFill>
          <a:blip r:embed="rId3"/>
          <a:stretch>
            <a:fillRect/>
          </a:stretch>
        </p:blipFill>
        <p:spPr>
          <a:xfrm>
            <a:off x="4676546" y="4728362"/>
            <a:ext cx="281635" cy="281635"/>
          </a:xfrm>
          <a:prstGeom prst="rect">
            <a:avLst/>
          </a:prstGeom>
        </p:spPr>
      </p:pic>
      <p:sp>
        <p:nvSpPr>
          <p:cNvPr id="28" name="Text 24"/>
          <p:cNvSpPr/>
          <p:nvPr/>
        </p:nvSpPr>
        <p:spPr>
          <a:xfrm>
            <a:off x="5297424" y="457200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Built into kubectl</a:t>
            </a:r>
            <a:endParaRPr lang="en-US" sz="1600" dirty="0"/>
          </a:p>
        </p:txBody>
      </p:sp>
      <p:sp>
        <p:nvSpPr>
          <p:cNvPr id="29" name="Text 25"/>
          <p:cNvSpPr/>
          <p:nvPr/>
        </p:nvSpPr>
        <p:spPr>
          <a:xfrm>
            <a:off x="5297424" y="4983480"/>
            <a:ext cx="2371344" cy="96012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Preview with </a:t>
            </a:r>
            <a:r>
              <a:rPr lang="en-US" sz="1400" dirty="0">
                <a:solidFill>
                  <a:srgbClr val="0F6CBD"/>
                </a:solidFill>
                <a:latin typeface="Consolas" pitchFamily="34" charset="0"/>
                <a:ea typeface="Consolas" pitchFamily="34" charset="-122"/>
                <a:cs typeface="Consolas" pitchFamily="34" charset="-120"/>
              </a:rPr>
              <a:t>kubectl kustomize apps/overlays/prod</a:t>
            </a:r>
            <a:r>
              <a:rPr lang="en-US" sz="1400" dirty="0">
                <a:solidFill>
                  <a:srgbClr val="323130"/>
                </a:solidFill>
                <a:latin typeface="Segoe UI" pitchFamily="34" charset="0"/>
                <a:ea typeface="Segoe UI" pitchFamily="34" charset="-122"/>
                <a:cs typeface="Segoe UI" pitchFamily="34" charset="-120"/>
              </a:rPr>
              <a:t>.</a:t>
            </a:r>
            <a:endParaRPr lang="en-US" sz="1400" dirty="0"/>
          </a:p>
        </p:txBody>
      </p:sp>
      <p:sp>
        <p:nvSpPr>
          <p:cNvPr id="30" name="Shape 26"/>
          <p:cNvSpPr/>
          <p:nvPr/>
        </p:nvSpPr>
        <p:spPr>
          <a:xfrm>
            <a:off x="8125968" y="4389120"/>
            <a:ext cx="3514344" cy="1691640"/>
          </a:xfrm>
          <a:prstGeom prst="rect">
            <a:avLst/>
          </a:prstGeom>
          <a:solidFill>
            <a:srgbClr val="FFFFFF"/>
          </a:solidFill>
          <a:ln/>
        </p:spPr>
        <p:txBody>
          <a:bodyPr/>
          <a:lstStyle/>
          <a:p>
            <a:endParaRPr lang="en-US"/>
          </a:p>
        </p:txBody>
      </p:sp>
      <p:sp>
        <p:nvSpPr>
          <p:cNvPr id="31" name="Shape 27"/>
          <p:cNvSpPr/>
          <p:nvPr/>
        </p:nvSpPr>
        <p:spPr>
          <a:xfrm>
            <a:off x="8354568" y="4617720"/>
            <a:ext cx="502920" cy="502920"/>
          </a:xfrm>
          <a:prstGeom prst="ellipse">
            <a:avLst/>
          </a:prstGeom>
          <a:solidFill>
            <a:srgbClr val="008575"/>
          </a:solidFill>
          <a:ln/>
        </p:spPr>
        <p:txBody>
          <a:bodyPr/>
          <a:lstStyle/>
          <a:p>
            <a:endParaRPr lang="en-US"/>
          </a:p>
        </p:txBody>
      </p:sp>
      <p:pic>
        <p:nvPicPr>
          <p:cNvPr id="32" name="Image 2" descr="/agent/turn2/workspace/output/_anthropic_assets/icon-arrow-sync-7745594d.png"/>
          <p:cNvPicPr>
            <a:picLocks noChangeAspect="1"/>
          </p:cNvPicPr>
          <p:nvPr/>
        </p:nvPicPr>
        <p:blipFill>
          <a:blip r:embed="rId4"/>
          <a:stretch>
            <a:fillRect/>
          </a:stretch>
        </p:blipFill>
        <p:spPr>
          <a:xfrm>
            <a:off x="8465210" y="4728362"/>
            <a:ext cx="281635" cy="281635"/>
          </a:xfrm>
          <a:prstGeom prst="rect">
            <a:avLst/>
          </a:prstGeom>
        </p:spPr>
      </p:pic>
      <p:sp>
        <p:nvSpPr>
          <p:cNvPr id="33" name="Text 28"/>
          <p:cNvSpPr/>
          <p:nvPr/>
        </p:nvSpPr>
        <p:spPr>
          <a:xfrm>
            <a:off x="9086088" y="457200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Works with Flux</a:t>
            </a:r>
            <a:endParaRPr lang="en-US" sz="1600" dirty="0"/>
          </a:p>
        </p:txBody>
      </p:sp>
      <p:sp>
        <p:nvSpPr>
          <p:cNvPr id="34" name="Text 29"/>
          <p:cNvSpPr/>
          <p:nvPr/>
        </p:nvSpPr>
        <p:spPr>
          <a:xfrm>
            <a:off x="9086088" y="4983480"/>
            <a:ext cx="2371344" cy="96012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The Flux Kustomization applies an overlay path from Git.</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F44E230D-A926-46EE-A203-BA4944021EE9}" type="slidenum">
              <a:rPr lang="en-US" sz="1100">
                <a:solidFill>
                  <a:srgbClr val="605E5C"/>
                </a:solidFill>
                <a:latin typeface="Segoe UI" pitchFamily="34" charset="0"/>
                <a:ea typeface="Segoe UI" pitchFamily="34" charset="-122"/>
                <a:cs typeface="Segoe UI" pitchFamily="34" charset="-120"/>
              </a:rPr>
              <a:t>56</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Flux Architecture</a:t>
            </a:r>
            <a:endParaRPr lang="en-US" sz="3200" dirty="0"/>
          </a:p>
        </p:txBody>
      </p:sp>
      <p:sp>
        <p:nvSpPr>
          <p:cNvPr id="10" name="Text 8"/>
          <p:cNvSpPr/>
          <p:nvPr/>
        </p:nvSpPr>
        <p:spPr>
          <a:xfrm>
            <a:off x="548640" y="3108960"/>
            <a:ext cx="2377440" cy="1097280"/>
          </a:xfrm>
          <a:prstGeom prst="rect">
            <a:avLst/>
          </a:prstGeom>
          <a:solidFill>
            <a:srgbClr val="0B1F33"/>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Git repo / OCI / Helm repository</a:t>
            </a:r>
            <a:endParaRPr lang="en-US" sz="1400" dirty="0"/>
          </a:p>
        </p:txBody>
      </p:sp>
      <p:sp>
        <p:nvSpPr>
          <p:cNvPr id="11" name="Shape 9"/>
          <p:cNvSpPr/>
          <p:nvPr/>
        </p:nvSpPr>
        <p:spPr>
          <a:xfrm>
            <a:off x="3383280" y="1737360"/>
            <a:ext cx="5486400" cy="4343400"/>
          </a:xfrm>
          <a:prstGeom prst="rect">
            <a:avLst/>
          </a:prstGeom>
          <a:solidFill>
            <a:srgbClr val="D9F2EE"/>
          </a:solidFill>
          <a:ln/>
        </p:spPr>
        <p:txBody>
          <a:bodyPr/>
          <a:lstStyle/>
          <a:p>
            <a:endParaRPr lang="en-US"/>
          </a:p>
        </p:txBody>
      </p:sp>
      <p:sp>
        <p:nvSpPr>
          <p:cNvPr id="12" name="Text 10"/>
          <p:cNvSpPr/>
          <p:nvPr/>
        </p:nvSpPr>
        <p:spPr>
          <a:xfrm>
            <a:off x="3566160" y="1783080"/>
            <a:ext cx="5120640" cy="365760"/>
          </a:xfrm>
          <a:prstGeom prst="rect">
            <a:avLst/>
          </a:prstGeom>
          <a:noFill/>
          <a:ln/>
        </p:spPr>
        <p:txBody>
          <a:bodyPr wrap="square" lIns="0" tIns="0" rIns="0" bIns="0" rtlCol="0" anchor="ctr"/>
          <a:lstStyle/>
          <a:p>
            <a:pPr marL="0" indent="0">
              <a:buNone/>
            </a:pPr>
            <a:r>
              <a:rPr lang="en-US" sz="1300" dirty="0">
                <a:solidFill>
                  <a:srgbClr val="005248"/>
                </a:solidFill>
                <a:latin typeface="Segoe UI Semibold" pitchFamily="34" charset="0"/>
                <a:ea typeface="Segoe UI Semibold" pitchFamily="34" charset="-122"/>
                <a:cs typeface="Segoe UI Semibold" pitchFamily="34" charset="-120"/>
              </a:rPr>
              <a:t>flux-system namespace</a:t>
            </a:r>
            <a:endParaRPr lang="en-US" sz="1300" dirty="0"/>
          </a:p>
        </p:txBody>
      </p:sp>
      <p:sp>
        <p:nvSpPr>
          <p:cNvPr id="13" name="Text 11"/>
          <p:cNvSpPr/>
          <p:nvPr/>
        </p:nvSpPr>
        <p:spPr>
          <a:xfrm>
            <a:off x="3611880" y="2240280"/>
            <a:ext cx="2377440" cy="621792"/>
          </a:xfrm>
          <a:prstGeom prst="rect">
            <a:avLst/>
          </a:prstGeom>
          <a:solidFill>
            <a:srgbClr val="008575"/>
          </a:solidFill>
          <a:ln/>
        </p:spPr>
        <p:txBody>
          <a:bodyPr wrap="square" lIns="76200" tIns="76200" rIns="76200" bIns="76200" rtlCol="0" anchor="ctr"/>
          <a:lstStyle/>
          <a:p>
            <a:pPr marL="0" indent="0" algn="ctr">
              <a:buNone/>
            </a:pPr>
            <a:r>
              <a:rPr lang="en-US" sz="1300" dirty="0">
                <a:solidFill>
                  <a:srgbClr val="FFFFFF"/>
                </a:solidFill>
                <a:latin typeface="Consolas" pitchFamily="34" charset="0"/>
                <a:ea typeface="Consolas" pitchFamily="34" charset="-122"/>
                <a:cs typeface="Consolas" pitchFamily="34" charset="-120"/>
              </a:rPr>
              <a:t>source-controller</a:t>
            </a:r>
            <a:endParaRPr lang="en-US" sz="1300" dirty="0"/>
          </a:p>
        </p:txBody>
      </p:sp>
      <p:sp>
        <p:nvSpPr>
          <p:cNvPr id="14" name="Text 12"/>
          <p:cNvSpPr/>
          <p:nvPr/>
        </p:nvSpPr>
        <p:spPr>
          <a:xfrm>
            <a:off x="6126480" y="2240280"/>
            <a:ext cx="2651760" cy="621792"/>
          </a:xfrm>
          <a:prstGeom prst="rect">
            <a:avLst/>
          </a:prstGeom>
          <a:noFill/>
          <a:ln/>
        </p:spPr>
        <p:txBody>
          <a:bodyPr wrap="square" lIns="0" tIns="0" rIns="0" bIns="0" rtlCol="0" anchor="ctr"/>
          <a:lstStyle/>
          <a:p>
            <a:pPr marL="0" indent="0">
              <a:buNone/>
            </a:pPr>
            <a:r>
              <a:rPr lang="en-US" sz="1300" dirty="0">
                <a:solidFill>
                  <a:srgbClr val="323130"/>
                </a:solidFill>
                <a:latin typeface="Segoe UI" pitchFamily="34" charset="0"/>
                <a:ea typeface="Segoe UI" pitchFamily="34" charset="-122"/>
                <a:cs typeface="Segoe UI" pitchFamily="34" charset="-120"/>
              </a:rPr>
              <a:t>Fetches and caches artifacts</a:t>
            </a:r>
            <a:endParaRPr lang="en-US" sz="1300" dirty="0"/>
          </a:p>
        </p:txBody>
      </p:sp>
      <p:sp>
        <p:nvSpPr>
          <p:cNvPr id="15" name="Text 13"/>
          <p:cNvSpPr/>
          <p:nvPr/>
        </p:nvSpPr>
        <p:spPr>
          <a:xfrm>
            <a:off x="3611880" y="2999232"/>
            <a:ext cx="2377440" cy="621792"/>
          </a:xfrm>
          <a:prstGeom prst="rect">
            <a:avLst/>
          </a:prstGeom>
          <a:solidFill>
            <a:srgbClr val="008575"/>
          </a:solidFill>
          <a:ln/>
        </p:spPr>
        <p:txBody>
          <a:bodyPr wrap="square" lIns="76200" tIns="76200" rIns="76200" bIns="76200" rtlCol="0" anchor="ctr"/>
          <a:lstStyle/>
          <a:p>
            <a:pPr marL="0" indent="0" algn="ctr">
              <a:buNone/>
            </a:pPr>
            <a:r>
              <a:rPr lang="en-US" sz="1300" dirty="0">
                <a:solidFill>
                  <a:srgbClr val="FFFFFF"/>
                </a:solidFill>
                <a:latin typeface="Consolas" pitchFamily="34" charset="0"/>
                <a:ea typeface="Consolas" pitchFamily="34" charset="-122"/>
                <a:cs typeface="Consolas" pitchFamily="34" charset="-120"/>
              </a:rPr>
              <a:t>kustomize-controller</a:t>
            </a:r>
            <a:endParaRPr lang="en-US" sz="1300" dirty="0"/>
          </a:p>
        </p:txBody>
      </p:sp>
      <p:sp>
        <p:nvSpPr>
          <p:cNvPr id="16" name="Text 14"/>
          <p:cNvSpPr/>
          <p:nvPr/>
        </p:nvSpPr>
        <p:spPr>
          <a:xfrm>
            <a:off x="6126480" y="2999232"/>
            <a:ext cx="2651760" cy="621792"/>
          </a:xfrm>
          <a:prstGeom prst="rect">
            <a:avLst/>
          </a:prstGeom>
          <a:noFill/>
          <a:ln/>
        </p:spPr>
        <p:txBody>
          <a:bodyPr wrap="square" lIns="0" tIns="0" rIns="0" bIns="0" rtlCol="0" anchor="ctr"/>
          <a:lstStyle/>
          <a:p>
            <a:pPr marL="0" indent="0">
              <a:buNone/>
            </a:pPr>
            <a:r>
              <a:rPr lang="en-US" sz="1300" dirty="0">
                <a:solidFill>
                  <a:srgbClr val="323130"/>
                </a:solidFill>
                <a:latin typeface="Segoe UI" pitchFamily="34" charset="0"/>
                <a:ea typeface="Segoe UI" pitchFamily="34" charset="-122"/>
                <a:cs typeface="Segoe UI" pitchFamily="34" charset="-120"/>
              </a:rPr>
              <a:t>Applies manifests, prunes, health checks</a:t>
            </a:r>
            <a:endParaRPr lang="en-US" sz="1300" dirty="0"/>
          </a:p>
        </p:txBody>
      </p:sp>
      <p:sp>
        <p:nvSpPr>
          <p:cNvPr id="17" name="Text 15"/>
          <p:cNvSpPr/>
          <p:nvPr/>
        </p:nvSpPr>
        <p:spPr>
          <a:xfrm>
            <a:off x="3611880" y="3758184"/>
            <a:ext cx="2377440" cy="621792"/>
          </a:xfrm>
          <a:prstGeom prst="rect">
            <a:avLst/>
          </a:prstGeom>
          <a:solidFill>
            <a:srgbClr val="008575"/>
          </a:solidFill>
          <a:ln/>
        </p:spPr>
        <p:txBody>
          <a:bodyPr wrap="square" lIns="76200" tIns="76200" rIns="76200" bIns="76200" rtlCol="0" anchor="ctr"/>
          <a:lstStyle/>
          <a:p>
            <a:pPr marL="0" indent="0" algn="ctr">
              <a:buNone/>
            </a:pPr>
            <a:r>
              <a:rPr lang="en-US" sz="1300" dirty="0">
                <a:solidFill>
                  <a:srgbClr val="FFFFFF"/>
                </a:solidFill>
                <a:latin typeface="Consolas" pitchFamily="34" charset="0"/>
                <a:ea typeface="Consolas" pitchFamily="34" charset="-122"/>
                <a:cs typeface="Consolas" pitchFamily="34" charset="-120"/>
              </a:rPr>
              <a:t>helm-controller</a:t>
            </a:r>
            <a:endParaRPr lang="en-US" sz="1300" dirty="0"/>
          </a:p>
        </p:txBody>
      </p:sp>
      <p:sp>
        <p:nvSpPr>
          <p:cNvPr id="18" name="Text 16"/>
          <p:cNvSpPr/>
          <p:nvPr/>
        </p:nvSpPr>
        <p:spPr>
          <a:xfrm>
            <a:off x="6126480" y="3758184"/>
            <a:ext cx="2651760" cy="621792"/>
          </a:xfrm>
          <a:prstGeom prst="rect">
            <a:avLst/>
          </a:prstGeom>
          <a:noFill/>
          <a:ln/>
        </p:spPr>
        <p:txBody>
          <a:bodyPr wrap="square" lIns="0" tIns="0" rIns="0" bIns="0" rtlCol="0" anchor="ctr"/>
          <a:lstStyle/>
          <a:p>
            <a:pPr marL="0" indent="0">
              <a:buNone/>
            </a:pPr>
            <a:r>
              <a:rPr lang="en-US" sz="1300" dirty="0">
                <a:solidFill>
                  <a:srgbClr val="323130"/>
                </a:solidFill>
                <a:latin typeface="Segoe UI" pitchFamily="34" charset="0"/>
                <a:ea typeface="Segoe UI" pitchFamily="34" charset="-122"/>
                <a:cs typeface="Segoe UI" pitchFamily="34" charset="-120"/>
              </a:rPr>
              <a:t>Manages HelmRelease objects</a:t>
            </a:r>
            <a:endParaRPr lang="en-US" sz="1300" dirty="0"/>
          </a:p>
        </p:txBody>
      </p:sp>
      <p:sp>
        <p:nvSpPr>
          <p:cNvPr id="19" name="Text 17"/>
          <p:cNvSpPr/>
          <p:nvPr/>
        </p:nvSpPr>
        <p:spPr>
          <a:xfrm>
            <a:off x="3611880" y="4517136"/>
            <a:ext cx="2377440" cy="621792"/>
          </a:xfrm>
          <a:prstGeom prst="rect">
            <a:avLst/>
          </a:prstGeom>
          <a:solidFill>
            <a:srgbClr val="FFFFFF"/>
          </a:solidFill>
          <a:ln w="15875">
            <a:solidFill>
              <a:srgbClr val="008575"/>
            </a:solidFill>
          </a:ln>
        </p:spPr>
        <p:txBody>
          <a:bodyPr wrap="square" lIns="76200" tIns="76200" rIns="76200" bIns="76200" rtlCol="0" anchor="ctr"/>
          <a:lstStyle/>
          <a:p>
            <a:pPr marL="0" indent="0" algn="ctr">
              <a:buNone/>
            </a:pPr>
            <a:r>
              <a:rPr lang="en-US" sz="1300" dirty="0">
                <a:solidFill>
                  <a:srgbClr val="005248"/>
                </a:solidFill>
                <a:latin typeface="Consolas" pitchFamily="34" charset="0"/>
                <a:ea typeface="Consolas" pitchFamily="34" charset="-122"/>
                <a:cs typeface="Consolas" pitchFamily="34" charset="-120"/>
              </a:rPr>
              <a:t>notification-controller</a:t>
            </a:r>
            <a:endParaRPr lang="en-US" sz="1300" dirty="0"/>
          </a:p>
        </p:txBody>
      </p:sp>
      <p:sp>
        <p:nvSpPr>
          <p:cNvPr id="20" name="Text 18"/>
          <p:cNvSpPr/>
          <p:nvPr/>
        </p:nvSpPr>
        <p:spPr>
          <a:xfrm>
            <a:off x="6126480" y="4517136"/>
            <a:ext cx="2651760" cy="621792"/>
          </a:xfrm>
          <a:prstGeom prst="rect">
            <a:avLst/>
          </a:prstGeom>
          <a:noFill/>
          <a:ln/>
        </p:spPr>
        <p:txBody>
          <a:bodyPr wrap="square" lIns="0" tIns="0" rIns="0" bIns="0" rtlCol="0" anchor="ctr"/>
          <a:lstStyle/>
          <a:p>
            <a:pPr marL="0" indent="0">
              <a:buNone/>
            </a:pPr>
            <a:r>
              <a:rPr lang="en-US" sz="1300" dirty="0">
                <a:solidFill>
                  <a:srgbClr val="323130"/>
                </a:solidFill>
                <a:latin typeface="Segoe UI" pitchFamily="34" charset="0"/>
                <a:ea typeface="Segoe UI" pitchFamily="34" charset="-122"/>
                <a:cs typeface="Segoe UI" pitchFamily="34" charset="-120"/>
              </a:rPr>
              <a:t>Alerts out, webhooks in</a:t>
            </a:r>
            <a:endParaRPr lang="en-US" sz="1300" dirty="0"/>
          </a:p>
        </p:txBody>
      </p:sp>
      <p:sp>
        <p:nvSpPr>
          <p:cNvPr id="21" name="Text 19"/>
          <p:cNvSpPr/>
          <p:nvPr/>
        </p:nvSpPr>
        <p:spPr>
          <a:xfrm>
            <a:off x="3611880" y="5276088"/>
            <a:ext cx="2377440" cy="621792"/>
          </a:xfrm>
          <a:prstGeom prst="rect">
            <a:avLst/>
          </a:prstGeom>
          <a:solidFill>
            <a:srgbClr val="FFFFFF"/>
          </a:solidFill>
          <a:ln w="15875">
            <a:solidFill>
              <a:srgbClr val="008575"/>
            </a:solidFill>
          </a:ln>
        </p:spPr>
        <p:txBody>
          <a:bodyPr wrap="square" lIns="76200" tIns="76200" rIns="76200" bIns="76200" rtlCol="0" anchor="ctr"/>
          <a:lstStyle/>
          <a:p>
            <a:pPr marL="0" indent="0" algn="ctr">
              <a:buNone/>
            </a:pPr>
            <a:r>
              <a:rPr lang="en-US" sz="1300" dirty="0">
                <a:solidFill>
                  <a:srgbClr val="005248"/>
                </a:solidFill>
                <a:latin typeface="Consolas" pitchFamily="34" charset="0"/>
                <a:ea typeface="Consolas" pitchFamily="34" charset="-122"/>
                <a:cs typeface="Consolas" pitchFamily="34" charset="-120"/>
              </a:rPr>
              <a:t>image automation</a:t>
            </a:r>
            <a:endParaRPr lang="en-US" sz="1300" dirty="0"/>
          </a:p>
        </p:txBody>
      </p:sp>
      <p:sp>
        <p:nvSpPr>
          <p:cNvPr id="22" name="Text 20"/>
          <p:cNvSpPr/>
          <p:nvPr/>
        </p:nvSpPr>
        <p:spPr>
          <a:xfrm>
            <a:off x="6126480" y="5276088"/>
            <a:ext cx="2651760" cy="621792"/>
          </a:xfrm>
          <a:prstGeom prst="rect">
            <a:avLst/>
          </a:prstGeom>
          <a:noFill/>
          <a:ln/>
        </p:spPr>
        <p:txBody>
          <a:bodyPr wrap="square" lIns="0" tIns="0" rIns="0" bIns="0" rtlCol="0" anchor="ctr"/>
          <a:lstStyle/>
          <a:p>
            <a:pPr marL="0" indent="0">
              <a:buNone/>
            </a:pPr>
            <a:r>
              <a:rPr lang="en-US" sz="1300" dirty="0">
                <a:solidFill>
                  <a:srgbClr val="323130"/>
                </a:solidFill>
                <a:latin typeface="Segoe UI" pitchFamily="34" charset="0"/>
                <a:ea typeface="Segoe UI" pitchFamily="34" charset="-122"/>
                <a:cs typeface="Segoe UI" pitchFamily="34" charset="-120"/>
              </a:rPr>
              <a:t>Optional: bumps image tags in Git</a:t>
            </a:r>
            <a:endParaRPr lang="en-US" sz="1300" dirty="0"/>
          </a:p>
        </p:txBody>
      </p:sp>
      <p:sp>
        <p:nvSpPr>
          <p:cNvPr id="23" name="Shape 21"/>
          <p:cNvSpPr/>
          <p:nvPr/>
        </p:nvSpPr>
        <p:spPr>
          <a:xfrm flipV="1">
            <a:off x="2971800" y="2560320"/>
            <a:ext cx="594360" cy="1097280"/>
          </a:xfrm>
          <a:prstGeom prst="line">
            <a:avLst/>
          </a:prstGeom>
          <a:noFill/>
          <a:ln w="25400">
            <a:solidFill>
              <a:srgbClr val="008575"/>
            </a:solidFill>
            <a:prstDash val="solid"/>
            <a:tailEnd type="triangle"/>
          </a:ln>
        </p:spPr>
        <p:txBody>
          <a:bodyPr/>
          <a:lstStyle/>
          <a:p>
            <a:endParaRPr lang="en-US"/>
          </a:p>
        </p:txBody>
      </p:sp>
      <p:sp>
        <p:nvSpPr>
          <p:cNvPr id="24" name="Text 22"/>
          <p:cNvSpPr/>
          <p:nvPr/>
        </p:nvSpPr>
        <p:spPr>
          <a:xfrm>
            <a:off x="9326880" y="3108960"/>
            <a:ext cx="2313432" cy="1097280"/>
          </a:xfrm>
          <a:prstGeom prst="rect">
            <a:avLst/>
          </a:prstGeom>
          <a:solidFill>
            <a:srgbClr val="0078D4"/>
          </a:solidFill>
          <a:ln/>
        </p:spPr>
        <p:txBody>
          <a:bodyPr wrap="square" lIns="76200" tIns="76200" rIns="76200" bIns="7620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Kubernetes API</a:t>
            </a:r>
            <a:endParaRPr lang="en-US" sz="1500" dirty="0"/>
          </a:p>
        </p:txBody>
      </p:sp>
      <p:sp>
        <p:nvSpPr>
          <p:cNvPr id="25" name="Shape 23"/>
          <p:cNvSpPr/>
          <p:nvPr/>
        </p:nvSpPr>
        <p:spPr>
          <a:xfrm>
            <a:off x="8915400" y="3657600"/>
            <a:ext cx="365760" cy="0"/>
          </a:xfrm>
          <a:prstGeom prst="line">
            <a:avLst/>
          </a:prstGeom>
          <a:noFill/>
          <a:ln w="25400">
            <a:solidFill>
              <a:srgbClr val="008575"/>
            </a:solidFill>
            <a:prstDash val="solid"/>
            <a:tailEnd type="triangle"/>
          </a:ln>
        </p:spPr>
        <p:txBody>
          <a:bodyPr/>
          <a:lstStyle/>
          <a:p>
            <a:endParaRPr lang="en-US"/>
          </a:p>
        </p:txBody>
      </p:sp>
      <p:sp>
        <p:nvSpPr>
          <p:cNvPr id="26" name="Text 24"/>
          <p:cNvSpPr/>
          <p:nvPr/>
        </p:nvSpPr>
        <p:spPr>
          <a:xfrm>
            <a:off x="9326880" y="4389120"/>
            <a:ext cx="2313432" cy="1645920"/>
          </a:xfrm>
          <a:prstGeom prst="rect">
            <a:avLst/>
          </a:prstGeom>
          <a:noFill/>
          <a:ln/>
        </p:spPr>
        <p:txBody>
          <a:bodyPr wrap="square" lIns="0" tIns="0" rIns="0" bIns="0" rtlCol="0" anchor="t"/>
          <a:lstStyle/>
          <a:p>
            <a:pPr marL="0" indent="0">
              <a:buNone/>
            </a:pPr>
            <a:r>
              <a:rPr lang="en-US" sz="1300" dirty="0">
                <a:solidFill>
                  <a:srgbClr val="605E5C"/>
                </a:solidFill>
                <a:latin typeface="Segoe UI" pitchFamily="34" charset="0"/>
                <a:ea typeface="Segoe UI" pitchFamily="34" charset="-122"/>
                <a:cs typeface="Segoe UI" pitchFamily="34" charset="-120"/>
              </a:rPr>
              <a:t>Each controller reconciles its own custom resources — composable, independent pieces.</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4">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E2462D62-0276-495A-8EC6-A4B419BCA5D8}" type="slidenum">
              <a:rPr lang="en-US" sz="1100">
                <a:solidFill>
                  <a:srgbClr val="605E5C"/>
                </a:solidFill>
                <a:latin typeface="Segoe UI" pitchFamily="34" charset="0"/>
                <a:ea typeface="Segoe UI" pitchFamily="34" charset="-122"/>
                <a:cs typeface="Segoe UI" pitchFamily="34" charset="-120"/>
              </a:rPr>
              <a:t>57</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Flux: Core Resources</a:t>
            </a:r>
            <a:endParaRPr lang="en-US" sz="3200" dirty="0"/>
          </a:p>
        </p:txBody>
      </p:sp>
      <p:sp>
        <p:nvSpPr>
          <p:cNvPr id="10" name="Shape 8"/>
          <p:cNvSpPr/>
          <p:nvPr/>
        </p:nvSpPr>
        <p:spPr>
          <a:xfrm>
            <a:off x="548640" y="1691640"/>
            <a:ext cx="5440680" cy="3108960"/>
          </a:xfrm>
          <a:prstGeom prst="rect">
            <a:avLst/>
          </a:prstGeom>
          <a:solidFill>
            <a:srgbClr val="1E1E1E"/>
          </a:solidFill>
          <a:ln/>
        </p:spPr>
        <p:txBody>
          <a:bodyPr/>
          <a:lstStyle/>
          <a:p>
            <a:endParaRPr lang="en-US"/>
          </a:p>
        </p:txBody>
      </p:sp>
      <p:sp>
        <p:nvSpPr>
          <p:cNvPr id="11" name="Shape 9"/>
          <p:cNvSpPr/>
          <p:nvPr/>
        </p:nvSpPr>
        <p:spPr>
          <a:xfrm>
            <a:off x="548640" y="1691640"/>
            <a:ext cx="5440680" cy="347472"/>
          </a:xfrm>
          <a:prstGeom prst="rect">
            <a:avLst/>
          </a:prstGeom>
          <a:solidFill>
            <a:srgbClr val="2D2D30"/>
          </a:solidFill>
          <a:ln/>
        </p:spPr>
        <p:txBody>
          <a:bodyPr/>
          <a:lstStyle/>
          <a:p>
            <a:endParaRPr lang="en-US"/>
          </a:p>
        </p:txBody>
      </p:sp>
      <p:sp>
        <p:nvSpPr>
          <p:cNvPr id="12" name="Shape 10"/>
          <p:cNvSpPr/>
          <p:nvPr/>
        </p:nvSpPr>
        <p:spPr>
          <a:xfrm>
            <a:off x="548640" y="1691640"/>
            <a:ext cx="1947672" cy="347472"/>
          </a:xfrm>
          <a:prstGeom prst="rect">
            <a:avLst/>
          </a:prstGeom>
          <a:solidFill>
            <a:srgbClr val="1E1E1E"/>
          </a:solidFill>
          <a:ln/>
        </p:spPr>
        <p:txBody>
          <a:bodyPr/>
          <a:lstStyle/>
          <a:p>
            <a:endParaRPr lang="en-US"/>
          </a:p>
        </p:txBody>
      </p:sp>
      <p:sp>
        <p:nvSpPr>
          <p:cNvPr id="13" name="Text 11"/>
          <p:cNvSpPr/>
          <p:nvPr/>
        </p:nvSpPr>
        <p:spPr>
          <a:xfrm>
            <a:off x="685800" y="1691640"/>
            <a:ext cx="1764792"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gitrepository.yaml</a:t>
            </a:r>
            <a:endParaRPr lang="en-US" sz="1100" dirty="0"/>
          </a:p>
        </p:txBody>
      </p:sp>
      <p:sp>
        <p:nvSpPr>
          <p:cNvPr id="14" name="Text 12"/>
          <p:cNvSpPr/>
          <p:nvPr/>
        </p:nvSpPr>
        <p:spPr>
          <a:xfrm>
            <a:off x="749808" y="2167128"/>
            <a:ext cx="5074920" cy="2514600"/>
          </a:xfrm>
          <a:prstGeom prst="rect">
            <a:avLst/>
          </a:prstGeom>
          <a:noFill/>
          <a:ln/>
        </p:spPr>
        <p:txBody>
          <a:bodyPr wrap="square" lIns="0" tIns="0" rIns="0" bIns="0" rtlCol="0" anchor="t"/>
          <a:lstStyle/>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apiVersion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source.toolkit.fluxcd.io/v1</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kind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GitRepository</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metadata</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name: </a:t>
            </a:r>
            <a:r>
              <a:rPr lang="en-US" sz="1250">
                <a:solidFill>
                  <a:srgbClr val="CE9178"/>
                </a:solidFill>
                <a:latin typeface="Consolas" pitchFamily="34" charset="0"/>
                <a:ea typeface="Consolas" pitchFamily="34" charset="-122"/>
                <a:cs typeface="Consolas" pitchFamily="34" charset="-120"/>
              </a:rPr>
              <a:t>platform</a:t>
            </a:r>
            <a:r>
              <a:rPr lang="en-US" sz="1250" dirty="0">
                <a:solidFill>
                  <a:srgbClr val="CE9178"/>
                </a:solidFill>
                <a:latin typeface="Consolas" pitchFamily="34" charset="0"/>
                <a:ea typeface="Consolas" pitchFamily="34" charset="-122"/>
                <a:cs typeface="Consolas" pitchFamily="34" charset="-120"/>
              </a:rPr>
              <a:t>, namespace: flux-system }</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interval</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1m</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url</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https://github.com/org/</a:t>
            </a:r>
            <a:r>
              <a:rPr lang="en-US" sz="1250">
                <a:solidFill>
                  <a:srgbClr val="CE9178"/>
                </a:solidFill>
                <a:latin typeface="Consolas" pitchFamily="34" charset="0"/>
                <a:ea typeface="Consolas" pitchFamily="34" charset="-122"/>
                <a:cs typeface="Consolas" pitchFamily="34" charset="-120"/>
              </a:rPr>
              <a:t>platform-gitops</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ref</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branch: main }</a:t>
            </a:r>
            <a:endParaRPr lang="en-US" sz="1250" dirty="0"/>
          </a:p>
        </p:txBody>
      </p:sp>
      <p:sp>
        <p:nvSpPr>
          <p:cNvPr id="15" name="Shape 13"/>
          <p:cNvSpPr/>
          <p:nvPr/>
        </p:nvSpPr>
        <p:spPr>
          <a:xfrm>
            <a:off x="6199632" y="1691640"/>
            <a:ext cx="5440680" cy="3108960"/>
          </a:xfrm>
          <a:prstGeom prst="rect">
            <a:avLst/>
          </a:prstGeom>
          <a:solidFill>
            <a:srgbClr val="1E1E1E"/>
          </a:solidFill>
          <a:ln/>
        </p:spPr>
        <p:txBody>
          <a:bodyPr/>
          <a:lstStyle/>
          <a:p>
            <a:endParaRPr lang="en-US"/>
          </a:p>
        </p:txBody>
      </p:sp>
      <p:sp>
        <p:nvSpPr>
          <p:cNvPr id="16" name="Shape 14"/>
          <p:cNvSpPr/>
          <p:nvPr/>
        </p:nvSpPr>
        <p:spPr>
          <a:xfrm>
            <a:off x="6199632" y="1691640"/>
            <a:ext cx="5440680" cy="347472"/>
          </a:xfrm>
          <a:prstGeom prst="rect">
            <a:avLst/>
          </a:prstGeom>
          <a:solidFill>
            <a:srgbClr val="2D2D30"/>
          </a:solidFill>
          <a:ln/>
        </p:spPr>
        <p:txBody>
          <a:bodyPr/>
          <a:lstStyle/>
          <a:p>
            <a:endParaRPr lang="en-US"/>
          </a:p>
        </p:txBody>
      </p:sp>
      <p:sp>
        <p:nvSpPr>
          <p:cNvPr id="17" name="Shape 15"/>
          <p:cNvSpPr/>
          <p:nvPr/>
        </p:nvSpPr>
        <p:spPr>
          <a:xfrm>
            <a:off x="6199632" y="1691640"/>
            <a:ext cx="1947672" cy="347472"/>
          </a:xfrm>
          <a:prstGeom prst="rect">
            <a:avLst/>
          </a:prstGeom>
          <a:solidFill>
            <a:srgbClr val="1E1E1E"/>
          </a:solidFill>
          <a:ln/>
        </p:spPr>
        <p:txBody>
          <a:bodyPr/>
          <a:lstStyle/>
          <a:p>
            <a:endParaRPr lang="en-US"/>
          </a:p>
        </p:txBody>
      </p:sp>
      <p:sp>
        <p:nvSpPr>
          <p:cNvPr id="18" name="Text 16"/>
          <p:cNvSpPr/>
          <p:nvPr/>
        </p:nvSpPr>
        <p:spPr>
          <a:xfrm>
            <a:off x="6336792" y="1691640"/>
            <a:ext cx="1764792"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kustomization.yaml</a:t>
            </a:r>
            <a:endParaRPr lang="en-US" sz="1100" dirty="0"/>
          </a:p>
        </p:txBody>
      </p:sp>
      <p:sp>
        <p:nvSpPr>
          <p:cNvPr id="19" name="Text 17"/>
          <p:cNvSpPr/>
          <p:nvPr/>
        </p:nvSpPr>
        <p:spPr>
          <a:xfrm>
            <a:off x="6400800" y="2167128"/>
            <a:ext cx="5074920" cy="2514600"/>
          </a:xfrm>
          <a:prstGeom prst="rect">
            <a:avLst/>
          </a:prstGeom>
          <a:noFill/>
          <a:ln/>
        </p:spPr>
        <p:txBody>
          <a:bodyPr wrap="square" lIns="0" tIns="0" rIns="0" bIns="0" rtlCol="0" anchor="t"/>
          <a:lstStyle/>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apiVersion</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kustomize.toolkit.fluxcd.io/v1</a:t>
            </a:r>
            <a:endParaRPr lang="en-US" sz="1200" dirty="0"/>
          </a:p>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kind</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Kustomization</a:t>
            </a:r>
            <a:endParaRPr lang="en-US" sz="1200" dirty="0"/>
          </a:p>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metadata</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 name: apps, namespace: flux-system }</a:t>
            </a:r>
            <a:endParaRPr lang="en-US" sz="1200" dirty="0"/>
          </a:p>
          <a:p>
            <a:pPr marL="0" indent="0">
              <a:lnSpc>
                <a:spcPct val="105000"/>
              </a:lnSpc>
              <a:buNone/>
            </a:pPr>
            <a:r>
              <a:rPr lang="en-US" sz="1200" dirty="0">
                <a:solidFill>
                  <a:srgbClr val="9CDCFE"/>
                </a:solidFill>
                <a:latin typeface="Consolas" pitchFamily="34" charset="0"/>
                <a:ea typeface="Consolas" pitchFamily="34" charset="-122"/>
                <a:cs typeface="Consolas" pitchFamily="34" charset="-120"/>
              </a:rPr>
              <a:t>spec</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interval</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1m</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sourceRef</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 kind: GitRepository, name: </a:t>
            </a:r>
            <a:r>
              <a:rPr lang="en-US" sz="1200">
                <a:solidFill>
                  <a:srgbClr val="CE9178"/>
                </a:solidFill>
                <a:latin typeface="Consolas" pitchFamily="34" charset="0"/>
                <a:ea typeface="Consolas" pitchFamily="34" charset="-122"/>
                <a:cs typeface="Consolas" pitchFamily="34" charset="-120"/>
              </a:rPr>
              <a:t>platform </a:t>
            </a:r>
            <a:r>
              <a:rPr lang="en-US" sz="1200" dirty="0">
                <a:solidFill>
                  <a:srgbClr val="CE9178"/>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path</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./apps</a:t>
            </a:r>
            <a:r>
              <a:rPr lang="en-US" sz="1200">
                <a:solidFill>
                  <a:srgbClr val="CE9178"/>
                </a:solidFill>
                <a:latin typeface="Consolas" pitchFamily="34" charset="0"/>
                <a:ea typeface="Consolas" pitchFamily="34" charset="-122"/>
                <a:cs typeface="Consolas" pitchFamily="34" charset="-120"/>
              </a:rPr>
              <a:t>/overlays/prod</a:t>
            </a:r>
            <a:endParaRPr lang="en-US" sz="1200" dirty="0"/>
          </a:p>
          <a:p>
            <a:pPr marL="0" indent="0">
              <a:lnSpc>
                <a:spcPct val="105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prune</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 true    </a:t>
            </a:r>
            <a:r>
              <a:rPr lang="en-US" sz="1200" dirty="0">
                <a:solidFill>
                  <a:srgbClr val="6A9955"/>
                </a:solidFill>
                <a:latin typeface="Consolas" pitchFamily="34" charset="0"/>
                <a:ea typeface="Consolas" pitchFamily="34" charset="-122"/>
                <a:cs typeface="Consolas" pitchFamily="34" charset="-120"/>
              </a:rPr>
              <a:t> # delete resources removed from Git</a:t>
            </a:r>
            <a:endParaRPr lang="en-US" sz="1200" dirty="0"/>
          </a:p>
        </p:txBody>
      </p:sp>
      <p:sp>
        <p:nvSpPr>
          <p:cNvPr id="20" name="Shape 18"/>
          <p:cNvSpPr/>
          <p:nvPr/>
        </p:nvSpPr>
        <p:spPr>
          <a:xfrm>
            <a:off x="548640" y="4983480"/>
            <a:ext cx="5440680" cy="1097280"/>
          </a:xfrm>
          <a:prstGeom prst="rect">
            <a:avLst/>
          </a:prstGeom>
          <a:solidFill>
            <a:srgbClr val="FFFFFF"/>
          </a:solidFill>
          <a:ln/>
        </p:spPr>
        <p:txBody>
          <a:bodyPr/>
          <a:lstStyle/>
          <a:p>
            <a:endParaRPr lang="en-US"/>
          </a:p>
        </p:txBody>
      </p:sp>
      <p:sp>
        <p:nvSpPr>
          <p:cNvPr id="21" name="Shape 19"/>
          <p:cNvSpPr/>
          <p:nvPr/>
        </p:nvSpPr>
        <p:spPr>
          <a:xfrm>
            <a:off x="777240" y="5212080"/>
            <a:ext cx="502920" cy="502920"/>
          </a:xfrm>
          <a:prstGeom prst="ellipse">
            <a:avLst/>
          </a:prstGeom>
          <a:solidFill>
            <a:srgbClr val="008575"/>
          </a:solidFill>
          <a:ln/>
        </p:spPr>
        <p:txBody>
          <a:bodyPr/>
          <a:lstStyle/>
          <a:p>
            <a:endParaRPr lang="en-US"/>
          </a:p>
        </p:txBody>
      </p:sp>
      <p:pic>
        <p:nvPicPr>
          <p:cNvPr id="22" name="Image 0" descr="/agent/turn2/workspace/output/_anthropic_assets/icon-cloud-7294e924.png"/>
          <p:cNvPicPr>
            <a:picLocks noChangeAspect="1"/>
          </p:cNvPicPr>
          <p:nvPr/>
        </p:nvPicPr>
        <p:blipFill>
          <a:blip r:embed="rId2"/>
          <a:stretch>
            <a:fillRect/>
          </a:stretch>
        </p:blipFill>
        <p:spPr>
          <a:xfrm>
            <a:off x="887882" y="5322722"/>
            <a:ext cx="281635" cy="281635"/>
          </a:xfrm>
          <a:prstGeom prst="rect">
            <a:avLst/>
          </a:prstGeom>
        </p:spPr>
      </p:pic>
      <p:sp>
        <p:nvSpPr>
          <p:cNvPr id="23" name="Text 20"/>
          <p:cNvSpPr/>
          <p:nvPr/>
        </p:nvSpPr>
        <p:spPr>
          <a:xfrm>
            <a:off x="1508760" y="5166360"/>
            <a:ext cx="4297680"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GitRepository</a:t>
            </a:r>
            <a:endParaRPr lang="en-US" sz="1600" dirty="0"/>
          </a:p>
        </p:txBody>
      </p:sp>
      <p:sp>
        <p:nvSpPr>
          <p:cNvPr id="24" name="Text 21"/>
          <p:cNvSpPr/>
          <p:nvPr/>
        </p:nvSpPr>
        <p:spPr>
          <a:xfrm>
            <a:off x="1508760" y="5577840"/>
            <a:ext cx="4297680" cy="36576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Where to fetch from, and how often.</a:t>
            </a:r>
            <a:endParaRPr lang="en-US" sz="1350" dirty="0"/>
          </a:p>
        </p:txBody>
      </p:sp>
      <p:sp>
        <p:nvSpPr>
          <p:cNvPr id="25" name="Shape 22"/>
          <p:cNvSpPr/>
          <p:nvPr/>
        </p:nvSpPr>
        <p:spPr>
          <a:xfrm>
            <a:off x="6199632" y="4983480"/>
            <a:ext cx="5440680" cy="1097280"/>
          </a:xfrm>
          <a:prstGeom prst="rect">
            <a:avLst/>
          </a:prstGeom>
          <a:solidFill>
            <a:srgbClr val="FFFFFF"/>
          </a:solidFill>
          <a:ln/>
        </p:spPr>
        <p:txBody>
          <a:bodyPr/>
          <a:lstStyle/>
          <a:p>
            <a:endParaRPr lang="en-US"/>
          </a:p>
        </p:txBody>
      </p:sp>
      <p:sp>
        <p:nvSpPr>
          <p:cNvPr id="26" name="Shape 23"/>
          <p:cNvSpPr/>
          <p:nvPr/>
        </p:nvSpPr>
        <p:spPr>
          <a:xfrm>
            <a:off x="6428232" y="5212080"/>
            <a:ext cx="502920" cy="502920"/>
          </a:xfrm>
          <a:prstGeom prst="ellipse">
            <a:avLst/>
          </a:prstGeom>
          <a:solidFill>
            <a:srgbClr val="008575"/>
          </a:solidFill>
          <a:ln/>
        </p:spPr>
        <p:txBody>
          <a:bodyPr/>
          <a:lstStyle/>
          <a:p>
            <a:endParaRPr lang="en-US"/>
          </a:p>
        </p:txBody>
      </p:sp>
      <p:pic>
        <p:nvPicPr>
          <p:cNvPr id="27" name="Image 1" descr="/agent/turn2/workspace/output/_anthropic_assets/icon-layer-549dba7a.png"/>
          <p:cNvPicPr>
            <a:picLocks noChangeAspect="1"/>
          </p:cNvPicPr>
          <p:nvPr/>
        </p:nvPicPr>
        <p:blipFill>
          <a:blip r:embed="rId3"/>
          <a:stretch>
            <a:fillRect/>
          </a:stretch>
        </p:blipFill>
        <p:spPr>
          <a:xfrm>
            <a:off x="6538874" y="5322722"/>
            <a:ext cx="281635" cy="281635"/>
          </a:xfrm>
          <a:prstGeom prst="rect">
            <a:avLst/>
          </a:prstGeom>
        </p:spPr>
      </p:pic>
      <p:sp>
        <p:nvSpPr>
          <p:cNvPr id="28" name="Text 24"/>
          <p:cNvSpPr/>
          <p:nvPr/>
        </p:nvSpPr>
        <p:spPr>
          <a:xfrm>
            <a:off x="7159752" y="5166360"/>
            <a:ext cx="4297680"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Kustomization</a:t>
            </a:r>
            <a:endParaRPr lang="en-US" sz="1600" dirty="0"/>
          </a:p>
        </p:txBody>
      </p:sp>
      <p:sp>
        <p:nvSpPr>
          <p:cNvPr id="29" name="Text 25"/>
          <p:cNvSpPr/>
          <p:nvPr/>
        </p:nvSpPr>
        <p:spPr>
          <a:xfrm>
            <a:off x="7159752" y="5577840"/>
            <a:ext cx="4297680" cy="36576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What path to apply — linked by </a:t>
            </a:r>
            <a:r>
              <a:rPr lang="en-US" sz="1350" dirty="0">
                <a:solidFill>
                  <a:srgbClr val="0F6CBD"/>
                </a:solidFill>
                <a:latin typeface="Consolas" pitchFamily="34" charset="0"/>
                <a:ea typeface="Consolas" pitchFamily="34" charset="-122"/>
                <a:cs typeface="Consolas" pitchFamily="34" charset="-120"/>
              </a:rPr>
              <a:t>sourceRef</a:t>
            </a:r>
            <a:r>
              <a:rPr lang="en-US" sz="1350" dirty="0">
                <a:solidFill>
                  <a:srgbClr val="323130"/>
                </a:solidFill>
                <a:latin typeface="Segoe UI" pitchFamily="34" charset="0"/>
                <a:ea typeface="Segoe UI" pitchFamily="34" charset="-122"/>
                <a:cs typeface="Segoe UI" pitchFamily="34" charset="-120"/>
              </a:rPr>
              <a:t>, with </a:t>
            </a:r>
            <a:r>
              <a:rPr lang="en-US" sz="1350" dirty="0">
                <a:solidFill>
                  <a:srgbClr val="0F6CBD"/>
                </a:solidFill>
                <a:latin typeface="Consolas" pitchFamily="34" charset="0"/>
                <a:ea typeface="Consolas" pitchFamily="34" charset="-122"/>
                <a:cs typeface="Consolas" pitchFamily="34" charset="-120"/>
              </a:rPr>
              <a:t>prune: true</a:t>
            </a:r>
            <a:r>
              <a:rPr lang="en-US" sz="1350" dirty="0">
                <a:solidFill>
                  <a:srgbClr val="323130"/>
                </a:solidFill>
                <a:latin typeface="Segoe UI" pitchFamily="34" charset="0"/>
                <a:ea typeface="Segoe UI" pitchFamily="34" charset="-122"/>
                <a:cs typeface="Segoe UI" pitchFamily="34" charset="-120"/>
              </a:rPr>
              <a:t>.</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5">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4FE0C9"/>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12F7FD6F-15C7-4CC6-A4BA-56A298DE8EDC}" type="slidenum">
              <a:rPr lang="en-US" sz="1100">
                <a:solidFill>
                  <a:srgbClr val="A9B8C8"/>
                </a:solidFill>
                <a:latin typeface="Segoe UI" pitchFamily="34" charset="0"/>
                <a:ea typeface="Segoe UI" pitchFamily="34" charset="-122"/>
                <a:cs typeface="Segoe UI" pitchFamily="34" charset="-120"/>
              </a:rPr>
              <a:t>58</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Flux on AKS: the Managed Extension</a:t>
            </a:r>
            <a:endParaRPr lang="en-US" sz="3200" dirty="0"/>
          </a:p>
        </p:txBody>
      </p:sp>
      <p:sp>
        <p:nvSpPr>
          <p:cNvPr id="10" name="Shape 8"/>
          <p:cNvSpPr/>
          <p:nvPr/>
        </p:nvSpPr>
        <p:spPr>
          <a:xfrm>
            <a:off x="548640" y="1737360"/>
            <a:ext cx="11091672" cy="2788920"/>
          </a:xfrm>
          <a:prstGeom prst="rect">
            <a:avLst/>
          </a:prstGeom>
          <a:solidFill>
            <a:srgbClr val="1E1E1E"/>
          </a:solidFill>
          <a:ln/>
        </p:spPr>
        <p:txBody>
          <a:bodyPr/>
          <a:lstStyle/>
          <a:p>
            <a:endParaRPr lang="en-US"/>
          </a:p>
        </p:txBody>
      </p:sp>
      <p:sp>
        <p:nvSpPr>
          <p:cNvPr id="11" name="Shape 9"/>
          <p:cNvSpPr/>
          <p:nvPr/>
        </p:nvSpPr>
        <p:spPr>
          <a:xfrm>
            <a:off x="548640" y="1737360"/>
            <a:ext cx="11091672" cy="347472"/>
          </a:xfrm>
          <a:prstGeom prst="rect">
            <a:avLst/>
          </a:prstGeom>
          <a:solidFill>
            <a:srgbClr val="2D2D30"/>
          </a:solidFill>
          <a:ln/>
        </p:spPr>
        <p:txBody>
          <a:bodyPr/>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bash</a:t>
            </a:r>
            <a:endParaRPr lang="en-US" sz="1100" dirty="0"/>
          </a:p>
        </p:txBody>
      </p:sp>
      <p:sp>
        <p:nvSpPr>
          <p:cNvPr id="14" name="Text 12"/>
          <p:cNvSpPr/>
          <p:nvPr/>
        </p:nvSpPr>
        <p:spPr>
          <a:xfrm>
            <a:off x="749808" y="2212848"/>
            <a:ext cx="10725912" cy="2194560"/>
          </a:xfrm>
          <a:prstGeom prst="rect">
            <a:avLst/>
          </a:prstGeom>
          <a:noFill/>
          <a:ln/>
        </p:spPr>
        <p:txBody>
          <a:bodyPr wrap="square" lIns="0" tIns="0" rIns="0" bIns="0" rtlCol="0" anchor="t"/>
          <a:lstStyle/>
          <a:p>
            <a:pPr marL="0" indent="0">
              <a:lnSpc>
                <a:spcPct val="105000"/>
              </a:lnSpc>
              <a:buNone/>
            </a:pPr>
            <a:r>
              <a:rPr lang="en-US" sz="1350" dirty="0">
                <a:solidFill>
                  <a:srgbClr val="DCDCAA"/>
                </a:solidFill>
                <a:latin typeface="Consolas" pitchFamily="34" charset="0"/>
                <a:ea typeface="Consolas" pitchFamily="34" charset="-122"/>
                <a:cs typeface="Consolas" pitchFamily="34" charset="-120"/>
              </a:rPr>
              <a:t>az</a:t>
            </a:r>
            <a:r>
              <a:rPr lang="en-US" sz="1350" dirty="0">
                <a:solidFill>
                  <a:srgbClr val="D4D4D4"/>
                </a:solidFill>
                <a:latin typeface="Consolas" pitchFamily="34" charset="0"/>
                <a:ea typeface="Consolas" pitchFamily="34" charset="-122"/>
                <a:cs typeface="Consolas" pitchFamily="34" charset="-120"/>
              </a:rPr>
              <a:t> k8s-configuration flux create \</a:t>
            </a:r>
            <a:endParaRPr lang="en-US" sz="1350" dirty="0"/>
          </a:p>
          <a:p>
            <a:pPr marL="0" indent="0">
              <a:lnSpc>
                <a:spcPct val="105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DCDCAA"/>
                </a:solidFill>
                <a:latin typeface="Consolas" pitchFamily="34" charset="0"/>
                <a:ea typeface="Consolas" pitchFamily="34" charset="-122"/>
                <a:cs typeface="Consolas" pitchFamily="34" charset="-120"/>
              </a:rPr>
              <a:t>-g</a:t>
            </a:r>
            <a:r>
              <a:rPr lang="en-US" sz="1350" dirty="0">
                <a:solidFill>
                  <a:srgbClr val="D4D4D4"/>
                </a:solidFill>
                <a:latin typeface="Consolas" pitchFamily="34" charset="0"/>
                <a:ea typeface="Consolas" pitchFamily="34" charset="-122"/>
                <a:cs typeface="Consolas" pitchFamily="34" charset="-120"/>
              </a:rPr>
              <a:t> </a:t>
            </a:r>
            <a:r>
              <a:rPr lang="en-US" sz="1350">
                <a:solidFill>
                  <a:srgbClr val="D4D4D4"/>
                </a:solidFill>
                <a:latin typeface="Consolas" pitchFamily="34" charset="0"/>
                <a:ea typeface="Consolas" pitchFamily="34" charset="-122"/>
                <a:cs typeface="Consolas" pitchFamily="34" charset="-120"/>
              </a:rPr>
              <a:t>rg-aks-demo </a:t>
            </a:r>
            <a:r>
              <a:rPr lang="en-US" sz="1350" dirty="0">
                <a:solidFill>
                  <a:srgbClr val="D4D4D4"/>
                </a:solidFill>
                <a:latin typeface="Consolas" pitchFamily="34" charset="0"/>
                <a:ea typeface="Consolas" pitchFamily="34" charset="-122"/>
                <a:cs typeface="Consolas" pitchFamily="34" charset="-120"/>
              </a:rPr>
              <a:t>-c </a:t>
            </a:r>
            <a:r>
              <a:rPr lang="en-US" sz="1350">
                <a:solidFill>
                  <a:srgbClr val="D4D4D4"/>
                </a:solidFill>
                <a:latin typeface="Consolas" pitchFamily="34" charset="0"/>
                <a:ea typeface="Consolas" pitchFamily="34" charset="-122"/>
                <a:cs typeface="Consolas" pitchFamily="34" charset="-120"/>
              </a:rPr>
              <a:t>aks-demo </a:t>
            </a:r>
            <a:r>
              <a:rPr lang="en-US" sz="1350" dirty="0">
                <a:solidFill>
                  <a:srgbClr val="D4D4D4"/>
                </a:solidFill>
                <a:latin typeface="Consolas" pitchFamily="34" charset="0"/>
                <a:ea typeface="Consolas" pitchFamily="34" charset="-122"/>
                <a:cs typeface="Consolas" pitchFamily="34" charset="-120"/>
              </a:rPr>
              <a:t>-t managedClusters \</a:t>
            </a:r>
            <a:endParaRPr lang="en-US" sz="1350" dirty="0"/>
          </a:p>
          <a:p>
            <a:pPr marL="0" indent="0">
              <a:lnSpc>
                <a:spcPct val="105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DCDCAA"/>
                </a:solidFill>
                <a:latin typeface="Consolas" pitchFamily="34" charset="0"/>
                <a:ea typeface="Consolas" pitchFamily="34" charset="-122"/>
                <a:cs typeface="Consolas" pitchFamily="34" charset="-120"/>
              </a:rPr>
              <a:t>-n</a:t>
            </a:r>
            <a:r>
              <a:rPr lang="en-US" sz="1350" dirty="0">
                <a:solidFill>
                  <a:srgbClr val="D4D4D4"/>
                </a:solidFill>
                <a:latin typeface="Consolas" pitchFamily="34" charset="0"/>
                <a:ea typeface="Consolas" pitchFamily="34" charset="-122"/>
                <a:cs typeface="Consolas" pitchFamily="34" charset="-120"/>
              </a:rPr>
              <a:t> cluster-config --namespace cluster-config \</a:t>
            </a:r>
            <a:endParaRPr lang="en-US" sz="1350" dirty="0"/>
          </a:p>
          <a:p>
            <a:pPr marL="0" indent="0">
              <a:lnSpc>
                <a:spcPct val="105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DCDCAA"/>
                </a:solidFill>
                <a:latin typeface="Consolas" pitchFamily="34" charset="0"/>
                <a:ea typeface="Consolas" pitchFamily="34" charset="-122"/>
                <a:cs typeface="Consolas" pitchFamily="34" charset="-120"/>
              </a:rPr>
              <a:t>--scope</a:t>
            </a:r>
            <a:r>
              <a:rPr lang="en-US" sz="1350" dirty="0">
                <a:solidFill>
                  <a:srgbClr val="D4D4D4"/>
                </a:solidFill>
                <a:latin typeface="Consolas" pitchFamily="34" charset="0"/>
                <a:ea typeface="Consolas" pitchFamily="34" charset="-122"/>
                <a:cs typeface="Consolas" pitchFamily="34" charset="-120"/>
              </a:rPr>
              <a:t> cluster \</a:t>
            </a:r>
            <a:endParaRPr lang="en-US" sz="1350" dirty="0"/>
          </a:p>
          <a:p>
            <a:pPr marL="0" indent="0">
              <a:lnSpc>
                <a:spcPct val="105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DCDCAA"/>
                </a:solidFill>
                <a:latin typeface="Consolas" pitchFamily="34" charset="0"/>
                <a:ea typeface="Consolas" pitchFamily="34" charset="-122"/>
                <a:cs typeface="Consolas" pitchFamily="34" charset="-120"/>
              </a:rPr>
              <a:t>-u</a:t>
            </a:r>
            <a:r>
              <a:rPr lang="en-US" sz="1350" dirty="0">
                <a:solidFill>
                  <a:srgbClr val="D4D4D4"/>
                </a:solidFill>
                <a:latin typeface="Consolas" pitchFamily="34" charset="0"/>
                <a:ea typeface="Consolas" pitchFamily="34" charset="-122"/>
                <a:cs typeface="Consolas" pitchFamily="34" charset="-120"/>
              </a:rPr>
              <a:t> https://github.com/org/platform-gitops --branch main \</a:t>
            </a:r>
            <a:endParaRPr lang="en-US" sz="1350" dirty="0"/>
          </a:p>
          <a:p>
            <a:pPr marL="0" indent="0">
              <a:lnSpc>
                <a:spcPct val="105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DCDCAA"/>
                </a:solidFill>
                <a:latin typeface="Consolas" pitchFamily="34" charset="0"/>
                <a:ea typeface="Consolas" pitchFamily="34" charset="-122"/>
                <a:cs typeface="Consolas" pitchFamily="34" charset="-120"/>
              </a:rPr>
              <a:t>--kustomization</a:t>
            </a:r>
            <a:r>
              <a:rPr lang="en-US" sz="1350" dirty="0">
                <a:solidFill>
                  <a:srgbClr val="D4D4D4"/>
                </a:solidFill>
                <a:latin typeface="Consolas" pitchFamily="34" charset="0"/>
                <a:ea typeface="Consolas" pitchFamily="34" charset="-122"/>
                <a:cs typeface="Consolas" pitchFamily="34" charset="-120"/>
              </a:rPr>
              <a:t> name=infra path=./infrastructure prune=true \</a:t>
            </a:r>
            <a:endParaRPr lang="en-US" sz="1350" dirty="0"/>
          </a:p>
          <a:p>
            <a:pPr marL="0" indent="0">
              <a:lnSpc>
                <a:spcPct val="105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DCDCAA"/>
                </a:solidFill>
                <a:latin typeface="Consolas" pitchFamily="34" charset="0"/>
                <a:ea typeface="Consolas" pitchFamily="34" charset="-122"/>
                <a:cs typeface="Consolas" pitchFamily="34" charset="-120"/>
              </a:rPr>
              <a:t>--kustomization</a:t>
            </a:r>
            <a:r>
              <a:rPr lang="en-US" sz="1350" dirty="0">
                <a:solidFill>
                  <a:srgbClr val="D4D4D4"/>
                </a:solidFill>
                <a:latin typeface="Consolas" pitchFamily="34" charset="0"/>
                <a:ea typeface="Consolas" pitchFamily="34" charset="-122"/>
                <a:cs typeface="Consolas" pitchFamily="34" charset="-120"/>
              </a:rPr>
              <a:t> name=apps path=./apps/overlays/prod prune=true dependsOn</a:t>
            </a:r>
            <a:r>
              <a:rPr lang="en-US" sz="1350">
                <a:solidFill>
                  <a:srgbClr val="D4D4D4"/>
                </a:solidFill>
                <a:latin typeface="Consolas" pitchFamily="34" charset="0"/>
                <a:ea typeface="Consolas" pitchFamily="34" charset="-122"/>
                <a:cs typeface="Consolas" pitchFamily="34" charset="-120"/>
              </a:rPr>
              <a:t>=\["</a:t>
            </a:r>
            <a:r>
              <a:rPr lang="en-US" sz="1350" dirty="0">
                <a:solidFill>
                  <a:srgbClr val="D4D4D4"/>
                </a:solidFill>
                <a:latin typeface="Consolas" pitchFamily="34" charset="0"/>
                <a:ea typeface="Consolas" pitchFamily="34" charset="-122"/>
                <a:cs typeface="Consolas" pitchFamily="34" charset="-120"/>
              </a:rPr>
              <a:t>infra</a:t>
            </a:r>
            <a:r>
              <a:rPr lang="en-US" sz="1350">
                <a:solidFill>
                  <a:srgbClr val="D4D4D4"/>
                </a:solidFill>
                <a:latin typeface="Consolas" pitchFamily="34" charset="0"/>
                <a:ea typeface="Consolas" pitchFamily="34" charset="-122"/>
                <a:cs typeface="Consolas" pitchFamily="34" charset="-120"/>
              </a:rPr>
              <a:t>"\]</a:t>
            </a:r>
            <a:endParaRPr lang="en-US" sz="1350" dirty="0"/>
          </a:p>
        </p:txBody>
      </p:sp>
      <p:sp>
        <p:nvSpPr>
          <p:cNvPr id="15" name="Shape 13"/>
          <p:cNvSpPr/>
          <p:nvPr/>
        </p:nvSpPr>
        <p:spPr>
          <a:xfrm>
            <a:off x="548640" y="4754880"/>
            <a:ext cx="3514344" cy="1325880"/>
          </a:xfrm>
          <a:prstGeom prst="rect">
            <a:avLst/>
          </a:prstGeom>
          <a:solidFill>
            <a:srgbClr val="16304A"/>
          </a:solidFill>
          <a:ln/>
        </p:spPr>
        <p:txBody>
          <a:bodyPr/>
          <a:lstStyle/>
          <a:p>
            <a:endParaRPr lang="en-US"/>
          </a:p>
        </p:txBody>
      </p:sp>
      <p:sp>
        <p:nvSpPr>
          <p:cNvPr id="16" name="Shape 14"/>
          <p:cNvSpPr/>
          <p:nvPr/>
        </p:nvSpPr>
        <p:spPr>
          <a:xfrm>
            <a:off x="777240" y="4983480"/>
            <a:ext cx="457200" cy="457200"/>
          </a:xfrm>
          <a:prstGeom prst="ellipse">
            <a:avLst/>
          </a:prstGeom>
          <a:solidFill>
            <a:srgbClr val="008575"/>
          </a:solidFill>
          <a:ln/>
        </p:spPr>
        <p:txBody>
          <a:bodyPr/>
          <a:lstStyle/>
          <a:p>
            <a:endParaRPr lang="en-US"/>
          </a:p>
        </p:txBody>
      </p:sp>
      <p:pic>
        <p:nvPicPr>
          <p:cNvPr id="17" name="Image 0" descr="/agent/turn2/workspace/output/_anthropic_assets/icon-settings-29333648.png"/>
          <p:cNvPicPr>
            <a:picLocks noChangeAspect="1"/>
          </p:cNvPicPr>
          <p:nvPr/>
        </p:nvPicPr>
        <p:blipFill>
          <a:blip r:embed="rId2"/>
          <a:stretch>
            <a:fillRect/>
          </a:stretch>
        </p:blipFill>
        <p:spPr>
          <a:xfrm>
            <a:off x="877824" y="5084064"/>
            <a:ext cx="256032" cy="256032"/>
          </a:xfrm>
          <a:prstGeom prst="rect">
            <a:avLst/>
          </a:prstGeom>
        </p:spPr>
      </p:pic>
      <p:sp>
        <p:nvSpPr>
          <p:cNvPr id="18" name="Text 15"/>
          <p:cNvSpPr/>
          <p:nvPr/>
        </p:nvSpPr>
        <p:spPr>
          <a:xfrm>
            <a:off x="1463040" y="4937760"/>
            <a:ext cx="2417064" cy="384048"/>
          </a:xfrm>
          <a:prstGeom prst="rect">
            <a:avLst/>
          </a:prstGeom>
          <a:noFill/>
          <a:ln/>
        </p:spPr>
        <p:txBody>
          <a:bodyPr wrap="square" lIns="0" tIns="0" rIns="0" bIns="0" rtlCol="0" anchor="ctr"/>
          <a:lstStyle/>
          <a:p>
            <a:pPr marL="0" indent="0">
              <a:buNone/>
            </a:pPr>
            <a:r>
              <a:rPr lang="en-US" sz="1500" dirty="0">
                <a:solidFill>
                  <a:srgbClr val="FFFFFF"/>
                </a:solidFill>
                <a:latin typeface="Segoe UI Semibold" pitchFamily="34" charset="0"/>
                <a:ea typeface="Segoe UI Semibold" pitchFamily="34" charset="-122"/>
                <a:cs typeface="Segoe UI Semibold" pitchFamily="34" charset="-120"/>
              </a:rPr>
              <a:t>microsoft.flux extension</a:t>
            </a:r>
            <a:endParaRPr lang="en-US" sz="1500" dirty="0"/>
          </a:p>
        </p:txBody>
      </p:sp>
      <p:sp>
        <p:nvSpPr>
          <p:cNvPr id="19" name="Text 16"/>
          <p:cNvSpPr/>
          <p:nvPr/>
        </p:nvSpPr>
        <p:spPr>
          <a:xfrm>
            <a:off x="1463040" y="5349240"/>
            <a:ext cx="2417064" cy="594360"/>
          </a:xfrm>
          <a:prstGeom prst="rect">
            <a:avLst/>
          </a:prstGeom>
          <a:noFill/>
          <a:ln/>
        </p:spPr>
        <p:txBody>
          <a:bodyPr wrap="square" lIns="0" tIns="0" rIns="0" bIns="0" rtlCol="0" anchor="t"/>
          <a:lstStyle/>
          <a:p>
            <a:pPr marL="0" indent="0">
              <a:buNone/>
            </a:pPr>
            <a:r>
              <a:rPr lang="en-US" sz="1300" dirty="0">
                <a:solidFill>
                  <a:srgbClr val="D0D8E2"/>
                </a:solidFill>
                <a:latin typeface="Segoe UI" pitchFamily="34" charset="0"/>
                <a:ea typeface="Segoe UI" pitchFamily="34" charset="-122"/>
                <a:cs typeface="Segoe UI" pitchFamily="34" charset="-120"/>
              </a:rPr>
              <a:t>Installed and upgraded by Azure — no Flux bootstrap to maintain.</a:t>
            </a:r>
            <a:endParaRPr lang="en-US" sz="1300" dirty="0"/>
          </a:p>
        </p:txBody>
      </p:sp>
      <p:sp>
        <p:nvSpPr>
          <p:cNvPr id="20" name="Shape 17"/>
          <p:cNvSpPr/>
          <p:nvPr/>
        </p:nvSpPr>
        <p:spPr>
          <a:xfrm>
            <a:off x="4337304" y="4754880"/>
            <a:ext cx="3514344" cy="1325880"/>
          </a:xfrm>
          <a:prstGeom prst="rect">
            <a:avLst/>
          </a:prstGeom>
          <a:solidFill>
            <a:srgbClr val="16304A"/>
          </a:solidFill>
          <a:ln/>
        </p:spPr>
        <p:txBody>
          <a:bodyPr/>
          <a:lstStyle/>
          <a:p>
            <a:endParaRPr lang="en-US"/>
          </a:p>
        </p:txBody>
      </p:sp>
      <p:sp>
        <p:nvSpPr>
          <p:cNvPr id="21" name="Shape 18"/>
          <p:cNvSpPr/>
          <p:nvPr/>
        </p:nvSpPr>
        <p:spPr>
          <a:xfrm>
            <a:off x="4565904" y="4983480"/>
            <a:ext cx="457200" cy="457200"/>
          </a:xfrm>
          <a:prstGeom prst="ellipse">
            <a:avLst/>
          </a:prstGeom>
          <a:solidFill>
            <a:srgbClr val="008575"/>
          </a:solidFill>
          <a:ln/>
        </p:spPr>
        <p:txBody>
          <a:bodyPr/>
          <a:lstStyle/>
          <a:p>
            <a:endParaRPr lang="en-US"/>
          </a:p>
        </p:txBody>
      </p:sp>
      <p:pic>
        <p:nvPicPr>
          <p:cNvPr id="22" name="Image 1" descr="/agent/turn2/workspace/output/_anthropic_assets/icon-cloud-7294e924.png"/>
          <p:cNvPicPr>
            <a:picLocks noChangeAspect="1"/>
          </p:cNvPicPr>
          <p:nvPr/>
        </p:nvPicPr>
        <p:blipFill>
          <a:blip r:embed="rId3"/>
          <a:stretch>
            <a:fillRect/>
          </a:stretch>
        </p:blipFill>
        <p:spPr>
          <a:xfrm>
            <a:off x="4666488" y="5084064"/>
            <a:ext cx="256032" cy="256032"/>
          </a:xfrm>
          <a:prstGeom prst="rect">
            <a:avLst/>
          </a:prstGeom>
        </p:spPr>
      </p:pic>
      <p:sp>
        <p:nvSpPr>
          <p:cNvPr id="23" name="Text 19"/>
          <p:cNvSpPr/>
          <p:nvPr/>
        </p:nvSpPr>
        <p:spPr>
          <a:xfrm>
            <a:off x="5251704" y="4937760"/>
            <a:ext cx="2417064" cy="384048"/>
          </a:xfrm>
          <a:prstGeom prst="rect">
            <a:avLst/>
          </a:prstGeom>
          <a:noFill/>
          <a:ln/>
        </p:spPr>
        <p:txBody>
          <a:bodyPr wrap="square" lIns="0" tIns="0" rIns="0" bIns="0" rtlCol="0" anchor="ctr"/>
          <a:lstStyle/>
          <a:p>
            <a:pPr marL="0" indent="0">
              <a:buNone/>
            </a:pPr>
            <a:r>
              <a:rPr lang="en-US" sz="1500" dirty="0">
                <a:solidFill>
                  <a:srgbClr val="FFFFFF"/>
                </a:solidFill>
                <a:latin typeface="Segoe UI Semibold" pitchFamily="34" charset="0"/>
                <a:ea typeface="Segoe UI Semibold" pitchFamily="34" charset="-122"/>
                <a:cs typeface="Segoe UI Semibold" pitchFamily="34" charset="-120"/>
              </a:rPr>
              <a:t>Azure-native management</a:t>
            </a:r>
            <a:endParaRPr lang="en-US" sz="1500" dirty="0"/>
          </a:p>
        </p:txBody>
      </p:sp>
      <p:sp>
        <p:nvSpPr>
          <p:cNvPr id="24" name="Text 20"/>
          <p:cNvSpPr/>
          <p:nvPr/>
        </p:nvSpPr>
        <p:spPr>
          <a:xfrm>
            <a:off x="5251704" y="5349240"/>
            <a:ext cx="2417064" cy="594360"/>
          </a:xfrm>
          <a:prstGeom prst="rect">
            <a:avLst/>
          </a:prstGeom>
          <a:noFill/>
          <a:ln/>
        </p:spPr>
        <p:txBody>
          <a:bodyPr wrap="square" lIns="0" tIns="0" rIns="0" bIns="0" rtlCol="0" anchor="t"/>
          <a:lstStyle/>
          <a:p>
            <a:pPr marL="0" indent="0">
              <a:buNone/>
            </a:pPr>
            <a:r>
              <a:rPr lang="en-US" sz="1300" dirty="0">
                <a:solidFill>
                  <a:srgbClr val="D0D8E2"/>
                </a:solidFill>
                <a:latin typeface="Segoe UI" pitchFamily="34" charset="0"/>
                <a:ea typeface="Segoe UI" pitchFamily="34" charset="-122"/>
                <a:cs typeface="Segoe UI" pitchFamily="34" charset="-120"/>
              </a:rPr>
              <a:t>Create and view configurations with Azure CLI, portal and Azure Policy.</a:t>
            </a:r>
            <a:endParaRPr lang="en-US" sz="1300" dirty="0"/>
          </a:p>
        </p:txBody>
      </p:sp>
      <p:sp>
        <p:nvSpPr>
          <p:cNvPr id="25" name="Shape 21"/>
          <p:cNvSpPr/>
          <p:nvPr/>
        </p:nvSpPr>
        <p:spPr>
          <a:xfrm>
            <a:off x="8125968" y="4754880"/>
            <a:ext cx="3514344" cy="1325880"/>
          </a:xfrm>
          <a:prstGeom prst="rect">
            <a:avLst/>
          </a:prstGeom>
          <a:solidFill>
            <a:srgbClr val="16304A"/>
          </a:solidFill>
          <a:ln/>
        </p:spPr>
        <p:txBody>
          <a:bodyPr/>
          <a:lstStyle/>
          <a:p>
            <a:endParaRPr lang="en-US"/>
          </a:p>
        </p:txBody>
      </p:sp>
      <p:sp>
        <p:nvSpPr>
          <p:cNvPr id="26" name="Shape 22"/>
          <p:cNvSpPr/>
          <p:nvPr/>
        </p:nvSpPr>
        <p:spPr>
          <a:xfrm>
            <a:off x="8354568" y="4983480"/>
            <a:ext cx="457200" cy="457200"/>
          </a:xfrm>
          <a:prstGeom prst="ellipse">
            <a:avLst/>
          </a:prstGeom>
          <a:solidFill>
            <a:srgbClr val="008575"/>
          </a:solidFill>
          <a:ln/>
        </p:spPr>
        <p:txBody>
          <a:bodyPr/>
          <a:lstStyle/>
          <a:p>
            <a:endParaRPr lang="en-US"/>
          </a:p>
        </p:txBody>
      </p:sp>
      <p:pic>
        <p:nvPicPr>
          <p:cNvPr id="27" name="Image 2" descr="/agent/turn2/workspace/output/_anthropic_assets/icon-branch-3deffea2.png"/>
          <p:cNvPicPr>
            <a:picLocks noChangeAspect="1"/>
          </p:cNvPicPr>
          <p:nvPr/>
        </p:nvPicPr>
        <p:blipFill>
          <a:blip r:embed="rId4"/>
          <a:stretch>
            <a:fillRect/>
          </a:stretch>
        </p:blipFill>
        <p:spPr>
          <a:xfrm>
            <a:off x="8455152" y="5084064"/>
            <a:ext cx="256032" cy="256032"/>
          </a:xfrm>
          <a:prstGeom prst="rect">
            <a:avLst/>
          </a:prstGeom>
        </p:spPr>
      </p:pic>
      <p:sp>
        <p:nvSpPr>
          <p:cNvPr id="28" name="Text 23"/>
          <p:cNvSpPr/>
          <p:nvPr/>
        </p:nvSpPr>
        <p:spPr>
          <a:xfrm>
            <a:off x="9040368" y="4937760"/>
            <a:ext cx="2417064" cy="384048"/>
          </a:xfrm>
          <a:prstGeom prst="rect">
            <a:avLst/>
          </a:prstGeom>
          <a:noFill/>
          <a:ln/>
        </p:spPr>
        <p:txBody>
          <a:bodyPr wrap="square" lIns="0" tIns="0" rIns="0" bIns="0" rtlCol="0" anchor="ctr"/>
          <a:lstStyle/>
          <a:p>
            <a:pPr marL="0" indent="0">
              <a:buNone/>
            </a:pPr>
            <a:r>
              <a:rPr lang="en-US" sz="1500" dirty="0">
                <a:solidFill>
                  <a:srgbClr val="FFFFFF"/>
                </a:solidFill>
                <a:latin typeface="Segoe UI Semibold" pitchFamily="34" charset="0"/>
                <a:ea typeface="Segoe UI Semibold" pitchFamily="34" charset="-122"/>
                <a:cs typeface="Segoe UI Semibold" pitchFamily="34" charset="-120"/>
              </a:rPr>
              <a:t>Same Flux v2 underneath</a:t>
            </a:r>
            <a:endParaRPr lang="en-US" sz="1500" dirty="0"/>
          </a:p>
        </p:txBody>
      </p:sp>
      <p:sp>
        <p:nvSpPr>
          <p:cNvPr id="29" name="Text 24"/>
          <p:cNvSpPr/>
          <p:nvPr/>
        </p:nvSpPr>
        <p:spPr>
          <a:xfrm>
            <a:off x="9040368" y="5349240"/>
            <a:ext cx="2417064" cy="594360"/>
          </a:xfrm>
          <a:prstGeom prst="rect">
            <a:avLst/>
          </a:prstGeom>
          <a:noFill/>
          <a:ln/>
        </p:spPr>
        <p:txBody>
          <a:bodyPr wrap="square" lIns="0" tIns="0" rIns="0" bIns="0" rtlCol="0" anchor="t"/>
          <a:lstStyle/>
          <a:p>
            <a:pPr marL="0" indent="0">
              <a:buNone/>
            </a:pPr>
            <a:r>
              <a:rPr lang="en-US" sz="1300" dirty="0">
                <a:solidFill>
                  <a:srgbClr val="D0D8E2"/>
                </a:solidFill>
                <a:latin typeface="Segoe UI" pitchFamily="34" charset="0"/>
                <a:ea typeface="Segoe UI" pitchFamily="34" charset="-122"/>
                <a:cs typeface="Segoe UI" pitchFamily="34" charset="-120"/>
              </a:rPr>
              <a:t>GitRepository and Kustomization objects you already know.</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F93F733A-CD34-49CC-96AB-8F299DA1278F}" type="slidenum">
              <a:rPr lang="en-US" sz="1100">
                <a:solidFill>
                  <a:srgbClr val="605E5C"/>
                </a:solidFill>
                <a:latin typeface="Segoe UI" pitchFamily="34" charset="0"/>
                <a:ea typeface="Segoe UI" pitchFamily="34" charset="-122"/>
                <a:cs typeface="Segoe UI" pitchFamily="34" charset="-120"/>
              </a:rPr>
              <a:t>59</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Deploying Helm Charts with Flux</a:t>
            </a:r>
            <a:endParaRPr lang="en-US" sz="3200" dirty="0"/>
          </a:p>
        </p:txBody>
      </p:sp>
      <p:sp>
        <p:nvSpPr>
          <p:cNvPr id="10" name="Shape 8"/>
          <p:cNvSpPr/>
          <p:nvPr/>
        </p:nvSpPr>
        <p:spPr>
          <a:xfrm>
            <a:off x="548640" y="1737360"/>
            <a:ext cx="6675120" cy="4343400"/>
          </a:xfrm>
          <a:prstGeom prst="rect">
            <a:avLst/>
          </a:prstGeom>
          <a:solidFill>
            <a:srgbClr val="1E1E1E"/>
          </a:solidFill>
          <a:ln/>
        </p:spPr>
        <p:txBody>
          <a:bodyPr/>
          <a:lstStyle/>
          <a:p>
            <a:endParaRPr lang="en-US"/>
          </a:p>
        </p:txBody>
      </p:sp>
      <p:sp>
        <p:nvSpPr>
          <p:cNvPr id="11" name="Shape 9"/>
          <p:cNvSpPr/>
          <p:nvPr/>
        </p:nvSpPr>
        <p:spPr>
          <a:xfrm>
            <a:off x="548640" y="1737360"/>
            <a:ext cx="6675120" cy="347472"/>
          </a:xfrm>
          <a:prstGeom prst="rect">
            <a:avLst/>
          </a:prstGeom>
          <a:solidFill>
            <a:srgbClr val="2D2D30"/>
          </a:solidFill>
          <a:ln/>
        </p:spPr>
        <p:txBody>
          <a:bodyPr/>
          <a:lstStyle/>
          <a:p>
            <a:endParaRPr lang="en-US"/>
          </a:p>
        </p:txBody>
      </p:sp>
      <p:sp>
        <p:nvSpPr>
          <p:cNvPr id="12" name="Shape 10"/>
          <p:cNvSpPr/>
          <p:nvPr/>
        </p:nvSpPr>
        <p:spPr>
          <a:xfrm>
            <a:off x="548640" y="1737360"/>
            <a:ext cx="1792224" cy="347472"/>
          </a:xfrm>
          <a:prstGeom prst="rect">
            <a:avLst/>
          </a:prstGeom>
          <a:solidFill>
            <a:srgbClr val="1E1E1E"/>
          </a:solidFill>
          <a:ln/>
        </p:spPr>
        <p:txBody>
          <a:bodyPr/>
          <a:lstStyle/>
          <a:p>
            <a:endParaRPr lang="en-US"/>
          </a:p>
        </p:txBody>
      </p:sp>
      <p:sp>
        <p:nvSpPr>
          <p:cNvPr id="13" name="Text 11"/>
          <p:cNvSpPr/>
          <p:nvPr/>
        </p:nvSpPr>
        <p:spPr>
          <a:xfrm>
            <a:off x="685800" y="1737360"/>
            <a:ext cx="1609344"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helmrelease.yaml</a:t>
            </a:r>
            <a:endParaRPr lang="en-US" sz="1100" dirty="0"/>
          </a:p>
        </p:txBody>
      </p:sp>
      <p:sp>
        <p:nvSpPr>
          <p:cNvPr id="14" name="Text 12"/>
          <p:cNvSpPr/>
          <p:nvPr/>
        </p:nvSpPr>
        <p:spPr>
          <a:xfrm>
            <a:off x="749808" y="2212848"/>
            <a:ext cx="6309360" cy="3749040"/>
          </a:xfrm>
          <a:prstGeom prst="rect">
            <a:avLst/>
          </a:prstGeom>
          <a:noFill/>
          <a:ln/>
        </p:spPr>
        <p:txBody>
          <a:bodyPr wrap="square" lIns="0" tIns="0" rIns="0" bIns="0" rtlCol="0" anchor="t"/>
          <a:lstStyle/>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apiVersion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helm.toolkit.fluxcd.io/v2</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kind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HelmRelease</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metadata</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name: store-api, namespace: shop }</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interval</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10m</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chart</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chart</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store-api</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version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"1.4.x"</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sourceRef</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kind: HelmRepository, name: contoso-charts }</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values</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replicaCount</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3</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upgrade</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remediation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retries: 3 }</a:t>
            </a:r>
            <a:endParaRPr lang="en-US" sz="1250" dirty="0"/>
          </a:p>
        </p:txBody>
      </p:sp>
      <p:sp>
        <p:nvSpPr>
          <p:cNvPr id="15" name="Shape 13"/>
          <p:cNvSpPr/>
          <p:nvPr/>
        </p:nvSpPr>
        <p:spPr>
          <a:xfrm>
            <a:off x="7498080" y="1737360"/>
            <a:ext cx="4142232" cy="1325880"/>
          </a:xfrm>
          <a:prstGeom prst="rect">
            <a:avLst/>
          </a:prstGeom>
          <a:solidFill>
            <a:srgbClr val="F3F2F1"/>
          </a:solidFill>
          <a:ln/>
        </p:spPr>
        <p:txBody>
          <a:bodyPr/>
          <a:lstStyle/>
          <a:p>
            <a:endParaRPr lang="en-US"/>
          </a:p>
        </p:txBody>
      </p:sp>
      <p:sp>
        <p:nvSpPr>
          <p:cNvPr id="16" name="Shape 14"/>
          <p:cNvSpPr/>
          <p:nvPr/>
        </p:nvSpPr>
        <p:spPr>
          <a:xfrm>
            <a:off x="7726680" y="1965960"/>
            <a:ext cx="502920" cy="502920"/>
          </a:xfrm>
          <a:prstGeom prst="ellipse">
            <a:avLst/>
          </a:prstGeom>
          <a:solidFill>
            <a:srgbClr val="008575"/>
          </a:solidFill>
          <a:ln/>
        </p:spPr>
        <p:txBody>
          <a:bodyPr/>
          <a:lstStyle/>
          <a:p>
            <a:endParaRPr lang="en-US"/>
          </a:p>
        </p:txBody>
      </p:sp>
      <p:pic>
        <p:nvPicPr>
          <p:cNvPr id="17" name="Image 0" descr="/agent/turn2/workspace/output/_anthropic_assets/icon-box-bc0f1811.png"/>
          <p:cNvPicPr>
            <a:picLocks noChangeAspect="1"/>
          </p:cNvPicPr>
          <p:nvPr/>
        </p:nvPicPr>
        <p:blipFill>
          <a:blip r:embed="rId2"/>
          <a:stretch>
            <a:fillRect/>
          </a:stretch>
        </p:blipFill>
        <p:spPr>
          <a:xfrm>
            <a:off x="7837322" y="2076602"/>
            <a:ext cx="281635" cy="281635"/>
          </a:xfrm>
          <a:prstGeom prst="rect">
            <a:avLst/>
          </a:prstGeom>
        </p:spPr>
      </p:pic>
      <p:sp>
        <p:nvSpPr>
          <p:cNvPr id="18" name="Text 15"/>
          <p:cNvSpPr/>
          <p:nvPr/>
        </p:nvSpPr>
        <p:spPr>
          <a:xfrm>
            <a:off x="8458200" y="1920240"/>
            <a:ext cx="299923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Helm, declaratively</a:t>
            </a:r>
            <a:endParaRPr lang="en-US" sz="1600" dirty="0"/>
          </a:p>
        </p:txBody>
      </p:sp>
      <p:sp>
        <p:nvSpPr>
          <p:cNvPr id="19" name="Text 16"/>
          <p:cNvSpPr/>
          <p:nvPr/>
        </p:nvSpPr>
        <p:spPr>
          <a:xfrm>
            <a:off x="8458200" y="2331720"/>
            <a:ext cx="2999232" cy="59436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Install, upgrade and test charts from Git — no </a:t>
            </a:r>
            <a:r>
              <a:rPr lang="en-US" sz="1350" dirty="0">
                <a:solidFill>
                  <a:srgbClr val="0F6CBD"/>
                </a:solidFill>
                <a:latin typeface="Consolas" pitchFamily="34" charset="0"/>
                <a:ea typeface="Consolas" pitchFamily="34" charset="-122"/>
                <a:cs typeface="Consolas" pitchFamily="34" charset="-120"/>
              </a:rPr>
              <a:t>helm</a:t>
            </a:r>
            <a:r>
              <a:rPr lang="en-US" sz="1350" dirty="0">
                <a:solidFill>
                  <a:srgbClr val="323130"/>
                </a:solidFill>
                <a:latin typeface="Segoe UI" pitchFamily="34" charset="0"/>
                <a:ea typeface="Segoe UI" pitchFamily="34" charset="-122"/>
                <a:cs typeface="Segoe UI" pitchFamily="34" charset="-120"/>
              </a:rPr>
              <a:t> CLI in pipelines.</a:t>
            </a:r>
            <a:endParaRPr lang="en-US" sz="1350" dirty="0"/>
          </a:p>
        </p:txBody>
      </p:sp>
      <p:sp>
        <p:nvSpPr>
          <p:cNvPr id="20" name="Shape 17"/>
          <p:cNvSpPr/>
          <p:nvPr/>
        </p:nvSpPr>
        <p:spPr>
          <a:xfrm>
            <a:off x="7498080" y="3246120"/>
            <a:ext cx="4142232" cy="1325880"/>
          </a:xfrm>
          <a:prstGeom prst="rect">
            <a:avLst/>
          </a:prstGeom>
          <a:solidFill>
            <a:srgbClr val="F3F2F1"/>
          </a:solidFill>
          <a:ln/>
        </p:spPr>
        <p:txBody>
          <a:bodyPr/>
          <a:lstStyle/>
          <a:p>
            <a:endParaRPr lang="en-US"/>
          </a:p>
        </p:txBody>
      </p:sp>
      <p:sp>
        <p:nvSpPr>
          <p:cNvPr id="21" name="Shape 18"/>
          <p:cNvSpPr/>
          <p:nvPr/>
        </p:nvSpPr>
        <p:spPr>
          <a:xfrm>
            <a:off x="7726680" y="3474720"/>
            <a:ext cx="502920" cy="502920"/>
          </a:xfrm>
          <a:prstGeom prst="ellipse">
            <a:avLst/>
          </a:prstGeom>
          <a:solidFill>
            <a:srgbClr val="008575"/>
          </a:solidFill>
          <a:ln/>
        </p:spPr>
        <p:txBody>
          <a:bodyPr/>
          <a:lstStyle/>
          <a:p>
            <a:endParaRPr lang="en-US"/>
          </a:p>
        </p:txBody>
      </p:sp>
      <p:pic>
        <p:nvPicPr>
          <p:cNvPr id="22" name="Image 1" descr="/agent/turn2/workspace/output/_anthropic_assets/icon-arrow-trending-c06427f6.png"/>
          <p:cNvPicPr>
            <a:picLocks noChangeAspect="1"/>
          </p:cNvPicPr>
          <p:nvPr/>
        </p:nvPicPr>
        <p:blipFill>
          <a:blip r:embed="rId3"/>
          <a:stretch>
            <a:fillRect/>
          </a:stretch>
        </p:blipFill>
        <p:spPr>
          <a:xfrm>
            <a:off x="7837322" y="3585362"/>
            <a:ext cx="281635" cy="281635"/>
          </a:xfrm>
          <a:prstGeom prst="rect">
            <a:avLst/>
          </a:prstGeom>
        </p:spPr>
      </p:pic>
      <p:sp>
        <p:nvSpPr>
          <p:cNvPr id="23" name="Text 19"/>
          <p:cNvSpPr/>
          <p:nvPr/>
        </p:nvSpPr>
        <p:spPr>
          <a:xfrm>
            <a:off x="8458200" y="3429000"/>
            <a:ext cx="299923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Version ranges</a:t>
            </a:r>
            <a:endParaRPr lang="en-US" sz="1600" dirty="0"/>
          </a:p>
        </p:txBody>
      </p:sp>
      <p:sp>
        <p:nvSpPr>
          <p:cNvPr id="24" name="Text 20"/>
          <p:cNvSpPr/>
          <p:nvPr/>
        </p:nvSpPr>
        <p:spPr>
          <a:xfrm>
            <a:off x="8458200" y="3840480"/>
            <a:ext cx="2999232" cy="59436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SemVer ranges such as </a:t>
            </a:r>
            <a:r>
              <a:rPr lang="en-US" sz="1350" dirty="0">
                <a:solidFill>
                  <a:srgbClr val="0F6CBD"/>
                </a:solidFill>
                <a:latin typeface="Consolas" pitchFamily="34" charset="0"/>
                <a:ea typeface="Consolas" pitchFamily="34" charset="-122"/>
                <a:cs typeface="Consolas" pitchFamily="34" charset="-120"/>
              </a:rPr>
              <a:t>1.4.x</a:t>
            </a:r>
            <a:r>
              <a:rPr lang="en-US" sz="1350" dirty="0">
                <a:solidFill>
                  <a:srgbClr val="323130"/>
                </a:solidFill>
                <a:latin typeface="Segoe UI" pitchFamily="34" charset="0"/>
                <a:ea typeface="Segoe UI" pitchFamily="34" charset="-122"/>
                <a:cs typeface="Segoe UI" pitchFamily="34" charset="-120"/>
              </a:rPr>
              <a:t> pick up patches automatically.</a:t>
            </a:r>
            <a:endParaRPr lang="en-US" sz="1350" dirty="0"/>
          </a:p>
        </p:txBody>
      </p:sp>
      <p:sp>
        <p:nvSpPr>
          <p:cNvPr id="25" name="Shape 21"/>
          <p:cNvSpPr/>
          <p:nvPr/>
        </p:nvSpPr>
        <p:spPr>
          <a:xfrm>
            <a:off x="7498080" y="4754880"/>
            <a:ext cx="4142232" cy="1325880"/>
          </a:xfrm>
          <a:prstGeom prst="rect">
            <a:avLst/>
          </a:prstGeom>
          <a:solidFill>
            <a:srgbClr val="F3F2F1"/>
          </a:solidFill>
          <a:ln/>
        </p:spPr>
        <p:txBody>
          <a:bodyPr/>
          <a:lstStyle/>
          <a:p>
            <a:endParaRPr lang="en-US"/>
          </a:p>
        </p:txBody>
      </p:sp>
      <p:sp>
        <p:nvSpPr>
          <p:cNvPr id="26" name="Shape 22"/>
          <p:cNvSpPr/>
          <p:nvPr/>
        </p:nvSpPr>
        <p:spPr>
          <a:xfrm>
            <a:off x="7726680" y="4983480"/>
            <a:ext cx="502920" cy="502920"/>
          </a:xfrm>
          <a:prstGeom prst="ellipse">
            <a:avLst/>
          </a:prstGeom>
          <a:solidFill>
            <a:srgbClr val="008575"/>
          </a:solidFill>
          <a:ln/>
        </p:spPr>
        <p:txBody>
          <a:bodyPr/>
          <a:lstStyle/>
          <a:p>
            <a:endParaRPr lang="en-US"/>
          </a:p>
        </p:txBody>
      </p:sp>
      <p:pic>
        <p:nvPicPr>
          <p:cNvPr id="27" name="Image 2" descr="/agent/turn2/workspace/output/_anthropic_assets/icon-shield-checkmark-8da48fe0.png"/>
          <p:cNvPicPr>
            <a:picLocks noChangeAspect="1"/>
          </p:cNvPicPr>
          <p:nvPr/>
        </p:nvPicPr>
        <p:blipFill>
          <a:blip r:embed="rId4"/>
          <a:stretch>
            <a:fillRect/>
          </a:stretch>
        </p:blipFill>
        <p:spPr>
          <a:xfrm>
            <a:off x="7837322" y="5094122"/>
            <a:ext cx="281635" cy="281635"/>
          </a:xfrm>
          <a:prstGeom prst="rect">
            <a:avLst/>
          </a:prstGeom>
        </p:spPr>
      </p:pic>
      <p:sp>
        <p:nvSpPr>
          <p:cNvPr id="28" name="Text 23"/>
          <p:cNvSpPr/>
          <p:nvPr/>
        </p:nvSpPr>
        <p:spPr>
          <a:xfrm>
            <a:off x="8458200" y="4937760"/>
            <a:ext cx="299923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Remediation</a:t>
            </a:r>
            <a:endParaRPr lang="en-US" sz="1600" dirty="0"/>
          </a:p>
        </p:txBody>
      </p:sp>
      <p:sp>
        <p:nvSpPr>
          <p:cNvPr id="29" name="Text 24"/>
          <p:cNvSpPr/>
          <p:nvPr/>
        </p:nvSpPr>
        <p:spPr>
          <a:xfrm>
            <a:off x="8458200" y="5349240"/>
            <a:ext cx="2999232" cy="59436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Retries and rollback on failed upgrades are built in.</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47">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5E17C007-D0CF-4974-9DED-9515718FF51E}" type="slidenum">
              <a:rPr lang="en-US" sz="1100">
                <a:solidFill>
                  <a:srgbClr val="605E5C"/>
                </a:solidFill>
                <a:latin typeface="Segoe UI" pitchFamily="34" charset="0"/>
                <a:ea typeface="Segoe UI" pitchFamily="34" charset="-122"/>
                <a:cs typeface="Segoe UI" pitchFamily="34" charset="-120"/>
              </a:rPr>
              <a:t>60</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Argo CD Architecture</a:t>
            </a:r>
            <a:endParaRPr lang="en-US" sz="3200" dirty="0"/>
          </a:p>
        </p:txBody>
      </p:sp>
      <p:sp>
        <p:nvSpPr>
          <p:cNvPr id="10" name="Text 8"/>
          <p:cNvSpPr/>
          <p:nvPr/>
        </p:nvSpPr>
        <p:spPr>
          <a:xfrm>
            <a:off x="548640" y="3200400"/>
            <a:ext cx="2194560" cy="914400"/>
          </a:xfrm>
          <a:prstGeom prst="rect">
            <a:avLst/>
          </a:prstGeom>
          <a:solidFill>
            <a:srgbClr val="0B1F33"/>
          </a:solidFill>
          <a:ln/>
        </p:spPr>
        <p:txBody>
          <a:bodyPr wrap="square" lIns="76200" tIns="76200" rIns="76200" bIns="7620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Git repository</a:t>
            </a:r>
            <a:endParaRPr lang="en-US" sz="1500" dirty="0"/>
          </a:p>
        </p:txBody>
      </p:sp>
      <p:sp>
        <p:nvSpPr>
          <p:cNvPr id="11" name="Shape 9"/>
          <p:cNvSpPr/>
          <p:nvPr/>
        </p:nvSpPr>
        <p:spPr>
          <a:xfrm>
            <a:off x="3200400" y="1737360"/>
            <a:ext cx="5760720" cy="4343400"/>
          </a:xfrm>
          <a:prstGeom prst="rect">
            <a:avLst/>
          </a:prstGeom>
          <a:solidFill>
            <a:srgbClr val="FFFFFF"/>
          </a:solidFill>
          <a:ln/>
        </p:spPr>
        <p:txBody>
          <a:bodyPr/>
          <a:lstStyle/>
          <a:p>
            <a:endParaRPr lang="en-US"/>
          </a:p>
        </p:txBody>
      </p:sp>
      <p:sp>
        <p:nvSpPr>
          <p:cNvPr id="12" name="Text 10"/>
          <p:cNvSpPr/>
          <p:nvPr/>
        </p:nvSpPr>
        <p:spPr>
          <a:xfrm>
            <a:off x="3383280" y="1783080"/>
            <a:ext cx="5303520" cy="365760"/>
          </a:xfrm>
          <a:prstGeom prst="rect">
            <a:avLst/>
          </a:prstGeom>
          <a:noFill/>
          <a:ln/>
        </p:spPr>
        <p:txBody>
          <a:bodyPr wrap="square" lIns="0" tIns="0" rIns="0" bIns="0" rtlCol="0" anchor="ctr"/>
          <a:lstStyle/>
          <a:p>
            <a:pPr marL="0" indent="0">
              <a:buNone/>
            </a:pPr>
            <a:r>
              <a:rPr lang="en-US" sz="1300" dirty="0">
                <a:solidFill>
                  <a:srgbClr val="005248"/>
                </a:solidFill>
                <a:latin typeface="Segoe UI Semibold" pitchFamily="34" charset="0"/>
                <a:ea typeface="Segoe UI Semibold" pitchFamily="34" charset="-122"/>
                <a:cs typeface="Segoe UI Semibold" pitchFamily="34" charset="-120"/>
              </a:rPr>
              <a:t>argocd namespace</a:t>
            </a:r>
            <a:endParaRPr lang="en-US" sz="1300" dirty="0"/>
          </a:p>
        </p:txBody>
      </p:sp>
      <p:sp>
        <p:nvSpPr>
          <p:cNvPr id="13" name="Text 11"/>
          <p:cNvSpPr/>
          <p:nvPr/>
        </p:nvSpPr>
        <p:spPr>
          <a:xfrm>
            <a:off x="3474720" y="2286000"/>
            <a:ext cx="2468880" cy="960120"/>
          </a:xfrm>
          <a:prstGeom prst="rect">
            <a:avLst/>
          </a:prstGeom>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API server + UI</a:t>
            </a:r>
            <a:endParaRPr lang="en-US" sz="1400" dirty="0"/>
          </a:p>
        </p:txBody>
      </p:sp>
      <p:sp>
        <p:nvSpPr>
          <p:cNvPr id="14" name="Text 12"/>
          <p:cNvSpPr/>
          <p:nvPr/>
        </p:nvSpPr>
        <p:spPr>
          <a:xfrm>
            <a:off x="6126480" y="2286000"/>
            <a:ext cx="2651760" cy="960120"/>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Web UI, CLI and SSO; </a:t>
            </a:r>
            <a:r>
              <a:rPr lang="en-US" sz="1350">
                <a:solidFill>
                  <a:srgbClr val="323130"/>
                </a:solidFill>
                <a:latin typeface="Segoe UI" pitchFamily="34" charset="0"/>
                <a:ea typeface="Segoe UI" pitchFamily="34" charset="-122"/>
                <a:cs typeface="Segoe UI" pitchFamily="34" charset="-120"/>
              </a:rPr>
              <a:t>visualizes</a:t>
            </a:r>
            <a:r>
              <a:rPr lang="en-US" sz="1350" dirty="0">
                <a:solidFill>
                  <a:srgbClr val="323130"/>
                </a:solidFill>
                <a:latin typeface="Segoe UI" pitchFamily="34" charset="0"/>
                <a:ea typeface="Segoe UI" pitchFamily="34" charset="-122"/>
                <a:cs typeface="Segoe UI" pitchFamily="34" charset="-120"/>
              </a:rPr>
              <a:t> apps and diffs</a:t>
            </a:r>
            <a:endParaRPr lang="en-US" sz="1350" dirty="0"/>
          </a:p>
        </p:txBody>
      </p:sp>
      <p:sp>
        <p:nvSpPr>
          <p:cNvPr id="15" name="Text 13"/>
          <p:cNvSpPr/>
          <p:nvPr/>
        </p:nvSpPr>
        <p:spPr>
          <a:xfrm>
            <a:off x="3474720" y="3520440"/>
            <a:ext cx="2468880" cy="960120"/>
          </a:xfrm>
          <a:prstGeom prst="rect">
            <a:avLst/>
          </a:prstGeom>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Repo server</a:t>
            </a:r>
            <a:endParaRPr lang="en-US" sz="1400" dirty="0"/>
          </a:p>
        </p:txBody>
      </p:sp>
      <p:sp>
        <p:nvSpPr>
          <p:cNvPr id="16" name="Text 14"/>
          <p:cNvSpPr/>
          <p:nvPr/>
        </p:nvSpPr>
        <p:spPr>
          <a:xfrm>
            <a:off x="6126480" y="3520440"/>
            <a:ext cx="2651760" cy="960120"/>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Clones Git and renders Helm, Kustomize or plain YAML</a:t>
            </a:r>
            <a:endParaRPr lang="en-US" sz="1350" dirty="0"/>
          </a:p>
        </p:txBody>
      </p:sp>
      <p:sp>
        <p:nvSpPr>
          <p:cNvPr id="17" name="Text 15"/>
          <p:cNvSpPr/>
          <p:nvPr/>
        </p:nvSpPr>
        <p:spPr>
          <a:xfrm>
            <a:off x="3474720" y="4754880"/>
            <a:ext cx="2468880" cy="960120"/>
          </a:xfrm>
          <a:prstGeom prst="rect">
            <a:avLst/>
          </a:prstGeom>
          <a:solidFill>
            <a:srgbClr val="008575"/>
          </a:solidFill>
          <a:ln/>
        </p:spPr>
        <p:txBody>
          <a:bodyPr wrap="square" lIns="76200" tIns="76200" rIns="76200" bIns="76200" rtlCol="0" anchor="ctr"/>
          <a:lstStyle/>
          <a:p>
            <a:pPr marL="0" indent="0" algn="ctr">
              <a:buNone/>
            </a:pPr>
            <a:r>
              <a:rPr lang="en-US" sz="1400" dirty="0">
                <a:solidFill>
                  <a:srgbClr val="FFFFFF"/>
                </a:solidFill>
                <a:latin typeface="Segoe UI Semibold" pitchFamily="34" charset="0"/>
                <a:ea typeface="Segoe UI Semibold" pitchFamily="34" charset="-122"/>
                <a:cs typeface="Segoe UI Semibold" pitchFamily="34" charset="-120"/>
              </a:rPr>
              <a:t>Application controller</a:t>
            </a:r>
            <a:endParaRPr lang="en-US" sz="1400" dirty="0"/>
          </a:p>
        </p:txBody>
      </p:sp>
      <p:sp>
        <p:nvSpPr>
          <p:cNvPr id="18" name="Text 16"/>
          <p:cNvSpPr/>
          <p:nvPr/>
        </p:nvSpPr>
        <p:spPr>
          <a:xfrm>
            <a:off x="6126480" y="4754880"/>
            <a:ext cx="2651760" cy="960120"/>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Compares live vs desired state and syncs</a:t>
            </a:r>
            <a:endParaRPr lang="en-US" sz="1350" dirty="0"/>
          </a:p>
        </p:txBody>
      </p:sp>
      <p:sp>
        <p:nvSpPr>
          <p:cNvPr id="19" name="Shape 17"/>
          <p:cNvSpPr/>
          <p:nvPr/>
        </p:nvSpPr>
        <p:spPr>
          <a:xfrm>
            <a:off x="2788920" y="3657600"/>
            <a:ext cx="640080" cy="0"/>
          </a:xfrm>
          <a:prstGeom prst="line">
            <a:avLst/>
          </a:prstGeom>
          <a:noFill/>
          <a:ln w="25400">
            <a:solidFill>
              <a:srgbClr val="008575"/>
            </a:solidFill>
            <a:prstDash val="solid"/>
            <a:tailEnd type="triangle"/>
          </a:ln>
        </p:spPr>
        <p:txBody>
          <a:bodyPr/>
          <a:lstStyle/>
          <a:p>
            <a:endParaRPr lang="en-US"/>
          </a:p>
        </p:txBody>
      </p:sp>
      <p:sp>
        <p:nvSpPr>
          <p:cNvPr id="20" name="Text 18"/>
          <p:cNvSpPr/>
          <p:nvPr/>
        </p:nvSpPr>
        <p:spPr>
          <a:xfrm>
            <a:off x="9418320" y="3200400"/>
            <a:ext cx="2221992" cy="914400"/>
          </a:xfrm>
          <a:prstGeom prst="rect">
            <a:avLst/>
          </a:prstGeom>
          <a:solidFill>
            <a:srgbClr val="0078D4"/>
          </a:solidFill>
          <a:ln/>
        </p:spPr>
        <p:txBody>
          <a:bodyPr wrap="square" lIns="76200" tIns="76200" rIns="76200" bIns="76200" rtlCol="0" anchor="ctr"/>
          <a:lstStyle/>
          <a:p>
            <a:pPr marL="0" indent="0" algn="ctr">
              <a:buNone/>
            </a:pPr>
            <a:r>
              <a:rPr lang="en-US" sz="1500" dirty="0">
                <a:solidFill>
                  <a:srgbClr val="FFFFFF"/>
                </a:solidFill>
                <a:latin typeface="Segoe UI Semibold" pitchFamily="34" charset="0"/>
                <a:ea typeface="Segoe UI Semibold" pitchFamily="34" charset="-122"/>
                <a:cs typeface="Segoe UI Semibold" pitchFamily="34" charset="-120"/>
              </a:rPr>
              <a:t>Target clusters</a:t>
            </a:r>
            <a:endParaRPr lang="en-US" sz="1500" dirty="0"/>
          </a:p>
        </p:txBody>
      </p:sp>
      <p:sp>
        <p:nvSpPr>
          <p:cNvPr id="21" name="Shape 19"/>
          <p:cNvSpPr/>
          <p:nvPr/>
        </p:nvSpPr>
        <p:spPr>
          <a:xfrm>
            <a:off x="9006840" y="3657600"/>
            <a:ext cx="365760" cy="0"/>
          </a:xfrm>
          <a:prstGeom prst="line">
            <a:avLst/>
          </a:prstGeom>
          <a:noFill/>
          <a:ln w="25400">
            <a:solidFill>
              <a:srgbClr val="008575"/>
            </a:solidFill>
            <a:prstDash val="solid"/>
            <a:tailEnd type="triangle"/>
          </a:ln>
        </p:spPr>
        <p:txBody>
          <a:bodyPr/>
          <a:lstStyle/>
          <a:p>
            <a:endParaRPr lang="en-US"/>
          </a:p>
        </p:txBody>
      </p:sp>
      <p:sp>
        <p:nvSpPr>
          <p:cNvPr id="22" name="Text 20"/>
          <p:cNvSpPr/>
          <p:nvPr/>
        </p:nvSpPr>
        <p:spPr>
          <a:xfrm>
            <a:off x="9418320" y="4297680"/>
            <a:ext cx="2221992" cy="1463040"/>
          </a:xfrm>
          <a:prstGeom prst="rect">
            <a:avLst/>
          </a:prstGeom>
          <a:noFill/>
          <a:ln/>
        </p:spPr>
        <p:txBody>
          <a:bodyPr wrap="square" lIns="0" tIns="0" rIns="0" bIns="0" rtlCol="0" anchor="t"/>
          <a:lstStyle/>
          <a:p>
            <a:pPr marL="0" indent="0">
              <a:buNone/>
            </a:pPr>
            <a:r>
              <a:rPr lang="en-US" sz="1300" dirty="0">
                <a:solidFill>
                  <a:srgbClr val="605E5C"/>
                </a:solidFill>
                <a:latin typeface="Segoe UI" pitchFamily="34" charset="0"/>
                <a:ea typeface="Segoe UI" pitchFamily="34" charset="-122"/>
                <a:cs typeface="Segoe UI" pitchFamily="34" charset="-120"/>
              </a:rPr>
              <a:t>One Argo CD can manage many clusters from a central UI.</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85294DF4-3984-4FB3-B6EB-CFF21055F9A8}" type="slidenum">
              <a:rPr lang="en-US" sz="1100">
                <a:solidFill>
                  <a:srgbClr val="605E5C"/>
                </a:solidFill>
                <a:latin typeface="Segoe UI" pitchFamily="34" charset="0"/>
                <a:ea typeface="Segoe UI" pitchFamily="34" charset="-122"/>
                <a:cs typeface="Segoe UI" pitchFamily="34" charset="-120"/>
              </a:rPr>
              <a:t>61</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The Argo CD Application</a:t>
            </a:r>
            <a:endParaRPr lang="en-US" sz="3200" dirty="0"/>
          </a:p>
        </p:txBody>
      </p:sp>
      <p:sp>
        <p:nvSpPr>
          <p:cNvPr id="10" name="Shape 8"/>
          <p:cNvSpPr/>
          <p:nvPr/>
        </p:nvSpPr>
        <p:spPr>
          <a:xfrm>
            <a:off x="548640" y="1737360"/>
            <a:ext cx="6949440" cy="4343400"/>
          </a:xfrm>
          <a:prstGeom prst="rect">
            <a:avLst/>
          </a:prstGeom>
          <a:solidFill>
            <a:srgbClr val="1E1E1E"/>
          </a:solidFill>
          <a:ln/>
        </p:spPr>
        <p:txBody>
          <a:bodyPr/>
          <a:lstStyle/>
          <a:p>
            <a:endParaRPr lang="en-US"/>
          </a:p>
        </p:txBody>
      </p:sp>
      <p:sp>
        <p:nvSpPr>
          <p:cNvPr id="11" name="Shape 9"/>
          <p:cNvSpPr/>
          <p:nvPr/>
        </p:nvSpPr>
        <p:spPr>
          <a:xfrm>
            <a:off x="548640" y="1737360"/>
            <a:ext cx="6949440" cy="347472"/>
          </a:xfrm>
          <a:prstGeom prst="rect">
            <a:avLst/>
          </a:prstGeom>
          <a:solidFill>
            <a:srgbClr val="2D2D30"/>
          </a:solidFill>
          <a:ln/>
        </p:spPr>
        <p:txBody>
          <a:bodyPr/>
          <a:lstStyle/>
          <a:p>
            <a:endParaRPr lang="en-US"/>
          </a:p>
        </p:txBody>
      </p:sp>
      <p:sp>
        <p:nvSpPr>
          <p:cNvPr id="12" name="Shape 10"/>
          <p:cNvSpPr/>
          <p:nvPr/>
        </p:nvSpPr>
        <p:spPr>
          <a:xfrm>
            <a:off x="548640" y="1737360"/>
            <a:ext cx="1792224" cy="347472"/>
          </a:xfrm>
          <a:prstGeom prst="rect">
            <a:avLst/>
          </a:prstGeom>
          <a:solidFill>
            <a:srgbClr val="1E1E1E"/>
          </a:solidFill>
          <a:ln/>
        </p:spPr>
        <p:txBody>
          <a:bodyPr/>
          <a:lstStyle/>
          <a:p>
            <a:endParaRPr lang="en-US"/>
          </a:p>
        </p:txBody>
      </p:sp>
      <p:sp>
        <p:nvSpPr>
          <p:cNvPr id="13" name="Text 11"/>
          <p:cNvSpPr/>
          <p:nvPr/>
        </p:nvSpPr>
        <p:spPr>
          <a:xfrm>
            <a:off x="685800" y="1737360"/>
            <a:ext cx="1609344"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application.yaml</a:t>
            </a:r>
            <a:endParaRPr lang="en-US" sz="1100" dirty="0"/>
          </a:p>
        </p:txBody>
      </p:sp>
      <p:sp>
        <p:nvSpPr>
          <p:cNvPr id="14" name="Text 12"/>
          <p:cNvSpPr/>
          <p:nvPr/>
        </p:nvSpPr>
        <p:spPr>
          <a:xfrm>
            <a:off x="749808" y="2212848"/>
            <a:ext cx="6583680" cy="3749040"/>
          </a:xfrm>
          <a:prstGeom prst="rect">
            <a:avLst/>
          </a:prstGeom>
          <a:noFill/>
          <a:ln/>
        </p:spPr>
        <p:txBody>
          <a:bodyPr wrap="square" lIns="0" tIns="0" rIns="0" bIns="0" rtlCol="0" anchor="t"/>
          <a:lstStyle/>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apiVersion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argoproj.io/v1alpha1</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kind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Application</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metadata</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name: store-api, namespace: argocd }</a:t>
            </a:r>
            <a:endParaRPr lang="en-US" sz="1250" dirty="0"/>
          </a:p>
          <a:p>
            <a:pPr marL="0" indent="0">
              <a:lnSpc>
                <a:spcPct val="105000"/>
              </a:lnSpc>
              <a:buNone/>
            </a:pPr>
            <a:r>
              <a:rPr lang="en-US" sz="1250" dirty="0">
                <a:solidFill>
                  <a:srgbClr val="9CDCFE"/>
                </a:solidFill>
                <a:latin typeface="Consolas" pitchFamily="34" charset="0"/>
                <a:ea typeface="Consolas" pitchFamily="34" charset="-122"/>
                <a:cs typeface="Consolas" pitchFamily="34" charset="-120"/>
              </a:rPr>
              <a:t>spec</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project</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default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source</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repoURL</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https://github.com/org/platform-gitops</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targetRevision</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main</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path</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apps/overlays/prod</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destination</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server</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https://kubernetes.default.svc</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namespace</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shop</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syncPolicy</a:t>
            </a:r>
            <a:r>
              <a:rPr lang="en-US" sz="1250" dirty="0">
                <a:solidFill>
                  <a:srgbClr val="D4D4D4"/>
                </a:solidFill>
                <a:latin typeface="Consolas" pitchFamily="34" charset="0"/>
                <a:ea typeface="Consolas" pitchFamily="34" charset="-122"/>
                <a:cs typeface="Consolas" pitchFamily="34" charset="-120"/>
              </a:rPr>
              <a:t>:</a:t>
            </a:r>
            <a:endParaRPr lang="en-US" sz="1250" dirty="0"/>
          </a:p>
          <a:p>
            <a:pPr marL="0" indent="0">
              <a:lnSpc>
                <a:spcPct val="105000"/>
              </a:lnSpc>
              <a:buNone/>
            </a:pPr>
            <a:r>
              <a:rPr lang="en-US" sz="1250" dirty="0">
                <a:solidFill>
                  <a:srgbClr val="D4D4D4"/>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automated</a:t>
            </a:r>
            <a:r>
              <a:rPr lang="en-US" sz="1250" dirty="0">
                <a:solidFill>
                  <a:srgbClr val="D4D4D4"/>
                </a:solidFill>
                <a:latin typeface="Consolas" pitchFamily="34" charset="0"/>
                <a:ea typeface="Consolas" pitchFamily="34" charset="-122"/>
                <a:cs typeface="Consolas" pitchFamily="34" charset="-120"/>
              </a:rPr>
              <a:t>:</a:t>
            </a:r>
            <a:r>
              <a:rPr lang="en-US" sz="1250" dirty="0">
                <a:solidFill>
                  <a:srgbClr val="CE9178"/>
                </a:solidFill>
                <a:latin typeface="Consolas" pitchFamily="34" charset="0"/>
                <a:ea typeface="Consolas" pitchFamily="34" charset="-122"/>
                <a:cs typeface="Consolas" pitchFamily="34" charset="-120"/>
              </a:rPr>
              <a:t> { prune: true, selfHeal: true }</a:t>
            </a:r>
            <a:endParaRPr lang="en-US" sz="1250" dirty="0"/>
          </a:p>
        </p:txBody>
      </p:sp>
      <p:sp>
        <p:nvSpPr>
          <p:cNvPr id="15" name="Shape 13"/>
          <p:cNvSpPr/>
          <p:nvPr/>
        </p:nvSpPr>
        <p:spPr>
          <a:xfrm>
            <a:off x="7772400" y="1737360"/>
            <a:ext cx="3867912" cy="1325880"/>
          </a:xfrm>
          <a:prstGeom prst="rect">
            <a:avLst/>
          </a:prstGeom>
          <a:solidFill>
            <a:srgbClr val="F3F2F1"/>
          </a:solidFill>
          <a:ln/>
        </p:spPr>
        <p:txBody>
          <a:bodyPr/>
          <a:lstStyle/>
          <a:p>
            <a:endParaRPr lang="en-US"/>
          </a:p>
        </p:txBody>
      </p:sp>
      <p:sp>
        <p:nvSpPr>
          <p:cNvPr id="16" name="Shape 14"/>
          <p:cNvSpPr/>
          <p:nvPr/>
        </p:nvSpPr>
        <p:spPr>
          <a:xfrm>
            <a:off x="8001000" y="1965960"/>
            <a:ext cx="502920" cy="502920"/>
          </a:xfrm>
          <a:prstGeom prst="ellipse">
            <a:avLst/>
          </a:prstGeom>
          <a:solidFill>
            <a:srgbClr val="008575"/>
          </a:solidFill>
          <a:ln/>
        </p:spPr>
        <p:txBody>
          <a:bodyPr/>
          <a:lstStyle/>
          <a:p>
            <a:endParaRPr lang="en-US"/>
          </a:p>
        </p:txBody>
      </p:sp>
      <p:pic>
        <p:nvPicPr>
          <p:cNvPr id="17" name="Image 0" descr="/agent/turn2/workspace/output/_anthropic_assets/icon-branch-3deffea2.png"/>
          <p:cNvPicPr>
            <a:picLocks noChangeAspect="1"/>
          </p:cNvPicPr>
          <p:nvPr/>
        </p:nvPicPr>
        <p:blipFill>
          <a:blip r:embed="rId2"/>
          <a:stretch>
            <a:fillRect/>
          </a:stretch>
        </p:blipFill>
        <p:spPr>
          <a:xfrm>
            <a:off x="8111642" y="2076602"/>
            <a:ext cx="281635" cy="281635"/>
          </a:xfrm>
          <a:prstGeom prst="rect">
            <a:avLst/>
          </a:prstGeom>
        </p:spPr>
      </p:pic>
      <p:sp>
        <p:nvSpPr>
          <p:cNvPr id="18" name="Text 15"/>
          <p:cNvSpPr/>
          <p:nvPr/>
        </p:nvSpPr>
        <p:spPr>
          <a:xfrm>
            <a:off x="8732520" y="1920240"/>
            <a:ext cx="272491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source</a:t>
            </a:r>
            <a:endParaRPr lang="en-US" sz="1600" dirty="0"/>
          </a:p>
        </p:txBody>
      </p:sp>
      <p:sp>
        <p:nvSpPr>
          <p:cNvPr id="19" name="Text 16"/>
          <p:cNvSpPr/>
          <p:nvPr/>
        </p:nvSpPr>
        <p:spPr>
          <a:xfrm>
            <a:off x="8732520" y="2331720"/>
            <a:ext cx="2724912" cy="59436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Repo, revision and path — Helm and Kustomize detected automatically.</a:t>
            </a:r>
            <a:endParaRPr lang="en-US" sz="1350" dirty="0"/>
          </a:p>
        </p:txBody>
      </p:sp>
      <p:sp>
        <p:nvSpPr>
          <p:cNvPr id="20" name="Shape 17"/>
          <p:cNvSpPr/>
          <p:nvPr/>
        </p:nvSpPr>
        <p:spPr>
          <a:xfrm>
            <a:off x="7772400" y="3246120"/>
            <a:ext cx="3867912" cy="1325880"/>
          </a:xfrm>
          <a:prstGeom prst="rect">
            <a:avLst/>
          </a:prstGeom>
          <a:solidFill>
            <a:srgbClr val="F3F2F1"/>
          </a:solidFill>
          <a:ln/>
        </p:spPr>
        <p:txBody>
          <a:bodyPr/>
          <a:lstStyle/>
          <a:p>
            <a:endParaRPr lang="en-US"/>
          </a:p>
        </p:txBody>
      </p:sp>
      <p:sp>
        <p:nvSpPr>
          <p:cNvPr id="21" name="Shape 18"/>
          <p:cNvSpPr/>
          <p:nvPr/>
        </p:nvSpPr>
        <p:spPr>
          <a:xfrm>
            <a:off x="8001000" y="3474720"/>
            <a:ext cx="502920" cy="502920"/>
          </a:xfrm>
          <a:prstGeom prst="ellipse">
            <a:avLst/>
          </a:prstGeom>
          <a:solidFill>
            <a:srgbClr val="008575"/>
          </a:solidFill>
          <a:ln/>
        </p:spPr>
        <p:txBody>
          <a:bodyPr/>
          <a:lstStyle/>
          <a:p>
            <a:endParaRPr lang="en-US"/>
          </a:p>
        </p:txBody>
      </p:sp>
      <p:pic>
        <p:nvPicPr>
          <p:cNvPr id="22" name="Image 1" descr="/agent/turn2/workspace/output/_anthropic_assets/icon-server-e8a10e40.png"/>
          <p:cNvPicPr>
            <a:picLocks noChangeAspect="1"/>
          </p:cNvPicPr>
          <p:nvPr/>
        </p:nvPicPr>
        <p:blipFill>
          <a:blip r:embed="rId3"/>
          <a:stretch>
            <a:fillRect/>
          </a:stretch>
        </p:blipFill>
        <p:spPr>
          <a:xfrm>
            <a:off x="8111642" y="3585362"/>
            <a:ext cx="281635" cy="281635"/>
          </a:xfrm>
          <a:prstGeom prst="rect">
            <a:avLst/>
          </a:prstGeom>
        </p:spPr>
      </p:pic>
      <p:sp>
        <p:nvSpPr>
          <p:cNvPr id="23" name="Text 19"/>
          <p:cNvSpPr/>
          <p:nvPr/>
        </p:nvSpPr>
        <p:spPr>
          <a:xfrm>
            <a:off x="8732520" y="3429000"/>
            <a:ext cx="272491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destination</a:t>
            </a:r>
            <a:endParaRPr lang="en-US" sz="1600" dirty="0"/>
          </a:p>
        </p:txBody>
      </p:sp>
      <p:sp>
        <p:nvSpPr>
          <p:cNvPr id="24" name="Text 20"/>
          <p:cNvSpPr/>
          <p:nvPr/>
        </p:nvSpPr>
        <p:spPr>
          <a:xfrm>
            <a:off x="8732520" y="3840480"/>
            <a:ext cx="2724912" cy="594360"/>
          </a:xfrm>
          <a:prstGeom prst="rect">
            <a:avLst/>
          </a:prstGeom>
          <a:noFill/>
          <a:ln/>
        </p:spPr>
        <p:txBody>
          <a:bodyPr wrap="square" lIns="0" tIns="0" rIns="0" bIns="0" rtlCol="0" anchor="t"/>
          <a:lstStyle/>
          <a:p>
            <a:pPr marL="0" indent="0">
              <a:buNone/>
            </a:pPr>
            <a:r>
              <a:rPr lang="en-US" sz="1350">
                <a:solidFill>
                  <a:srgbClr val="323130"/>
                </a:solidFill>
                <a:latin typeface="Segoe UI" pitchFamily="34" charset="0"/>
                <a:ea typeface="Segoe UI" pitchFamily="34" charset="-122"/>
                <a:cs typeface="Segoe UI" pitchFamily="34" charset="-120"/>
              </a:rPr>
              <a:t>Cluster </a:t>
            </a:r>
            <a:r>
              <a:rPr lang="en-US" sz="1350" dirty="0">
                <a:solidFill>
                  <a:srgbClr val="323130"/>
                </a:solidFill>
                <a:latin typeface="Segoe UI" pitchFamily="34" charset="0"/>
                <a:ea typeface="Segoe UI" pitchFamily="34" charset="-122"/>
                <a:cs typeface="Segoe UI" pitchFamily="34" charset="-120"/>
              </a:rPr>
              <a:t>and namespace </a:t>
            </a:r>
            <a:r>
              <a:rPr lang="en-US" sz="1350">
                <a:solidFill>
                  <a:srgbClr val="323130"/>
                </a:solidFill>
                <a:latin typeface="Segoe UI" pitchFamily="34" charset="0"/>
                <a:ea typeface="Segoe UI" pitchFamily="34" charset="-122"/>
                <a:cs typeface="Segoe UI" pitchFamily="34" charset="-120"/>
              </a:rPr>
              <a:t>to deploy to. Manage each app with Flux or Argo CD — never both</a:t>
            </a:r>
            <a:r>
              <a:rPr lang="en-US" sz="1350" dirty="0">
                <a:solidFill>
                  <a:srgbClr val="323130"/>
                </a:solidFill>
                <a:latin typeface="Segoe UI" pitchFamily="34" charset="0"/>
                <a:ea typeface="Segoe UI" pitchFamily="34" charset="-122"/>
                <a:cs typeface="Segoe UI" pitchFamily="34" charset="-120"/>
              </a:rPr>
              <a:t>.</a:t>
            </a:r>
            <a:endParaRPr lang="en-US" sz="1350" dirty="0"/>
          </a:p>
        </p:txBody>
      </p:sp>
      <p:sp>
        <p:nvSpPr>
          <p:cNvPr id="25" name="Shape 21"/>
          <p:cNvSpPr/>
          <p:nvPr/>
        </p:nvSpPr>
        <p:spPr>
          <a:xfrm>
            <a:off x="7772400" y="4754880"/>
            <a:ext cx="3867912" cy="1325880"/>
          </a:xfrm>
          <a:prstGeom prst="rect">
            <a:avLst/>
          </a:prstGeom>
          <a:solidFill>
            <a:srgbClr val="F3F2F1"/>
          </a:solidFill>
          <a:ln/>
        </p:spPr>
        <p:txBody>
          <a:bodyPr/>
          <a:lstStyle/>
          <a:p>
            <a:endParaRPr lang="en-US"/>
          </a:p>
        </p:txBody>
      </p:sp>
      <p:sp>
        <p:nvSpPr>
          <p:cNvPr id="26" name="Shape 22"/>
          <p:cNvSpPr/>
          <p:nvPr/>
        </p:nvSpPr>
        <p:spPr>
          <a:xfrm>
            <a:off x="8001000" y="4983480"/>
            <a:ext cx="502920" cy="502920"/>
          </a:xfrm>
          <a:prstGeom prst="ellipse">
            <a:avLst/>
          </a:prstGeom>
          <a:solidFill>
            <a:srgbClr val="008575"/>
          </a:solidFill>
          <a:ln/>
        </p:spPr>
        <p:txBody>
          <a:bodyPr/>
          <a:lstStyle/>
          <a:p>
            <a:endParaRPr lang="en-US"/>
          </a:p>
        </p:txBody>
      </p:sp>
      <p:pic>
        <p:nvPicPr>
          <p:cNvPr id="27" name="Image 2" descr="/agent/turn2/workspace/output/_anthropic_assets/icon-arrow-sync-7745594d.png"/>
          <p:cNvPicPr>
            <a:picLocks noChangeAspect="1"/>
          </p:cNvPicPr>
          <p:nvPr/>
        </p:nvPicPr>
        <p:blipFill>
          <a:blip r:embed="rId4"/>
          <a:stretch>
            <a:fillRect/>
          </a:stretch>
        </p:blipFill>
        <p:spPr>
          <a:xfrm>
            <a:off x="8111642" y="5094122"/>
            <a:ext cx="281635" cy="281635"/>
          </a:xfrm>
          <a:prstGeom prst="rect">
            <a:avLst/>
          </a:prstGeom>
        </p:spPr>
      </p:pic>
      <p:sp>
        <p:nvSpPr>
          <p:cNvPr id="28" name="Text 23"/>
          <p:cNvSpPr/>
          <p:nvPr/>
        </p:nvSpPr>
        <p:spPr>
          <a:xfrm>
            <a:off x="8732520" y="4937760"/>
            <a:ext cx="2724912"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syncPolicy</a:t>
            </a:r>
            <a:endParaRPr lang="en-US" sz="1600" dirty="0"/>
          </a:p>
        </p:txBody>
      </p:sp>
      <p:sp>
        <p:nvSpPr>
          <p:cNvPr id="29" name="Text 24"/>
          <p:cNvSpPr/>
          <p:nvPr/>
        </p:nvSpPr>
        <p:spPr>
          <a:xfrm>
            <a:off x="8732520" y="5349240"/>
            <a:ext cx="2724912" cy="594360"/>
          </a:xfrm>
          <a:prstGeom prst="rect">
            <a:avLst/>
          </a:prstGeom>
          <a:noFill/>
          <a:ln/>
        </p:spPr>
        <p:txBody>
          <a:bodyPr wrap="square" lIns="0" tIns="0" rIns="0" bIns="0" rtlCol="0" anchor="t"/>
          <a:lstStyle/>
          <a:p>
            <a:pPr marL="0" indent="0">
              <a:buNone/>
            </a:pPr>
            <a:r>
              <a:rPr lang="en-US" sz="1350" dirty="0">
                <a:solidFill>
                  <a:srgbClr val="0F6CBD"/>
                </a:solidFill>
                <a:latin typeface="Consolas" pitchFamily="34" charset="0"/>
                <a:ea typeface="Consolas" pitchFamily="34" charset="-122"/>
                <a:cs typeface="Consolas" pitchFamily="34" charset="-120"/>
              </a:rPr>
              <a:t>prune</a:t>
            </a:r>
            <a:r>
              <a:rPr lang="en-US" sz="1350" dirty="0">
                <a:solidFill>
                  <a:srgbClr val="323130"/>
                </a:solidFill>
                <a:latin typeface="Segoe UI" pitchFamily="34" charset="0"/>
                <a:ea typeface="Segoe UI" pitchFamily="34" charset="-122"/>
                <a:cs typeface="Segoe UI" pitchFamily="34" charset="-120"/>
              </a:rPr>
              <a:t> deletes removed objects; </a:t>
            </a:r>
            <a:r>
              <a:rPr lang="en-US" sz="1350" dirty="0">
                <a:solidFill>
                  <a:srgbClr val="0F6CBD"/>
                </a:solidFill>
                <a:latin typeface="Consolas" pitchFamily="34" charset="0"/>
                <a:ea typeface="Consolas" pitchFamily="34" charset="-122"/>
                <a:cs typeface="Consolas" pitchFamily="34" charset="-120"/>
              </a:rPr>
              <a:t>selfHeal</a:t>
            </a:r>
            <a:r>
              <a:rPr lang="en-US" sz="1350" dirty="0">
                <a:solidFill>
                  <a:srgbClr val="323130"/>
                </a:solidFill>
                <a:latin typeface="Segoe UI" pitchFamily="34" charset="0"/>
                <a:ea typeface="Segoe UI" pitchFamily="34" charset="-122"/>
                <a:cs typeface="Segoe UI" pitchFamily="34" charset="-120"/>
              </a:rPr>
              <a:t> reverts drift.</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4FE0C9"/>
                </a:solidFill>
                <a:latin typeface="Segoe UI Semibold" pitchFamily="34" charset="0"/>
                <a:ea typeface="Segoe UI Semibold" pitchFamily="34" charset="-122"/>
                <a:cs typeface="Segoe UI Semibold" pitchFamily="34" charset="-120"/>
              </a:rPr>
              <a:t>PART 6 · GITOPS WITH FLUX AND ARGO CD</a:t>
            </a:r>
            <a:endParaRPr lang="en-US" sz="110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a:solidFill>
                  <a:srgbClr val="A9B8C8"/>
                </a:solidFill>
                <a:latin typeface="Segoe UI" pitchFamily="34" charset="0"/>
                <a:ea typeface="Segoe UI" pitchFamily="34" charset="-122"/>
                <a:cs typeface="Segoe UI" pitchFamily="34" charset="-120"/>
              </a:rPr>
              <a:t>Advanced Kubernetes  |  Day-2 Operations</a:t>
            </a:r>
            <a:endParaRPr lang="en-US" sz="110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C488E0D1-1316-4ADB-AADB-7F7BDD4355E9}" type="slidenum">
              <a:rPr lang="en-US" sz="1100">
                <a:solidFill>
                  <a:srgbClr val="A9B8C8"/>
                </a:solidFill>
                <a:latin typeface="Segoe UI" pitchFamily="34" charset="0"/>
                <a:ea typeface="Segoe UI" pitchFamily="34" charset="-122"/>
                <a:cs typeface="Segoe UI" pitchFamily="34" charset="-120"/>
              </a:rPr>
              <a:t>62</a:t>
            </a:fld>
            <a:endParaRPr lang="en-US" sz="110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a:solidFill>
                  <a:srgbClr val="FFFFFF"/>
                </a:solidFill>
                <a:latin typeface="Segoe UI Semibold" pitchFamily="34" charset="0"/>
                <a:ea typeface="Segoe UI Semibold" pitchFamily="34" charset="-122"/>
                <a:cs typeface="Segoe UI Semibold" pitchFamily="34" charset="-120"/>
              </a:rPr>
              <a:t>Argo CD on AKS: the Managed Extension (Preview)</a:t>
            </a:r>
            <a:endParaRPr lang="en-US" sz="3200"/>
          </a:p>
        </p:txBody>
      </p:sp>
      <p:sp>
        <p:nvSpPr>
          <p:cNvPr id="10" name="Shape 8"/>
          <p:cNvSpPr/>
          <p:nvPr/>
        </p:nvSpPr>
        <p:spPr>
          <a:xfrm>
            <a:off x="548640" y="1737360"/>
            <a:ext cx="11091672" cy="2788920"/>
          </a:xfrm>
          <a:prstGeom prst="rect">
            <a:avLst/>
          </a:prstGeom>
          <a:solidFill>
            <a:srgbClr val="1E1E1E"/>
          </a:solidFill>
          <a:ln/>
        </p:spPr>
        <p:txBody>
          <a:bodyPr/>
          <a:lstStyle/>
          <a:p>
            <a:endParaRPr lang="en-US"/>
          </a:p>
        </p:txBody>
      </p:sp>
      <p:sp>
        <p:nvSpPr>
          <p:cNvPr id="11" name="Shape 9"/>
          <p:cNvSpPr/>
          <p:nvPr/>
        </p:nvSpPr>
        <p:spPr>
          <a:xfrm>
            <a:off x="548640" y="1737360"/>
            <a:ext cx="11091672" cy="347472"/>
          </a:xfrm>
          <a:prstGeom prst="rect">
            <a:avLst/>
          </a:prstGeom>
          <a:solidFill>
            <a:srgbClr val="2D2D30"/>
          </a:solidFill>
          <a:ln/>
        </p:spPr>
        <p:txBody>
          <a:bodyPr/>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a:solidFill>
                  <a:srgbClr val="CCCCCC"/>
                </a:solidFill>
                <a:latin typeface="Segoe UI" pitchFamily="34" charset="0"/>
                <a:ea typeface="Segoe UI" pitchFamily="34" charset="-122"/>
                <a:cs typeface="Segoe UI" pitchFamily="34" charset="-120"/>
              </a:rPr>
              <a:t>bash</a:t>
            </a:r>
            <a:endParaRPr lang="en-US" sz="1100"/>
          </a:p>
        </p:txBody>
      </p:sp>
      <p:sp>
        <p:nvSpPr>
          <p:cNvPr id="14" name="Text 12"/>
          <p:cNvSpPr/>
          <p:nvPr/>
        </p:nvSpPr>
        <p:spPr>
          <a:xfrm>
            <a:off x="749808" y="2212848"/>
            <a:ext cx="10725912" cy="2194560"/>
          </a:xfrm>
          <a:prstGeom prst="rect">
            <a:avLst/>
          </a:prstGeom>
          <a:noFill/>
          <a:ln/>
        </p:spPr>
        <p:txBody>
          <a:bodyPr wrap="square" lIns="0" tIns="0" rIns="0" bIns="0" rtlCol="0" anchor="t"/>
          <a:lstStyle/>
          <a:p>
            <a:pPr marL="0" indent="0">
              <a:lnSpc>
                <a:spcPct val="105000"/>
              </a:lnSpc>
              <a:buNone/>
            </a:pPr>
            <a:r>
              <a:rPr lang="en-US" sz="1300">
                <a:solidFill>
                  <a:srgbClr val="6A9955"/>
                </a:solidFill>
                <a:latin typeface="Consolas" pitchFamily="34" charset="0"/>
                <a:ea typeface="Consolas" pitchFamily="34" charset="-122"/>
                <a:cs typeface="Consolas" pitchFamily="34" charset="-120"/>
              </a:rPr>
              <a:t># one-time setup</a:t>
            </a:r>
            <a:endParaRPr lang="en-US" sz="1300"/>
          </a:p>
          <a:p>
            <a:pPr marL="0" indent="0">
              <a:lnSpc>
                <a:spcPct val="105000"/>
              </a:lnSpc>
              <a:buNone/>
            </a:pPr>
            <a:r>
              <a:rPr lang="en-US" sz="1300">
                <a:solidFill>
                  <a:srgbClr val="DCDCAA"/>
                </a:solidFill>
                <a:latin typeface="Consolas" pitchFamily="34" charset="0"/>
                <a:ea typeface="Consolas" pitchFamily="34" charset="-122"/>
                <a:cs typeface="Consolas" pitchFamily="34" charset="-120"/>
              </a:rPr>
              <a:t>az</a:t>
            </a:r>
            <a:r>
              <a:rPr lang="en-US" sz="1300">
                <a:solidFill>
                  <a:srgbClr val="D4D4D4"/>
                </a:solidFill>
                <a:latin typeface="Consolas" pitchFamily="34" charset="0"/>
                <a:ea typeface="Consolas" pitchFamily="34" charset="-122"/>
                <a:cs typeface="Consolas" pitchFamily="34" charset="-120"/>
              </a:rPr>
              <a:t> extension add -n k8s-extension</a:t>
            </a:r>
            <a:endParaRPr lang="en-US" sz="1300"/>
          </a:p>
          <a:p>
            <a:pPr marL="0" indent="0">
              <a:lnSpc>
                <a:spcPct val="105000"/>
              </a:lnSpc>
              <a:buNone/>
            </a:pPr>
            <a:r>
              <a:rPr lang="en-US" sz="1300">
                <a:solidFill>
                  <a:srgbClr val="DCDCAA"/>
                </a:solidFill>
                <a:latin typeface="Consolas" pitchFamily="34" charset="0"/>
                <a:ea typeface="Consolas" pitchFamily="34" charset="-122"/>
                <a:cs typeface="Consolas" pitchFamily="34" charset="-120"/>
              </a:rPr>
              <a:t>az</a:t>
            </a:r>
            <a:r>
              <a:rPr lang="en-US" sz="1300">
                <a:solidFill>
                  <a:srgbClr val="D4D4D4"/>
                </a:solidFill>
                <a:latin typeface="Consolas" pitchFamily="34" charset="0"/>
                <a:ea typeface="Consolas" pitchFamily="34" charset="-122"/>
                <a:cs typeface="Consolas" pitchFamily="34" charset="-120"/>
              </a:rPr>
              <a:t> provider register --namespace Microsoft.KubernetesConfiguration</a:t>
            </a:r>
            <a:endParaRPr lang="en-US" sz="1300"/>
          </a:p>
          <a:p>
            <a:pPr marL="0" indent="0">
              <a:lnSpc>
                <a:spcPct val="105000"/>
              </a:lnSpc>
              <a:buNone/>
            </a:pPr>
            <a:r>
              <a:rPr lang="en-US" sz="1300">
                <a:solidFill>
                  <a:srgbClr val="D4D4D4"/>
                </a:solidFill>
                <a:latin typeface="Consolas" pitchFamily="34" charset="0"/>
                <a:ea typeface="Consolas" pitchFamily="34" charset="-122"/>
                <a:cs typeface="Consolas" pitchFamily="34" charset="-120"/>
              </a:rPr>
              <a:t> </a:t>
            </a:r>
            <a:endParaRPr lang="en-US" sz="1300"/>
          </a:p>
          <a:p>
            <a:pPr marL="0" indent="0">
              <a:lnSpc>
                <a:spcPct val="105000"/>
              </a:lnSpc>
              <a:buNone/>
            </a:pPr>
            <a:r>
              <a:rPr lang="en-US" sz="1300">
                <a:solidFill>
                  <a:srgbClr val="DCDCAA"/>
                </a:solidFill>
                <a:latin typeface="Consolas" pitchFamily="34" charset="0"/>
                <a:ea typeface="Consolas" pitchFamily="34" charset="-122"/>
                <a:cs typeface="Consolas" pitchFamily="34" charset="-120"/>
              </a:rPr>
              <a:t>az</a:t>
            </a:r>
            <a:r>
              <a:rPr lang="en-US" sz="1300">
                <a:solidFill>
                  <a:srgbClr val="D4D4D4"/>
                </a:solidFill>
                <a:latin typeface="Consolas" pitchFamily="34" charset="0"/>
                <a:ea typeface="Consolas" pitchFamily="34" charset="-122"/>
                <a:cs typeface="Consolas" pitchFamily="34" charset="-120"/>
              </a:rPr>
              <a:t> k8s-extension create \</a:t>
            </a:r>
            <a:endParaRPr lang="en-US" sz="1300"/>
          </a:p>
          <a:p>
            <a:pPr marL="0" indent="0">
              <a:lnSpc>
                <a:spcPct val="105000"/>
              </a:lnSpc>
              <a:buNone/>
            </a:pPr>
            <a:r>
              <a:rPr lang="en-US" sz="1300">
                <a:solidFill>
                  <a:srgbClr val="D4D4D4"/>
                </a:solidFill>
                <a:latin typeface="Consolas" pitchFamily="34" charset="0"/>
                <a:ea typeface="Consolas" pitchFamily="34" charset="-122"/>
                <a:cs typeface="Consolas" pitchFamily="34" charset="-120"/>
              </a:rPr>
              <a:t>  </a:t>
            </a:r>
            <a:r>
              <a:rPr lang="en-US" sz="1300">
                <a:solidFill>
                  <a:srgbClr val="DCDCAA"/>
                </a:solidFill>
                <a:latin typeface="Consolas" pitchFamily="34" charset="0"/>
                <a:ea typeface="Consolas" pitchFamily="34" charset="-122"/>
                <a:cs typeface="Consolas" pitchFamily="34" charset="-120"/>
              </a:rPr>
              <a:t>-g</a:t>
            </a:r>
            <a:r>
              <a:rPr lang="en-US" sz="1300">
                <a:solidFill>
                  <a:srgbClr val="D4D4D4"/>
                </a:solidFill>
                <a:latin typeface="Consolas" pitchFamily="34" charset="0"/>
                <a:ea typeface="Consolas" pitchFamily="34" charset="-122"/>
                <a:cs typeface="Consolas" pitchFamily="34" charset="-120"/>
              </a:rPr>
              <a:t> rg-aks-demo -c aks-demo -t managedClusters \</a:t>
            </a:r>
            <a:endParaRPr lang="en-US" sz="1300"/>
          </a:p>
          <a:p>
            <a:pPr marL="0" indent="0">
              <a:lnSpc>
                <a:spcPct val="105000"/>
              </a:lnSpc>
              <a:buNone/>
            </a:pPr>
            <a:r>
              <a:rPr lang="en-US" sz="1300">
                <a:solidFill>
                  <a:srgbClr val="D4D4D4"/>
                </a:solidFill>
                <a:latin typeface="Consolas" pitchFamily="34" charset="0"/>
                <a:ea typeface="Consolas" pitchFamily="34" charset="-122"/>
                <a:cs typeface="Consolas" pitchFamily="34" charset="-120"/>
              </a:rPr>
              <a:t>  </a:t>
            </a:r>
            <a:r>
              <a:rPr lang="en-US" sz="1300">
                <a:solidFill>
                  <a:srgbClr val="DCDCAA"/>
                </a:solidFill>
                <a:latin typeface="Consolas" pitchFamily="34" charset="0"/>
                <a:ea typeface="Consolas" pitchFamily="34" charset="-122"/>
                <a:cs typeface="Consolas" pitchFamily="34" charset="-120"/>
              </a:rPr>
              <a:t>--name</a:t>
            </a:r>
            <a:r>
              <a:rPr lang="en-US" sz="1300">
                <a:solidFill>
                  <a:srgbClr val="D4D4D4"/>
                </a:solidFill>
                <a:latin typeface="Consolas" pitchFamily="34" charset="0"/>
                <a:ea typeface="Consolas" pitchFamily="34" charset="-122"/>
                <a:cs typeface="Consolas" pitchFamily="34" charset="-120"/>
              </a:rPr>
              <a:t> argocd --extension-type Microsoft.ArgoCD \</a:t>
            </a:r>
            <a:endParaRPr lang="en-US" sz="1300"/>
          </a:p>
          <a:p>
            <a:pPr marL="0" indent="0">
              <a:lnSpc>
                <a:spcPct val="105000"/>
              </a:lnSpc>
              <a:buNone/>
            </a:pPr>
            <a:r>
              <a:rPr lang="en-US" sz="1300">
                <a:solidFill>
                  <a:srgbClr val="D4D4D4"/>
                </a:solidFill>
                <a:latin typeface="Consolas" pitchFamily="34" charset="0"/>
                <a:ea typeface="Consolas" pitchFamily="34" charset="-122"/>
                <a:cs typeface="Consolas" pitchFamily="34" charset="-120"/>
              </a:rPr>
              <a:t>  </a:t>
            </a:r>
            <a:r>
              <a:rPr lang="en-US" sz="1300">
                <a:solidFill>
                  <a:srgbClr val="DCDCAA"/>
                </a:solidFill>
                <a:latin typeface="Consolas" pitchFamily="34" charset="0"/>
                <a:ea typeface="Consolas" pitchFamily="34" charset="-122"/>
                <a:cs typeface="Consolas" pitchFamily="34" charset="-120"/>
              </a:rPr>
              <a:t>--config</a:t>
            </a:r>
            <a:r>
              <a:rPr lang="en-US" sz="1300">
                <a:solidFill>
                  <a:srgbClr val="D4D4D4"/>
                </a:solidFill>
                <a:latin typeface="Consolas" pitchFamily="34" charset="0"/>
                <a:ea typeface="Consolas" pitchFamily="34" charset="-122"/>
                <a:cs typeface="Consolas" pitchFamily="34" charset="-120"/>
              </a:rPr>
              <a:t> "redis-ha.enabled=false"              </a:t>
            </a:r>
            <a:r>
              <a:rPr lang="en-US" sz="1300">
                <a:solidFill>
                  <a:srgbClr val="6A9955"/>
                </a:solidFill>
                <a:latin typeface="Consolas" pitchFamily="34" charset="0"/>
                <a:ea typeface="Consolas" pitchFamily="34" charset="-122"/>
                <a:cs typeface="Consolas" pitchFamily="34" charset="-120"/>
              </a:rPr>
              <a:t># HA default needs 4+ nodes</a:t>
            </a:r>
            <a:endParaRPr lang="en-US" sz="1300"/>
          </a:p>
        </p:txBody>
      </p:sp>
      <p:sp>
        <p:nvSpPr>
          <p:cNvPr id="15" name="Shape 13"/>
          <p:cNvSpPr/>
          <p:nvPr/>
        </p:nvSpPr>
        <p:spPr>
          <a:xfrm>
            <a:off x="548640" y="4754880"/>
            <a:ext cx="3514344" cy="1325880"/>
          </a:xfrm>
          <a:prstGeom prst="rect">
            <a:avLst/>
          </a:prstGeom>
          <a:solidFill>
            <a:srgbClr val="16304A"/>
          </a:solidFill>
          <a:ln/>
        </p:spPr>
        <p:txBody>
          <a:bodyPr/>
          <a:lstStyle/>
          <a:p>
            <a:endParaRPr lang="en-US"/>
          </a:p>
        </p:txBody>
      </p:sp>
      <p:sp>
        <p:nvSpPr>
          <p:cNvPr id="16" name="Shape 14"/>
          <p:cNvSpPr/>
          <p:nvPr/>
        </p:nvSpPr>
        <p:spPr>
          <a:xfrm>
            <a:off x="777240" y="4983480"/>
            <a:ext cx="457200" cy="457200"/>
          </a:xfrm>
          <a:prstGeom prst="ellipse">
            <a:avLst/>
          </a:prstGeom>
          <a:solidFill>
            <a:srgbClr val="008575"/>
          </a:solidFill>
          <a:ln/>
        </p:spPr>
        <p:txBody>
          <a:bodyPr/>
          <a:lstStyle/>
          <a:p>
            <a:endParaRPr lang="en-US"/>
          </a:p>
        </p:txBody>
      </p:sp>
      <p:pic>
        <p:nvPicPr>
          <p:cNvPr id="17" name="Image 0" descr="/agent/turn2/workspace/output/_anthropic_assets/icon-settings-29333648.png"/>
          <p:cNvPicPr>
            <a:picLocks noChangeAspect="1"/>
          </p:cNvPicPr>
          <p:nvPr/>
        </p:nvPicPr>
        <p:blipFill>
          <a:blip r:embed="rId2"/>
          <a:stretch>
            <a:fillRect/>
          </a:stretch>
        </p:blipFill>
        <p:spPr>
          <a:xfrm>
            <a:off x="877824" y="5084064"/>
            <a:ext cx="256032" cy="256032"/>
          </a:xfrm>
          <a:prstGeom prst="rect">
            <a:avLst/>
          </a:prstGeom>
        </p:spPr>
      </p:pic>
      <p:sp>
        <p:nvSpPr>
          <p:cNvPr id="18" name="Text 15"/>
          <p:cNvSpPr/>
          <p:nvPr/>
        </p:nvSpPr>
        <p:spPr>
          <a:xfrm>
            <a:off x="1463040" y="4937760"/>
            <a:ext cx="2417064" cy="384048"/>
          </a:xfrm>
          <a:prstGeom prst="rect">
            <a:avLst/>
          </a:prstGeom>
          <a:noFill/>
          <a:ln/>
        </p:spPr>
        <p:txBody>
          <a:bodyPr wrap="square" lIns="0" tIns="0" rIns="0" bIns="0" rtlCol="0" anchor="ctr"/>
          <a:lstStyle/>
          <a:p>
            <a:pPr marL="0" indent="0">
              <a:buNone/>
            </a:pPr>
            <a:r>
              <a:rPr lang="en-US" sz="1500">
                <a:solidFill>
                  <a:srgbClr val="FFFFFF"/>
                </a:solidFill>
                <a:latin typeface="Segoe UI Semibold" pitchFamily="34" charset="0"/>
                <a:ea typeface="Segoe UI Semibold" pitchFamily="34" charset="-122"/>
                <a:cs typeface="Segoe UI Semibold" pitchFamily="34" charset="-120"/>
              </a:rPr>
              <a:t>Preview extension</a:t>
            </a:r>
            <a:endParaRPr lang="en-US" sz="1500"/>
          </a:p>
        </p:txBody>
      </p:sp>
      <p:sp>
        <p:nvSpPr>
          <p:cNvPr id="19" name="Text 16"/>
          <p:cNvSpPr/>
          <p:nvPr/>
        </p:nvSpPr>
        <p:spPr>
          <a:xfrm>
            <a:off x="1463040" y="5349240"/>
            <a:ext cx="2417064" cy="594360"/>
          </a:xfrm>
          <a:prstGeom prst="rect">
            <a:avLst/>
          </a:prstGeom>
          <a:noFill/>
          <a:ln/>
        </p:spPr>
        <p:txBody>
          <a:bodyPr wrap="square" lIns="0" tIns="0" rIns="0" bIns="0" rtlCol="0" anchor="t"/>
          <a:lstStyle/>
          <a:p>
            <a:pPr marL="0" indent="0">
              <a:buNone/>
            </a:pPr>
            <a:r>
              <a:rPr lang="en-US" sz="1300">
                <a:solidFill>
                  <a:srgbClr val="D0D8E2"/>
                </a:solidFill>
                <a:latin typeface="Segoe UI" pitchFamily="34" charset="0"/>
                <a:ea typeface="Segoe UI" pitchFamily="34" charset="-122"/>
                <a:cs typeface="Segoe UI" pitchFamily="34" charset="-120"/>
              </a:rPr>
              <a:t>Microsoft.ArgoCD is still in preview — validate before relying on it in production.</a:t>
            </a:r>
            <a:endParaRPr lang="en-US" sz="1300"/>
          </a:p>
        </p:txBody>
      </p:sp>
      <p:sp>
        <p:nvSpPr>
          <p:cNvPr id="20" name="Shape 17"/>
          <p:cNvSpPr/>
          <p:nvPr/>
        </p:nvSpPr>
        <p:spPr>
          <a:xfrm>
            <a:off x="4337304" y="4754880"/>
            <a:ext cx="3514344" cy="1325880"/>
          </a:xfrm>
          <a:prstGeom prst="rect">
            <a:avLst/>
          </a:prstGeom>
          <a:solidFill>
            <a:srgbClr val="16304A"/>
          </a:solidFill>
          <a:ln/>
        </p:spPr>
        <p:txBody>
          <a:bodyPr/>
          <a:lstStyle/>
          <a:p>
            <a:endParaRPr lang="en-US"/>
          </a:p>
        </p:txBody>
      </p:sp>
      <p:sp>
        <p:nvSpPr>
          <p:cNvPr id="21" name="Shape 18"/>
          <p:cNvSpPr/>
          <p:nvPr/>
        </p:nvSpPr>
        <p:spPr>
          <a:xfrm>
            <a:off x="4565904" y="4983480"/>
            <a:ext cx="457200" cy="457200"/>
          </a:xfrm>
          <a:prstGeom prst="ellipse">
            <a:avLst/>
          </a:prstGeom>
          <a:solidFill>
            <a:srgbClr val="008575"/>
          </a:solidFill>
          <a:ln/>
        </p:spPr>
        <p:txBody>
          <a:bodyPr/>
          <a:lstStyle/>
          <a:p>
            <a:endParaRPr lang="en-US"/>
          </a:p>
        </p:txBody>
      </p:sp>
      <p:pic>
        <p:nvPicPr>
          <p:cNvPr id="22" name="Image 1" descr="/agent/turn2/workspace/output/_anthropic_assets/icon-cloud-7294e924.png"/>
          <p:cNvPicPr>
            <a:picLocks noChangeAspect="1"/>
          </p:cNvPicPr>
          <p:nvPr/>
        </p:nvPicPr>
        <p:blipFill>
          <a:blip r:embed="rId3"/>
          <a:stretch>
            <a:fillRect/>
          </a:stretch>
        </p:blipFill>
        <p:spPr>
          <a:xfrm>
            <a:off x="4666488" y="5084064"/>
            <a:ext cx="256032" cy="256032"/>
          </a:xfrm>
          <a:prstGeom prst="rect">
            <a:avLst/>
          </a:prstGeom>
        </p:spPr>
      </p:pic>
      <p:sp>
        <p:nvSpPr>
          <p:cNvPr id="23" name="Text 19"/>
          <p:cNvSpPr/>
          <p:nvPr/>
        </p:nvSpPr>
        <p:spPr>
          <a:xfrm>
            <a:off x="5251704" y="4937760"/>
            <a:ext cx="2417064" cy="384048"/>
          </a:xfrm>
          <a:prstGeom prst="rect">
            <a:avLst/>
          </a:prstGeom>
          <a:noFill/>
          <a:ln/>
        </p:spPr>
        <p:txBody>
          <a:bodyPr wrap="square" lIns="0" tIns="0" rIns="0" bIns="0" rtlCol="0" anchor="ctr"/>
          <a:lstStyle/>
          <a:p>
            <a:pPr marL="0" indent="0">
              <a:buNone/>
            </a:pPr>
            <a:r>
              <a:rPr lang="en-US" sz="1500">
                <a:solidFill>
                  <a:srgbClr val="FFFFFF"/>
                </a:solidFill>
                <a:latin typeface="Segoe UI Semibold" pitchFamily="34" charset="0"/>
                <a:ea typeface="Segoe UI Semibold" pitchFamily="34" charset="-122"/>
                <a:cs typeface="Segoe UI Semibold" pitchFamily="34" charset="-120"/>
              </a:rPr>
              <a:t>Single node vs HA</a:t>
            </a:r>
            <a:endParaRPr lang="en-US" sz="1500"/>
          </a:p>
        </p:txBody>
      </p:sp>
      <p:sp>
        <p:nvSpPr>
          <p:cNvPr id="24" name="Text 20"/>
          <p:cNvSpPr/>
          <p:nvPr/>
        </p:nvSpPr>
        <p:spPr>
          <a:xfrm>
            <a:off x="5251704" y="5349240"/>
            <a:ext cx="2417064" cy="594360"/>
          </a:xfrm>
          <a:prstGeom prst="rect">
            <a:avLst/>
          </a:prstGeom>
          <a:noFill/>
          <a:ln/>
        </p:spPr>
        <p:txBody>
          <a:bodyPr wrap="square" lIns="0" tIns="0" rIns="0" bIns="0" rtlCol="0" anchor="t"/>
          <a:lstStyle/>
          <a:p>
            <a:pPr marL="0" indent="0">
              <a:buNone/>
            </a:pPr>
            <a:r>
              <a:rPr lang="en-US" sz="1300">
                <a:solidFill>
                  <a:srgbClr val="D0D8E2"/>
                </a:solidFill>
                <a:latin typeface="Segoe UI" pitchFamily="34" charset="0"/>
                <a:ea typeface="Segoe UI" pitchFamily="34" charset="-122"/>
                <a:cs typeface="Segoe UI" pitchFamily="34" charset="-120"/>
              </a:rPr>
              <a:t>HA (Redis HA) is the default and needs four nodes; disable it for small lab clusters.</a:t>
            </a:r>
            <a:endParaRPr lang="en-US" sz="1300"/>
          </a:p>
        </p:txBody>
      </p:sp>
      <p:sp>
        <p:nvSpPr>
          <p:cNvPr id="25" name="Shape 21"/>
          <p:cNvSpPr/>
          <p:nvPr/>
        </p:nvSpPr>
        <p:spPr>
          <a:xfrm>
            <a:off x="8125968" y="4754880"/>
            <a:ext cx="3514344" cy="1325880"/>
          </a:xfrm>
          <a:prstGeom prst="rect">
            <a:avLst/>
          </a:prstGeom>
          <a:solidFill>
            <a:srgbClr val="16304A"/>
          </a:solidFill>
          <a:ln/>
        </p:spPr>
        <p:txBody>
          <a:bodyPr/>
          <a:lstStyle/>
          <a:p>
            <a:endParaRPr lang="en-US"/>
          </a:p>
        </p:txBody>
      </p:sp>
      <p:sp>
        <p:nvSpPr>
          <p:cNvPr id="26" name="Shape 22"/>
          <p:cNvSpPr/>
          <p:nvPr/>
        </p:nvSpPr>
        <p:spPr>
          <a:xfrm>
            <a:off x="8354568" y="4983480"/>
            <a:ext cx="457200" cy="457200"/>
          </a:xfrm>
          <a:prstGeom prst="ellipse">
            <a:avLst/>
          </a:prstGeom>
          <a:solidFill>
            <a:srgbClr val="008575"/>
          </a:solidFill>
          <a:ln/>
        </p:spPr>
        <p:txBody>
          <a:bodyPr/>
          <a:lstStyle/>
          <a:p>
            <a:endParaRPr lang="en-US"/>
          </a:p>
        </p:txBody>
      </p:sp>
      <p:pic>
        <p:nvPicPr>
          <p:cNvPr id="27" name="Image 2" descr="/agent/turn2/workspace/output/_anthropic_assets/icon-branch-3deffea2.png"/>
          <p:cNvPicPr>
            <a:picLocks noChangeAspect="1"/>
          </p:cNvPicPr>
          <p:nvPr/>
        </p:nvPicPr>
        <p:blipFill>
          <a:blip r:embed="rId4"/>
          <a:stretch>
            <a:fillRect/>
          </a:stretch>
        </p:blipFill>
        <p:spPr>
          <a:xfrm>
            <a:off x="8455152" y="5084064"/>
            <a:ext cx="256032" cy="256032"/>
          </a:xfrm>
          <a:prstGeom prst="rect">
            <a:avLst/>
          </a:prstGeom>
        </p:spPr>
      </p:pic>
      <p:sp>
        <p:nvSpPr>
          <p:cNvPr id="28" name="Text 23"/>
          <p:cNvSpPr/>
          <p:nvPr/>
        </p:nvSpPr>
        <p:spPr>
          <a:xfrm>
            <a:off x="9040368" y="4937760"/>
            <a:ext cx="2417064" cy="384048"/>
          </a:xfrm>
          <a:prstGeom prst="rect">
            <a:avLst/>
          </a:prstGeom>
          <a:noFill/>
          <a:ln/>
        </p:spPr>
        <p:txBody>
          <a:bodyPr wrap="square" lIns="0" tIns="0" rIns="0" bIns="0" rtlCol="0" anchor="ctr"/>
          <a:lstStyle/>
          <a:p>
            <a:pPr marL="0" indent="0">
              <a:buNone/>
            </a:pPr>
            <a:r>
              <a:rPr lang="en-US" sz="1500">
                <a:solidFill>
                  <a:srgbClr val="FFFFFF"/>
                </a:solidFill>
                <a:latin typeface="Segoe UI Semibold" pitchFamily="34" charset="0"/>
                <a:ea typeface="Segoe UI Semibold" pitchFamily="34" charset="-122"/>
                <a:cs typeface="Segoe UI Semibold" pitchFamily="34" charset="-120"/>
              </a:rPr>
              <a:t>Production install</a:t>
            </a:r>
            <a:endParaRPr lang="en-US" sz="1500"/>
          </a:p>
        </p:txBody>
      </p:sp>
      <p:sp>
        <p:nvSpPr>
          <p:cNvPr id="29" name="Text 24"/>
          <p:cNvSpPr/>
          <p:nvPr/>
        </p:nvSpPr>
        <p:spPr>
          <a:xfrm>
            <a:off x="9040368" y="5349240"/>
            <a:ext cx="2417064" cy="594360"/>
          </a:xfrm>
          <a:prstGeom prst="rect">
            <a:avLst/>
          </a:prstGeom>
          <a:noFill/>
          <a:ln/>
        </p:spPr>
        <p:txBody>
          <a:bodyPr wrap="square" lIns="0" tIns="0" rIns="0" bIns="0" rtlCol="0" anchor="t"/>
          <a:lstStyle/>
          <a:p>
            <a:pPr marL="0" indent="0">
              <a:buNone/>
            </a:pPr>
            <a:r>
              <a:rPr lang="en-US" sz="1300">
                <a:solidFill>
                  <a:srgbClr val="D0D8E2"/>
                </a:solidFill>
                <a:latin typeface="Segoe UI" pitchFamily="34" charset="0"/>
                <a:ea typeface="Segoe UI" pitchFamily="34" charset="-122"/>
                <a:cs typeface="Segoe UI" pitchFamily="34" charset="-120"/>
              </a:rPr>
              <a:t>Use the Bicep option with workload identity and Entra ID SSO — no secrets in Git.</a:t>
            </a:r>
            <a:endParaRPr lang="en-US" sz="13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a:solidFill>
                  <a:srgbClr val="4FE0C9"/>
                </a:solidFill>
                <a:latin typeface="Segoe UI Semibold" pitchFamily="34" charset="0"/>
                <a:ea typeface="Segoe UI Semibold" pitchFamily="34" charset="-122"/>
                <a:cs typeface="Segoe UI Semibold" pitchFamily="34" charset="-120"/>
              </a:rPr>
              <a:t>PART 6 · GITOPS WITH FLUX AND ARGO CD</a:t>
            </a:r>
            <a:endParaRPr lang="en-US" sz="110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a:solidFill>
                  <a:srgbClr val="A9B8C8"/>
                </a:solidFill>
                <a:latin typeface="Segoe UI" pitchFamily="34" charset="0"/>
                <a:ea typeface="Segoe UI" pitchFamily="34" charset="-122"/>
                <a:cs typeface="Segoe UI" pitchFamily="34" charset="-120"/>
              </a:rPr>
              <a:t>Advanced Kubernetes  |  Day-2 Operations</a:t>
            </a:r>
            <a:endParaRPr lang="en-US" sz="110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9D7BFCF4-D781-408A-89CB-58082110167A}" type="slidenum">
              <a:rPr lang="en-US" sz="1100">
                <a:solidFill>
                  <a:srgbClr val="A9B8C8"/>
                </a:solidFill>
                <a:latin typeface="Segoe UI" pitchFamily="34" charset="0"/>
                <a:ea typeface="Segoe UI" pitchFamily="34" charset="-122"/>
                <a:cs typeface="Segoe UI" pitchFamily="34" charset="-120"/>
              </a:rPr>
              <a:t>63</a:t>
            </a:fld>
            <a:endParaRPr lang="en-US" sz="110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a:solidFill>
                  <a:srgbClr val="FFFFFF"/>
                </a:solidFill>
                <a:latin typeface="Segoe UI Semibold" pitchFamily="34" charset="0"/>
                <a:ea typeface="Segoe UI Semibold" pitchFamily="34" charset="-122"/>
                <a:cs typeface="Segoe UI Semibold" pitchFamily="34" charset="-120"/>
              </a:rPr>
              <a:t>Reaching the Argo CD UI</a:t>
            </a:r>
            <a:endParaRPr lang="en-US" sz="3200"/>
          </a:p>
        </p:txBody>
      </p:sp>
      <p:sp>
        <p:nvSpPr>
          <p:cNvPr id="10" name="Shape 8"/>
          <p:cNvSpPr/>
          <p:nvPr/>
        </p:nvSpPr>
        <p:spPr>
          <a:xfrm>
            <a:off x="548640" y="1737360"/>
            <a:ext cx="11091672" cy="2788920"/>
          </a:xfrm>
          <a:prstGeom prst="rect">
            <a:avLst/>
          </a:prstGeom>
          <a:solidFill>
            <a:srgbClr val="1E1E1E"/>
          </a:solidFill>
          <a:ln/>
        </p:spPr>
        <p:txBody>
          <a:bodyPr/>
          <a:lstStyle/>
          <a:p>
            <a:endParaRPr lang="en-US"/>
          </a:p>
        </p:txBody>
      </p:sp>
      <p:sp>
        <p:nvSpPr>
          <p:cNvPr id="11" name="Shape 9"/>
          <p:cNvSpPr/>
          <p:nvPr/>
        </p:nvSpPr>
        <p:spPr>
          <a:xfrm>
            <a:off x="548640" y="1737360"/>
            <a:ext cx="11091672" cy="347472"/>
          </a:xfrm>
          <a:prstGeom prst="rect">
            <a:avLst/>
          </a:prstGeom>
          <a:solidFill>
            <a:srgbClr val="2D2D30"/>
          </a:solidFill>
          <a:ln/>
        </p:spPr>
        <p:txBody>
          <a:bodyPr/>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a:solidFill>
                  <a:srgbClr val="CCCCCC"/>
                </a:solidFill>
                <a:latin typeface="Segoe UI" pitchFamily="34" charset="0"/>
                <a:ea typeface="Segoe UI" pitchFamily="34" charset="-122"/>
                <a:cs typeface="Segoe UI" pitchFamily="34" charset="-120"/>
              </a:rPr>
              <a:t>bash</a:t>
            </a:r>
            <a:endParaRPr lang="en-US" sz="1100"/>
          </a:p>
        </p:txBody>
      </p:sp>
      <p:sp>
        <p:nvSpPr>
          <p:cNvPr id="14" name="Text 12"/>
          <p:cNvSpPr/>
          <p:nvPr/>
        </p:nvSpPr>
        <p:spPr>
          <a:xfrm>
            <a:off x="749808" y="2212848"/>
            <a:ext cx="10725912" cy="2194560"/>
          </a:xfrm>
          <a:prstGeom prst="rect">
            <a:avLst/>
          </a:prstGeom>
          <a:noFill/>
          <a:ln/>
        </p:spPr>
        <p:txBody>
          <a:bodyPr wrap="square" lIns="0" tIns="0" rIns="0" bIns="0" rtlCol="0" anchor="t"/>
          <a:lstStyle/>
          <a:p>
            <a:pPr marL="0" indent="0">
              <a:lnSpc>
                <a:spcPct val="105000"/>
              </a:lnSpc>
              <a:buNone/>
            </a:pPr>
            <a:r>
              <a:rPr lang="en-US" sz="1200">
                <a:solidFill>
                  <a:srgbClr val="6A9955"/>
                </a:solidFill>
                <a:latin typeface="Consolas" pitchFamily="34" charset="0"/>
                <a:ea typeface="Consolas" pitchFamily="34" charset="-122"/>
                <a:cs typeface="Consolas" pitchFamily="34" charset="-120"/>
              </a:rPr>
              <a:t># 1. Quick look — tunnel from your machine, then open https://localhost:8080</a:t>
            </a:r>
            <a:endParaRPr lang="en-US" sz="1200"/>
          </a:p>
          <a:p>
            <a:pPr marL="0" indent="0">
              <a:lnSpc>
                <a:spcPct val="105000"/>
              </a:lnSpc>
              <a:buNone/>
            </a:pPr>
            <a:r>
              <a:rPr lang="en-US" sz="1200">
                <a:solidFill>
                  <a:srgbClr val="DCDCAA"/>
                </a:solidFill>
                <a:latin typeface="Consolas" pitchFamily="34" charset="0"/>
                <a:ea typeface="Consolas" pitchFamily="34" charset="-122"/>
                <a:cs typeface="Consolas" pitchFamily="34" charset="-120"/>
              </a:rPr>
              <a:t>kubectl</a:t>
            </a:r>
            <a:r>
              <a:rPr lang="en-US" sz="1200">
                <a:solidFill>
                  <a:srgbClr val="D4D4D4"/>
                </a:solidFill>
                <a:latin typeface="Consolas" pitchFamily="34" charset="0"/>
                <a:ea typeface="Consolas" pitchFamily="34" charset="-122"/>
                <a:cs typeface="Consolas" pitchFamily="34" charset="-120"/>
              </a:rPr>
              <a:t> port-forward svc/argocd-server -n argocd 8080:443</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a:t>
            </a:r>
            <a:endParaRPr lang="en-US" sz="1200"/>
          </a:p>
          <a:p>
            <a:pPr marL="0" indent="0">
              <a:lnSpc>
                <a:spcPct val="105000"/>
              </a:lnSpc>
              <a:buNone/>
            </a:pPr>
            <a:r>
              <a:rPr lang="en-US" sz="1200">
                <a:solidFill>
                  <a:srgbClr val="6A9955"/>
                </a:solidFill>
                <a:latin typeface="Consolas" pitchFamily="34" charset="0"/>
                <a:ea typeface="Consolas" pitchFamily="34" charset="-122"/>
                <a:cs typeface="Consolas" pitchFamily="34" charset="-120"/>
              </a:rPr>
              <a:t># 2. Lab / demo — expose with a LoadBalancer (no ingress needed)</a:t>
            </a:r>
            <a:endParaRPr lang="en-US" sz="1200"/>
          </a:p>
          <a:p>
            <a:pPr marL="0" indent="0">
              <a:lnSpc>
                <a:spcPct val="105000"/>
              </a:lnSpc>
              <a:buNone/>
            </a:pPr>
            <a:r>
              <a:rPr lang="en-US" sz="1200">
                <a:solidFill>
                  <a:srgbClr val="DCDCAA"/>
                </a:solidFill>
                <a:latin typeface="Consolas" pitchFamily="34" charset="0"/>
                <a:ea typeface="Consolas" pitchFamily="34" charset="-122"/>
                <a:cs typeface="Consolas" pitchFamily="34" charset="-120"/>
              </a:rPr>
              <a:t>kubectl</a:t>
            </a:r>
            <a:r>
              <a:rPr lang="en-US" sz="1200">
                <a:solidFill>
                  <a:srgbClr val="D4D4D4"/>
                </a:solidFill>
                <a:latin typeface="Consolas" pitchFamily="34" charset="0"/>
                <a:ea typeface="Consolas" pitchFamily="34" charset="-122"/>
                <a:cs typeface="Consolas" pitchFamily="34" charset="-120"/>
              </a:rPr>
              <a:t> -n argocd expose service argocd-server --type LoadBalancer \</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--name argocd-server-lb --port 80 --target-port 8080</a:t>
            </a:r>
            <a:endParaRPr lang="en-US" sz="1200"/>
          </a:p>
          <a:p>
            <a:pPr marL="0" indent="0">
              <a:lnSpc>
                <a:spcPct val="105000"/>
              </a:lnSpc>
              <a:buNone/>
            </a:pPr>
            <a:r>
              <a:rPr lang="en-US" sz="1200">
                <a:solidFill>
                  <a:srgbClr val="DCDCAA"/>
                </a:solidFill>
                <a:latin typeface="Consolas" pitchFamily="34" charset="0"/>
                <a:ea typeface="Consolas" pitchFamily="34" charset="-122"/>
                <a:cs typeface="Consolas" pitchFamily="34" charset="-120"/>
              </a:rPr>
              <a:t>kubectl</a:t>
            </a:r>
            <a:r>
              <a:rPr lang="en-US" sz="1200">
                <a:solidFill>
                  <a:srgbClr val="D4D4D4"/>
                </a:solidFill>
                <a:latin typeface="Consolas" pitchFamily="34" charset="0"/>
                <a:ea typeface="Consolas" pitchFamily="34" charset="-122"/>
                <a:cs typeface="Consolas" pitchFamily="34" charset="-120"/>
              </a:rPr>
              <a:t> -n argocd get svc argocd-server-lb         </a:t>
            </a:r>
            <a:r>
              <a:rPr lang="en-US" sz="1200">
                <a:solidFill>
                  <a:srgbClr val="6A9955"/>
                </a:solidFill>
                <a:latin typeface="Consolas" pitchFamily="34" charset="0"/>
                <a:ea typeface="Consolas" pitchFamily="34" charset="-122"/>
                <a:cs typeface="Consolas" pitchFamily="34" charset="-120"/>
              </a:rPr>
              <a:t># note the EXTERNAL-IP</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a:t>
            </a:r>
            <a:endParaRPr lang="en-US" sz="1200"/>
          </a:p>
          <a:p>
            <a:pPr marL="0" indent="0">
              <a:lnSpc>
                <a:spcPct val="105000"/>
              </a:lnSpc>
              <a:buNone/>
            </a:pPr>
            <a:r>
              <a:rPr lang="en-US" sz="1200">
                <a:solidFill>
                  <a:srgbClr val="6A9955"/>
                </a:solidFill>
                <a:latin typeface="Consolas" pitchFamily="34" charset="0"/>
                <a:ea typeface="Consolas" pitchFamily="34" charset="-122"/>
                <a:cs typeface="Consolas" pitchFamily="34" charset="-120"/>
              </a:rPr>
              <a:t># 3. First login as admin (when SSO isn't configured)</a:t>
            </a:r>
            <a:endParaRPr lang="en-US" sz="1200"/>
          </a:p>
          <a:p>
            <a:pPr marL="0" indent="0">
              <a:lnSpc>
                <a:spcPct val="105000"/>
              </a:lnSpc>
              <a:buNone/>
            </a:pPr>
            <a:r>
              <a:rPr lang="en-US" sz="1200">
                <a:solidFill>
                  <a:srgbClr val="DCDCAA"/>
                </a:solidFill>
                <a:latin typeface="Consolas" pitchFamily="34" charset="0"/>
                <a:ea typeface="Consolas" pitchFamily="34" charset="-122"/>
                <a:cs typeface="Consolas" pitchFamily="34" charset="-120"/>
              </a:rPr>
              <a:t>kubectl</a:t>
            </a:r>
            <a:r>
              <a:rPr lang="en-US" sz="1200">
                <a:solidFill>
                  <a:srgbClr val="D4D4D4"/>
                </a:solidFill>
                <a:latin typeface="Consolas" pitchFamily="34" charset="0"/>
                <a:ea typeface="Consolas" pitchFamily="34" charset="-122"/>
                <a:cs typeface="Consolas" pitchFamily="34" charset="-120"/>
              </a:rPr>
              <a:t> -n argocd get secret argocd-initial-admin-secret \</a:t>
            </a:r>
            <a:endParaRPr lang="en-US" sz="1200"/>
          </a:p>
          <a:p>
            <a:pPr marL="0" indent="0">
              <a:lnSpc>
                <a:spcPct val="105000"/>
              </a:lnSpc>
              <a:buNone/>
            </a:pPr>
            <a:r>
              <a:rPr lang="en-US" sz="1200">
                <a:solidFill>
                  <a:srgbClr val="D4D4D4"/>
                </a:solidFill>
                <a:latin typeface="Consolas" pitchFamily="34" charset="0"/>
                <a:ea typeface="Consolas" pitchFamily="34" charset="-122"/>
                <a:cs typeface="Consolas" pitchFamily="34" charset="-120"/>
              </a:rPr>
              <a:t>    -o jsonpath="{.data.password}" | base64 -d</a:t>
            </a:r>
            <a:endParaRPr lang="en-US" sz="1200"/>
          </a:p>
        </p:txBody>
      </p:sp>
      <p:sp>
        <p:nvSpPr>
          <p:cNvPr id="15" name="Shape 13"/>
          <p:cNvSpPr/>
          <p:nvPr/>
        </p:nvSpPr>
        <p:spPr>
          <a:xfrm>
            <a:off x="548640" y="4754880"/>
            <a:ext cx="3514344" cy="1325880"/>
          </a:xfrm>
          <a:prstGeom prst="rect">
            <a:avLst/>
          </a:prstGeom>
          <a:solidFill>
            <a:srgbClr val="16304A"/>
          </a:solidFill>
          <a:ln/>
        </p:spPr>
        <p:txBody>
          <a:bodyPr/>
          <a:lstStyle/>
          <a:p>
            <a:endParaRPr lang="en-US"/>
          </a:p>
        </p:txBody>
      </p:sp>
      <p:sp>
        <p:nvSpPr>
          <p:cNvPr id="16" name="Shape 14"/>
          <p:cNvSpPr/>
          <p:nvPr/>
        </p:nvSpPr>
        <p:spPr>
          <a:xfrm>
            <a:off x="777240" y="4983480"/>
            <a:ext cx="457200" cy="457200"/>
          </a:xfrm>
          <a:prstGeom prst="ellipse">
            <a:avLst/>
          </a:prstGeom>
          <a:solidFill>
            <a:srgbClr val="008575"/>
          </a:solidFill>
          <a:ln/>
        </p:spPr>
        <p:txBody>
          <a:bodyPr/>
          <a:lstStyle/>
          <a:p>
            <a:endParaRPr lang="en-US"/>
          </a:p>
        </p:txBody>
      </p:sp>
      <p:pic>
        <p:nvPicPr>
          <p:cNvPr id="17" name="Image 0" descr="/agent/turn2/workspace/output/_anthropic_assets/icon-settings-29333648.png"/>
          <p:cNvPicPr>
            <a:picLocks noChangeAspect="1"/>
          </p:cNvPicPr>
          <p:nvPr/>
        </p:nvPicPr>
        <p:blipFill>
          <a:blip r:embed="rId2"/>
          <a:stretch>
            <a:fillRect/>
          </a:stretch>
        </p:blipFill>
        <p:spPr>
          <a:xfrm>
            <a:off x="877824" y="5084064"/>
            <a:ext cx="256032" cy="256032"/>
          </a:xfrm>
          <a:prstGeom prst="rect">
            <a:avLst/>
          </a:prstGeom>
        </p:spPr>
      </p:pic>
      <p:sp>
        <p:nvSpPr>
          <p:cNvPr id="18" name="Text 15"/>
          <p:cNvSpPr/>
          <p:nvPr/>
        </p:nvSpPr>
        <p:spPr>
          <a:xfrm>
            <a:off x="1463040" y="4937760"/>
            <a:ext cx="2417064" cy="384048"/>
          </a:xfrm>
          <a:prstGeom prst="rect">
            <a:avLst/>
          </a:prstGeom>
          <a:noFill/>
          <a:ln/>
        </p:spPr>
        <p:txBody>
          <a:bodyPr wrap="square" lIns="0" tIns="0" rIns="0" bIns="0" rtlCol="0" anchor="ctr"/>
          <a:lstStyle/>
          <a:p>
            <a:pPr marL="0" indent="0">
              <a:buNone/>
            </a:pPr>
            <a:r>
              <a:rPr lang="en-US" sz="1500">
                <a:solidFill>
                  <a:srgbClr val="FFFFFF"/>
                </a:solidFill>
                <a:latin typeface="Segoe UI Semibold" pitchFamily="34" charset="0"/>
                <a:ea typeface="Segoe UI Semibold" pitchFamily="34" charset="-122"/>
                <a:cs typeface="Segoe UI Semibold" pitchFamily="34" charset="-120"/>
              </a:rPr>
              <a:t>Portal shortcut</a:t>
            </a:r>
            <a:endParaRPr lang="en-US" sz="1500"/>
          </a:p>
        </p:txBody>
      </p:sp>
      <p:sp>
        <p:nvSpPr>
          <p:cNvPr id="19" name="Text 16"/>
          <p:cNvSpPr/>
          <p:nvPr/>
        </p:nvSpPr>
        <p:spPr>
          <a:xfrm>
            <a:off x="1463040" y="5349240"/>
            <a:ext cx="2417064" cy="594360"/>
          </a:xfrm>
          <a:prstGeom prst="rect">
            <a:avLst/>
          </a:prstGeom>
          <a:noFill/>
          <a:ln/>
        </p:spPr>
        <p:txBody>
          <a:bodyPr wrap="square" lIns="0" tIns="0" rIns="0" bIns="0" rtlCol="0" anchor="t"/>
          <a:lstStyle/>
          <a:p>
            <a:pPr marL="0" indent="0">
              <a:buNone/>
            </a:pPr>
            <a:r>
              <a:rPr lang="en-US" sz="1300">
                <a:solidFill>
                  <a:srgbClr val="D0D8E2"/>
                </a:solidFill>
                <a:latin typeface="Segoe UI" pitchFamily="34" charset="0"/>
                <a:ea typeface="Segoe UI" pitchFamily="34" charset="-122"/>
                <a:cs typeface="Segoe UI" pitchFamily="34" charset="-120"/>
              </a:rPr>
              <a:t>Cluster → Settings → GitOps links straight to the Argo CD UI.</a:t>
            </a:r>
            <a:endParaRPr lang="en-US" sz="1300"/>
          </a:p>
        </p:txBody>
      </p:sp>
      <p:sp>
        <p:nvSpPr>
          <p:cNvPr id="20" name="Shape 17"/>
          <p:cNvSpPr/>
          <p:nvPr/>
        </p:nvSpPr>
        <p:spPr>
          <a:xfrm>
            <a:off x="4337304" y="4754880"/>
            <a:ext cx="3514344" cy="1325880"/>
          </a:xfrm>
          <a:prstGeom prst="rect">
            <a:avLst/>
          </a:prstGeom>
          <a:solidFill>
            <a:srgbClr val="16304A"/>
          </a:solidFill>
          <a:ln/>
        </p:spPr>
        <p:txBody>
          <a:bodyPr/>
          <a:lstStyle/>
          <a:p>
            <a:endParaRPr lang="en-US"/>
          </a:p>
        </p:txBody>
      </p:sp>
      <p:sp>
        <p:nvSpPr>
          <p:cNvPr id="21" name="Shape 18"/>
          <p:cNvSpPr/>
          <p:nvPr/>
        </p:nvSpPr>
        <p:spPr>
          <a:xfrm>
            <a:off x="4565904" y="4983480"/>
            <a:ext cx="457200" cy="457200"/>
          </a:xfrm>
          <a:prstGeom prst="ellipse">
            <a:avLst/>
          </a:prstGeom>
          <a:solidFill>
            <a:srgbClr val="008575"/>
          </a:solidFill>
          <a:ln/>
        </p:spPr>
        <p:txBody>
          <a:bodyPr/>
          <a:lstStyle/>
          <a:p>
            <a:endParaRPr lang="en-US"/>
          </a:p>
        </p:txBody>
      </p:sp>
      <p:pic>
        <p:nvPicPr>
          <p:cNvPr id="22" name="Image 1" descr="/agent/turn2/workspace/output/_anthropic_assets/icon-cloud-7294e924.png"/>
          <p:cNvPicPr>
            <a:picLocks noChangeAspect="1"/>
          </p:cNvPicPr>
          <p:nvPr/>
        </p:nvPicPr>
        <p:blipFill>
          <a:blip r:embed="rId3"/>
          <a:stretch>
            <a:fillRect/>
          </a:stretch>
        </p:blipFill>
        <p:spPr>
          <a:xfrm>
            <a:off x="4666488" y="5084064"/>
            <a:ext cx="256032" cy="256032"/>
          </a:xfrm>
          <a:prstGeom prst="rect">
            <a:avLst/>
          </a:prstGeom>
        </p:spPr>
      </p:pic>
      <p:sp>
        <p:nvSpPr>
          <p:cNvPr id="23" name="Text 19"/>
          <p:cNvSpPr/>
          <p:nvPr/>
        </p:nvSpPr>
        <p:spPr>
          <a:xfrm>
            <a:off x="5251704" y="4937760"/>
            <a:ext cx="2417064" cy="384048"/>
          </a:xfrm>
          <a:prstGeom prst="rect">
            <a:avLst/>
          </a:prstGeom>
          <a:noFill/>
          <a:ln/>
        </p:spPr>
        <p:txBody>
          <a:bodyPr wrap="square" lIns="0" tIns="0" rIns="0" bIns="0" rtlCol="0" anchor="ctr"/>
          <a:lstStyle/>
          <a:p>
            <a:pPr marL="0" indent="0">
              <a:buNone/>
            </a:pPr>
            <a:r>
              <a:rPr lang="en-US" sz="1500">
                <a:solidFill>
                  <a:srgbClr val="FFFFFF"/>
                </a:solidFill>
                <a:latin typeface="Segoe UI Semibold" pitchFamily="34" charset="0"/>
                <a:ea typeface="Segoe UI Semibold" pitchFamily="34" charset="-122"/>
                <a:cs typeface="Segoe UI Semibold" pitchFamily="34" charset="-120"/>
              </a:rPr>
              <a:t>Production: ingress + SSO</a:t>
            </a:r>
            <a:endParaRPr lang="en-US" sz="1500"/>
          </a:p>
        </p:txBody>
      </p:sp>
      <p:sp>
        <p:nvSpPr>
          <p:cNvPr id="24" name="Text 20"/>
          <p:cNvSpPr/>
          <p:nvPr/>
        </p:nvSpPr>
        <p:spPr>
          <a:xfrm>
            <a:off x="5251704" y="5349240"/>
            <a:ext cx="2417064" cy="594360"/>
          </a:xfrm>
          <a:prstGeom prst="rect">
            <a:avLst/>
          </a:prstGeom>
          <a:noFill/>
          <a:ln/>
        </p:spPr>
        <p:txBody>
          <a:bodyPr wrap="square" lIns="0" tIns="0" rIns="0" bIns="0" rtlCol="0" anchor="t"/>
          <a:lstStyle/>
          <a:p>
            <a:pPr marL="0" indent="0">
              <a:buNone/>
            </a:pPr>
            <a:r>
              <a:rPr lang="en-US" sz="1300">
                <a:solidFill>
                  <a:srgbClr val="D0D8E2"/>
                </a:solidFill>
                <a:latin typeface="Segoe UI" pitchFamily="34" charset="0"/>
                <a:ea typeface="Segoe UI" pitchFamily="34" charset="-122"/>
                <a:cs typeface="Segoe UI" pitchFamily="34" charset="-120"/>
              </a:rPr>
              <a:t>Route via Gateway API (Part 3 of this workshop) or ingress, with TLS and Entra ID sign-in.</a:t>
            </a:r>
            <a:endParaRPr lang="en-US" sz="1300"/>
          </a:p>
        </p:txBody>
      </p:sp>
      <p:sp>
        <p:nvSpPr>
          <p:cNvPr id="25" name="Shape 21"/>
          <p:cNvSpPr/>
          <p:nvPr/>
        </p:nvSpPr>
        <p:spPr>
          <a:xfrm>
            <a:off x="8125968" y="4754880"/>
            <a:ext cx="3514344" cy="1325880"/>
          </a:xfrm>
          <a:prstGeom prst="rect">
            <a:avLst/>
          </a:prstGeom>
          <a:solidFill>
            <a:srgbClr val="16304A"/>
          </a:solidFill>
          <a:ln/>
        </p:spPr>
        <p:txBody>
          <a:bodyPr/>
          <a:lstStyle/>
          <a:p>
            <a:endParaRPr lang="en-US"/>
          </a:p>
        </p:txBody>
      </p:sp>
      <p:sp>
        <p:nvSpPr>
          <p:cNvPr id="26" name="Shape 22"/>
          <p:cNvSpPr/>
          <p:nvPr/>
        </p:nvSpPr>
        <p:spPr>
          <a:xfrm>
            <a:off x="8354568" y="4983480"/>
            <a:ext cx="457200" cy="457200"/>
          </a:xfrm>
          <a:prstGeom prst="ellipse">
            <a:avLst/>
          </a:prstGeom>
          <a:solidFill>
            <a:srgbClr val="008575"/>
          </a:solidFill>
          <a:ln/>
        </p:spPr>
        <p:txBody>
          <a:bodyPr/>
          <a:lstStyle/>
          <a:p>
            <a:endParaRPr lang="en-US"/>
          </a:p>
        </p:txBody>
      </p:sp>
      <p:pic>
        <p:nvPicPr>
          <p:cNvPr id="27" name="Image 2" descr="/agent/turn2/workspace/output/_anthropic_assets/icon-branch-3deffea2.png"/>
          <p:cNvPicPr>
            <a:picLocks noChangeAspect="1"/>
          </p:cNvPicPr>
          <p:nvPr/>
        </p:nvPicPr>
        <p:blipFill>
          <a:blip r:embed="rId4"/>
          <a:stretch>
            <a:fillRect/>
          </a:stretch>
        </p:blipFill>
        <p:spPr>
          <a:xfrm>
            <a:off x="8455152" y="5084064"/>
            <a:ext cx="256032" cy="256032"/>
          </a:xfrm>
          <a:prstGeom prst="rect">
            <a:avLst/>
          </a:prstGeom>
        </p:spPr>
      </p:pic>
      <p:sp>
        <p:nvSpPr>
          <p:cNvPr id="28" name="Text 23"/>
          <p:cNvSpPr/>
          <p:nvPr/>
        </p:nvSpPr>
        <p:spPr>
          <a:xfrm>
            <a:off x="9040368" y="4937760"/>
            <a:ext cx="2417064" cy="384048"/>
          </a:xfrm>
          <a:prstGeom prst="rect">
            <a:avLst/>
          </a:prstGeom>
          <a:noFill/>
          <a:ln/>
        </p:spPr>
        <p:txBody>
          <a:bodyPr wrap="square" lIns="0" tIns="0" rIns="0" bIns="0" rtlCol="0" anchor="ctr"/>
          <a:lstStyle/>
          <a:p>
            <a:pPr marL="0" indent="0">
              <a:buNone/>
            </a:pPr>
            <a:r>
              <a:rPr lang="en-US" sz="1500">
                <a:solidFill>
                  <a:srgbClr val="FFFFFF"/>
                </a:solidFill>
                <a:latin typeface="Segoe UI Semibold" pitchFamily="34" charset="0"/>
                <a:ea typeface="Segoe UI Semibold" pitchFamily="34" charset="-122"/>
                <a:cs typeface="Segoe UI Semibold" pitchFamily="34" charset="-120"/>
              </a:rPr>
              <a:t>Lock it down</a:t>
            </a:r>
            <a:endParaRPr lang="en-US" sz="1500"/>
          </a:p>
        </p:txBody>
      </p:sp>
      <p:sp>
        <p:nvSpPr>
          <p:cNvPr id="29" name="Text 24"/>
          <p:cNvSpPr/>
          <p:nvPr/>
        </p:nvSpPr>
        <p:spPr>
          <a:xfrm>
            <a:off x="9040368" y="5349240"/>
            <a:ext cx="2417064" cy="594360"/>
          </a:xfrm>
          <a:prstGeom prst="rect">
            <a:avLst/>
          </a:prstGeom>
          <a:noFill/>
          <a:ln/>
        </p:spPr>
        <p:txBody>
          <a:bodyPr wrap="square" lIns="0" tIns="0" rIns="0" bIns="0" rtlCol="0" anchor="t"/>
          <a:lstStyle/>
          <a:p>
            <a:pPr marL="0" indent="0">
              <a:buNone/>
            </a:pPr>
            <a:r>
              <a:rPr lang="en-US" sz="1300">
                <a:solidFill>
                  <a:srgbClr val="D0D8E2"/>
                </a:solidFill>
                <a:latin typeface="Segoe UI" pitchFamily="34" charset="0"/>
                <a:ea typeface="Segoe UI" pitchFamily="34" charset="-122"/>
                <a:cs typeface="Segoe UI" pitchFamily="34" charset="-120"/>
              </a:rPr>
              <a:t>Avoid open public IPs; rotate or delete the initial admin secret.</a:t>
            </a:r>
            <a:endParaRPr lang="en-US" sz="13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9">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C4C0959D-542D-4E44-A080-B4151D218CD4}" type="slidenum">
              <a:rPr lang="en-US" sz="1100">
                <a:solidFill>
                  <a:srgbClr val="605E5C"/>
                </a:solidFill>
                <a:latin typeface="Segoe UI" pitchFamily="34" charset="0"/>
                <a:ea typeface="Segoe UI" pitchFamily="34" charset="-122"/>
                <a:cs typeface="Segoe UI" pitchFamily="34" charset="-120"/>
              </a:rPr>
              <a:t>64</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Sync Status vs Health Status</a:t>
            </a:r>
            <a:endParaRPr lang="en-US" sz="3200" dirty="0"/>
          </a:p>
        </p:txBody>
      </p:sp>
      <p:sp>
        <p:nvSpPr>
          <p:cNvPr id="10" name="Shape 8"/>
          <p:cNvSpPr/>
          <p:nvPr/>
        </p:nvSpPr>
        <p:spPr>
          <a:xfrm>
            <a:off x="548640" y="1737360"/>
            <a:ext cx="5422392" cy="4343400"/>
          </a:xfrm>
          <a:prstGeom prst="rect">
            <a:avLst/>
          </a:prstGeom>
          <a:solidFill>
            <a:srgbClr val="FFFFFF"/>
          </a:solidFill>
          <a:ln/>
        </p:spPr>
        <p:txBody>
          <a:bodyPr/>
          <a:lstStyle/>
          <a:p>
            <a:endParaRPr lang="en-US"/>
          </a:p>
        </p:txBody>
      </p:sp>
      <p:sp>
        <p:nvSpPr>
          <p:cNvPr id="11" name="Text 9"/>
          <p:cNvSpPr/>
          <p:nvPr/>
        </p:nvSpPr>
        <p:spPr>
          <a:xfrm>
            <a:off x="822960" y="1874520"/>
            <a:ext cx="4846320" cy="457200"/>
          </a:xfrm>
          <a:prstGeom prst="rect">
            <a:avLst/>
          </a:prstGeom>
          <a:noFill/>
          <a:ln/>
        </p:spPr>
        <p:txBody>
          <a:bodyPr wrap="square" lIns="0" tIns="0" rIns="0" bIns="0" rtlCol="0" anchor="ctr"/>
          <a:lstStyle/>
          <a:p>
            <a:pPr marL="0" indent="0">
              <a:buNone/>
            </a:pPr>
            <a:r>
              <a:rPr lang="en-US" sz="2100" dirty="0">
                <a:solidFill>
                  <a:srgbClr val="005248"/>
                </a:solidFill>
                <a:latin typeface="Segoe UI Semibold" pitchFamily="34" charset="0"/>
                <a:ea typeface="Segoe UI Semibold" pitchFamily="34" charset="-122"/>
                <a:cs typeface="Segoe UI Semibold" pitchFamily="34" charset="-120"/>
              </a:rPr>
              <a:t>Sync status</a:t>
            </a:r>
            <a:endParaRPr lang="en-US" sz="2100" dirty="0"/>
          </a:p>
        </p:txBody>
      </p:sp>
      <p:sp>
        <p:nvSpPr>
          <p:cNvPr id="12" name="Text 10"/>
          <p:cNvSpPr/>
          <p:nvPr/>
        </p:nvSpPr>
        <p:spPr>
          <a:xfrm>
            <a:off x="822960" y="2331720"/>
            <a:ext cx="4846320" cy="365760"/>
          </a:xfrm>
          <a:prstGeom prst="rect">
            <a:avLst/>
          </a:prstGeom>
          <a:noFill/>
          <a:ln/>
        </p:spPr>
        <p:txBody>
          <a:bodyPr wrap="square" lIns="0" tIns="0" rIns="0" bIns="0" rtlCol="0" anchor="ctr"/>
          <a:lstStyle/>
          <a:p>
            <a:pPr marL="0" indent="0">
              <a:buNone/>
            </a:pPr>
            <a:r>
              <a:rPr lang="en-US" sz="1500" dirty="0">
                <a:solidFill>
                  <a:srgbClr val="605E5C"/>
                </a:solidFill>
                <a:latin typeface="Segoe UI" pitchFamily="34" charset="0"/>
                <a:ea typeface="Segoe UI" pitchFamily="34" charset="-122"/>
                <a:cs typeface="Segoe UI" pitchFamily="34" charset="-120"/>
              </a:rPr>
              <a:t>Does the cluster match Git?</a:t>
            </a:r>
            <a:endParaRPr lang="en-US" sz="1500" dirty="0"/>
          </a:p>
        </p:txBody>
      </p:sp>
      <p:sp>
        <p:nvSpPr>
          <p:cNvPr id="13" name="Shape 11"/>
          <p:cNvSpPr/>
          <p:nvPr/>
        </p:nvSpPr>
        <p:spPr>
          <a:xfrm>
            <a:off x="822960" y="3044952"/>
            <a:ext cx="292608" cy="292608"/>
          </a:xfrm>
          <a:prstGeom prst="ellipse">
            <a:avLst/>
          </a:prstGeom>
          <a:solidFill>
            <a:srgbClr val="008575"/>
          </a:solidFill>
          <a:ln/>
        </p:spPr>
        <p:txBody>
          <a:bodyPr/>
          <a:lstStyle/>
          <a:p>
            <a:endParaRPr lang="en-US"/>
          </a:p>
        </p:txBody>
      </p:sp>
      <p:sp>
        <p:nvSpPr>
          <p:cNvPr id="14" name="Text 12"/>
          <p:cNvSpPr/>
          <p:nvPr/>
        </p:nvSpPr>
        <p:spPr>
          <a:xfrm>
            <a:off x="1280160" y="2880360"/>
            <a:ext cx="1554480" cy="621792"/>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Synced</a:t>
            </a:r>
            <a:endParaRPr lang="en-US" sz="1600" dirty="0"/>
          </a:p>
        </p:txBody>
      </p:sp>
      <p:sp>
        <p:nvSpPr>
          <p:cNvPr id="15" name="Text 13"/>
          <p:cNvSpPr/>
          <p:nvPr/>
        </p:nvSpPr>
        <p:spPr>
          <a:xfrm>
            <a:off x="2834640" y="2880360"/>
            <a:ext cx="2926080" cy="621792"/>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Live state matches the target revision</a:t>
            </a:r>
            <a:endParaRPr lang="en-US" sz="1350" dirty="0"/>
          </a:p>
        </p:txBody>
      </p:sp>
      <p:sp>
        <p:nvSpPr>
          <p:cNvPr id="16" name="Shape 14"/>
          <p:cNvSpPr/>
          <p:nvPr/>
        </p:nvSpPr>
        <p:spPr>
          <a:xfrm>
            <a:off x="822960" y="3822192"/>
            <a:ext cx="292608" cy="292608"/>
          </a:xfrm>
          <a:prstGeom prst="ellipse">
            <a:avLst/>
          </a:prstGeom>
          <a:solidFill>
            <a:srgbClr val="D83B01"/>
          </a:solidFill>
          <a:ln/>
        </p:spPr>
        <p:txBody>
          <a:bodyPr/>
          <a:lstStyle/>
          <a:p>
            <a:endParaRPr lang="en-US"/>
          </a:p>
        </p:txBody>
      </p:sp>
      <p:sp>
        <p:nvSpPr>
          <p:cNvPr id="17" name="Text 15"/>
          <p:cNvSpPr/>
          <p:nvPr/>
        </p:nvSpPr>
        <p:spPr>
          <a:xfrm>
            <a:off x="1280160" y="3657600"/>
            <a:ext cx="1554480" cy="621792"/>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OutOfSync</a:t>
            </a:r>
            <a:endParaRPr lang="en-US" sz="1600" dirty="0"/>
          </a:p>
        </p:txBody>
      </p:sp>
      <p:sp>
        <p:nvSpPr>
          <p:cNvPr id="18" name="Text 16"/>
          <p:cNvSpPr/>
          <p:nvPr/>
        </p:nvSpPr>
        <p:spPr>
          <a:xfrm>
            <a:off x="2834640" y="3657600"/>
            <a:ext cx="2926080" cy="621792"/>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Something differs — new commit or drift</a:t>
            </a:r>
            <a:endParaRPr lang="en-US" sz="1350" dirty="0"/>
          </a:p>
        </p:txBody>
      </p:sp>
      <p:sp>
        <p:nvSpPr>
          <p:cNvPr id="19" name="Shape 17"/>
          <p:cNvSpPr/>
          <p:nvPr/>
        </p:nvSpPr>
        <p:spPr>
          <a:xfrm>
            <a:off x="6217920" y="1737360"/>
            <a:ext cx="5422392" cy="4343400"/>
          </a:xfrm>
          <a:prstGeom prst="rect">
            <a:avLst/>
          </a:prstGeom>
          <a:solidFill>
            <a:srgbClr val="FFFFFF"/>
          </a:solidFill>
          <a:ln/>
        </p:spPr>
        <p:txBody>
          <a:bodyPr/>
          <a:lstStyle/>
          <a:p>
            <a:endParaRPr lang="en-US"/>
          </a:p>
        </p:txBody>
      </p:sp>
      <p:sp>
        <p:nvSpPr>
          <p:cNvPr id="20" name="Text 18"/>
          <p:cNvSpPr/>
          <p:nvPr/>
        </p:nvSpPr>
        <p:spPr>
          <a:xfrm>
            <a:off x="6492240" y="1874520"/>
            <a:ext cx="4846320" cy="457200"/>
          </a:xfrm>
          <a:prstGeom prst="rect">
            <a:avLst/>
          </a:prstGeom>
          <a:noFill/>
          <a:ln/>
        </p:spPr>
        <p:txBody>
          <a:bodyPr wrap="square" lIns="0" tIns="0" rIns="0" bIns="0" rtlCol="0" anchor="ctr"/>
          <a:lstStyle/>
          <a:p>
            <a:pPr marL="0" indent="0">
              <a:buNone/>
            </a:pPr>
            <a:r>
              <a:rPr lang="en-US" sz="2100" dirty="0">
                <a:solidFill>
                  <a:srgbClr val="005248"/>
                </a:solidFill>
                <a:latin typeface="Segoe UI Semibold" pitchFamily="34" charset="0"/>
                <a:ea typeface="Segoe UI Semibold" pitchFamily="34" charset="-122"/>
                <a:cs typeface="Segoe UI Semibold" pitchFamily="34" charset="-120"/>
              </a:rPr>
              <a:t>Health status</a:t>
            </a:r>
            <a:endParaRPr lang="en-US" sz="2100" dirty="0"/>
          </a:p>
        </p:txBody>
      </p:sp>
      <p:sp>
        <p:nvSpPr>
          <p:cNvPr id="21" name="Text 19"/>
          <p:cNvSpPr/>
          <p:nvPr/>
        </p:nvSpPr>
        <p:spPr>
          <a:xfrm>
            <a:off x="6492240" y="2331720"/>
            <a:ext cx="4846320" cy="365760"/>
          </a:xfrm>
          <a:prstGeom prst="rect">
            <a:avLst/>
          </a:prstGeom>
          <a:noFill/>
          <a:ln/>
        </p:spPr>
        <p:txBody>
          <a:bodyPr wrap="square" lIns="0" tIns="0" rIns="0" bIns="0" rtlCol="0" anchor="ctr"/>
          <a:lstStyle/>
          <a:p>
            <a:pPr marL="0" indent="0">
              <a:buNone/>
            </a:pPr>
            <a:r>
              <a:rPr lang="en-US" sz="1500" dirty="0">
                <a:solidFill>
                  <a:srgbClr val="605E5C"/>
                </a:solidFill>
                <a:latin typeface="Segoe UI" pitchFamily="34" charset="0"/>
                <a:ea typeface="Segoe UI" pitchFamily="34" charset="-122"/>
                <a:cs typeface="Segoe UI" pitchFamily="34" charset="-120"/>
              </a:rPr>
              <a:t>Is the app actually working?</a:t>
            </a:r>
            <a:endParaRPr lang="en-US" sz="1500" dirty="0"/>
          </a:p>
        </p:txBody>
      </p:sp>
      <p:sp>
        <p:nvSpPr>
          <p:cNvPr id="22" name="Shape 20"/>
          <p:cNvSpPr/>
          <p:nvPr/>
        </p:nvSpPr>
        <p:spPr>
          <a:xfrm>
            <a:off x="6492240" y="3044952"/>
            <a:ext cx="292608" cy="292608"/>
          </a:xfrm>
          <a:prstGeom prst="ellipse">
            <a:avLst/>
          </a:prstGeom>
          <a:solidFill>
            <a:srgbClr val="008575"/>
          </a:solidFill>
          <a:ln/>
        </p:spPr>
        <p:txBody>
          <a:bodyPr/>
          <a:lstStyle/>
          <a:p>
            <a:endParaRPr lang="en-US"/>
          </a:p>
        </p:txBody>
      </p:sp>
      <p:sp>
        <p:nvSpPr>
          <p:cNvPr id="23" name="Text 21"/>
          <p:cNvSpPr/>
          <p:nvPr/>
        </p:nvSpPr>
        <p:spPr>
          <a:xfrm>
            <a:off x="6949440" y="2880360"/>
            <a:ext cx="1554480" cy="621792"/>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Healthy</a:t>
            </a:r>
            <a:endParaRPr lang="en-US" sz="1600" dirty="0"/>
          </a:p>
        </p:txBody>
      </p:sp>
      <p:sp>
        <p:nvSpPr>
          <p:cNvPr id="24" name="Text 22"/>
          <p:cNvSpPr/>
          <p:nvPr/>
        </p:nvSpPr>
        <p:spPr>
          <a:xfrm>
            <a:off x="8503920" y="2880360"/>
            <a:ext cx="2926080" cy="621792"/>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Resources are running as expected</a:t>
            </a:r>
            <a:endParaRPr lang="en-US" sz="1350" dirty="0"/>
          </a:p>
        </p:txBody>
      </p:sp>
      <p:sp>
        <p:nvSpPr>
          <p:cNvPr id="25" name="Shape 23"/>
          <p:cNvSpPr/>
          <p:nvPr/>
        </p:nvSpPr>
        <p:spPr>
          <a:xfrm>
            <a:off x="6492240" y="3822192"/>
            <a:ext cx="292608" cy="292608"/>
          </a:xfrm>
          <a:prstGeom prst="ellipse">
            <a:avLst/>
          </a:prstGeom>
          <a:solidFill>
            <a:srgbClr val="FFB900"/>
          </a:solidFill>
          <a:ln/>
        </p:spPr>
        <p:txBody>
          <a:bodyPr/>
          <a:lstStyle/>
          <a:p>
            <a:endParaRPr lang="en-US"/>
          </a:p>
        </p:txBody>
      </p:sp>
      <p:sp>
        <p:nvSpPr>
          <p:cNvPr id="26" name="Text 24"/>
          <p:cNvSpPr/>
          <p:nvPr/>
        </p:nvSpPr>
        <p:spPr>
          <a:xfrm>
            <a:off x="6949440" y="3657600"/>
            <a:ext cx="1554480" cy="621792"/>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Progressing</a:t>
            </a:r>
            <a:endParaRPr lang="en-US" sz="1600" dirty="0"/>
          </a:p>
        </p:txBody>
      </p:sp>
      <p:sp>
        <p:nvSpPr>
          <p:cNvPr id="27" name="Text 25"/>
          <p:cNvSpPr/>
          <p:nvPr/>
        </p:nvSpPr>
        <p:spPr>
          <a:xfrm>
            <a:off x="8503920" y="3657600"/>
            <a:ext cx="2926080" cy="621792"/>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Still rolling out</a:t>
            </a:r>
            <a:endParaRPr lang="en-US" sz="1350" dirty="0"/>
          </a:p>
        </p:txBody>
      </p:sp>
      <p:sp>
        <p:nvSpPr>
          <p:cNvPr id="28" name="Shape 26"/>
          <p:cNvSpPr/>
          <p:nvPr/>
        </p:nvSpPr>
        <p:spPr>
          <a:xfrm>
            <a:off x="6492240" y="4599432"/>
            <a:ext cx="292608" cy="292608"/>
          </a:xfrm>
          <a:prstGeom prst="ellipse">
            <a:avLst/>
          </a:prstGeom>
          <a:solidFill>
            <a:srgbClr val="D83B01"/>
          </a:solidFill>
          <a:ln/>
        </p:spPr>
        <p:txBody>
          <a:bodyPr/>
          <a:lstStyle/>
          <a:p>
            <a:endParaRPr lang="en-US"/>
          </a:p>
        </p:txBody>
      </p:sp>
      <p:sp>
        <p:nvSpPr>
          <p:cNvPr id="29" name="Text 27"/>
          <p:cNvSpPr/>
          <p:nvPr/>
        </p:nvSpPr>
        <p:spPr>
          <a:xfrm>
            <a:off x="6949440" y="4434840"/>
            <a:ext cx="1554480" cy="621792"/>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Degraded</a:t>
            </a:r>
            <a:endParaRPr lang="en-US" sz="1600" dirty="0"/>
          </a:p>
        </p:txBody>
      </p:sp>
      <p:sp>
        <p:nvSpPr>
          <p:cNvPr id="30" name="Text 28"/>
          <p:cNvSpPr/>
          <p:nvPr/>
        </p:nvSpPr>
        <p:spPr>
          <a:xfrm>
            <a:off x="8503920" y="4434840"/>
            <a:ext cx="2926080" cy="621792"/>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Failed — e.g. pods crash-looping</a:t>
            </a:r>
            <a:endParaRPr lang="en-US" sz="1350" dirty="0"/>
          </a:p>
        </p:txBody>
      </p:sp>
      <p:sp>
        <p:nvSpPr>
          <p:cNvPr id="31" name="Shape 29"/>
          <p:cNvSpPr/>
          <p:nvPr/>
        </p:nvSpPr>
        <p:spPr>
          <a:xfrm>
            <a:off x="6492240" y="5376672"/>
            <a:ext cx="292608" cy="292608"/>
          </a:xfrm>
          <a:prstGeom prst="ellipse">
            <a:avLst/>
          </a:prstGeom>
          <a:solidFill>
            <a:srgbClr val="605E5C"/>
          </a:solidFill>
          <a:ln/>
        </p:spPr>
        <p:txBody>
          <a:bodyPr/>
          <a:lstStyle/>
          <a:p>
            <a:endParaRPr lang="en-US"/>
          </a:p>
        </p:txBody>
      </p:sp>
      <p:sp>
        <p:nvSpPr>
          <p:cNvPr id="32" name="Text 30"/>
          <p:cNvSpPr/>
          <p:nvPr/>
        </p:nvSpPr>
        <p:spPr>
          <a:xfrm>
            <a:off x="6949440" y="5212080"/>
            <a:ext cx="1554480" cy="621792"/>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Missing</a:t>
            </a:r>
            <a:endParaRPr lang="en-US" sz="1600" dirty="0"/>
          </a:p>
        </p:txBody>
      </p:sp>
      <p:sp>
        <p:nvSpPr>
          <p:cNvPr id="33" name="Text 31"/>
          <p:cNvSpPr/>
          <p:nvPr/>
        </p:nvSpPr>
        <p:spPr>
          <a:xfrm>
            <a:off x="8503920" y="5212080"/>
            <a:ext cx="2926080" cy="621792"/>
          </a:xfrm>
          <a:prstGeom prst="rect">
            <a:avLst/>
          </a:prstGeom>
          <a:noFill/>
          <a:ln/>
        </p:spPr>
        <p:txBody>
          <a:bodyPr wrap="square" lIns="0" tIns="0" rIns="0" bIns="0" rtlCol="0" anchor="ctr"/>
          <a:lstStyle/>
          <a:p>
            <a:pPr marL="0" indent="0">
              <a:buNone/>
            </a:pPr>
            <a:r>
              <a:rPr lang="en-US" sz="1350" dirty="0">
                <a:solidFill>
                  <a:srgbClr val="323130"/>
                </a:solidFill>
                <a:latin typeface="Segoe UI" pitchFamily="34" charset="0"/>
                <a:ea typeface="Segoe UI" pitchFamily="34" charset="-122"/>
                <a:cs typeface="Segoe UI" pitchFamily="34" charset="-120"/>
              </a:rPr>
              <a:t>Resource does not exist yet</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0">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4FE0C9"/>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455ECAF8-9E9B-4DF7-9BF5-51290BB8FF13}" type="slidenum">
              <a:rPr lang="en-US" sz="1100">
                <a:solidFill>
                  <a:srgbClr val="A9B8C8"/>
                </a:solidFill>
                <a:latin typeface="Segoe UI" pitchFamily="34" charset="0"/>
                <a:ea typeface="Segoe UI" pitchFamily="34" charset="-122"/>
                <a:cs typeface="Segoe UI" pitchFamily="34" charset="-120"/>
              </a:rPr>
              <a:t>65</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Flux vs Argo CD</a:t>
            </a:r>
            <a:endParaRPr lang="en-US" sz="3200" dirty="0"/>
          </a:p>
        </p:txBody>
      </p:sp>
      <p:graphicFrame>
        <p:nvGraphicFramePr>
          <p:cNvPr id="51" name="Table 0"/>
          <p:cNvGraphicFramePr>
            <a:graphicFrameLocks noGrp="1"/>
          </p:cNvGraphicFramePr>
          <p:nvPr>
            <p:extLst>
              <p:ext uri="{D42A27DB-BD31-4B8C-83A1-F6EECF244321}">
                <p14:modId xmlns:p14="http://schemas.microsoft.com/office/powerpoint/2010/main" val="9476599"/>
              </p:ext>
            </p:extLst>
          </p:nvPr>
        </p:nvGraphicFramePr>
        <p:xfrm>
          <a:off x="548640" y="1737360"/>
          <a:ext cx="11091672" cy="4224528"/>
        </p:xfrm>
        <a:graphic>
          <a:graphicData uri="http://schemas.openxmlformats.org/drawingml/2006/table">
            <a:tbl>
              <a:tblPr/>
              <a:tblGrid>
                <a:gridCol w="2011680">
                  <a:extLst>
                    <a:ext uri="{9D8B030D-6E8A-4147-A177-3AD203B41FA5}">
                      <a16:colId xmlns:a16="http://schemas.microsoft.com/office/drawing/2014/main" val="20000"/>
                    </a:ext>
                  </a:extLst>
                </a:gridCol>
                <a:gridCol w="4535424">
                  <a:extLst>
                    <a:ext uri="{9D8B030D-6E8A-4147-A177-3AD203B41FA5}">
                      <a16:colId xmlns:a16="http://schemas.microsoft.com/office/drawing/2014/main" val="20001"/>
                    </a:ext>
                  </a:extLst>
                </a:gridCol>
                <a:gridCol w="4544568">
                  <a:extLst>
                    <a:ext uri="{9D8B030D-6E8A-4147-A177-3AD203B41FA5}">
                      <a16:colId xmlns:a16="http://schemas.microsoft.com/office/drawing/2014/main" val="20002"/>
                    </a:ext>
                  </a:extLst>
                </a:gridCol>
              </a:tblGrid>
              <a:tr h="603504">
                <a:tc>
                  <a:txBody>
                    <a:bodyPr/>
                    <a:lstStyle/>
                    <a:p>
                      <a:pPr marL="0" indent="0">
                        <a:buNone/>
                      </a:pP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008575"/>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Flux</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008575"/>
                    </a:solidFill>
                  </a:tcPr>
                </a:tc>
                <a:tc>
                  <a:txBody>
                    <a:bodyPr/>
                    <a:lstStyle/>
                    <a:p>
                      <a:pPr marL="0" indent="0">
                        <a:buNone/>
                      </a:pPr>
                      <a:r>
                        <a:rPr lang="en-US" sz="1400" b="1" dirty="0">
                          <a:solidFill>
                            <a:srgbClr val="FFFFFF"/>
                          </a:solidFill>
                          <a:latin typeface="Segoe UI Semibold" pitchFamily="34" charset="0"/>
                          <a:ea typeface="Segoe UI Semibold" pitchFamily="34" charset="-122"/>
                          <a:cs typeface="Segoe UI Semibold" pitchFamily="34" charset="-120"/>
                        </a:rPr>
                        <a:t>Argo CD</a:t>
                      </a:r>
                      <a:endParaRPr lang="en-US" sz="1400" dirty="0">
                        <a:latin typeface="Segoe UI Semibold" charset="0"/>
                        <a:ea typeface="Segoe UI Semibold" charset="0"/>
                        <a:cs typeface="Segoe UI Semibold"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008575"/>
                    </a:solidFill>
                  </a:tcPr>
                </a:tc>
                <a:extLst>
                  <a:ext uri="{0D108BD9-81ED-4DB2-BD59-A6C34878D82A}">
                    <a16:rowId xmlns:a16="http://schemas.microsoft.com/office/drawing/2014/main" val="10000"/>
                  </a:ext>
                </a:extLst>
              </a:tr>
              <a:tr h="603504">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Model</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Set of composable controllers</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Application-centric platform</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extLst>
                  <a:ext uri="{0D108BD9-81ED-4DB2-BD59-A6C34878D82A}">
                    <a16:rowId xmlns:a16="http://schemas.microsoft.com/office/drawing/2014/main" val="10001"/>
                  </a:ext>
                </a:extLst>
              </a:tr>
              <a:tr h="603504">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User interface</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CLI-first; UIs from third parties</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Rich built-in web UI</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extLst>
                  <a:ext uri="{0D108BD9-81ED-4DB2-BD59-A6C34878D82A}">
                    <a16:rowId xmlns:a16="http://schemas.microsoft.com/office/drawing/2014/main" val="10002"/>
                  </a:ext>
                </a:extLst>
              </a:tr>
              <a:tr h="603504">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Multi-cluster</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Usually one Flux per cluster</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Central instance manages many clusters</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extLst>
                  <a:ext uri="{0D108BD9-81ED-4DB2-BD59-A6C34878D82A}">
                    <a16:rowId xmlns:a16="http://schemas.microsoft.com/office/drawing/2014/main" val="10003"/>
                  </a:ext>
                </a:extLst>
              </a:tr>
              <a:tr h="603504">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Helm</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HelmRelease, native Helm lifecycle</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Renders charts, then applies manifests</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extLst>
                  <a:ext uri="{0D108BD9-81ED-4DB2-BD59-A6C34878D82A}">
                    <a16:rowId xmlns:a16="http://schemas.microsoft.com/office/drawing/2014/main" val="10004"/>
                  </a:ext>
                </a:extLst>
              </a:tr>
              <a:tr h="603504">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On AKS</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Managed </a:t>
                      </a:r>
                      <a:r>
                        <a:rPr lang="en-US" sz="1400" dirty="0">
                          <a:solidFill>
                            <a:srgbClr val="9CDCFE"/>
                          </a:solidFill>
                          <a:latin typeface="Consolas" pitchFamily="34" charset="0"/>
                          <a:ea typeface="Consolas" pitchFamily="34" charset="-122"/>
                          <a:cs typeface="Consolas" pitchFamily="34" charset="-120"/>
                        </a:rPr>
                        <a:t>microsoft.flux</a:t>
                      </a:r>
                      <a:r>
                        <a:rPr lang="en-US" sz="1400" dirty="0">
                          <a:solidFill>
                            <a:srgbClr val="FFFFFF"/>
                          </a:solidFill>
                          <a:latin typeface="Segoe UI" pitchFamily="34" charset="0"/>
                          <a:ea typeface="Segoe UI" pitchFamily="34" charset="-122"/>
                          <a:cs typeface="Segoe UI" pitchFamily="34" charset="-120"/>
                        </a:rPr>
                        <a:t> extension</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tc>
                  <a:txBody>
                    <a:bodyPr/>
                    <a:lstStyle/>
                    <a:p>
                      <a:pPr marL="0" indent="0">
                        <a:buNone/>
                      </a:pPr>
                      <a:r>
                        <a:rPr lang="en-US" sz="1400">
                          <a:solidFill>
                            <a:srgbClr val="FFFFFF"/>
                          </a:solidFill>
                          <a:latin typeface="Segoe UI" pitchFamily="34" charset="0"/>
                          <a:ea typeface="Segoe UI" pitchFamily="34" charset="-122"/>
                          <a:cs typeface="Segoe UI" pitchFamily="34" charset="-120"/>
                        </a:rPr>
                        <a:t>Self-installed, or the AKS Argo CD extension (preview)</a:t>
                      </a:r>
                      <a:endParaRPr lang="en-US" sz="140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6304A"/>
                    </a:solidFill>
                  </a:tcPr>
                </a:tc>
                <a:extLst>
                  <a:ext uri="{0D108BD9-81ED-4DB2-BD59-A6C34878D82A}">
                    <a16:rowId xmlns:a16="http://schemas.microsoft.com/office/drawing/2014/main" val="10005"/>
                  </a:ext>
                </a:extLst>
              </a:tr>
              <a:tr h="603504">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Best fit</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Platform automation, many clusters</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tc>
                  <a:txBody>
                    <a:bodyPr/>
                    <a:lstStyle/>
                    <a:p>
                      <a:pPr marL="0" indent="0">
                        <a:buNone/>
                      </a:pPr>
                      <a:r>
                        <a:rPr lang="en-US" sz="1400" dirty="0">
                          <a:solidFill>
                            <a:srgbClr val="FFFFFF"/>
                          </a:solidFill>
                          <a:latin typeface="Segoe UI" pitchFamily="34" charset="0"/>
                          <a:ea typeface="Segoe UI" pitchFamily="34" charset="-122"/>
                          <a:cs typeface="Segoe UI" pitchFamily="34" charset="-120"/>
                        </a:rPr>
                        <a:t>App teams who want visibility</a:t>
                      </a:r>
                      <a:endParaRPr lang="en-US" sz="1400" dirty="0">
                        <a:latin typeface="Segoe UI" charset="0"/>
                        <a:ea typeface="Segoe UI" charset="0"/>
                        <a:cs typeface="Segoe UI" charset="0"/>
                      </a:endParaRPr>
                    </a:p>
                  </a:txBody>
                  <a:tcPr marL="128016" marR="128016" marT="64008" marB="64008" anchor="ctr">
                    <a:lnL w="9525" cap="flat" cmpd="sng" algn="ctr">
                      <a:solidFill>
                        <a:srgbClr val="2A4766"/>
                      </a:solidFill>
                      <a:prstDash val="solid"/>
                      <a:round/>
                      <a:headEnd type="none" w="med" len="med"/>
                      <a:tailEnd type="none" w="med" len="med"/>
                    </a:lnL>
                    <a:lnR w="9525" cap="flat" cmpd="sng" algn="ctr">
                      <a:solidFill>
                        <a:srgbClr val="2A4766"/>
                      </a:solidFill>
                      <a:prstDash val="solid"/>
                      <a:round/>
                      <a:headEnd type="none" w="med" len="med"/>
                      <a:tailEnd type="none" w="med" len="med"/>
                    </a:lnR>
                    <a:lnT w="9525" cap="flat" cmpd="sng" algn="ctr">
                      <a:solidFill>
                        <a:srgbClr val="2A4766"/>
                      </a:solidFill>
                      <a:prstDash val="solid"/>
                      <a:round/>
                      <a:headEnd type="none" w="med" len="med"/>
                      <a:tailEnd type="none" w="med" len="med"/>
                    </a:lnT>
                    <a:lnB w="9525" cap="flat" cmpd="sng" algn="ctr">
                      <a:solidFill>
                        <a:srgbClr val="2A4766"/>
                      </a:solidFill>
                      <a:prstDash val="solid"/>
                      <a:round/>
                      <a:headEnd type="none" w="med" len="med"/>
                      <a:tailEnd type="none" w="med" len="med"/>
                    </a:lnB>
                    <a:solidFill>
                      <a:srgbClr val="1D3A5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75BFD9D1-92EB-45D0-8582-BA78EBB7227B}" type="slidenum">
              <a:rPr lang="en-US" sz="1100">
                <a:solidFill>
                  <a:srgbClr val="605E5C"/>
                </a:solidFill>
                <a:latin typeface="Segoe UI" pitchFamily="34" charset="0"/>
                <a:ea typeface="Segoe UI" pitchFamily="34" charset="-122"/>
                <a:cs typeface="Segoe UI" pitchFamily="34" charset="-120"/>
              </a:rPr>
              <a:t>66</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Secrets in a GitOps World</a:t>
            </a:r>
            <a:endParaRPr lang="en-US" sz="3200" dirty="0"/>
          </a:p>
        </p:txBody>
      </p:sp>
      <p:sp>
        <p:nvSpPr>
          <p:cNvPr id="10" name="Shape 8"/>
          <p:cNvSpPr/>
          <p:nvPr/>
        </p:nvSpPr>
        <p:spPr>
          <a:xfrm>
            <a:off x="548640" y="1737360"/>
            <a:ext cx="11091672" cy="777240"/>
          </a:xfrm>
          <a:prstGeom prst="rect">
            <a:avLst/>
          </a:prstGeom>
          <a:solidFill>
            <a:srgbClr val="008575"/>
          </a:solidFill>
          <a:ln/>
        </p:spPr>
        <p:txBody>
          <a:bodyPr/>
          <a:lstStyle/>
          <a:p>
            <a:endParaRPr lang="en-US"/>
          </a:p>
        </p:txBody>
      </p:sp>
      <p:sp>
        <p:nvSpPr>
          <p:cNvPr id="11" name="Shape 9"/>
          <p:cNvSpPr/>
          <p:nvPr/>
        </p:nvSpPr>
        <p:spPr>
          <a:xfrm>
            <a:off x="777240" y="1874520"/>
            <a:ext cx="502920" cy="502920"/>
          </a:xfrm>
          <a:prstGeom prst="ellipse">
            <a:avLst/>
          </a:prstGeom>
          <a:solidFill>
            <a:srgbClr val="005248"/>
          </a:solidFill>
          <a:ln/>
        </p:spPr>
        <p:txBody>
          <a:bodyPr/>
          <a:lstStyle/>
          <a:p>
            <a:endParaRPr lang="en-US"/>
          </a:p>
        </p:txBody>
      </p:sp>
      <p:pic>
        <p:nvPicPr>
          <p:cNvPr id="12" name="Image 0" descr="/agent/turn2/workspace/output/_anthropic_assets/icon-warning-adbe1e7c.png"/>
          <p:cNvPicPr>
            <a:picLocks noChangeAspect="1"/>
          </p:cNvPicPr>
          <p:nvPr/>
        </p:nvPicPr>
        <p:blipFill>
          <a:blip r:embed="rId2"/>
          <a:stretch>
            <a:fillRect/>
          </a:stretch>
        </p:blipFill>
        <p:spPr>
          <a:xfrm>
            <a:off x="887882" y="1985162"/>
            <a:ext cx="281635" cy="281635"/>
          </a:xfrm>
          <a:prstGeom prst="rect">
            <a:avLst/>
          </a:prstGeom>
        </p:spPr>
      </p:pic>
      <p:sp>
        <p:nvSpPr>
          <p:cNvPr id="13" name="Text 10"/>
          <p:cNvSpPr/>
          <p:nvPr/>
        </p:nvSpPr>
        <p:spPr>
          <a:xfrm>
            <a:off x="1508760" y="1737360"/>
            <a:ext cx="9902952" cy="777240"/>
          </a:xfrm>
          <a:prstGeom prst="rect">
            <a:avLst/>
          </a:prstGeom>
          <a:noFill/>
          <a:ln/>
        </p:spPr>
        <p:txBody>
          <a:bodyPr wrap="square" lIns="0" tIns="0" rIns="0" bIns="0" rtlCol="0" anchor="ctr"/>
          <a:lstStyle/>
          <a:p>
            <a:pPr marL="0" indent="0">
              <a:buNone/>
            </a:pPr>
            <a:r>
              <a:rPr lang="en-US" sz="1700" dirty="0">
                <a:solidFill>
                  <a:srgbClr val="FFFFFF"/>
                </a:solidFill>
                <a:latin typeface="Segoe UI" pitchFamily="34" charset="0"/>
                <a:ea typeface="Segoe UI" pitchFamily="34" charset="-122"/>
                <a:cs typeface="Segoe UI" pitchFamily="34" charset="-120"/>
              </a:rPr>
              <a:t>Never commit plain Kubernetes Secrets — base64 is encoding, not encryption.</a:t>
            </a:r>
            <a:endParaRPr lang="en-US" sz="1700" dirty="0"/>
          </a:p>
        </p:txBody>
      </p:sp>
      <p:sp>
        <p:nvSpPr>
          <p:cNvPr id="14" name="Shape 11"/>
          <p:cNvSpPr/>
          <p:nvPr/>
        </p:nvSpPr>
        <p:spPr>
          <a:xfrm>
            <a:off x="548640" y="2743200"/>
            <a:ext cx="5431536" cy="1554480"/>
          </a:xfrm>
          <a:prstGeom prst="rect">
            <a:avLst/>
          </a:prstGeom>
          <a:solidFill>
            <a:srgbClr val="F3F2F1"/>
          </a:solidFill>
          <a:ln/>
        </p:spPr>
        <p:txBody>
          <a:bodyPr/>
          <a:lstStyle/>
          <a:p>
            <a:endParaRPr lang="en-US"/>
          </a:p>
        </p:txBody>
      </p:sp>
      <p:sp>
        <p:nvSpPr>
          <p:cNvPr id="15" name="Shape 12"/>
          <p:cNvSpPr/>
          <p:nvPr/>
        </p:nvSpPr>
        <p:spPr>
          <a:xfrm>
            <a:off x="777240" y="2971800"/>
            <a:ext cx="502920" cy="502920"/>
          </a:xfrm>
          <a:prstGeom prst="ellipse">
            <a:avLst/>
          </a:prstGeom>
          <a:solidFill>
            <a:srgbClr val="008575"/>
          </a:solidFill>
          <a:ln/>
        </p:spPr>
        <p:txBody>
          <a:bodyPr/>
          <a:lstStyle/>
          <a:p>
            <a:endParaRPr lang="en-US"/>
          </a:p>
        </p:txBody>
      </p:sp>
      <p:pic>
        <p:nvPicPr>
          <p:cNvPr id="16" name="Image 1" descr="/agent/turn2/workspace/output/_anthropic_assets/icon-key-2e1b4a49.png"/>
          <p:cNvPicPr>
            <a:picLocks noChangeAspect="1"/>
          </p:cNvPicPr>
          <p:nvPr/>
        </p:nvPicPr>
        <p:blipFill>
          <a:blip r:embed="rId3"/>
          <a:stretch>
            <a:fillRect/>
          </a:stretch>
        </p:blipFill>
        <p:spPr>
          <a:xfrm>
            <a:off x="887882" y="3082442"/>
            <a:ext cx="281635" cy="281635"/>
          </a:xfrm>
          <a:prstGeom prst="rect">
            <a:avLst/>
          </a:prstGeom>
        </p:spPr>
      </p:pic>
      <p:sp>
        <p:nvSpPr>
          <p:cNvPr id="17" name="Text 13"/>
          <p:cNvSpPr/>
          <p:nvPr/>
        </p:nvSpPr>
        <p:spPr>
          <a:xfrm>
            <a:off x="1508760" y="2926080"/>
            <a:ext cx="4288536"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Azure Key Vault provider</a:t>
            </a:r>
            <a:endParaRPr lang="en-US" sz="1700" dirty="0"/>
          </a:p>
        </p:txBody>
      </p:sp>
      <p:sp>
        <p:nvSpPr>
          <p:cNvPr id="18" name="Text 14"/>
          <p:cNvSpPr/>
          <p:nvPr/>
        </p:nvSpPr>
        <p:spPr>
          <a:xfrm>
            <a:off x="1508760" y="3337560"/>
            <a:ext cx="4288536" cy="8229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Secrets Store CSI Driver, an AKS add-on: mount Key Vault secrets into pods using workload identity.</a:t>
            </a:r>
            <a:endParaRPr lang="en-US" sz="1400" dirty="0"/>
          </a:p>
        </p:txBody>
      </p:sp>
      <p:sp>
        <p:nvSpPr>
          <p:cNvPr id="19" name="Shape 15"/>
          <p:cNvSpPr/>
          <p:nvPr/>
        </p:nvSpPr>
        <p:spPr>
          <a:xfrm>
            <a:off x="6208776" y="2743200"/>
            <a:ext cx="5431536" cy="1554480"/>
          </a:xfrm>
          <a:prstGeom prst="rect">
            <a:avLst/>
          </a:prstGeom>
          <a:solidFill>
            <a:srgbClr val="F3F2F1"/>
          </a:solidFill>
          <a:ln/>
        </p:spPr>
        <p:txBody>
          <a:bodyPr/>
          <a:lstStyle/>
          <a:p>
            <a:endParaRPr lang="en-US"/>
          </a:p>
        </p:txBody>
      </p:sp>
      <p:sp>
        <p:nvSpPr>
          <p:cNvPr id="20" name="Shape 16"/>
          <p:cNvSpPr/>
          <p:nvPr/>
        </p:nvSpPr>
        <p:spPr>
          <a:xfrm>
            <a:off x="6437376" y="2971800"/>
            <a:ext cx="502920" cy="502920"/>
          </a:xfrm>
          <a:prstGeom prst="ellipse">
            <a:avLst/>
          </a:prstGeom>
          <a:solidFill>
            <a:srgbClr val="008575"/>
          </a:solidFill>
          <a:ln/>
        </p:spPr>
        <p:txBody>
          <a:bodyPr/>
          <a:lstStyle/>
          <a:p>
            <a:endParaRPr lang="en-US"/>
          </a:p>
        </p:txBody>
      </p:sp>
      <p:pic>
        <p:nvPicPr>
          <p:cNvPr id="21" name="Image 2" descr="/agent/turn2/workspace/output/_anthropic_assets/icon-arrow-sync-7745594d.png"/>
          <p:cNvPicPr>
            <a:picLocks noChangeAspect="1"/>
          </p:cNvPicPr>
          <p:nvPr/>
        </p:nvPicPr>
        <p:blipFill>
          <a:blip r:embed="rId4"/>
          <a:stretch>
            <a:fillRect/>
          </a:stretch>
        </p:blipFill>
        <p:spPr>
          <a:xfrm>
            <a:off x="6548018" y="3082442"/>
            <a:ext cx="281635" cy="281635"/>
          </a:xfrm>
          <a:prstGeom prst="rect">
            <a:avLst/>
          </a:prstGeom>
        </p:spPr>
      </p:pic>
      <p:sp>
        <p:nvSpPr>
          <p:cNvPr id="22" name="Text 17"/>
          <p:cNvSpPr/>
          <p:nvPr/>
        </p:nvSpPr>
        <p:spPr>
          <a:xfrm>
            <a:off x="7168896" y="2926080"/>
            <a:ext cx="4288536"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External Secrets Operator</a:t>
            </a:r>
            <a:endParaRPr lang="en-US" sz="1700" dirty="0"/>
          </a:p>
        </p:txBody>
      </p:sp>
      <p:sp>
        <p:nvSpPr>
          <p:cNvPr id="23" name="Text 18"/>
          <p:cNvSpPr/>
          <p:nvPr/>
        </p:nvSpPr>
        <p:spPr>
          <a:xfrm>
            <a:off x="7168896" y="3337560"/>
            <a:ext cx="4288536" cy="8229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Syncs secrets from Key Vault into Kubernetes Secrets; Git holds only references.</a:t>
            </a:r>
            <a:endParaRPr lang="en-US" sz="1400" dirty="0"/>
          </a:p>
        </p:txBody>
      </p:sp>
      <p:sp>
        <p:nvSpPr>
          <p:cNvPr id="24" name="Shape 19"/>
          <p:cNvSpPr/>
          <p:nvPr/>
        </p:nvSpPr>
        <p:spPr>
          <a:xfrm>
            <a:off x="548640" y="4526280"/>
            <a:ext cx="5431536" cy="1554480"/>
          </a:xfrm>
          <a:prstGeom prst="rect">
            <a:avLst/>
          </a:prstGeom>
          <a:solidFill>
            <a:srgbClr val="F3F2F1"/>
          </a:solidFill>
          <a:ln/>
        </p:spPr>
        <p:txBody>
          <a:bodyPr/>
          <a:lstStyle/>
          <a:p>
            <a:endParaRPr lang="en-US"/>
          </a:p>
        </p:txBody>
      </p:sp>
      <p:sp>
        <p:nvSpPr>
          <p:cNvPr id="25" name="Shape 20"/>
          <p:cNvSpPr/>
          <p:nvPr/>
        </p:nvSpPr>
        <p:spPr>
          <a:xfrm>
            <a:off x="777240" y="4754880"/>
            <a:ext cx="502920" cy="502920"/>
          </a:xfrm>
          <a:prstGeom prst="ellipse">
            <a:avLst/>
          </a:prstGeom>
          <a:solidFill>
            <a:srgbClr val="008575"/>
          </a:solidFill>
          <a:ln/>
        </p:spPr>
        <p:txBody>
          <a:bodyPr/>
          <a:lstStyle/>
          <a:p>
            <a:endParaRPr lang="en-US"/>
          </a:p>
        </p:txBody>
      </p:sp>
      <p:pic>
        <p:nvPicPr>
          <p:cNvPr id="26" name="Image 3" descr="/agent/turn2/workspace/output/_anthropic_assets/icon-lock-closed-e490b6ce.png"/>
          <p:cNvPicPr>
            <a:picLocks noChangeAspect="1"/>
          </p:cNvPicPr>
          <p:nvPr/>
        </p:nvPicPr>
        <p:blipFill>
          <a:blip r:embed="rId5"/>
          <a:stretch>
            <a:fillRect/>
          </a:stretch>
        </p:blipFill>
        <p:spPr>
          <a:xfrm>
            <a:off x="887882" y="4865522"/>
            <a:ext cx="281635" cy="281635"/>
          </a:xfrm>
          <a:prstGeom prst="rect">
            <a:avLst/>
          </a:prstGeom>
        </p:spPr>
      </p:pic>
      <p:sp>
        <p:nvSpPr>
          <p:cNvPr id="27" name="Text 21"/>
          <p:cNvSpPr/>
          <p:nvPr/>
        </p:nvSpPr>
        <p:spPr>
          <a:xfrm>
            <a:off x="1508760" y="4709160"/>
            <a:ext cx="4288536"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SOPS</a:t>
            </a:r>
            <a:endParaRPr lang="en-US" sz="1700" dirty="0"/>
          </a:p>
        </p:txBody>
      </p:sp>
      <p:sp>
        <p:nvSpPr>
          <p:cNvPr id="28" name="Text 22"/>
          <p:cNvSpPr/>
          <p:nvPr/>
        </p:nvSpPr>
        <p:spPr>
          <a:xfrm>
            <a:off x="1508760" y="5120640"/>
            <a:ext cx="4288536" cy="8229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Encrypt values in Git (for example with Key Vault keys); Flux decrypts natively.</a:t>
            </a:r>
            <a:endParaRPr lang="en-US" sz="1400" dirty="0"/>
          </a:p>
        </p:txBody>
      </p:sp>
      <p:sp>
        <p:nvSpPr>
          <p:cNvPr id="29" name="Shape 23"/>
          <p:cNvSpPr/>
          <p:nvPr/>
        </p:nvSpPr>
        <p:spPr>
          <a:xfrm>
            <a:off x="6208776" y="4526280"/>
            <a:ext cx="5431536" cy="1554480"/>
          </a:xfrm>
          <a:prstGeom prst="rect">
            <a:avLst/>
          </a:prstGeom>
          <a:solidFill>
            <a:srgbClr val="F3F2F1"/>
          </a:solidFill>
          <a:ln/>
        </p:spPr>
        <p:txBody>
          <a:bodyPr/>
          <a:lstStyle/>
          <a:p>
            <a:endParaRPr lang="en-US"/>
          </a:p>
        </p:txBody>
      </p:sp>
      <p:sp>
        <p:nvSpPr>
          <p:cNvPr id="30" name="Shape 24"/>
          <p:cNvSpPr/>
          <p:nvPr/>
        </p:nvSpPr>
        <p:spPr>
          <a:xfrm>
            <a:off x="6437376" y="4754880"/>
            <a:ext cx="502920" cy="502920"/>
          </a:xfrm>
          <a:prstGeom prst="ellipse">
            <a:avLst/>
          </a:prstGeom>
          <a:solidFill>
            <a:srgbClr val="008575"/>
          </a:solidFill>
          <a:ln/>
        </p:spPr>
        <p:txBody>
          <a:bodyPr/>
          <a:lstStyle/>
          <a:p>
            <a:endParaRPr lang="en-US"/>
          </a:p>
        </p:txBody>
      </p:sp>
      <p:pic>
        <p:nvPicPr>
          <p:cNvPr id="31" name="Image 4" descr="/agent/turn2/workspace/output/_anthropic_assets/icon-shield-checkmark-8da48fe0.png"/>
          <p:cNvPicPr>
            <a:picLocks noChangeAspect="1"/>
          </p:cNvPicPr>
          <p:nvPr/>
        </p:nvPicPr>
        <p:blipFill>
          <a:blip r:embed="rId6"/>
          <a:stretch>
            <a:fillRect/>
          </a:stretch>
        </p:blipFill>
        <p:spPr>
          <a:xfrm>
            <a:off x="6548018" y="4865522"/>
            <a:ext cx="281635" cy="281635"/>
          </a:xfrm>
          <a:prstGeom prst="rect">
            <a:avLst/>
          </a:prstGeom>
        </p:spPr>
      </p:pic>
      <p:sp>
        <p:nvSpPr>
          <p:cNvPr id="32" name="Text 25"/>
          <p:cNvSpPr/>
          <p:nvPr/>
        </p:nvSpPr>
        <p:spPr>
          <a:xfrm>
            <a:off x="7168896" y="4709160"/>
            <a:ext cx="4288536" cy="384048"/>
          </a:xfrm>
          <a:prstGeom prst="rect">
            <a:avLst/>
          </a:prstGeom>
          <a:noFill/>
          <a:ln/>
        </p:spPr>
        <p:txBody>
          <a:bodyPr wrap="square" lIns="0" tIns="0" rIns="0" bIns="0" rtlCol="0" anchor="ctr"/>
          <a:lstStyle/>
          <a:p>
            <a:pPr marL="0" indent="0">
              <a:buNone/>
            </a:pPr>
            <a:r>
              <a:rPr lang="en-US" sz="1700" dirty="0">
                <a:solidFill>
                  <a:srgbClr val="201F1E"/>
                </a:solidFill>
                <a:latin typeface="Segoe UI Semibold" pitchFamily="34" charset="0"/>
                <a:ea typeface="Segoe UI Semibold" pitchFamily="34" charset="-122"/>
                <a:cs typeface="Segoe UI Semibold" pitchFamily="34" charset="-120"/>
              </a:rPr>
              <a:t>Sealed Secrets</a:t>
            </a:r>
            <a:endParaRPr lang="en-US" sz="1700" dirty="0"/>
          </a:p>
        </p:txBody>
      </p:sp>
      <p:sp>
        <p:nvSpPr>
          <p:cNvPr id="33" name="Text 26"/>
          <p:cNvSpPr/>
          <p:nvPr/>
        </p:nvSpPr>
        <p:spPr>
          <a:xfrm>
            <a:off x="7168896" y="5120640"/>
            <a:ext cx="4288536" cy="8229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Encrypt with a cluster public key; only the in-cluster controller can decrypt.</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2">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56A"/>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5E26D592-8F1E-4034-BFF0-CB69FC4FC79D}" type="slidenum">
              <a:rPr lang="en-US" sz="1100">
                <a:solidFill>
                  <a:srgbClr val="605E5C"/>
                </a:solidFill>
                <a:latin typeface="Segoe UI" pitchFamily="34" charset="0"/>
                <a:ea typeface="Segoe UI" pitchFamily="34" charset="-122"/>
                <a:cs typeface="Segoe UI" pitchFamily="34" charset="-120"/>
              </a:rPr>
              <a:t>67</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Troubleshooting GitOps</a:t>
            </a:r>
            <a:endParaRPr lang="en-US" sz="3200" dirty="0"/>
          </a:p>
        </p:txBody>
      </p:sp>
      <p:sp>
        <p:nvSpPr>
          <p:cNvPr id="10" name="Shape 8"/>
          <p:cNvSpPr/>
          <p:nvPr/>
        </p:nvSpPr>
        <p:spPr>
          <a:xfrm>
            <a:off x="548640" y="1737360"/>
            <a:ext cx="5440680" cy="2468880"/>
          </a:xfrm>
          <a:prstGeom prst="rect">
            <a:avLst/>
          </a:prstGeom>
          <a:solidFill>
            <a:srgbClr val="1E1E1E"/>
          </a:solidFill>
          <a:ln/>
        </p:spPr>
        <p:txBody>
          <a:bodyPr/>
          <a:lstStyle/>
          <a:p>
            <a:endParaRPr lang="en-US"/>
          </a:p>
        </p:txBody>
      </p:sp>
      <p:sp>
        <p:nvSpPr>
          <p:cNvPr id="11" name="Shape 9"/>
          <p:cNvSpPr/>
          <p:nvPr/>
        </p:nvSpPr>
        <p:spPr>
          <a:xfrm>
            <a:off x="548640" y="1737360"/>
            <a:ext cx="5440680" cy="347472"/>
          </a:xfrm>
          <a:prstGeom prst="rect">
            <a:avLst/>
          </a:prstGeom>
          <a:solidFill>
            <a:srgbClr val="2D2D30"/>
          </a:solidFill>
          <a:ln/>
        </p:spPr>
        <p:txBody>
          <a:bodyPr/>
          <a:lstStyle/>
          <a:p>
            <a:endParaRPr lang="en-US"/>
          </a:p>
        </p:txBody>
      </p:sp>
      <p:sp>
        <p:nvSpPr>
          <p:cNvPr id="12" name="Shape 10"/>
          <p:cNvSpPr/>
          <p:nvPr/>
        </p:nvSpPr>
        <p:spPr>
          <a:xfrm>
            <a:off x="548640" y="1737360"/>
            <a:ext cx="859536" cy="347472"/>
          </a:xfrm>
          <a:prstGeom prst="rect">
            <a:avLst/>
          </a:prstGeom>
          <a:solidFill>
            <a:srgbClr val="1E1E1E"/>
          </a:solidFill>
          <a:ln/>
        </p:spPr>
        <p:txBody>
          <a:bodyPr/>
          <a:lstStyle/>
          <a:p>
            <a:endParaRPr lang="en-US"/>
          </a:p>
        </p:txBody>
      </p:sp>
      <p:sp>
        <p:nvSpPr>
          <p:cNvPr id="13" name="Text 11"/>
          <p:cNvSpPr/>
          <p:nvPr/>
        </p:nvSpPr>
        <p:spPr>
          <a:xfrm>
            <a:off x="685800" y="1737360"/>
            <a:ext cx="676656"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flux</a:t>
            </a:r>
            <a:endParaRPr lang="en-US" sz="1100" dirty="0"/>
          </a:p>
        </p:txBody>
      </p:sp>
      <p:sp>
        <p:nvSpPr>
          <p:cNvPr id="14" name="Text 12"/>
          <p:cNvSpPr/>
          <p:nvPr/>
        </p:nvSpPr>
        <p:spPr>
          <a:xfrm>
            <a:off x="749808" y="2212848"/>
            <a:ext cx="5074920" cy="1874520"/>
          </a:xfrm>
          <a:prstGeom prst="rect">
            <a:avLst/>
          </a:prstGeom>
          <a:noFill/>
          <a:ln/>
        </p:spPr>
        <p:txBody>
          <a:bodyPr wrap="square" lIns="0" tIns="0" rIns="0" bIns="0" rtlCol="0" anchor="t"/>
          <a:lstStyle/>
          <a:p>
            <a:pPr marL="0" indent="0">
              <a:lnSpc>
                <a:spcPct val="105000"/>
              </a:lnSpc>
              <a:buNone/>
            </a:pPr>
            <a:r>
              <a:rPr lang="en-US" sz="1300" dirty="0">
                <a:solidFill>
                  <a:srgbClr val="6A9955"/>
                </a:solidFill>
                <a:latin typeface="Consolas" pitchFamily="34" charset="0"/>
                <a:ea typeface="Consolas" pitchFamily="34" charset="-122"/>
                <a:cs typeface="Consolas" pitchFamily="34" charset="-120"/>
              </a:rPr>
              <a:t># Flux</a:t>
            </a:r>
            <a:endParaRPr lang="en-US" sz="1300" dirty="0"/>
          </a:p>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flux</a:t>
            </a:r>
            <a:r>
              <a:rPr lang="en-US" sz="1300" dirty="0">
                <a:solidFill>
                  <a:srgbClr val="D4D4D4"/>
                </a:solidFill>
                <a:latin typeface="Consolas" pitchFamily="34" charset="0"/>
                <a:ea typeface="Consolas" pitchFamily="34" charset="-122"/>
                <a:cs typeface="Consolas" pitchFamily="34" charset="-120"/>
              </a:rPr>
              <a:t> get sources git -A</a:t>
            </a:r>
            <a:endParaRPr lang="en-US" sz="1300" dirty="0"/>
          </a:p>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flux</a:t>
            </a:r>
            <a:r>
              <a:rPr lang="en-US" sz="1300" dirty="0">
                <a:solidFill>
                  <a:srgbClr val="D4D4D4"/>
                </a:solidFill>
                <a:latin typeface="Consolas" pitchFamily="34" charset="0"/>
                <a:ea typeface="Consolas" pitchFamily="34" charset="-122"/>
                <a:cs typeface="Consolas" pitchFamily="34" charset="-120"/>
              </a:rPr>
              <a:t> get kustomizations -A       </a:t>
            </a:r>
            <a:r>
              <a:rPr lang="en-US" sz="1300" dirty="0">
                <a:solidFill>
                  <a:srgbClr val="6A9955"/>
                </a:solidFill>
                <a:latin typeface="Consolas" pitchFamily="34" charset="0"/>
                <a:ea typeface="Consolas" pitchFamily="34" charset="-122"/>
                <a:cs typeface="Consolas" pitchFamily="34" charset="-120"/>
              </a:rPr>
              <a:t> # READY + message</a:t>
            </a:r>
            <a:endParaRPr lang="en-US" sz="1300" dirty="0"/>
          </a:p>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flux</a:t>
            </a:r>
            <a:r>
              <a:rPr lang="en-US" sz="1300" dirty="0">
                <a:solidFill>
                  <a:srgbClr val="D4D4D4"/>
                </a:solidFill>
                <a:latin typeface="Consolas" pitchFamily="34" charset="0"/>
                <a:ea typeface="Consolas" pitchFamily="34" charset="-122"/>
                <a:cs typeface="Consolas" pitchFamily="34" charset="-120"/>
              </a:rPr>
              <a:t> reconcile kustomization apps --with-source</a:t>
            </a:r>
            <a:endParaRPr lang="en-US" sz="1300" dirty="0"/>
          </a:p>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flux</a:t>
            </a:r>
            <a:r>
              <a:rPr lang="en-US" sz="1300" dirty="0">
                <a:solidFill>
                  <a:srgbClr val="D4D4D4"/>
                </a:solidFill>
                <a:latin typeface="Consolas" pitchFamily="34" charset="0"/>
                <a:ea typeface="Consolas" pitchFamily="34" charset="-122"/>
                <a:cs typeface="Consolas" pitchFamily="34" charset="-120"/>
              </a:rPr>
              <a:t> logs --level=error</a:t>
            </a:r>
            <a:endParaRPr lang="en-US" sz="1300" dirty="0"/>
          </a:p>
        </p:txBody>
      </p:sp>
      <p:sp>
        <p:nvSpPr>
          <p:cNvPr id="15" name="Shape 13"/>
          <p:cNvSpPr/>
          <p:nvPr/>
        </p:nvSpPr>
        <p:spPr>
          <a:xfrm>
            <a:off x="6199632" y="1737360"/>
            <a:ext cx="5440680" cy="2468880"/>
          </a:xfrm>
          <a:prstGeom prst="rect">
            <a:avLst/>
          </a:prstGeom>
          <a:solidFill>
            <a:srgbClr val="1E1E1E"/>
          </a:solidFill>
          <a:ln/>
        </p:spPr>
        <p:txBody>
          <a:bodyPr/>
          <a:lstStyle/>
          <a:p>
            <a:endParaRPr lang="en-US"/>
          </a:p>
        </p:txBody>
      </p:sp>
      <p:sp>
        <p:nvSpPr>
          <p:cNvPr id="16" name="Shape 14"/>
          <p:cNvSpPr/>
          <p:nvPr/>
        </p:nvSpPr>
        <p:spPr>
          <a:xfrm>
            <a:off x="6199632" y="1737360"/>
            <a:ext cx="5440680" cy="347472"/>
          </a:xfrm>
          <a:prstGeom prst="rect">
            <a:avLst/>
          </a:prstGeom>
          <a:solidFill>
            <a:srgbClr val="2D2D30"/>
          </a:solidFill>
          <a:ln/>
        </p:spPr>
        <p:txBody>
          <a:bodyPr/>
          <a:lstStyle/>
          <a:p>
            <a:endParaRPr lang="en-US"/>
          </a:p>
        </p:txBody>
      </p:sp>
      <p:sp>
        <p:nvSpPr>
          <p:cNvPr id="17" name="Shape 15"/>
          <p:cNvSpPr/>
          <p:nvPr/>
        </p:nvSpPr>
        <p:spPr>
          <a:xfrm>
            <a:off x="6199632" y="1737360"/>
            <a:ext cx="1014984" cy="347472"/>
          </a:xfrm>
          <a:prstGeom prst="rect">
            <a:avLst/>
          </a:prstGeom>
          <a:solidFill>
            <a:srgbClr val="1E1E1E"/>
          </a:solidFill>
          <a:ln/>
        </p:spPr>
        <p:txBody>
          <a:bodyPr/>
          <a:lstStyle/>
          <a:p>
            <a:endParaRPr lang="en-US"/>
          </a:p>
        </p:txBody>
      </p:sp>
      <p:sp>
        <p:nvSpPr>
          <p:cNvPr id="18" name="Text 16"/>
          <p:cNvSpPr/>
          <p:nvPr/>
        </p:nvSpPr>
        <p:spPr>
          <a:xfrm>
            <a:off x="6336792" y="1737360"/>
            <a:ext cx="832104" cy="347472"/>
          </a:xfrm>
          <a:prstGeom prst="rect">
            <a:avLst/>
          </a:prstGeom>
          <a:noFill/>
          <a:ln/>
        </p:spPr>
        <p:txBody>
          <a:bodyPr wrap="square" lIns="0" tIns="0" rIns="0" bIns="0" rtlCol="0" anchor="ctr"/>
          <a:lstStyle/>
          <a:p>
            <a:pPr marL="0" indent="0">
              <a:buNone/>
            </a:pPr>
            <a:r>
              <a:rPr lang="en-US" sz="1100" dirty="0">
                <a:solidFill>
                  <a:srgbClr val="CCCCCC"/>
                </a:solidFill>
                <a:latin typeface="Segoe UI" pitchFamily="34" charset="0"/>
                <a:ea typeface="Segoe UI" pitchFamily="34" charset="-122"/>
                <a:cs typeface="Segoe UI" pitchFamily="34" charset="-120"/>
              </a:rPr>
              <a:t>argocd</a:t>
            </a:r>
            <a:endParaRPr lang="en-US" sz="1100" dirty="0"/>
          </a:p>
        </p:txBody>
      </p:sp>
      <p:sp>
        <p:nvSpPr>
          <p:cNvPr id="19" name="Text 17"/>
          <p:cNvSpPr/>
          <p:nvPr/>
        </p:nvSpPr>
        <p:spPr>
          <a:xfrm>
            <a:off x="6400800" y="2212848"/>
            <a:ext cx="5074920" cy="1874520"/>
          </a:xfrm>
          <a:prstGeom prst="rect">
            <a:avLst/>
          </a:prstGeom>
          <a:noFill/>
          <a:ln/>
        </p:spPr>
        <p:txBody>
          <a:bodyPr wrap="square" lIns="0" tIns="0" rIns="0" bIns="0" rtlCol="0" anchor="t"/>
          <a:lstStyle/>
          <a:p>
            <a:pPr marL="0" indent="0">
              <a:lnSpc>
                <a:spcPct val="105000"/>
              </a:lnSpc>
              <a:buNone/>
            </a:pPr>
            <a:r>
              <a:rPr lang="en-US" sz="1300" dirty="0">
                <a:solidFill>
                  <a:srgbClr val="6A9955"/>
                </a:solidFill>
                <a:latin typeface="Consolas" pitchFamily="34" charset="0"/>
                <a:ea typeface="Consolas" pitchFamily="34" charset="-122"/>
                <a:cs typeface="Consolas" pitchFamily="34" charset="-120"/>
              </a:rPr>
              <a:t># Argo CD</a:t>
            </a:r>
            <a:endParaRPr lang="en-US" sz="1300" dirty="0"/>
          </a:p>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argocd</a:t>
            </a:r>
            <a:r>
              <a:rPr lang="en-US" sz="1300" dirty="0">
                <a:solidFill>
                  <a:srgbClr val="D4D4D4"/>
                </a:solidFill>
                <a:latin typeface="Consolas" pitchFamily="34" charset="0"/>
                <a:ea typeface="Consolas" pitchFamily="34" charset="-122"/>
                <a:cs typeface="Consolas" pitchFamily="34" charset="-120"/>
              </a:rPr>
              <a:t> app list</a:t>
            </a:r>
            <a:endParaRPr lang="en-US" sz="1300" dirty="0"/>
          </a:p>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argocd</a:t>
            </a:r>
            <a:r>
              <a:rPr lang="en-US" sz="1300" dirty="0">
                <a:solidFill>
                  <a:srgbClr val="D4D4D4"/>
                </a:solidFill>
                <a:latin typeface="Consolas" pitchFamily="34" charset="0"/>
                <a:ea typeface="Consolas" pitchFamily="34" charset="-122"/>
                <a:cs typeface="Consolas" pitchFamily="34" charset="-120"/>
              </a:rPr>
              <a:t> app get store-api       </a:t>
            </a:r>
            <a:r>
              <a:rPr lang="en-US" sz="1300" dirty="0">
                <a:solidFill>
                  <a:srgbClr val="6A9955"/>
                </a:solidFill>
                <a:latin typeface="Consolas" pitchFamily="34" charset="0"/>
                <a:ea typeface="Consolas" pitchFamily="34" charset="-122"/>
                <a:cs typeface="Consolas" pitchFamily="34" charset="-120"/>
              </a:rPr>
              <a:t> # sync + health</a:t>
            </a:r>
            <a:endParaRPr lang="en-US" sz="1300" dirty="0"/>
          </a:p>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argocd</a:t>
            </a:r>
            <a:r>
              <a:rPr lang="en-US" sz="1300" dirty="0">
                <a:solidFill>
                  <a:srgbClr val="D4D4D4"/>
                </a:solidFill>
                <a:latin typeface="Consolas" pitchFamily="34" charset="0"/>
                <a:ea typeface="Consolas" pitchFamily="34" charset="-122"/>
                <a:cs typeface="Consolas" pitchFamily="34" charset="-120"/>
              </a:rPr>
              <a:t> app diff store-api</a:t>
            </a:r>
            <a:endParaRPr lang="en-US" sz="1300" dirty="0"/>
          </a:p>
          <a:p>
            <a:pPr marL="0" indent="0">
              <a:lnSpc>
                <a:spcPct val="105000"/>
              </a:lnSpc>
              <a:buNone/>
            </a:pPr>
            <a:r>
              <a:rPr lang="en-US" sz="1300" dirty="0">
                <a:solidFill>
                  <a:srgbClr val="DCDCAA"/>
                </a:solidFill>
                <a:latin typeface="Consolas" pitchFamily="34" charset="0"/>
                <a:ea typeface="Consolas" pitchFamily="34" charset="-122"/>
                <a:cs typeface="Consolas" pitchFamily="34" charset="-120"/>
              </a:rPr>
              <a:t>argocd</a:t>
            </a:r>
            <a:r>
              <a:rPr lang="en-US" sz="1300" dirty="0">
                <a:solidFill>
                  <a:srgbClr val="D4D4D4"/>
                </a:solidFill>
                <a:latin typeface="Consolas" pitchFamily="34" charset="0"/>
                <a:ea typeface="Consolas" pitchFamily="34" charset="-122"/>
                <a:cs typeface="Consolas" pitchFamily="34" charset="-120"/>
              </a:rPr>
              <a:t> app sync store-api</a:t>
            </a:r>
            <a:endParaRPr lang="en-US" sz="1300" dirty="0"/>
          </a:p>
        </p:txBody>
      </p:sp>
      <p:sp>
        <p:nvSpPr>
          <p:cNvPr id="20" name="Shape 18"/>
          <p:cNvSpPr/>
          <p:nvPr/>
        </p:nvSpPr>
        <p:spPr>
          <a:xfrm>
            <a:off x="548640" y="4434840"/>
            <a:ext cx="3514344" cy="1645920"/>
          </a:xfrm>
          <a:prstGeom prst="rect">
            <a:avLst/>
          </a:prstGeom>
          <a:solidFill>
            <a:srgbClr val="FFFFFF"/>
          </a:solidFill>
          <a:ln/>
        </p:spPr>
        <p:txBody>
          <a:bodyPr/>
          <a:lstStyle/>
          <a:p>
            <a:endParaRPr lang="en-US"/>
          </a:p>
        </p:txBody>
      </p:sp>
      <p:sp>
        <p:nvSpPr>
          <p:cNvPr id="21" name="Shape 19"/>
          <p:cNvSpPr/>
          <p:nvPr/>
        </p:nvSpPr>
        <p:spPr>
          <a:xfrm>
            <a:off x="777240" y="4663440"/>
            <a:ext cx="502920" cy="502920"/>
          </a:xfrm>
          <a:prstGeom prst="ellipse">
            <a:avLst/>
          </a:prstGeom>
          <a:solidFill>
            <a:srgbClr val="008575"/>
          </a:solidFill>
          <a:ln/>
        </p:spPr>
        <p:txBody>
          <a:bodyPr/>
          <a:lstStyle/>
          <a:p>
            <a:endParaRPr lang="en-US"/>
          </a:p>
        </p:txBody>
      </p:sp>
      <p:pic>
        <p:nvPicPr>
          <p:cNvPr id="22" name="Image 0" descr="/agent/turn2/workspace/output/_anthropic_assets/icon-branch-3deffea2.png"/>
          <p:cNvPicPr>
            <a:picLocks noChangeAspect="1"/>
          </p:cNvPicPr>
          <p:nvPr/>
        </p:nvPicPr>
        <p:blipFill>
          <a:blip r:embed="rId2"/>
          <a:stretch>
            <a:fillRect/>
          </a:stretch>
        </p:blipFill>
        <p:spPr>
          <a:xfrm>
            <a:off x="887882" y="4774082"/>
            <a:ext cx="281635" cy="281635"/>
          </a:xfrm>
          <a:prstGeom prst="rect">
            <a:avLst/>
          </a:prstGeom>
        </p:spPr>
      </p:pic>
      <p:sp>
        <p:nvSpPr>
          <p:cNvPr id="23" name="Text 20"/>
          <p:cNvSpPr/>
          <p:nvPr/>
        </p:nvSpPr>
        <p:spPr>
          <a:xfrm>
            <a:off x="1508760" y="461772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Source failing</a:t>
            </a:r>
            <a:endParaRPr lang="en-US" sz="1600" dirty="0"/>
          </a:p>
        </p:txBody>
      </p:sp>
      <p:sp>
        <p:nvSpPr>
          <p:cNvPr id="24" name="Text 21"/>
          <p:cNvSpPr/>
          <p:nvPr/>
        </p:nvSpPr>
        <p:spPr>
          <a:xfrm>
            <a:off x="1508760" y="5029200"/>
            <a:ext cx="2371344" cy="91440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Auth, URL or branch wrong — check the source status first.</a:t>
            </a:r>
            <a:endParaRPr lang="en-US" sz="1350" dirty="0"/>
          </a:p>
        </p:txBody>
      </p:sp>
      <p:sp>
        <p:nvSpPr>
          <p:cNvPr id="25" name="Shape 22"/>
          <p:cNvSpPr/>
          <p:nvPr/>
        </p:nvSpPr>
        <p:spPr>
          <a:xfrm>
            <a:off x="4337304" y="4434840"/>
            <a:ext cx="3514344" cy="1645920"/>
          </a:xfrm>
          <a:prstGeom prst="rect">
            <a:avLst/>
          </a:prstGeom>
          <a:solidFill>
            <a:srgbClr val="FFFFFF"/>
          </a:solidFill>
          <a:ln/>
        </p:spPr>
        <p:txBody>
          <a:bodyPr/>
          <a:lstStyle/>
          <a:p>
            <a:endParaRPr lang="en-US"/>
          </a:p>
        </p:txBody>
      </p:sp>
      <p:sp>
        <p:nvSpPr>
          <p:cNvPr id="26" name="Shape 23"/>
          <p:cNvSpPr/>
          <p:nvPr/>
        </p:nvSpPr>
        <p:spPr>
          <a:xfrm>
            <a:off x="4565904" y="4663440"/>
            <a:ext cx="502920" cy="502920"/>
          </a:xfrm>
          <a:prstGeom prst="ellipse">
            <a:avLst/>
          </a:prstGeom>
          <a:solidFill>
            <a:srgbClr val="008575"/>
          </a:solidFill>
          <a:ln/>
        </p:spPr>
        <p:txBody>
          <a:bodyPr/>
          <a:lstStyle/>
          <a:p>
            <a:endParaRPr lang="en-US"/>
          </a:p>
        </p:txBody>
      </p:sp>
      <p:pic>
        <p:nvPicPr>
          <p:cNvPr id="27" name="Image 1" descr="/agent/turn2/workspace/output/_anthropic_assets/icon-code-2c7ac4d5.png"/>
          <p:cNvPicPr>
            <a:picLocks noChangeAspect="1"/>
          </p:cNvPicPr>
          <p:nvPr/>
        </p:nvPicPr>
        <p:blipFill>
          <a:blip r:embed="rId3"/>
          <a:stretch>
            <a:fillRect/>
          </a:stretch>
        </p:blipFill>
        <p:spPr>
          <a:xfrm>
            <a:off x="4676546" y="4774082"/>
            <a:ext cx="281635" cy="281635"/>
          </a:xfrm>
          <a:prstGeom prst="rect">
            <a:avLst/>
          </a:prstGeom>
        </p:spPr>
      </p:pic>
      <p:sp>
        <p:nvSpPr>
          <p:cNvPr id="28" name="Text 24"/>
          <p:cNvSpPr/>
          <p:nvPr/>
        </p:nvSpPr>
        <p:spPr>
          <a:xfrm>
            <a:off x="5297424" y="461772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Build failing</a:t>
            </a:r>
            <a:endParaRPr lang="en-US" sz="1600" dirty="0"/>
          </a:p>
        </p:txBody>
      </p:sp>
      <p:sp>
        <p:nvSpPr>
          <p:cNvPr id="29" name="Text 25"/>
          <p:cNvSpPr/>
          <p:nvPr/>
        </p:nvSpPr>
        <p:spPr>
          <a:xfrm>
            <a:off x="5297424" y="5029200"/>
            <a:ext cx="2371344" cy="91440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Kustomize or Helm render error — reproduce locally.</a:t>
            </a:r>
            <a:endParaRPr lang="en-US" sz="1350" dirty="0"/>
          </a:p>
        </p:txBody>
      </p:sp>
      <p:sp>
        <p:nvSpPr>
          <p:cNvPr id="30" name="Shape 26"/>
          <p:cNvSpPr/>
          <p:nvPr/>
        </p:nvSpPr>
        <p:spPr>
          <a:xfrm>
            <a:off x="8125968" y="4434840"/>
            <a:ext cx="3514344" cy="1645920"/>
          </a:xfrm>
          <a:prstGeom prst="rect">
            <a:avLst/>
          </a:prstGeom>
          <a:solidFill>
            <a:srgbClr val="FFFFFF"/>
          </a:solidFill>
          <a:ln/>
        </p:spPr>
        <p:txBody>
          <a:bodyPr/>
          <a:lstStyle/>
          <a:p>
            <a:endParaRPr lang="en-US"/>
          </a:p>
        </p:txBody>
      </p:sp>
      <p:sp>
        <p:nvSpPr>
          <p:cNvPr id="31" name="Shape 27"/>
          <p:cNvSpPr/>
          <p:nvPr/>
        </p:nvSpPr>
        <p:spPr>
          <a:xfrm>
            <a:off x="8354568" y="4663440"/>
            <a:ext cx="502920" cy="502920"/>
          </a:xfrm>
          <a:prstGeom prst="ellipse">
            <a:avLst/>
          </a:prstGeom>
          <a:solidFill>
            <a:srgbClr val="008575"/>
          </a:solidFill>
          <a:ln/>
        </p:spPr>
        <p:txBody>
          <a:bodyPr/>
          <a:lstStyle/>
          <a:p>
            <a:endParaRPr lang="en-US"/>
          </a:p>
        </p:txBody>
      </p:sp>
      <p:pic>
        <p:nvPicPr>
          <p:cNvPr id="32" name="Image 2" descr="/agent/turn2/workspace/output/_anthropic_assets/icon-heart-pulse-0e389db0.png"/>
          <p:cNvPicPr>
            <a:picLocks noChangeAspect="1"/>
          </p:cNvPicPr>
          <p:nvPr/>
        </p:nvPicPr>
        <p:blipFill>
          <a:blip r:embed="rId4"/>
          <a:stretch>
            <a:fillRect/>
          </a:stretch>
        </p:blipFill>
        <p:spPr>
          <a:xfrm>
            <a:off x="8465210" y="4774082"/>
            <a:ext cx="281635" cy="281635"/>
          </a:xfrm>
          <a:prstGeom prst="rect">
            <a:avLst/>
          </a:prstGeom>
        </p:spPr>
      </p:pic>
      <p:sp>
        <p:nvSpPr>
          <p:cNvPr id="33" name="Text 28"/>
          <p:cNvSpPr/>
          <p:nvPr/>
        </p:nvSpPr>
        <p:spPr>
          <a:xfrm>
            <a:off x="9086088" y="4617720"/>
            <a:ext cx="2371344" cy="384048"/>
          </a:xfrm>
          <a:prstGeom prst="rect">
            <a:avLst/>
          </a:prstGeom>
          <a:noFill/>
          <a:ln/>
        </p:spPr>
        <p:txBody>
          <a:bodyPr wrap="square" lIns="0" tIns="0" rIns="0" bIns="0" rtlCol="0" anchor="ctr"/>
          <a:lstStyle/>
          <a:p>
            <a:pPr marL="0" indent="0">
              <a:buNone/>
            </a:pPr>
            <a:r>
              <a:rPr lang="en-US" sz="1600" dirty="0">
                <a:solidFill>
                  <a:srgbClr val="201F1E"/>
                </a:solidFill>
                <a:latin typeface="Segoe UI Semibold" pitchFamily="34" charset="0"/>
                <a:ea typeface="Segoe UI Semibold" pitchFamily="34" charset="-122"/>
                <a:cs typeface="Segoe UI Semibold" pitchFamily="34" charset="-120"/>
              </a:rPr>
              <a:t>Apply OK, app broken</a:t>
            </a:r>
            <a:endParaRPr lang="en-US" sz="1600" dirty="0"/>
          </a:p>
        </p:txBody>
      </p:sp>
      <p:sp>
        <p:nvSpPr>
          <p:cNvPr id="34" name="Text 29"/>
          <p:cNvSpPr/>
          <p:nvPr/>
        </p:nvSpPr>
        <p:spPr>
          <a:xfrm>
            <a:off x="9086088" y="5029200"/>
            <a:ext cx="2371344" cy="914400"/>
          </a:xfrm>
          <a:prstGeom prst="rect">
            <a:avLst/>
          </a:prstGeom>
          <a:noFill/>
          <a:ln/>
        </p:spPr>
        <p:txBody>
          <a:bodyPr wrap="square" lIns="0" tIns="0" rIns="0" bIns="0" rtlCol="0" anchor="t"/>
          <a:lstStyle/>
          <a:p>
            <a:pPr marL="0" indent="0">
              <a:buNone/>
            </a:pPr>
            <a:r>
              <a:rPr lang="en-US" sz="1350" dirty="0">
                <a:solidFill>
                  <a:srgbClr val="323130"/>
                </a:solidFill>
                <a:latin typeface="Segoe UI" pitchFamily="34" charset="0"/>
                <a:ea typeface="Segoe UI" pitchFamily="34" charset="-122"/>
                <a:cs typeface="Segoe UI" pitchFamily="34" charset="-120"/>
              </a:rPr>
              <a:t>Back to probes, events and logs from Part 4.</a:t>
            </a:r>
            <a:endParaRPr lang="en-US" sz="13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3">
    <p:bg>
      <p:bgPr>
        <a:solidFill>
          <a:srgbClr val="005248"/>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4FE0C9"/>
                </a:solidFill>
                <a:latin typeface="Segoe UI Semibold" pitchFamily="34" charset="0"/>
                <a:ea typeface="Segoe UI Semibold" pitchFamily="34" charset="-122"/>
                <a:cs typeface="Segoe UI Semibold" pitchFamily="34" charset="-120"/>
              </a:rPr>
              <a:t>PART 6 · GITOPS WITH FLUX AND ARGO CD</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31BB521D-6261-4387-9739-46668C71F1C1}" type="slidenum">
              <a:rPr lang="en-US" sz="1100">
                <a:solidFill>
                  <a:srgbClr val="A9B8C8"/>
                </a:solidFill>
                <a:latin typeface="Segoe UI" pitchFamily="34" charset="0"/>
                <a:ea typeface="Segoe UI" pitchFamily="34" charset="-122"/>
                <a:cs typeface="Segoe UI" pitchFamily="34" charset="-120"/>
              </a:rPr>
              <a:t>68</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GitOps Best Practices</a:t>
            </a:r>
            <a:endParaRPr lang="en-US" sz="3200" dirty="0"/>
          </a:p>
        </p:txBody>
      </p:sp>
      <p:sp>
        <p:nvSpPr>
          <p:cNvPr id="10" name="Shape 8"/>
          <p:cNvSpPr/>
          <p:nvPr/>
        </p:nvSpPr>
        <p:spPr>
          <a:xfrm>
            <a:off x="548640" y="1737360"/>
            <a:ext cx="3538728" cy="2011680"/>
          </a:xfrm>
          <a:prstGeom prst="rect">
            <a:avLst/>
          </a:prstGeom>
          <a:solidFill>
            <a:srgbClr val="0B3D36"/>
          </a:solidFill>
          <a:ln/>
        </p:spPr>
        <p:txBody>
          <a:bodyPr/>
          <a:lstStyle/>
          <a:p>
            <a:endParaRPr lang="en-US"/>
          </a:p>
        </p:txBody>
      </p:sp>
      <p:sp>
        <p:nvSpPr>
          <p:cNvPr id="11" name="Shape 9"/>
          <p:cNvSpPr/>
          <p:nvPr/>
        </p:nvSpPr>
        <p:spPr>
          <a:xfrm>
            <a:off x="777240" y="1965960"/>
            <a:ext cx="502920" cy="502920"/>
          </a:xfrm>
          <a:prstGeom prst="ellipse">
            <a:avLst/>
          </a:prstGeom>
          <a:solidFill>
            <a:srgbClr val="008575"/>
          </a:solidFill>
          <a:ln/>
        </p:spPr>
        <p:txBody>
          <a:bodyPr/>
          <a:lstStyle/>
          <a:p>
            <a:endParaRPr lang="en-US"/>
          </a:p>
        </p:txBody>
      </p:sp>
      <p:pic>
        <p:nvPicPr>
          <p:cNvPr id="12" name="Image 0" descr="/agent/turn2/workspace/output/_anthropic_assets/icon-lock-closed-e490b6ce.png"/>
          <p:cNvPicPr>
            <a:picLocks noChangeAspect="1"/>
          </p:cNvPicPr>
          <p:nvPr/>
        </p:nvPicPr>
        <p:blipFill>
          <a:blip r:embed="rId2"/>
          <a:stretch>
            <a:fillRect/>
          </a:stretch>
        </p:blipFill>
        <p:spPr>
          <a:xfrm>
            <a:off x="887882" y="2076602"/>
            <a:ext cx="281635" cy="281635"/>
          </a:xfrm>
          <a:prstGeom prst="rect">
            <a:avLst/>
          </a:prstGeom>
        </p:spPr>
      </p:pic>
      <p:sp>
        <p:nvSpPr>
          <p:cNvPr id="13" name="Text 10"/>
          <p:cNvSpPr/>
          <p:nvPr/>
        </p:nvSpPr>
        <p:spPr>
          <a:xfrm>
            <a:off x="1417320" y="1965960"/>
            <a:ext cx="2560320" cy="50292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Protect main</a:t>
            </a:r>
            <a:endParaRPr lang="en-US" sz="1600" dirty="0"/>
          </a:p>
        </p:txBody>
      </p:sp>
      <p:sp>
        <p:nvSpPr>
          <p:cNvPr id="14" name="Text 11"/>
          <p:cNvSpPr/>
          <p:nvPr/>
        </p:nvSpPr>
        <p:spPr>
          <a:xfrm>
            <a:off x="777240" y="2606040"/>
            <a:ext cx="3108960" cy="1005840"/>
          </a:xfrm>
          <a:prstGeom prst="rect">
            <a:avLst/>
          </a:prstGeom>
          <a:noFill/>
          <a:ln/>
        </p:spPr>
        <p:txBody>
          <a:bodyPr wrap="square" lIns="0" tIns="0" rIns="0" bIns="0" rtlCol="0" anchor="t"/>
          <a:lstStyle/>
          <a:p>
            <a:pPr marL="0" indent="0">
              <a:buNone/>
            </a:pPr>
            <a:r>
              <a:rPr lang="en-US" sz="1400" dirty="0">
                <a:solidFill>
                  <a:srgbClr val="D9F2EE"/>
                </a:solidFill>
                <a:latin typeface="Segoe UI" pitchFamily="34" charset="0"/>
                <a:ea typeface="Segoe UI" pitchFamily="34" charset="-122"/>
                <a:cs typeface="Segoe UI" pitchFamily="34" charset="-120"/>
              </a:rPr>
              <a:t>Branch protection, required reviews and CI checks on every change.</a:t>
            </a:r>
            <a:endParaRPr lang="en-US" sz="1400" dirty="0"/>
          </a:p>
        </p:txBody>
      </p:sp>
      <p:sp>
        <p:nvSpPr>
          <p:cNvPr id="15" name="Shape 12"/>
          <p:cNvSpPr/>
          <p:nvPr/>
        </p:nvSpPr>
        <p:spPr>
          <a:xfrm>
            <a:off x="4325112" y="1737360"/>
            <a:ext cx="3538728" cy="2011680"/>
          </a:xfrm>
          <a:prstGeom prst="rect">
            <a:avLst/>
          </a:prstGeom>
          <a:solidFill>
            <a:srgbClr val="0B3D36"/>
          </a:solidFill>
          <a:ln/>
        </p:spPr>
        <p:txBody>
          <a:bodyPr/>
          <a:lstStyle/>
          <a:p>
            <a:endParaRPr lang="en-US"/>
          </a:p>
        </p:txBody>
      </p:sp>
      <p:sp>
        <p:nvSpPr>
          <p:cNvPr id="16" name="Shape 13"/>
          <p:cNvSpPr/>
          <p:nvPr/>
        </p:nvSpPr>
        <p:spPr>
          <a:xfrm>
            <a:off x="4553712" y="1965960"/>
            <a:ext cx="502920" cy="502920"/>
          </a:xfrm>
          <a:prstGeom prst="ellipse">
            <a:avLst/>
          </a:prstGeom>
          <a:solidFill>
            <a:srgbClr val="008575"/>
          </a:solidFill>
          <a:ln/>
        </p:spPr>
        <p:txBody>
          <a:bodyPr/>
          <a:lstStyle/>
          <a:p>
            <a:endParaRPr lang="en-US"/>
          </a:p>
        </p:txBody>
      </p:sp>
      <p:pic>
        <p:nvPicPr>
          <p:cNvPr id="17" name="Image 1" descr="/agent/turn2/workspace/output/_anthropic_assets/icon-layer-549dba7a.png"/>
          <p:cNvPicPr>
            <a:picLocks noChangeAspect="1"/>
          </p:cNvPicPr>
          <p:nvPr/>
        </p:nvPicPr>
        <p:blipFill>
          <a:blip r:embed="rId3"/>
          <a:stretch>
            <a:fillRect/>
          </a:stretch>
        </p:blipFill>
        <p:spPr>
          <a:xfrm>
            <a:off x="4664354" y="2076602"/>
            <a:ext cx="281635" cy="281635"/>
          </a:xfrm>
          <a:prstGeom prst="rect">
            <a:avLst/>
          </a:prstGeom>
        </p:spPr>
      </p:pic>
      <p:sp>
        <p:nvSpPr>
          <p:cNvPr id="18" name="Text 14"/>
          <p:cNvSpPr/>
          <p:nvPr/>
        </p:nvSpPr>
        <p:spPr>
          <a:xfrm>
            <a:off x="5193792" y="1965960"/>
            <a:ext cx="2560320" cy="50292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Separate config from code</a:t>
            </a:r>
            <a:endParaRPr lang="en-US" sz="1600" dirty="0"/>
          </a:p>
        </p:txBody>
      </p:sp>
      <p:sp>
        <p:nvSpPr>
          <p:cNvPr id="19" name="Text 15"/>
          <p:cNvSpPr/>
          <p:nvPr/>
        </p:nvSpPr>
        <p:spPr>
          <a:xfrm>
            <a:off x="4553712" y="2606040"/>
            <a:ext cx="3108960" cy="1005840"/>
          </a:xfrm>
          <a:prstGeom prst="rect">
            <a:avLst/>
          </a:prstGeom>
          <a:noFill/>
          <a:ln/>
        </p:spPr>
        <p:txBody>
          <a:bodyPr wrap="square" lIns="0" tIns="0" rIns="0" bIns="0" rtlCol="0" anchor="t"/>
          <a:lstStyle/>
          <a:p>
            <a:pPr marL="0" indent="0">
              <a:buNone/>
            </a:pPr>
            <a:r>
              <a:rPr lang="en-US" sz="1400" dirty="0">
                <a:solidFill>
                  <a:srgbClr val="D9F2EE"/>
                </a:solidFill>
                <a:latin typeface="Segoe UI" pitchFamily="34" charset="0"/>
                <a:ea typeface="Segoe UI" pitchFamily="34" charset="-122"/>
                <a:cs typeface="Segoe UI" pitchFamily="34" charset="-120"/>
              </a:rPr>
              <a:t>App source and deployment config evolve at different speeds.</a:t>
            </a:r>
            <a:endParaRPr lang="en-US" sz="1400" dirty="0"/>
          </a:p>
        </p:txBody>
      </p:sp>
      <p:sp>
        <p:nvSpPr>
          <p:cNvPr id="20" name="Shape 16"/>
          <p:cNvSpPr/>
          <p:nvPr/>
        </p:nvSpPr>
        <p:spPr>
          <a:xfrm>
            <a:off x="8101584" y="1737360"/>
            <a:ext cx="3538728" cy="2011680"/>
          </a:xfrm>
          <a:prstGeom prst="rect">
            <a:avLst/>
          </a:prstGeom>
          <a:solidFill>
            <a:srgbClr val="0B3D36"/>
          </a:solidFill>
          <a:ln/>
        </p:spPr>
        <p:txBody>
          <a:bodyPr/>
          <a:lstStyle/>
          <a:p>
            <a:endParaRPr lang="en-US"/>
          </a:p>
        </p:txBody>
      </p:sp>
      <p:sp>
        <p:nvSpPr>
          <p:cNvPr id="21" name="Shape 17"/>
          <p:cNvSpPr/>
          <p:nvPr/>
        </p:nvSpPr>
        <p:spPr>
          <a:xfrm>
            <a:off x="8330184" y="1965960"/>
            <a:ext cx="502920" cy="502920"/>
          </a:xfrm>
          <a:prstGeom prst="ellipse">
            <a:avLst/>
          </a:prstGeom>
          <a:solidFill>
            <a:srgbClr val="008575"/>
          </a:solidFill>
          <a:ln/>
        </p:spPr>
        <p:txBody>
          <a:bodyPr/>
          <a:lstStyle/>
          <a:p>
            <a:endParaRPr lang="en-US"/>
          </a:p>
        </p:txBody>
      </p:sp>
      <p:pic>
        <p:nvPicPr>
          <p:cNvPr id="22" name="Image 2" descr="/agent/turn2/workspace/output/_anthropic_assets/icon-box-bc0f1811.png"/>
          <p:cNvPicPr>
            <a:picLocks noChangeAspect="1"/>
          </p:cNvPicPr>
          <p:nvPr/>
        </p:nvPicPr>
        <p:blipFill>
          <a:blip r:embed="rId4"/>
          <a:stretch>
            <a:fillRect/>
          </a:stretch>
        </p:blipFill>
        <p:spPr>
          <a:xfrm>
            <a:off x="8440826" y="2076602"/>
            <a:ext cx="281635" cy="281635"/>
          </a:xfrm>
          <a:prstGeom prst="rect">
            <a:avLst/>
          </a:prstGeom>
        </p:spPr>
      </p:pic>
      <p:sp>
        <p:nvSpPr>
          <p:cNvPr id="23" name="Text 18"/>
          <p:cNvSpPr/>
          <p:nvPr/>
        </p:nvSpPr>
        <p:spPr>
          <a:xfrm>
            <a:off x="8970264" y="1965960"/>
            <a:ext cx="2560320" cy="50292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Pin versions</a:t>
            </a:r>
            <a:endParaRPr lang="en-US" sz="1600" dirty="0"/>
          </a:p>
        </p:txBody>
      </p:sp>
      <p:sp>
        <p:nvSpPr>
          <p:cNvPr id="24" name="Text 19"/>
          <p:cNvSpPr/>
          <p:nvPr/>
        </p:nvSpPr>
        <p:spPr>
          <a:xfrm>
            <a:off x="8330184" y="2606040"/>
            <a:ext cx="3108960" cy="1005840"/>
          </a:xfrm>
          <a:prstGeom prst="rect">
            <a:avLst/>
          </a:prstGeom>
          <a:noFill/>
          <a:ln/>
        </p:spPr>
        <p:txBody>
          <a:bodyPr wrap="square" lIns="0" tIns="0" rIns="0" bIns="0" rtlCol="0" anchor="t"/>
          <a:lstStyle/>
          <a:p>
            <a:pPr marL="0" indent="0">
              <a:buNone/>
            </a:pPr>
            <a:r>
              <a:rPr lang="en-US" sz="1400" dirty="0">
                <a:solidFill>
                  <a:srgbClr val="D9F2EE"/>
                </a:solidFill>
                <a:latin typeface="Segoe UI" pitchFamily="34" charset="0"/>
                <a:ea typeface="Segoe UI" pitchFamily="34" charset="-122"/>
                <a:cs typeface="Segoe UI" pitchFamily="34" charset="-120"/>
              </a:rPr>
              <a:t>Immutable image tags or digests and pinned chart versions.</a:t>
            </a:r>
            <a:endParaRPr lang="en-US" sz="1400" dirty="0"/>
          </a:p>
        </p:txBody>
      </p:sp>
      <p:sp>
        <p:nvSpPr>
          <p:cNvPr id="25" name="Shape 20"/>
          <p:cNvSpPr/>
          <p:nvPr/>
        </p:nvSpPr>
        <p:spPr>
          <a:xfrm>
            <a:off x="548640" y="3977640"/>
            <a:ext cx="3538728" cy="2011680"/>
          </a:xfrm>
          <a:prstGeom prst="rect">
            <a:avLst/>
          </a:prstGeom>
          <a:solidFill>
            <a:srgbClr val="0B3D36"/>
          </a:solidFill>
          <a:ln/>
        </p:spPr>
        <p:txBody>
          <a:bodyPr/>
          <a:lstStyle/>
          <a:p>
            <a:endParaRPr lang="en-US"/>
          </a:p>
        </p:txBody>
      </p:sp>
      <p:sp>
        <p:nvSpPr>
          <p:cNvPr id="26" name="Shape 21"/>
          <p:cNvSpPr/>
          <p:nvPr/>
        </p:nvSpPr>
        <p:spPr>
          <a:xfrm>
            <a:off x="777240" y="4206240"/>
            <a:ext cx="502920" cy="502920"/>
          </a:xfrm>
          <a:prstGeom prst="ellipse">
            <a:avLst/>
          </a:prstGeom>
          <a:solidFill>
            <a:srgbClr val="008575"/>
          </a:solidFill>
          <a:ln/>
        </p:spPr>
        <p:txBody>
          <a:bodyPr/>
          <a:lstStyle/>
          <a:p>
            <a:endParaRPr lang="en-US"/>
          </a:p>
        </p:txBody>
      </p:sp>
      <p:pic>
        <p:nvPicPr>
          <p:cNvPr id="27" name="Image 3" descr="/agent/turn2/workspace/output/_anthropic_assets/icon-arrow-sync-7745594d.png"/>
          <p:cNvPicPr>
            <a:picLocks noChangeAspect="1"/>
          </p:cNvPicPr>
          <p:nvPr/>
        </p:nvPicPr>
        <p:blipFill>
          <a:blip r:embed="rId5"/>
          <a:stretch>
            <a:fillRect/>
          </a:stretch>
        </p:blipFill>
        <p:spPr>
          <a:xfrm>
            <a:off x="887882" y="4316882"/>
            <a:ext cx="281635" cy="281635"/>
          </a:xfrm>
          <a:prstGeom prst="rect">
            <a:avLst/>
          </a:prstGeom>
        </p:spPr>
      </p:pic>
      <p:sp>
        <p:nvSpPr>
          <p:cNvPr id="28" name="Text 22"/>
          <p:cNvSpPr/>
          <p:nvPr/>
        </p:nvSpPr>
        <p:spPr>
          <a:xfrm>
            <a:off x="1417320" y="4206240"/>
            <a:ext cx="2560320" cy="50292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Order with dependencies</a:t>
            </a:r>
            <a:endParaRPr lang="en-US" sz="1600" dirty="0"/>
          </a:p>
        </p:txBody>
      </p:sp>
      <p:sp>
        <p:nvSpPr>
          <p:cNvPr id="29" name="Text 23"/>
          <p:cNvSpPr/>
          <p:nvPr/>
        </p:nvSpPr>
        <p:spPr>
          <a:xfrm>
            <a:off x="777240" y="4846320"/>
            <a:ext cx="3108960" cy="1005840"/>
          </a:xfrm>
          <a:prstGeom prst="rect">
            <a:avLst/>
          </a:prstGeom>
          <a:noFill/>
          <a:ln/>
        </p:spPr>
        <p:txBody>
          <a:bodyPr wrap="square" lIns="0" tIns="0" rIns="0" bIns="0" rtlCol="0" anchor="t"/>
          <a:lstStyle/>
          <a:p>
            <a:pPr marL="0" indent="0">
              <a:buNone/>
            </a:pPr>
            <a:r>
              <a:rPr lang="en-US" sz="1400" dirty="0">
                <a:solidFill>
                  <a:srgbClr val="D9F2EE"/>
                </a:solidFill>
                <a:latin typeface="Segoe UI" pitchFamily="34" charset="0"/>
                <a:ea typeface="Segoe UI" pitchFamily="34" charset="-122"/>
                <a:cs typeface="Segoe UI" pitchFamily="34" charset="-120"/>
              </a:rPr>
              <a:t>Infrastructure before apps — </a:t>
            </a:r>
            <a:r>
              <a:rPr lang="en-US" sz="1400" dirty="0">
                <a:solidFill>
                  <a:srgbClr val="9CDCFE"/>
                </a:solidFill>
                <a:latin typeface="Consolas" pitchFamily="34" charset="0"/>
                <a:ea typeface="Consolas" pitchFamily="34" charset="-122"/>
                <a:cs typeface="Consolas" pitchFamily="34" charset="-120"/>
              </a:rPr>
              <a:t>dependsOn</a:t>
            </a:r>
            <a:r>
              <a:rPr lang="en-US" sz="1400" dirty="0">
                <a:solidFill>
                  <a:srgbClr val="D9F2EE"/>
                </a:solidFill>
                <a:latin typeface="Segoe UI" pitchFamily="34" charset="0"/>
                <a:ea typeface="Segoe UI" pitchFamily="34" charset="-122"/>
                <a:cs typeface="Segoe UI" pitchFamily="34" charset="-120"/>
              </a:rPr>
              <a:t> in Flux, sync waves in Argo CD.</a:t>
            </a:r>
            <a:endParaRPr lang="en-US" sz="1400" dirty="0"/>
          </a:p>
        </p:txBody>
      </p:sp>
      <p:sp>
        <p:nvSpPr>
          <p:cNvPr id="30" name="Shape 24"/>
          <p:cNvSpPr/>
          <p:nvPr/>
        </p:nvSpPr>
        <p:spPr>
          <a:xfrm>
            <a:off x="4325112" y="3977640"/>
            <a:ext cx="3538728" cy="2011680"/>
          </a:xfrm>
          <a:prstGeom prst="rect">
            <a:avLst/>
          </a:prstGeom>
          <a:solidFill>
            <a:srgbClr val="0B3D36"/>
          </a:solidFill>
          <a:ln/>
        </p:spPr>
        <p:txBody>
          <a:bodyPr/>
          <a:lstStyle/>
          <a:p>
            <a:endParaRPr lang="en-US"/>
          </a:p>
        </p:txBody>
      </p:sp>
      <p:sp>
        <p:nvSpPr>
          <p:cNvPr id="31" name="Shape 25"/>
          <p:cNvSpPr/>
          <p:nvPr/>
        </p:nvSpPr>
        <p:spPr>
          <a:xfrm>
            <a:off x="4553712" y="4206240"/>
            <a:ext cx="502920" cy="502920"/>
          </a:xfrm>
          <a:prstGeom prst="ellipse">
            <a:avLst/>
          </a:prstGeom>
          <a:solidFill>
            <a:srgbClr val="008575"/>
          </a:solidFill>
          <a:ln/>
        </p:spPr>
        <p:txBody>
          <a:bodyPr/>
          <a:lstStyle/>
          <a:p>
            <a:endParaRPr lang="en-US"/>
          </a:p>
        </p:txBody>
      </p:sp>
      <p:pic>
        <p:nvPicPr>
          <p:cNvPr id="32" name="Image 4" descr="/agent/turn2/workspace/output/_anthropic_assets/icon-warning-adbe1e7c.png"/>
          <p:cNvPicPr>
            <a:picLocks noChangeAspect="1"/>
          </p:cNvPicPr>
          <p:nvPr/>
        </p:nvPicPr>
        <p:blipFill>
          <a:blip r:embed="rId6"/>
          <a:stretch>
            <a:fillRect/>
          </a:stretch>
        </p:blipFill>
        <p:spPr>
          <a:xfrm>
            <a:off x="4664354" y="4316882"/>
            <a:ext cx="281635" cy="281635"/>
          </a:xfrm>
          <a:prstGeom prst="rect">
            <a:avLst/>
          </a:prstGeom>
        </p:spPr>
      </p:pic>
      <p:sp>
        <p:nvSpPr>
          <p:cNvPr id="33" name="Text 26"/>
          <p:cNvSpPr/>
          <p:nvPr/>
        </p:nvSpPr>
        <p:spPr>
          <a:xfrm>
            <a:off x="5193792" y="4206240"/>
            <a:ext cx="2560320" cy="50292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Alert on failures</a:t>
            </a:r>
            <a:endParaRPr lang="en-US" sz="1600" dirty="0"/>
          </a:p>
        </p:txBody>
      </p:sp>
      <p:sp>
        <p:nvSpPr>
          <p:cNvPr id="34" name="Text 27"/>
          <p:cNvSpPr/>
          <p:nvPr/>
        </p:nvSpPr>
        <p:spPr>
          <a:xfrm>
            <a:off x="4553712" y="4846320"/>
            <a:ext cx="3108960" cy="1005840"/>
          </a:xfrm>
          <a:prstGeom prst="rect">
            <a:avLst/>
          </a:prstGeom>
          <a:noFill/>
          <a:ln/>
        </p:spPr>
        <p:txBody>
          <a:bodyPr wrap="square" lIns="0" tIns="0" rIns="0" bIns="0" rtlCol="0" anchor="t"/>
          <a:lstStyle/>
          <a:p>
            <a:pPr marL="0" indent="0">
              <a:buNone/>
            </a:pPr>
            <a:r>
              <a:rPr lang="en-US" sz="1400" dirty="0">
                <a:solidFill>
                  <a:srgbClr val="D9F2EE"/>
                </a:solidFill>
                <a:latin typeface="Segoe UI" pitchFamily="34" charset="0"/>
                <a:ea typeface="Segoe UI" pitchFamily="34" charset="-122"/>
                <a:cs typeface="Segoe UI" pitchFamily="34" charset="-120"/>
              </a:rPr>
              <a:t>Route reconcile errors to Teams or Slack.</a:t>
            </a:r>
            <a:endParaRPr lang="en-US" sz="1400" dirty="0"/>
          </a:p>
        </p:txBody>
      </p:sp>
      <p:sp>
        <p:nvSpPr>
          <p:cNvPr id="35" name="Shape 28"/>
          <p:cNvSpPr/>
          <p:nvPr/>
        </p:nvSpPr>
        <p:spPr>
          <a:xfrm>
            <a:off x="8101584" y="3977640"/>
            <a:ext cx="3538728" cy="2011680"/>
          </a:xfrm>
          <a:prstGeom prst="rect">
            <a:avLst/>
          </a:prstGeom>
          <a:solidFill>
            <a:srgbClr val="0B3D36"/>
          </a:solidFill>
          <a:ln/>
        </p:spPr>
        <p:txBody>
          <a:bodyPr/>
          <a:lstStyle/>
          <a:p>
            <a:endParaRPr lang="en-US"/>
          </a:p>
        </p:txBody>
      </p:sp>
      <p:sp>
        <p:nvSpPr>
          <p:cNvPr id="36" name="Shape 29"/>
          <p:cNvSpPr/>
          <p:nvPr/>
        </p:nvSpPr>
        <p:spPr>
          <a:xfrm>
            <a:off x="8330184" y="4206240"/>
            <a:ext cx="502920" cy="502920"/>
          </a:xfrm>
          <a:prstGeom prst="ellipse">
            <a:avLst/>
          </a:prstGeom>
          <a:solidFill>
            <a:srgbClr val="008575"/>
          </a:solidFill>
          <a:ln/>
        </p:spPr>
        <p:txBody>
          <a:bodyPr/>
          <a:lstStyle/>
          <a:p>
            <a:endParaRPr lang="en-US"/>
          </a:p>
        </p:txBody>
      </p:sp>
      <p:pic>
        <p:nvPicPr>
          <p:cNvPr id="37" name="Image 5" descr="/agent/turn2/workspace/output/_anthropic_assets/icon-branch-3deffea2.png"/>
          <p:cNvPicPr>
            <a:picLocks noChangeAspect="1"/>
          </p:cNvPicPr>
          <p:nvPr/>
        </p:nvPicPr>
        <p:blipFill>
          <a:blip r:embed="rId7"/>
          <a:stretch>
            <a:fillRect/>
          </a:stretch>
        </p:blipFill>
        <p:spPr>
          <a:xfrm>
            <a:off x="8440826" y="4316882"/>
            <a:ext cx="281635" cy="281635"/>
          </a:xfrm>
          <a:prstGeom prst="rect">
            <a:avLst/>
          </a:prstGeom>
        </p:spPr>
      </p:pic>
      <p:sp>
        <p:nvSpPr>
          <p:cNvPr id="38" name="Text 30"/>
          <p:cNvSpPr/>
          <p:nvPr/>
        </p:nvSpPr>
        <p:spPr>
          <a:xfrm>
            <a:off x="8970264" y="4206240"/>
            <a:ext cx="2560320" cy="50292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Promote by pull request</a:t>
            </a:r>
            <a:endParaRPr lang="en-US" sz="1600" dirty="0"/>
          </a:p>
        </p:txBody>
      </p:sp>
      <p:sp>
        <p:nvSpPr>
          <p:cNvPr id="39" name="Text 31"/>
          <p:cNvSpPr/>
          <p:nvPr/>
        </p:nvSpPr>
        <p:spPr>
          <a:xfrm>
            <a:off x="8330184" y="4846320"/>
            <a:ext cx="3108960" cy="1005840"/>
          </a:xfrm>
          <a:prstGeom prst="rect">
            <a:avLst/>
          </a:prstGeom>
          <a:noFill/>
          <a:ln/>
        </p:spPr>
        <p:txBody>
          <a:bodyPr wrap="square" lIns="0" tIns="0" rIns="0" bIns="0" rtlCol="0" anchor="t"/>
          <a:lstStyle/>
          <a:p>
            <a:pPr marL="0" indent="0">
              <a:buNone/>
            </a:pPr>
            <a:r>
              <a:rPr lang="en-US" sz="1400" dirty="0">
                <a:solidFill>
                  <a:srgbClr val="D9F2EE"/>
                </a:solidFill>
                <a:latin typeface="Segoe UI" pitchFamily="34" charset="0"/>
                <a:ea typeface="Segoe UI" pitchFamily="34" charset="-122"/>
                <a:cs typeface="Segoe UI" pitchFamily="34" charset="-120"/>
              </a:rPr>
              <a:t>dev → test → prod as reviewed commits, not manual applies.</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54">
    <p:bg>
      <p:bgPr>
        <a:solidFill>
          <a:srgbClr val="0B1F33"/>
        </a:solidFill>
        <a:effectLst/>
      </p:bgPr>
    </p:bg>
    <p:spTree>
      <p:nvGrpSpPr>
        <p:cNvPr id="1" name=""/>
        <p:cNvGrpSpPr/>
        <p:nvPr/>
      </p:nvGrpSpPr>
      <p:grpSpPr>
        <a:xfrm>
          <a:off x="0" y="0"/>
          <a:ext cx="0" cy="0"/>
          <a:chOff x="0" y="0"/>
          <a:chExt cx="0" cy="0"/>
        </a:xfrm>
      </p:grpSpPr>
      <p:pic>
        <p:nvPicPr>
          <p:cNvPr id="2" name="Image 0" descr="/tmp/htmlgen-assets/04aca6e6-bbe6-41ca-ad41-ddfacd925ca5/0b9de9530dbe4566.jpg"/>
          <p:cNvPicPr>
            <a:picLocks noChangeAspect="1"/>
          </p:cNvPicPr>
          <p:nvPr/>
        </p:nvPicPr>
        <p:blipFill>
          <a:blip r:embed="rId2"/>
          <a:srcRect/>
          <a:stretch/>
        </p:blipFill>
        <p:spPr>
          <a:xfrm>
            <a:off x="0" y="0"/>
            <a:ext cx="12191695" cy="6858000"/>
          </a:xfrm>
          <a:prstGeom prst="rect">
            <a:avLst/>
          </a:prstGeom>
        </p:spPr>
      </p:pic>
      <p:sp>
        <p:nvSpPr>
          <p:cNvPr id="3" name="Shape 0"/>
          <p:cNvSpPr/>
          <p:nvPr/>
        </p:nvSpPr>
        <p:spPr>
          <a:xfrm>
            <a:off x="0" y="0"/>
            <a:ext cx="6949440" cy="6858000"/>
          </a:xfrm>
          <a:prstGeom prst="rect">
            <a:avLst/>
          </a:prstGeom>
          <a:solidFill>
            <a:srgbClr val="0B1F33">
              <a:alpha val="92000"/>
            </a:srgbClr>
          </a:solidFill>
          <a:ln/>
        </p:spPr>
        <p:txBody>
          <a:bodyPr/>
          <a:lstStyle/>
          <a:p>
            <a:endParaRPr lang="en-US"/>
          </a:p>
        </p:txBody>
      </p:sp>
      <p:sp>
        <p:nvSpPr>
          <p:cNvPr id="4" name="Shape 1"/>
          <p:cNvSpPr/>
          <p:nvPr/>
        </p:nvSpPr>
        <p:spPr>
          <a:xfrm>
            <a:off x="640080" y="1005840"/>
            <a:ext cx="182880" cy="182880"/>
          </a:xfrm>
          <a:prstGeom prst="rect">
            <a:avLst/>
          </a:prstGeom>
          <a:solidFill>
            <a:srgbClr val="F25022"/>
          </a:solidFill>
          <a:ln/>
        </p:spPr>
        <p:txBody>
          <a:bodyPr/>
          <a:lstStyle/>
          <a:p>
            <a:endParaRPr lang="en-US"/>
          </a:p>
        </p:txBody>
      </p:sp>
      <p:sp>
        <p:nvSpPr>
          <p:cNvPr id="5" name="Shape 2"/>
          <p:cNvSpPr/>
          <p:nvPr/>
        </p:nvSpPr>
        <p:spPr>
          <a:xfrm>
            <a:off x="863194" y="1005840"/>
            <a:ext cx="182880" cy="182880"/>
          </a:xfrm>
          <a:prstGeom prst="rect">
            <a:avLst/>
          </a:prstGeom>
          <a:solidFill>
            <a:srgbClr val="7FBA00"/>
          </a:solidFill>
          <a:ln/>
        </p:spPr>
        <p:txBody>
          <a:bodyPr/>
          <a:lstStyle/>
          <a:p>
            <a:endParaRPr lang="en-US"/>
          </a:p>
        </p:txBody>
      </p:sp>
      <p:sp>
        <p:nvSpPr>
          <p:cNvPr id="6" name="Shape 3"/>
          <p:cNvSpPr/>
          <p:nvPr/>
        </p:nvSpPr>
        <p:spPr>
          <a:xfrm>
            <a:off x="640080" y="1228954"/>
            <a:ext cx="182880" cy="182880"/>
          </a:xfrm>
          <a:prstGeom prst="rect">
            <a:avLst/>
          </a:prstGeom>
          <a:solidFill>
            <a:srgbClr val="00A4EF"/>
          </a:solidFill>
          <a:ln/>
        </p:spPr>
        <p:txBody>
          <a:bodyPr/>
          <a:lstStyle/>
          <a:p>
            <a:endParaRPr lang="en-US"/>
          </a:p>
        </p:txBody>
      </p:sp>
      <p:sp>
        <p:nvSpPr>
          <p:cNvPr id="7" name="Shape 4"/>
          <p:cNvSpPr/>
          <p:nvPr/>
        </p:nvSpPr>
        <p:spPr>
          <a:xfrm>
            <a:off x="863194" y="1228954"/>
            <a:ext cx="182880" cy="182880"/>
          </a:xfrm>
          <a:prstGeom prst="rect">
            <a:avLst/>
          </a:prstGeom>
          <a:solidFill>
            <a:srgbClr val="FFB900"/>
          </a:solidFill>
          <a:ln/>
        </p:spPr>
        <p:txBody>
          <a:bodyPr/>
          <a:lstStyle/>
          <a:p>
            <a:endParaRPr lang="en-US"/>
          </a:p>
        </p:txBody>
      </p:sp>
      <p:sp>
        <p:nvSpPr>
          <p:cNvPr id="8" name="Text 5"/>
          <p:cNvSpPr/>
          <p:nvPr/>
        </p:nvSpPr>
        <p:spPr>
          <a:xfrm>
            <a:off x="1234440" y="987552"/>
            <a:ext cx="4572000" cy="411480"/>
          </a:xfrm>
          <a:prstGeom prst="rect">
            <a:avLst/>
          </a:prstGeom>
          <a:noFill/>
          <a:ln/>
        </p:spPr>
        <p:txBody>
          <a:bodyPr wrap="square" lIns="0" tIns="0" rIns="0" bIns="0" rtlCol="0" anchor="ctr"/>
          <a:lstStyle/>
          <a:p>
            <a:pPr marL="0" indent="0">
              <a:buNone/>
            </a:pPr>
            <a:r>
              <a:rPr lang="en-US" sz="1600" kern="0" spc="300" dirty="0">
                <a:solidFill>
                  <a:srgbClr val="50E6FF"/>
                </a:solidFill>
                <a:latin typeface="Segoe UI Semibold" pitchFamily="34" charset="0"/>
                <a:ea typeface="Segoe UI Semibold" pitchFamily="34" charset="-122"/>
                <a:cs typeface="Segoe UI Semibold" pitchFamily="34" charset="-120"/>
              </a:rPr>
              <a:t>WRAP-UP</a:t>
            </a:r>
            <a:endParaRPr lang="en-US" sz="1600" dirty="0"/>
          </a:p>
        </p:txBody>
      </p:sp>
      <p:sp>
        <p:nvSpPr>
          <p:cNvPr id="9" name="Text 6"/>
          <p:cNvSpPr/>
          <p:nvPr/>
        </p:nvSpPr>
        <p:spPr>
          <a:xfrm>
            <a:off x="640080" y="1828800"/>
            <a:ext cx="6035040" cy="1645920"/>
          </a:xfrm>
          <a:prstGeom prst="rect">
            <a:avLst/>
          </a:prstGeom>
          <a:noFill/>
          <a:ln/>
        </p:spPr>
        <p:txBody>
          <a:bodyPr wrap="square" lIns="0" tIns="0" rIns="0" bIns="0" rtlCol="0" anchor="t"/>
          <a:lstStyle/>
          <a:p>
            <a:pPr marL="0" indent="0">
              <a:buNone/>
            </a:pPr>
            <a:r>
              <a:rPr lang="en-US" sz="4400" dirty="0">
                <a:solidFill>
                  <a:srgbClr val="FFFFFF"/>
                </a:solidFill>
                <a:latin typeface="Segoe UI Semibold" pitchFamily="34" charset="0"/>
                <a:ea typeface="Segoe UI Semibold" pitchFamily="34" charset="-122"/>
                <a:cs typeface="Segoe UI Semibold" pitchFamily="34" charset="-120"/>
              </a:rPr>
              <a:t>Bringing Day-2 together</a:t>
            </a:r>
            <a:endParaRPr lang="en-US" sz="4400" dirty="0"/>
          </a:p>
        </p:txBody>
      </p:sp>
      <p:sp>
        <p:nvSpPr>
          <p:cNvPr id="10" name="Text 7"/>
          <p:cNvSpPr/>
          <p:nvPr/>
        </p:nvSpPr>
        <p:spPr>
          <a:xfrm>
            <a:off x="640080" y="3657600"/>
            <a:ext cx="5852160" cy="1097280"/>
          </a:xfrm>
          <a:prstGeom prst="rect">
            <a:avLst/>
          </a:prstGeom>
          <a:noFill/>
          <a:ln/>
        </p:spPr>
        <p:txBody>
          <a:bodyPr wrap="square" lIns="0" tIns="0" rIns="0" bIns="0" rtlCol="0" anchor="t"/>
          <a:lstStyle/>
          <a:p>
            <a:pPr marL="0" indent="0">
              <a:buNone/>
            </a:pPr>
            <a:r>
              <a:rPr lang="en-US" sz="1800">
                <a:solidFill>
                  <a:srgbClr val="D0D8E2"/>
                </a:solidFill>
                <a:latin typeface="Segoe UI" pitchFamily="34" charset="0"/>
                <a:ea typeface="Segoe UI" pitchFamily="34" charset="-122"/>
                <a:cs typeface="Segoe UI" pitchFamily="34" charset="-120"/>
              </a:rPr>
              <a:t>Five</a:t>
            </a:r>
            <a:r>
              <a:rPr lang="en-US" sz="1800" dirty="0">
                <a:solidFill>
                  <a:srgbClr val="D0D8E2"/>
                </a:solidFill>
                <a:latin typeface="Segoe UI" pitchFamily="34" charset="0"/>
                <a:ea typeface="Segoe UI" pitchFamily="34" charset="-122"/>
                <a:cs typeface="Segoe UI" pitchFamily="34" charset="-120"/>
              </a:rPr>
              <a:t> practices, one operating model: package it, expose it, keep it healthy, scale it, and let Git drive it.</a:t>
            </a:r>
            <a:endParaRPr lang="en-US" sz="1800" dirty="0"/>
          </a:p>
        </p:txBody>
      </p:sp>
      <p:sp>
        <p:nvSpPr>
          <p:cNvPr id="11" name="Shape 8"/>
          <p:cNvSpPr/>
          <p:nvPr/>
        </p:nvSpPr>
        <p:spPr>
          <a:xfrm>
            <a:off x="640080" y="5257800"/>
            <a:ext cx="457200" cy="457200"/>
          </a:xfrm>
          <a:prstGeom prst="rect">
            <a:avLst/>
          </a:prstGeom>
          <a:solidFill>
            <a:srgbClr val="0078D4"/>
          </a:solidFill>
          <a:ln/>
        </p:spPr>
        <p:txBody>
          <a:bodyPr/>
          <a:lstStyle/>
          <a:p>
            <a:endParaRPr lang="en-US"/>
          </a:p>
        </p:txBody>
      </p:sp>
      <p:sp>
        <p:nvSpPr>
          <p:cNvPr id="12" name="Shape 9"/>
          <p:cNvSpPr/>
          <p:nvPr/>
        </p:nvSpPr>
        <p:spPr>
          <a:xfrm>
            <a:off x="1207008" y="5257800"/>
            <a:ext cx="457200" cy="457200"/>
          </a:xfrm>
          <a:prstGeom prst="rect">
            <a:avLst/>
          </a:prstGeom>
          <a:solidFill>
            <a:srgbClr val="107C10"/>
          </a:solidFill>
          <a:ln/>
        </p:spPr>
        <p:txBody>
          <a:bodyPr/>
          <a:lstStyle/>
          <a:p>
            <a:endParaRPr lang="en-US"/>
          </a:p>
        </p:txBody>
      </p:sp>
      <p:sp>
        <p:nvSpPr>
          <p:cNvPr id="13" name="Shape 10"/>
          <p:cNvSpPr/>
          <p:nvPr/>
        </p:nvSpPr>
        <p:spPr>
          <a:xfrm>
            <a:off x="1773936" y="5257800"/>
            <a:ext cx="457200" cy="457200"/>
          </a:xfrm>
          <a:prstGeom prst="rect">
            <a:avLst/>
          </a:prstGeom>
          <a:solidFill>
            <a:srgbClr val="FFB900"/>
          </a:solidFill>
          <a:ln/>
        </p:spPr>
        <p:txBody>
          <a:bodyPr/>
          <a:lstStyle/>
          <a:p>
            <a:endParaRPr lang="en-US"/>
          </a:p>
        </p:txBody>
      </p:sp>
      <p:sp>
        <p:nvSpPr>
          <p:cNvPr id="14" name="Shape 11"/>
          <p:cNvSpPr/>
          <p:nvPr/>
        </p:nvSpPr>
        <p:spPr>
          <a:xfrm>
            <a:off x="2340864" y="5257800"/>
            <a:ext cx="457200" cy="457200"/>
          </a:xfrm>
          <a:prstGeom prst="rect">
            <a:avLst/>
          </a:prstGeom>
          <a:solidFill>
            <a:srgbClr val="D83B01"/>
          </a:solidFill>
          <a:ln/>
        </p:spPr>
        <p:txBody>
          <a:bodyPr/>
          <a:lstStyle/>
          <a:p>
            <a:endParaRPr lang="en-US"/>
          </a:p>
        </p:txBody>
      </p:sp>
      <p:sp>
        <p:nvSpPr>
          <p:cNvPr id="15" name="Shape 12"/>
          <p:cNvSpPr/>
          <p:nvPr/>
        </p:nvSpPr>
        <p:spPr>
          <a:xfrm>
            <a:off x="2907792" y="5257800"/>
            <a:ext cx="457200" cy="457200"/>
          </a:xfrm>
          <a:prstGeom prst="rect">
            <a:avLst/>
          </a:prstGeom>
          <a:solidFill>
            <a:srgbClr val="5C2D91"/>
          </a:solidFill>
          <a:ln/>
        </p:spPr>
        <p:txBody>
          <a:bodyPr/>
          <a:lstStyle/>
          <a:p>
            <a:endParaRPr lang="en-US"/>
          </a:p>
        </p:txBody>
      </p:sp>
      <p:sp>
        <p:nvSpPr>
          <p:cNvPr id="16" name="Shape 13"/>
          <p:cNvSpPr/>
          <p:nvPr/>
        </p:nvSpPr>
        <p:spPr>
          <a:xfrm>
            <a:off x="3474720" y="5257800"/>
            <a:ext cx="457200" cy="457200"/>
          </a:xfrm>
          <a:prstGeom prst="rect">
            <a:avLst/>
          </a:prstGeom>
          <a:solidFill>
            <a:srgbClr val="008575"/>
          </a:solidFill>
          <a:ln/>
        </p:spPr>
        <p:txBody>
          <a:bodyPr/>
          <a:lstStyle/>
          <a:p>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5">
    <p:bg>
      <p:bgPr>
        <a:solidFill>
          <a:srgbClr val="F3F2F1"/>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0078D4"/>
                </a:solidFill>
                <a:latin typeface="Segoe UI Semibold" pitchFamily="34" charset="0"/>
                <a:ea typeface="Segoe UI Semibold" pitchFamily="34" charset="-122"/>
                <a:cs typeface="Segoe UI Semibold" pitchFamily="34" charset="-120"/>
              </a:rPr>
              <a:t>WRAP-UP</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605E5C"/>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53C1CA3F-79AC-47B8-B490-73337EC7C1AC}" type="slidenum">
              <a:rPr lang="en-US" sz="1100">
                <a:solidFill>
                  <a:srgbClr val="605E5C"/>
                </a:solidFill>
                <a:latin typeface="Segoe UI" pitchFamily="34" charset="0"/>
                <a:ea typeface="Segoe UI" pitchFamily="34" charset="-122"/>
                <a:cs typeface="Segoe UI" pitchFamily="34" charset="-120"/>
              </a:rPr>
              <a:t>70</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201F1E"/>
                </a:solidFill>
                <a:latin typeface="Segoe UI Semibold" pitchFamily="34" charset="0"/>
                <a:ea typeface="Segoe UI Semibold" pitchFamily="34" charset="-122"/>
                <a:cs typeface="Segoe UI Semibold" pitchFamily="34" charset="-120"/>
              </a:rPr>
              <a:t>Key Takeaways</a:t>
            </a:r>
            <a:endParaRPr lang="en-US" sz="3200" dirty="0"/>
          </a:p>
        </p:txBody>
      </p:sp>
      <p:sp>
        <p:nvSpPr>
          <p:cNvPr id="10" name="Shape 8"/>
          <p:cNvSpPr/>
          <p:nvPr/>
        </p:nvSpPr>
        <p:spPr>
          <a:xfrm>
            <a:off x="548640" y="1600200"/>
            <a:ext cx="3529584" cy="2240280"/>
          </a:xfrm>
          <a:prstGeom prst="rect">
            <a:avLst/>
          </a:prstGeom>
          <a:solidFill>
            <a:srgbClr val="FFFFFF"/>
          </a:solidFill>
          <a:ln w="9525">
            <a:solidFill>
              <a:srgbClr val="E1DFDD"/>
            </a:solidFill>
            <a:prstDash val="solid"/>
          </a:ln>
        </p:spPr>
        <p:txBody>
          <a:bodyPr/>
          <a:lstStyle/>
          <a:p>
            <a:endParaRPr lang="en-US"/>
          </a:p>
        </p:txBody>
      </p:sp>
      <p:sp>
        <p:nvSpPr>
          <p:cNvPr id="11" name="Shape 9"/>
          <p:cNvSpPr/>
          <p:nvPr/>
        </p:nvSpPr>
        <p:spPr>
          <a:xfrm>
            <a:off x="822960" y="1874520"/>
            <a:ext cx="640080" cy="640080"/>
          </a:xfrm>
          <a:prstGeom prst="ellipse">
            <a:avLst/>
          </a:prstGeom>
          <a:solidFill>
            <a:srgbClr val="0078D4"/>
          </a:solidFill>
          <a:ln/>
        </p:spPr>
        <p:txBody>
          <a:bodyPr/>
          <a:lstStyle/>
          <a:p>
            <a:endParaRPr lang="en-US"/>
          </a:p>
        </p:txBody>
      </p:sp>
      <p:pic>
        <p:nvPicPr>
          <p:cNvPr id="12" name="Image 0" descr="/agent/turn2/workspace/output/_anthropic_assets/icon-wrench-4ef463f6.png"/>
          <p:cNvPicPr>
            <a:picLocks noChangeAspect="1"/>
          </p:cNvPicPr>
          <p:nvPr/>
        </p:nvPicPr>
        <p:blipFill>
          <a:blip r:embed="rId2"/>
          <a:stretch>
            <a:fillRect/>
          </a:stretch>
        </p:blipFill>
        <p:spPr>
          <a:xfrm>
            <a:off x="963778" y="2015338"/>
            <a:ext cx="358445" cy="358445"/>
          </a:xfrm>
          <a:prstGeom prst="rect">
            <a:avLst/>
          </a:prstGeom>
        </p:spPr>
      </p:pic>
      <p:sp>
        <p:nvSpPr>
          <p:cNvPr id="13" name="Text 10"/>
          <p:cNvSpPr/>
          <p:nvPr/>
        </p:nvSpPr>
        <p:spPr>
          <a:xfrm>
            <a:off x="1600200" y="1874520"/>
            <a:ext cx="228600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Tooling</a:t>
            </a:r>
            <a:endParaRPr lang="en-US" sz="2000" dirty="0"/>
          </a:p>
        </p:txBody>
      </p:sp>
      <p:sp>
        <p:nvSpPr>
          <p:cNvPr id="14" name="Text 11"/>
          <p:cNvSpPr/>
          <p:nvPr/>
        </p:nvSpPr>
        <p:spPr>
          <a:xfrm>
            <a:off x="822960" y="2651760"/>
            <a:ext cx="2980944" cy="10515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Fluent CLI habits (kubectl, helm, az) and a clear model of AKS + ACR make every other practice faster.</a:t>
            </a:r>
            <a:endParaRPr lang="en-US" sz="1400" dirty="0"/>
          </a:p>
        </p:txBody>
      </p:sp>
      <p:sp>
        <p:nvSpPr>
          <p:cNvPr id="15" name="Shape 12"/>
          <p:cNvSpPr/>
          <p:nvPr/>
        </p:nvSpPr>
        <p:spPr>
          <a:xfrm>
            <a:off x="4352544" y="1600200"/>
            <a:ext cx="3529584" cy="2240280"/>
          </a:xfrm>
          <a:prstGeom prst="rect">
            <a:avLst/>
          </a:prstGeom>
          <a:solidFill>
            <a:srgbClr val="FFFFFF"/>
          </a:solidFill>
          <a:ln w="9525">
            <a:solidFill>
              <a:srgbClr val="E1DFDD"/>
            </a:solidFill>
            <a:prstDash val="solid"/>
          </a:ln>
        </p:spPr>
        <p:txBody>
          <a:bodyPr/>
          <a:lstStyle/>
          <a:p>
            <a:endParaRPr lang="en-US"/>
          </a:p>
        </p:txBody>
      </p:sp>
      <p:sp>
        <p:nvSpPr>
          <p:cNvPr id="16" name="Shape 13"/>
          <p:cNvSpPr/>
          <p:nvPr/>
        </p:nvSpPr>
        <p:spPr>
          <a:xfrm>
            <a:off x="4626864" y="1874520"/>
            <a:ext cx="640080" cy="640080"/>
          </a:xfrm>
          <a:prstGeom prst="ellipse">
            <a:avLst/>
          </a:prstGeom>
          <a:solidFill>
            <a:srgbClr val="107C10"/>
          </a:solidFill>
          <a:ln/>
        </p:spPr>
        <p:txBody>
          <a:bodyPr/>
          <a:lstStyle/>
          <a:p>
            <a:endParaRPr lang="en-US"/>
          </a:p>
        </p:txBody>
      </p:sp>
      <p:pic>
        <p:nvPicPr>
          <p:cNvPr id="17" name="Image 1" descr="/agent/turn2/workspace/output/_anthropic_assets/icon-box-bc0f1811.png"/>
          <p:cNvPicPr>
            <a:picLocks noChangeAspect="1"/>
          </p:cNvPicPr>
          <p:nvPr/>
        </p:nvPicPr>
        <p:blipFill>
          <a:blip r:embed="rId3"/>
          <a:stretch>
            <a:fillRect/>
          </a:stretch>
        </p:blipFill>
        <p:spPr>
          <a:xfrm>
            <a:off x="4767682" y="2015338"/>
            <a:ext cx="358445" cy="358445"/>
          </a:xfrm>
          <a:prstGeom prst="rect">
            <a:avLst/>
          </a:prstGeom>
        </p:spPr>
      </p:pic>
      <p:sp>
        <p:nvSpPr>
          <p:cNvPr id="18" name="Text 14"/>
          <p:cNvSpPr/>
          <p:nvPr/>
        </p:nvSpPr>
        <p:spPr>
          <a:xfrm>
            <a:off x="5404104" y="1874520"/>
            <a:ext cx="228600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Helm</a:t>
            </a:r>
            <a:endParaRPr lang="en-US" sz="2000" dirty="0"/>
          </a:p>
        </p:txBody>
      </p:sp>
      <p:sp>
        <p:nvSpPr>
          <p:cNvPr id="19" name="Text 15"/>
          <p:cNvSpPr/>
          <p:nvPr/>
        </p:nvSpPr>
        <p:spPr>
          <a:xfrm>
            <a:off x="4626864" y="2651760"/>
            <a:ext cx="2980944" cy="10515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Package once, configure per environment through values; always render and diff before you deploy.</a:t>
            </a:r>
            <a:endParaRPr lang="en-US" sz="1400" dirty="0"/>
          </a:p>
        </p:txBody>
      </p:sp>
      <p:sp>
        <p:nvSpPr>
          <p:cNvPr id="20" name="Shape 16"/>
          <p:cNvSpPr/>
          <p:nvPr/>
        </p:nvSpPr>
        <p:spPr>
          <a:xfrm>
            <a:off x="8156448" y="1600200"/>
            <a:ext cx="3529584" cy="2240280"/>
          </a:xfrm>
          <a:prstGeom prst="rect">
            <a:avLst/>
          </a:prstGeom>
          <a:solidFill>
            <a:srgbClr val="FFFFFF"/>
          </a:solidFill>
          <a:ln w="9525">
            <a:solidFill>
              <a:srgbClr val="E1DFDD"/>
            </a:solidFill>
            <a:prstDash val="solid"/>
          </a:ln>
        </p:spPr>
        <p:txBody>
          <a:bodyPr/>
          <a:lstStyle/>
          <a:p>
            <a:endParaRPr lang="en-US"/>
          </a:p>
        </p:txBody>
      </p:sp>
      <p:sp>
        <p:nvSpPr>
          <p:cNvPr id="21" name="Shape 17"/>
          <p:cNvSpPr/>
          <p:nvPr/>
        </p:nvSpPr>
        <p:spPr>
          <a:xfrm>
            <a:off x="8430768" y="1874520"/>
            <a:ext cx="640080" cy="640080"/>
          </a:xfrm>
          <a:prstGeom prst="ellipse">
            <a:avLst/>
          </a:prstGeom>
          <a:solidFill>
            <a:srgbClr val="C98F00"/>
          </a:solidFill>
          <a:ln/>
        </p:spPr>
        <p:txBody>
          <a:bodyPr/>
          <a:lstStyle/>
          <a:p>
            <a:endParaRPr lang="en-US"/>
          </a:p>
        </p:txBody>
      </p:sp>
      <p:pic>
        <p:nvPicPr>
          <p:cNvPr id="22" name="Image 2" descr="/agent/turn2/workspace/output/_anthropic_assets/icon-globe-bd8d4755.png"/>
          <p:cNvPicPr>
            <a:picLocks noChangeAspect="1"/>
          </p:cNvPicPr>
          <p:nvPr/>
        </p:nvPicPr>
        <p:blipFill>
          <a:blip r:embed="rId4"/>
          <a:stretch>
            <a:fillRect/>
          </a:stretch>
        </p:blipFill>
        <p:spPr>
          <a:xfrm>
            <a:off x="8571586" y="2015338"/>
            <a:ext cx="358445" cy="358445"/>
          </a:xfrm>
          <a:prstGeom prst="rect">
            <a:avLst/>
          </a:prstGeom>
        </p:spPr>
      </p:pic>
      <p:sp>
        <p:nvSpPr>
          <p:cNvPr id="23" name="Text 18"/>
          <p:cNvSpPr/>
          <p:nvPr/>
        </p:nvSpPr>
        <p:spPr>
          <a:xfrm>
            <a:off x="9208008" y="1874520"/>
            <a:ext cx="228600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Gateway API</a:t>
            </a:r>
            <a:endParaRPr lang="en-US" sz="2000" dirty="0"/>
          </a:p>
        </p:txBody>
      </p:sp>
      <p:sp>
        <p:nvSpPr>
          <p:cNvPr id="24" name="Text 19"/>
          <p:cNvSpPr/>
          <p:nvPr/>
        </p:nvSpPr>
        <p:spPr>
          <a:xfrm>
            <a:off x="8430768" y="2651760"/>
            <a:ext cx="2980944" cy="10515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Role-oriented Gateways and HTTPRoutes succeed Ingress; plan your migration off Ingress NGINX now.</a:t>
            </a:r>
            <a:endParaRPr lang="en-US" sz="1400" dirty="0"/>
          </a:p>
        </p:txBody>
      </p:sp>
      <p:sp>
        <p:nvSpPr>
          <p:cNvPr id="25" name="Shape 20"/>
          <p:cNvSpPr/>
          <p:nvPr/>
        </p:nvSpPr>
        <p:spPr>
          <a:xfrm>
            <a:off x="548640" y="4069080"/>
            <a:ext cx="3529584" cy="2240280"/>
          </a:xfrm>
          <a:prstGeom prst="rect">
            <a:avLst/>
          </a:prstGeom>
          <a:solidFill>
            <a:srgbClr val="FFFFFF"/>
          </a:solidFill>
          <a:ln w="9525">
            <a:solidFill>
              <a:srgbClr val="E1DFDD"/>
            </a:solidFill>
            <a:prstDash val="solid"/>
          </a:ln>
        </p:spPr>
        <p:txBody>
          <a:bodyPr/>
          <a:lstStyle/>
          <a:p>
            <a:endParaRPr lang="en-US"/>
          </a:p>
        </p:txBody>
      </p:sp>
      <p:sp>
        <p:nvSpPr>
          <p:cNvPr id="26" name="Shape 21"/>
          <p:cNvSpPr/>
          <p:nvPr/>
        </p:nvSpPr>
        <p:spPr>
          <a:xfrm>
            <a:off x="822960" y="4343400"/>
            <a:ext cx="640080" cy="640080"/>
          </a:xfrm>
          <a:prstGeom prst="ellipse">
            <a:avLst/>
          </a:prstGeom>
          <a:solidFill>
            <a:srgbClr val="D83B01"/>
          </a:solidFill>
          <a:ln/>
        </p:spPr>
        <p:txBody>
          <a:bodyPr/>
          <a:lstStyle/>
          <a:p>
            <a:endParaRPr lang="en-US"/>
          </a:p>
        </p:txBody>
      </p:sp>
      <p:pic>
        <p:nvPicPr>
          <p:cNvPr id="27" name="Image 3" descr="/agent/turn2/workspace/output/_anthropic_assets/icon-heart-pulse-0e389db0.png"/>
          <p:cNvPicPr>
            <a:picLocks noChangeAspect="1"/>
          </p:cNvPicPr>
          <p:nvPr/>
        </p:nvPicPr>
        <p:blipFill>
          <a:blip r:embed="rId5"/>
          <a:stretch>
            <a:fillRect/>
          </a:stretch>
        </p:blipFill>
        <p:spPr>
          <a:xfrm>
            <a:off x="963778" y="4484218"/>
            <a:ext cx="358445" cy="358445"/>
          </a:xfrm>
          <a:prstGeom prst="rect">
            <a:avLst/>
          </a:prstGeom>
        </p:spPr>
      </p:pic>
      <p:sp>
        <p:nvSpPr>
          <p:cNvPr id="28" name="Text 22"/>
          <p:cNvSpPr/>
          <p:nvPr/>
        </p:nvSpPr>
        <p:spPr>
          <a:xfrm>
            <a:off x="1600200" y="4343400"/>
            <a:ext cx="228600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Resiliency</a:t>
            </a:r>
            <a:endParaRPr lang="en-US" sz="2000" dirty="0"/>
          </a:p>
        </p:txBody>
      </p:sp>
      <p:sp>
        <p:nvSpPr>
          <p:cNvPr id="29" name="Text 23"/>
          <p:cNvSpPr/>
          <p:nvPr/>
        </p:nvSpPr>
        <p:spPr>
          <a:xfrm>
            <a:off x="822960" y="5120640"/>
            <a:ext cx="2980944" cy="10515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Correct probes, spread replicas, PDBs and graceful shutdown keep apps available through change.</a:t>
            </a:r>
            <a:endParaRPr lang="en-US" sz="1400" dirty="0"/>
          </a:p>
        </p:txBody>
      </p:sp>
      <p:sp>
        <p:nvSpPr>
          <p:cNvPr id="30" name="Shape 24"/>
          <p:cNvSpPr/>
          <p:nvPr/>
        </p:nvSpPr>
        <p:spPr>
          <a:xfrm>
            <a:off x="4352544" y="4069080"/>
            <a:ext cx="3529584" cy="2240280"/>
          </a:xfrm>
          <a:prstGeom prst="rect">
            <a:avLst/>
          </a:prstGeom>
          <a:solidFill>
            <a:srgbClr val="FFFFFF"/>
          </a:solidFill>
          <a:ln w="9525">
            <a:solidFill>
              <a:srgbClr val="E1DFDD"/>
            </a:solidFill>
            <a:prstDash val="solid"/>
          </a:ln>
        </p:spPr>
        <p:txBody>
          <a:bodyPr/>
          <a:lstStyle/>
          <a:p>
            <a:endParaRPr lang="en-US"/>
          </a:p>
        </p:txBody>
      </p:sp>
      <p:sp>
        <p:nvSpPr>
          <p:cNvPr id="31" name="Shape 25"/>
          <p:cNvSpPr/>
          <p:nvPr/>
        </p:nvSpPr>
        <p:spPr>
          <a:xfrm>
            <a:off x="4626864" y="4343400"/>
            <a:ext cx="640080" cy="640080"/>
          </a:xfrm>
          <a:prstGeom prst="ellipse">
            <a:avLst/>
          </a:prstGeom>
          <a:solidFill>
            <a:srgbClr val="5C2D91"/>
          </a:solidFill>
          <a:ln/>
        </p:spPr>
        <p:txBody>
          <a:bodyPr/>
          <a:lstStyle/>
          <a:p>
            <a:endParaRPr lang="en-US"/>
          </a:p>
        </p:txBody>
      </p:sp>
      <p:pic>
        <p:nvPicPr>
          <p:cNvPr id="32" name="Image 4" descr="/agent/turn2/workspace/output/_anthropic_assets/icon-arrow-trending-c06427f6.png"/>
          <p:cNvPicPr>
            <a:picLocks noChangeAspect="1"/>
          </p:cNvPicPr>
          <p:nvPr/>
        </p:nvPicPr>
        <p:blipFill>
          <a:blip r:embed="rId6"/>
          <a:stretch>
            <a:fillRect/>
          </a:stretch>
        </p:blipFill>
        <p:spPr>
          <a:xfrm>
            <a:off x="4767682" y="4484218"/>
            <a:ext cx="358445" cy="358445"/>
          </a:xfrm>
          <a:prstGeom prst="rect">
            <a:avLst/>
          </a:prstGeom>
        </p:spPr>
      </p:pic>
      <p:sp>
        <p:nvSpPr>
          <p:cNvPr id="33" name="Text 26"/>
          <p:cNvSpPr/>
          <p:nvPr/>
        </p:nvSpPr>
        <p:spPr>
          <a:xfrm>
            <a:off x="5404104" y="4343400"/>
            <a:ext cx="228600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Scaling</a:t>
            </a:r>
            <a:endParaRPr lang="en-US" sz="2000" dirty="0"/>
          </a:p>
        </p:txBody>
      </p:sp>
      <p:sp>
        <p:nvSpPr>
          <p:cNvPr id="34" name="Text 27"/>
          <p:cNvSpPr/>
          <p:nvPr/>
        </p:nvSpPr>
        <p:spPr>
          <a:xfrm>
            <a:off x="4626864" y="5120640"/>
            <a:ext cx="2980944" cy="10515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Right-sized requests feed HPA for pods and the cluster autoscaler or NAP for nodes.</a:t>
            </a:r>
            <a:endParaRPr lang="en-US" sz="1400" dirty="0"/>
          </a:p>
        </p:txBody>
      </p:sp>
      <p:sp>
        <p:nvSpPr>
          <p:cNvPr id="35" name="Shape 28"/>
          <p:cNvSpPr/>
          <p:nvPr/>
        </p:nvSpPr>
        <p:spPr>
          <a:xfrm>
            <a:off x="8156448" y="4069080"/>
            <a:ext cx="3529584" cy="2240280"/>
          </a:xfrm>
          <a:prstGeom prst="rect">
            <a:avLst/>
          </a:prstGeom>
          <a:solidFill>
            <a:srgbClr val="FFFFFF"/>
          </a:solidFill>
          <a:ln w="9525">
            <a:solidFill>
              <a:srgbClr val="E1DFDD"/>
            </a:solidFill>
            <a:prstDash val="solid"/>
          </a:ln>
        </p:spPr>
        <p:txBody>
          <a:bodyPr/>
          <a:lstStyle/>
          <a:p>
            <a:endParaRPr lang="en-US"/>
          </a:p>
        </p:txBody>
      </p:sp>
      <p:sp>
        <p:nvSpPr>
          <p:cNvPr id="36" name="Shape 29"/>
          <p:cNvSpPr/>
          <p:nvPr/>
        </p:nvSpPr>
        <p:spPr>
          <a:xfrm>
            <a:off x="8430768" y="4343400"/>
            <a:ext cx="640080" cy="640080"/>
          </a:xfrm>
          <a:prstGeom prst="ellipse">
            <a:avLst/>
          </a:prstGeom>
          <a:solidFill>
            <a:srgbClr val="008575"/>
          </a:solidFill>
          <a:ln/>
        </p:spPr>
        <p:txBody>
          <a:bodyPr/>
          <a:lstStyle/>
          <a:p>
            <a:endParaRPr lang="en-US"/>
          </a:p>
        </p:txBody>
      </p:sp>
      <p:pic>
        <p:nvPicPr>
          <p:cNvPr id="37" name="Image 5" descr="/agent/turn2/workspace/output/_anthropic_assets/icon-branch-3deffea2.png"/>
          <p:cNvPicPr>
            <a:picLocks noChangeAspect="1"/>
          </p:cNvPicPr>
          <p:nvPr/>
        </p:nvPicPr>
        <p:blipFill>
          <a:blip r:embed="rId7"/>
          <a:stretch>
            <a:fillRect/>
          </a:stretch>
        </p:blipFill>
        <p:spPr>
          <a:xfrm>
            <a:off x="8571586" y="4484218"/>
            <a:ext cx="358445" cy="358445"/>
          </a:xfrm>
          <a:prstGeom prst="rect">
            <a:avLst/>
          </a:prstGeom>
        </p:spPr>
      </p:pic>
      <p:sp>
        <p:nvSpPr>
          <p:cNvPr id="38" name="Text 30"/>
          <p:cNvSpPr/>
          <p:nvPr/>
        </p:nvSpPr>
        <p:spPr>
          <a:xfrm>
            <a:off x="9208008" y="4343400"/>
            <a:ext cx="2286000" cy="640080"/>
          </a:xfrm>
          <a:prstGeom prst="rect">
            <a:avLst/>
          </a:prstGeom>
          <a:noFill/>
          <a:ln/>
        </p:spPr>
        <p:txBody>
          <a:bodyPr wrap="square" lIns="0" tIns="0" rIns="0" bIns="0" rtlCol="0" anchor="ctr"/>
          <a:lstStyle/>
          <a:p>
            <a:pPr marL="0" indent="0">
              <a:buNone/>
            </a:pPr>
            <a:r>
              <a:rPr lang="en-US" sz="2000" dirty="0">
                <a:solidFill>
                  <a:srgbClr val="201F1E"/>
                </a:solidFill>
                <a:latin typeface="Segoe UI Semibold" pitchFamily="34" charset="0"/>
                <a:ea typeface="Segoe UI Semibold" pitchFamily="34" charset="-122"/>
                <a:cs typeface="Segoe UI Semibold" pitchFamily="34" charset="-120"/>
              </a:rPr>
              <a:t>GitOps</a:t>
            </a:r>
            <a:endParaRPr lang="en-US" sz="2000" dirty="0"/>
          </a:p>
        </p:txBody>
      </p:sp>
      <p:sp>
        <p:nvSpPr>
          <p:cNvPr id="39" name="Text 31"/>
          <p:cNvSpPr/>
          <p:nvPr/>
        </p:nvSpPr>
        <p:spPr>
          <a:xfrm>
            <a:off x="8430768" y="5120640"/>
            <a:ext cx="2980944" cy="1051560"/>
          </a:xfrm>
          <a:prstGeom prst="rect">
            <a:avLst/>
          </a:prstGeom>
          <a:noFill/>
          <a:ln/>
        </p:spPr>
        <p:txBody>
          <a:bodyPr wrap="square" lIns="0" tIns="0" rIns="0" bIns="0" rtlCol="0" anchor="t"/>
          <a:lstStyle/>
          <a:p>
            <a:pPr marL="0" indent="0">
              <a:buNone/>
            </a:pPr>
            <a:r>
              <a:rPr lang="en-US" sz="1400" dirty="0">
                <a:solidFill>
                  <a:srgbClr val="323130"/>
                </a:solidFill>
                <a:latin typeface="Segoe UI" pitchFamily="34" charset="0"/>
                <a:ea typeface="Segoe UI" pitchFamily="34" charset="-122"/>
                <a:cs typeface="Segoe UI" pitchFamily="34" charset="-120"/>
              </a:rPr>
              <a:t>Git is the source of truth; Flux or Argo CD pull and reconcile desired state continuously.</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6">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rect">
            <a:avLst/>
          </a:prstGeom>
          <a:solidFill>
            <a:srgbClr val="F25022"/>
          </a:solidFill>
          <a:ln/>
        </p:spPr>
        <p:txBody>
          <a:bodyPr/>
          <a:lstStyle/>
          <a:p>
            <a:endParaRPr lang="en-US"/>
          </a:p>
        </p:txBody>
      </p:sp>
      <p:sp>
        <p:nvSpPr>
          <p:cNvPr id="3" name="Shape 1"/>
          <p:cNvSpPr/>
          <p:nvPr/>
        </p:nvSpPr>
        <p:spPr>
          <a:xfrm>
            <a:off x="682508" y="484632"/>
            <a:ext cx="109728" cy="109728"/>
          </a:xfrm>
          <a:prstGeom prst="rect">
            <a:avLst/>
          </a:prstGeom>
          <a:solidFill>
            <a:srgbClr val="7FBA00"/>
          </a:solidFill>
          <a:ln/>
        </p:spPr>
        <p:txBody>
          <a:bodyPr/>
          <a:lstStyle/>
          <a:p>
            <a:endParaRPr lang="en-US"/>
          </a:p>
        </p:txBody>
      </p:sp>
      <p:sp>
        <p:nvSpPr>
          <p:cNvPr id="4" name="Shape 2"/>
          <p:cNvSpPr/>
          <p:nvPr/>
        </p:nvSpPr>
        <p:spPr>
          <a:xfrm>
            <a:off x="548640" y="618500"/>
            <a:ext cx="109728" cy="109728"/>
          </a:xfrm>
          <a:prstGeom prst="rect">
            <a:avLst/>
          </a:prstGeom>
          <a:solidFill>
            <a:srgbClr val="00A4EF"/>
          </a:solidFill>
          <a:ln/>
        </p:spPr>
        <p:txBody>
          <a:bodyPr/>
          <a:lstStyle/>
          <a:p>
            <a:endParaRPr lang="en-US"/>
          </a:p>
        </p:txBody>
      </p:sp>
      <p:sp>
        <p:nvSpPr>
          <p:cNvPr id="5" name="Shape 3"/>
          <p:cNvSpPr/>
          <p:nvPr/>
        </p:nvSpPr>
        <p:spPr>
          <a:xfrm>
            <a:off x="682508" y="618500"/>
            <a:ext cx="109728" cy="109728"/>
          </a:xfrm>
          <a:prstGeom prst="rect">
            <a:avLst/>
          </a:prstGeom>
          <a:solidFill>
            <a:srgbClr val="FFB900"/>
          </a:solidFill>
          <a:ln/>
        </p:spPr>
        <p:txBody>
          <a:bodyPr/>
          <a:lstStyle/>
          <a:p>
            <a:endParaRPr lang="en-US"/>
          </a:p>
        </p:txBody>
      </p:sp>
      <p:sp>
        <p:nvSpPr>
          <p:cNvPr id="6" name="Text 4"/>
          <p:cNvSpPr/>
          <p:nvPr/>
        </p:nvSpPr>
        <p:spPr>
          <a:xfrm>
            <a:off x="896112" y="429768"/>
            <a:ext cx="8229600" cy="310896"/>
          </a:xfrm>
          <a:prstGeom prst="rect">
            <a:avLst/>
          </a:prstGeom>
          <a:noFill/>
          <a:ln/>
        </p:spPr>
        <p:txBody>
          <a:bodyPr wrap="square" lIns="0" tIns="0" rIns="0" bIns="0" rtlCol="0" anchor="ctr"/>
          <a:lstStyle/>
          <a:p>
            <a:pPr marL="0" indent="0">
              <a:buNone/>
            </a:pPr>
            <a:r>
              <a:rPr lang="en-US" sz="1100" kern="0" spc="150" dirty="0">
                <a:solidFill>
                  <a:srgbClr val="50E6FF"/>
                </a:solidFill>
                <a:latin typeface="Segoe UI Semibold" pitchFamily="34" charset="0"/>
                <a:ea typeface="Segoe UI Semibold" pitchFamily="34" charset="-122"/>
                <a:cs typeface="Segoe UI Semibold" pitchFamily="34" charset="-120"/>
              </a:rPr>
              <a:t>WRAP-UP</a:t>
            </a:r>
            <a:endParaRPr lang="en-US" sz="1100" dirty="0"/>
          </a:p>
        </p:txBody>
      </p:sp>
      <p:sp>
        <p:nvSpPr>
          <p:cNvPr id="7" name="Text 5"/>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rgbClr val="A9B8C8"/>
                </a:solidFill>
                <a:latin typeface="Segoe UI" pitchFamily="34" charset="0"/>
                <a:ea typeface="Segoe UI" pitchFamily="34" charset="-122"/>
                <a:cs typeface="Segoe UI" pitchFamily="34" charset="-120"/>
              </a:rPr>
              <a:t>Advanced Kubernetes  |  Day-2 Operations</a:t>
            </a:r>
            <a:endParaRPr lang="en-US" sz="1100" dirty="0"/>
          </a:p>
        </p:txBody>
      </p:sp>
      <p:sp>
        <p:nvSpPr>
          <p:cNvPr id="8" name="Text 6"/>
          <p:cNvSpPr/>
          <p:nvPr/>
        </p:nvSpPr>
        <p:spPr>
          <a:xfrm>
            <a:off x="11155680" y="6400800"/>
            <a:ext cx="502920" cy="274320"/>
          </a:xfrm>
          <a:prstGeom prst="rect">
            <a:avLst/>
          </a:prstGeom>
          <a:noFill/>
          <a:ln/>
        </p:spPr>
        <p:txBody>
          <a:bodyPr wrap="square" lIns="0" tIns="0" rIns="0" bIns="0" rtlCol="0" anchor="ctr"/>
          <a:lstStyle/>
          <a:p>
            <a:pPr marL="0" indent="0" algn="r">
              <a:buNone/>
            </a:pPr>
            <a:fld id="{C5528096-A0B5-443B-ADDD-77AFBBBDD658}" type="slidenum">
              <a:rPr lang="en-US" sz="1100">
                <a:solidFill>
                  <a:srgbClr val="A9B8C8"/>
                </a:solidFill>
                <a:latin typeface="Segoe UI" pitchFamily="34" charset="0"/>
                <a:ea typeface="Segoe UI" pitchFamily="34" charset="-122"/>
                <a:cs typeface="Segoe UI" pitchFamily="34" charset="-120"/>
              </a:rPr>
              <a:t>71</a:t>
            </a:fld>
            <a:endParaRPr lang="en-US" sz="1100" dirty="0"/>
          </a:p>
        </p:txBody>
      </p:sp>
      <p:sp>
        <p:nvSpPr>
          <p:cNvPr id="9" name="Text 7"/>
          <p:cNvSpPr/>
          <p:nvPr/>
        </p:nvSpPr>
        <p:spPr>
          <a:xfrm>
            <a:off x="548640" y="804672"/>
            <a:ext cx="11064240" cy="731520"/>
          </a:xfrm>
          <a:prstGeom prst="rect">
            <a:avLst/>
          </a:prstGeom>
          <a:noFill/>
          <a:ln/>
        </p:spPr>
        <p:txBody>
          <a:bodyPr wrap="square" lIns="0" tIns="0" rIns="0" bIns="0" rtlCol="0" anchor="ctr"/>
          <a:lstStyle/>
          <a:p>
            <a:pPr marL="0" indent="0">
              <a:buNone/>
            </a:pPr>
            <a:r>
              <a:rPr lang="en-US" sz="3200" dirty="0">
                <a:solidFill>
                  <a:srgbClr val="FFFFFF"/>
                </a:solidFill>
                <a:latin typeface="Segoe UI Semibold" pitchFamily="34" charset="0"/>
                <a:ea typeface="Segoe UI Semibold" pitchFamily="34" charset="-122"/>
                <a:cs typeface="Segoe UI Semibold" pitchFamily="34" charset="-120"/>
              </a:rPr>
              <a:t>Further Reading</a:t>
            </a:r>
            <a:endParaRPr lang="en-US" sz="3200" dirty="0"/>
          </a:p>
        </p:txBody>
      </p:sp>
      <p:sp>
        <p:nvSpPr>
          <p:cNvPr id="10" name="Shape 8"/>
          <p:cNvSpPr/>
          <p:nvPr/>
        </p:nvSpPr>
        <p:spPr>
          <a:xfrm>
            <a:off x="548640" y="1554480"/>
            <a:ext cx="3566160" cy="4572000"/>
          </a:xfrm>
          <a:prstGeom prst="rect">
            <a:avLst/>
          </a:prstGeom>
          <a:solidFill>
            <a:srgbClr val="16304A"/>
          </a:solidFill>
          <a:ln/>
        </p:spPr>
        <p:txBody>
          <a:bodyPr/>
          <a:lstStyle/>
          <a:p>
            <a:endParaRPr lang="en-US"/>
          </a:p>
        </p:txBody>
      </p:sp>
      <p:sp>
        <p:nvSpPr>
          <p:cNvPr id="11" name="Shape 9"/>
          <p:cNvSpPr/>
          <p:nvPr/>
        </p:nvSpPr>
        <p:spPr>
          <a:xfrm>
            <a:off x="548640" y="1554480"/>
            <a:ext cx="3566160" cy="548640"/>
          </a:xfrm>
          <a:prstGeom prst="rect">
            <a:avLst/>
          </a:prstGeom>
          <a:solidFill>
            <a:srgbClr val="0078D4"/>
          </a:solidFill>
          <a:ln/>
        </p:spPr>
        <p:txBody>
          <a:bodyPr/>
          <a:lstStyle/>
          <a:p>
            <a:endParaRPr lang="en-US"/>
          </a:p>
        </p:txBody>
      </p:sp>
      <p:sp>
        <p:nvSpPr>
          <p:cNvPr id="12" name="Text 10"/>
          <p:cNvSpPr/>
          <p:nvPr/>
        </p:nvSpPr>
        <p:spPr>
          <a:xfrm>
            <a:off x="777240" y="1554480"/>
            <a:ext cx="3108960" cy="54864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Kubernetes &amp; CNCF</a:t>
            </a:r>
            <a:endParaRPr lang="en-US" sz="1600" dirty="0"/>
          </a:p>
        </p:txBody>
      </p:sp>
      <p:sp>
        <p:nvSpPr>
          <p:cNvPr id="13" name="Text 11"/>
          <p:cNvSpPr/>
          <p:nvPr/>
        </p:nvSpPr>
        <p:spPr>
          <a:xfrm>
            <a:off x="777240" y="2331720"/>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Helm documentation</a:t>
            </a:r>
            <a:endParaRPr lang="en-US" sz="1400" dirty="0"/>
          </a:p>
        </p:txBody>
      </p:sp>
      <p:sp>
        <p:nvSpPr>
          <p:cNvPr id="14" name="Text 12"/>
          <p:cNvSpPr/>
          <p:nvPr/>
        </p:nvSpPr>
        <p:spPr>
          <a:xfrm>
            <a:off x="777240" y="2624328"/>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helm.sh/docs/</a:t>
            </a:r>
            <a:endParaRPr lang="en-US" sz="1000" dirty="0"/>
          </a:p>
        </p:txBody>
      </p:sp>
      <p:sp>
        <p:nvSpPr>
          <p:cNvPr id="15" name="Text 13"/>
          <p:cNvSpPr/>
          <p:nvPr/>
        </p:nvSpPr>
        <p:spPr>
          <a:xfrm>
            <a:off x="777240" y="3081528"/>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Gateway API</a:t>
            </a:r>
            <a:endParaRPr lang="en-US" sz="1400" dirty="0"/>
          </a:p>
        </p:txBody>
      </p:sp>
      <p:sp>
        <p:nvSpPr>
          <p:cNvPr id="16" name="Text 14"/>
          <p:cNvSpPr/>
          <p:nvPr/>
        </p:nvSpPr>
        <p:spPr>
          <a:xfrm>
            <a:off x="777240" y="3374136"/>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gateway-api.sigs.k8s.io/</a:t>
            </a:r>
            <a:endParaRPr lang="en-US" sz="1000" dirty="0"/>
          </a:p>
        </p:txBody>
      </p:sp>
      <p:sp>
        <p:nvSpPr>
          <p:cNvPr id="17" name="Text 15"/>
          <p:cNvSpPr/>
          <p:nvPr/>
        </p:nvSpPr>
        <p:spPr>
          <a:xfrm>
            <a:off x="777240" y="3831336"/>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Pod lifecycle &amp; probes</a:t>
            </a:r>
            <a:endParaRPr lang="en-US" sz="1400" dirty="0"/>
          </a:p>
        </p:txBody>
      </p:sp>
      <p:sp>
        <p:nvSpPr>
          <p:cNvPr id="18" name="Text 16"/>
          <p:cNvSpPr/>
          <p:nvPr/>
        </p:nvSpPr>
        <p:spPr>
          <a:xfrm>
            <a:off x="777240" y="4123944"/>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kubernetes.io/docs/concepts/workloads/pods/pod-lifecycle/</a:t>
            </a:r>
            <a:endParaRPr lang="en-US" sz="1000" dirty="0"/>
          </a:p>
        </p:txBody>
      </p:sp>
      <p:sp>
        <p:nvSpPr>
          <p:cNvPr id="19" name="Text 17"/>
          <p:cNvSpPr/>
          <p:nvPr/>
        </p:nvSpPr>
        <p:spPr>
          <a:xfrm>
            <a:off x="777240" y="4581144"/>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Resource management</a:t>
            </a:r>
            <a:endParaRPr lang="en-US" sz="1400" dirty="0"/>
          </a:p>
        </p:txBody>
      </p:sp>
      <p:sp>
        <p:nvSpPr>
          <p:cNvPr id="20" name="Text 18"/>
          <p:cNvSpPr/>
          <p:nvPr/>
        </p:nvSpPr>
        <p:spPr>
          <a:xfrm>
            <a:off x="777240" y="4873752"/>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kubernetes.io/docs/concepts/configuration/manage-resources-containers/</a:t>
            </a:r>
            <a:endParaRPr lang="en-US" sz="1000" dirty="0"/>
          </a:p>
        </p:txBody>
      </p:sp>
      <p:sp>
        <p:nvSpPr>
          <p:cNvPr id="21" name="Text 19"/>
          <p:cNvSpPr/>
          <p:nvPr/>
        </p:nvSpPr>
        <p:spPr>
          <a:xfrm>
            <a:off x="777240" y="5330952"/>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Horizontal Pod Autoscaling</a:t>
            </a:r>
            <a:endParaRPr lang="en-US" sz="1400" dirty="0"/>
          </a:p>
        </p:txBody>
      </p:sp>
      <p:sp>
        <p:nvSpPr>
          <p:cNvPr id="22" name="Text 20"/>
          <p:cNvSpPr/>
          <p:nvPr/>
        </p:nvSpPr>
        <p:spPr>
          <a:xfrm>
            <a:off x="777240" y="5623560"/>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kubernetes.io/docs/tasks/run-application/horizontal-pod-autoscale/</a:t>
            </a:r>
            <a:endParaRPr lang="en-US" sz="1000" dirty="0"/>
          </a:p>
        </p:txBody>
      </p:sp>
      <p:sp>
        <p:nvSpPr>
          <p:cNvPr id="23" name="Shape 21"/>
          <p:cNvSpPr/>
          <p:nvPr/>
        </p:nvSpPr>
        <p:spPr>
          <a:xfrm>
            <a:off x="4389120" y="1554480"/>
            <a:ext cx="3566160" cy="4572000"/>
          </a:xfrm>
          <a:prstGeom prst="rect">
            <a:avLst/>
          </a:prstGeom>
          <a:solidFill>
            <a:srgbClr val="16304A"/>
          </a:solidFill>
          <a:ln/>
        </p:spPr>
        <p:txBody>
          <a:bodyPr/>
          <a:lstStyle/>
          <a:p>
            <a:endParaRPr lang="en-US"/>
          </a:p>
        </p:txBody>
      </p:sp>
      <p:sp>
        <p:nvSpPr>
          <p:cNvPr id="24" name="Shape 22"/>
          <p:cNvSpPr/>
          <p:nvPr/>
        </p:nvSpPr>
        <p:spPr>
          <a:xfrm>
            <a:off x="4389120" y="1554480"/>
            <a:ext cx="3566160" cy="548640"/>
          </a:xfrm>
          <a:prstGeom prst="rect">
            <a:avLst/>
          </a:prstGeom>
          <a:solidFill>
            <a:srgbClr val="00A4EF"/>
          </a:solidFill>
          <a:ln/>
        </p:spPr>
        <p:txBody>
          <a:bodyPr/>
          <a:lstStyle/>
          <a:p>
            <a:endParaRPr lang="en-US"/>
          </a:p>
        </p:txBody>
      </p:sp>
      <p:sp>
        <p:nvSpPr>
          <p:cNvPr id="25" name="Text 23"/>
          <p:cNvSpPr/>
          <p:nvPr/>
        </p:nvSpPr>
        <p:spPr>
          <a:xfrm>
            <a:off x="4617720" y="1554480"/>
            <a:ext cx="3108960" cy="54864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Microsoft Learn (AKS)</a:t>
            </a:r>
            <a:endParaRPr lang="en-US" sz="1600" dirty="0"/>
          </a:p>
        </p:txBody>
      </p:sp>
      <p:sp>
        <p:nvSpPr>
          <p:cNvPr id="26" name="Text 24"/>
          <p:cNvSpPr/>
          <p:nvPr/>
        </p:nvSpPr>
        <p:spPr>
          <a:xfrm>
            <a:off x="4617720" y="2331720"/>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Node auto-provisioning (NAP)</a:t>
            </a:r>
            <a:endParaRPr lang="en-US" sz="1400" dirty="0"/>
          </a:p>
        </p:txBody>
      </p:sp>
      <p:sp>
        <p:nvSpPr>
          <p:cNvPr id="27" name="Text 25"/>
          <p:cNvSpPr/>
          <p:nvPr/>
        </p:nvSpPr>
        <p:spPr>
          <a:xfrm>
            <a:off x="4617720" y="2624328"/>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learn.microsoft.com/azure/aks/node-auto-provisioning</a:t>
            </a:r>
            <a:endParaRPr lang="en-US" sz="1000" dirty="0"/>
          </a:p>
        </p:txBody>
      </p:sp>
      <p:sp>
        <p:nvSpPr>
          <p:cNvPr id="28" name="Text 26"/>
          <p:cNvSpPr/>
          <p:nvPr/>
        </p:nvSpPr>
        <p:spPr>
          <a:xfrm>
            <a:off x="4617720" y="3081528"/>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App routing with Gateway API</a:t>
            </a:r>
            <a:endParaRPr lang="en-US" sz="1400" dirty="0"/>
          </a:p>
        </p:txBody>
      </p:sp>
      <p:sp>
        <p:nvSpPr>
          <p:cNvPr id="29" name="Text 27"/>
          <p:cNvSpPr/>
          <p:nvPr/>
        </p:nvSpPr>
        <p:spPr>
          <a:xfrm>
            <a:off x="4617720" y="3374136"/>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learn.microsoft.com/azure/aks/app-routing-gateway-api</a:t>
            </a:r>
            <a:endParaRPr lang="en-US" sz="1000" dirty="0"/>
          </a:p>
        </p:txBody>
      </p:sp>
      <p:sp>
        <p:nvSpPr>
          <p:cNvPr id="30" name="Text 28"/>
          <p:cNvSpPr/>
          <p:nvPr/>
        </p:nvSpPr>
        <p:spPr>
          <a:xfrm>
            <a:off x="4617720" y="3831336"/>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Integrate ACR with AKS</a:t>
            </a:r>
            <a:endParaRPr lang="en-US" sz="1400" dirty="0"/>
          </a:p>
        </p:txBody>
      </p:sp>
      <p:sp>
        <p:nvSpPr>
          <p:cNvPr id="31" name="Text 29"/>
          <p:cNvSpPr/>
          <p:nvPr/>
        </p:nvSpPr>
        <p:spPr>
          <a:xfrm>
            <a:off x="4617720" y="4123944"/>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learn.microsoft.com/azure/aks/cluster-container-registry-integration</a:t>
            </a:r>
            <a:endParaRPr lang="en-US" sz="1000" dirty="0"/>
          </a:p>
        </p:txBody>
      </p:sp>
      <p:sp>
        <p:nvSpPr>
          <p:cNvPr id="32" name="Text 30"/>
          <p:cNvSpPr/>
          <p:nvPr/>
        </p:nvSpPr>
        <p:spPr>
          <a:xfrm>
            <a:off x="4617720" y="4581144"/>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GitOps with Flux v2</a:t>
            </a:r>
            <a:endParaRPr lang="en-US" sz="1400" dirty="0"/>
          </a:p>
        </p:txBody>
      </p:sp>
      <p:sp>
        <p:nvSpPr>
          <p:cNvPr id="33" name="Text 31"/>
          <p:cNvSpPr/>
          <p:nvPr/>
        </p:nvSpPr>
        <p:spPr>
          <a:xfrm>
            <a:off x="4617720" y="4873752"/>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learn.microsoft.com/azure/azure-arc/kubernetes/tutorial-use-gitops-flux2</a:t>
            </a:r>
            <a:endParaRPr lang="en-US" sz="1000" dirty="0"/>
          </a:p>
        </p:txBody>
      </p:sp>
      <p:sp>
        <p:nvSpPr>
          <p:cNvPr id="34" name="Shape 32"/>
          <p:cNvSpPr/>
          <p:nvPr/>
        </p:nvSpPr>
        <p:spPr>
          <a:xfrm>
            <a:off x="8229600" y="1554480"/>
            <a:ext cx="3566160" cy="4572000"/>
          </a:xfrm>
          <a:prstGeom prst="rect">
            <a:avLst/>
          </a:prstGeom>
          <a:solidFill>
            <a:srgbClr val="16304A"/>
          </a:solidFill>
          <a:ln/>
        </p:spPr>
        <p:txBody>
          <a:bodyPr/>
          <a:lstStyle/>
          <a:p>
            <a:endParaRPr lang="en-US"/>
          </a:p>
        </p:txBody>
      </p:sp>
      <p:sp>
        <p:nvSpPr>
          <p:cNvPr id="35" name="Shape 33"/>
          <p:cNvSpPr/>
          <p:nvPr/>
        </p:nvSpPr>
        <p:spPr>
          <a:xfrm>
            <a:off x="8229600" y="1554480"/>
            <a:ext cx="3566160" cy="548640"/>
          </a:xfrm>
          <a:prstGeom prst="rect">
            <a:avLst/>
          </a:prstGeom>
          <a:solidFill>
            <a:srgbClr val="008575"/>
          </a:solidFill>
          <a:ln/>
        </p:spPr>
        <p:txBody>
          <a:bodyPr/>
          <a:lstStyle/>
          <a:p>
            <a:endParaRPr lang="en-US"/>
          </a:p>
        </p:txBody>
      </p:sp>
      <p:sp>
        <p:nvSpPr>
          <p:cNvPr id="36" name="Text 34"/>
          <p:cNvSpPr/>
          <p:nvPr/>
        </p:nvSpPr>
        <p:spPr>
          <a:xfrm>
            <a:off x="8458200" y="1554480"/>
            <a:ext cx="3108960" cy="548640"/>
          </a:xfrm>
          <a:prstGeom prst="rect">
            <a:avLst/>
          </a:prstGeom>
          <a:noFill/>
          <a:ln/>
        </p:spPr>
        <p:txBody>
          <a:bodyPr wrap="square" lIns="0" tIns="0" rIns="0" bIns="0" rtlCol="0" anchor="ctr"/>
          <a:lstStyle/>
          <a:p>
            <a:pPr marL="0" indent="0">
              <a:buNone/>
            </a:pPr>
            <a:r>
              <a:rPr lang="en-US" sz="1600" dirty="0">
                <a:solidFill>
                  <a:srgbClr val="FFFFFF"/>
                </a:solidFill>
                <a:latin typeface="Segoe UI Semibold" pitchFamily="34" charset="0"/>
                <a:ea typeface="Segoe UI Semibold" pitchFamily="34" charset="-122"/>
                <a:cs typeface="Segoe UI Semibold" pitchFamily="34" charset="-120"/>
              </a:rPr>
              <a:t>GitOps</a:t>
            </a:r>
            <a:endParaRPr lang="en-US" sz="1600" dirty="0"/>
          </a:p>
        </p:txBody>
      </p:sp>
      <p:sp>
        <p:nvSpPr>
          <p:cNvPr id="37" name="Text 35"/>
          <p:cNvSpPr/>
          <p:nvPr/>
        </p:nvSpPr>
        <p:spPr>
          <a:xfrm>
            <a:off x="8458200" y="2331720"/>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OpenGitOps principles</a:t>
            </a:r>
            <a:endParaRPr lang="en-US" sz="1400" dirty="0"/>
          </a:p>
        </p:txBody>
      </p:sp>
      <p:sp>
        <p:nvSpPr>
          <p:cNvPr id="38" name="Text 36"/>
          <p:cNvSpPr/>
          <p:nvPr/>
        </p:nvSpPr>
        <p:spPr>
          <a:xfrm>
            <a:off x="8458200" y="2624328"/>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opengitops.dev/</a:t>
            </a:r>
            <a:endParaRPr lang="en-US" sz="1000" dirty="0"/>
          </a:p>
        </p:txBody>
      </p:sp>
      <p:sp>
        <p:nvSpPr>
          <p:cNvPr id="39" name="Text 37"/>
          <p:cNvSpPr/>
          <p:nvPr/>
        </p:nvSpPr>
        <p:spPr>
          <a:xfrm>
            <a:off x="8458200" y="3081528"/>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Flux documentation</a:t>
            </a:r>
            <a:endParaRPr lang="en-US" sz="1400" dirty="0"/>
          </a:p>
        </p:txBody>
      </p:sp>
      <p:sp>
        <p:nvSpPr>
          <p:cNvPr id="40" name="Text 38"/>
          <p:cNvSpPr/>
          <p:nvPr/>
        </p:nvSpPr>
        <p:spPr>
          <a:xfrm>
            <a:off x="8458200" y="3374136"/>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fluxcd.io/flux/</a:t>
            </a:r>
            <a:endParaRPr lang="en-US" sz="1000" dirty="0"/>
          </a:p>
        </p:txBody>
      </p:sp>
      <p:sp>
        <p:nvSpPr>
          <p:cNvPr id="41" name="Text 39"/>
          <p:cNvSpPr/>
          <p:nvPr/>
        </p:nvSpPr>
        <p:spPr>
          <a:xfrm>
            <a:off x="8458200" y="3831336"/>
            <a:ext cx="3108960" cy="292608"/>
          </a:xfrm>
          <a:prstGeom prst="rect">
            <a:avLst/>
          </a:prstGeom>
          <a:noFill/>
          <a:ln/>
        </p:spPr>
        <p:txBody>
          <a:bodyPr wrap="square" lIns="0" tIns="0" rIns="0" bIns="0" rtlCol="0" anchor="t"/>
          <a:lstStyle/>
          <a:p>
            <a:pPr marL="0" indent="0">
              <a:buNone/>
            </a:pPr>
            <a:r>
              <a:rPr lang="en-US" sz="1400" u="sng" dirty="0">
                <a:solidFill>
                  <a:srgbClr val="FFFFFF"/>
                </a:solidFill>
                <a:latin typeface="Segoe UI Semibold" pitchFamily="34" charset="0"/>
                <a:ea typeface="Segoe UI Semibold" pitchFamily="34" charset="-122"/>
                <a:cs typeface="Segoe UI Semibold" pitchFamily="34" charset="-120"/>
              </a:rPr>
              <a:t>Argo CD documentation</a:t>
            </a:r>
            <a:endParaRPr lang="en-US" sz="1400" dirty="0"/>
          </a:p>
        </p:txBody>
      </p:sp>
      <p:sp>
        <p:nvSpPr>
          <p:cNvPr id="42" name="Text 40"/>
          <p:cNvSpPr/>
          <p:nvPr/>
        </p:nvSpPr>
        <p:spPr>
          <a:xfrm>
            <a:off x="8458200" y="4123944"/>
            <a:ext cx="3108960" cy="384048"/>
          </a:xfrm>
          <a:prstGeom prst="rect">
            <a:avLst/>
          </a:prstGeom>
          <a:noFill/>
          <a:ln/>
        </p:spPr>
        <p:txBody>
          <a:bodyPr wrap="square" lIns="0" tIns="0" rIns="0" bIns="0" rtlCol="0" anchor="t"/>
          <a:lstStyle/>
          <a:p>
            <a:pPr marL="0" indent="0">
              <a:buNone/>
            </a:pPr>
            <a:r>
              <a:rPr lang="en-US" sz="1000" dirty="0">
                <a:solidFill>
                  <a:srgbClr val="A9C1D9"/>
                </a:solidFill>
                <a:latin typeface="Segoe UI" pitchFamily="34" charset="0"/>
                <a:ea typeface="Segoe UI" pitchFamily="34" charset="-122"/>
                <a:cs typeface="Segoe UI" pitchFamily="34" charset="-120"/>
              </a:rPr>
              <a:t>argo-cd.readthedocs.io/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2272</TotalTime>
  <Words>7519</Words>
  <Application>Microsoft Office PowerPoint</Application>
  <PresentationFormat>Widescreen</PresentationFormat>
  <Paragraphs>1275</Paragraphs>
  <Slides>71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Arial</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Peters</dc:creator>
  <cp:lastModifiedBy>Ryan Peters</cp:lastModifiedBy>
  <cp:revision>1</cp:revision>
  <dcterms:created xsi:type="dcterms:W3CDTF">2026-10-19T18:58:48Z</dcterms:created>
  <dcterms:modified xsi:type="dcterms:W3CDTF">2026-10-21T13:02:12Z</dcterms:modified>
</cp:coreProperties>
</file>